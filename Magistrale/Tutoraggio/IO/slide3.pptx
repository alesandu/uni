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Play"/>
      <p:regular r:id="rId40"/>
      <p:bold r:id="rId41"/>
    </p:embeddedFont>
    <p:embeddedFont>
      <p:font typeface="Tahoma"/>
      <p:regular r:id="rId42"/>
      <p:bold r:id="rId43"/>
    </p:embeddedFont>
    <p:embeddedFont>
      <p:font typeface="Cutive"/>
      <p:regular r:id="rId44"/>
    </p:embeddedFont>
    <p:embeddedFont>
      <p:font typeface="Lemon"/>
      <p:regular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-regular.fntdata"/><Relationship Id="rId20" Type="http://schemas.openxmlformats.org/officeDocument/2006/relationships/slide" Target="slides/slide15.xml"/><Relationship Id="rId42" Type="http://schemas.openxmlformats.org/officeDocument/2006/relationships/font" Target="fonts/Tahoma-regular.fntdata"/><Relationship Id="rId41" Type="http://schemas.openxmlformats.org/officeDocument/2006/relationships/font" Target="fonts/Play-bold.fntdata"/><Relationship Id="rId22" Type="http://schemas.openxmlformats.org/officeDocument/2006/relationships/slide" Target="slides/slide17.xml"/><Relationship Id="rId44" Type="http://schemas.openxmlformats.org/officeDocument/2006/relationships/font" Target="fonts/Cutive-regular.fntdata"/><Relationship Id="rId21" Type="http://schemas.openxmlformats.org/officeDocument/2006/relationships/slide" Target="slides/slide16.xml"/><Relationship Id="rId43" Type="http://schemas.openxmlformats.org/officeDocument/2006/relationships/font" Target="fonts/Tahoma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Lem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114fd389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d114fd389f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4e37c3b5_1_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14e37c3b5_1_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14e37c3b5_1_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114fd389f_0_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114fd389f_0_4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114fd389f_0_4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114fd389f_0_4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d114fd389f_0_4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114fd389f_0_4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114fd389f_0_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114fd389f_0_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114fd389f_0_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114fd389f_0_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d114fd389f_0_6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d114fd389f_0_6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114fd389f_0_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114fd389f_0_9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114fd389f_0_9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114fd389f_0_1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d114fd389f_0_15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114fd389f_0_15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1516949bd_1_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1516949bd_1_8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d1516949bd_1_8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114fd389f_0_1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d114fd389f_0_17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114fd389f_0_17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114fd389f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d114fd389f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114fd389f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114fd389f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114fd389f_0_1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d114fd389f_0_18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d114fd389f_0_18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114fd389f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g3d114fd389f_0_2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114fd389f_4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114fd389f_4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114fd389f_4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d114fd389f_4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114fd389f_4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114fd389f_4_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114fd389f_4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d114fd389f_4_1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114fd389f_4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d114fd389f_4_1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114fd389f_4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d114fd389f_4_2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d114fd389f_4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d114fd389f_4_2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114fd389f_4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d114fd389f_4_2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d114fd389f_4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d114fd389f_4_2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114fd389f_4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d114fd389f_4_3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d114fd389f_0_1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d114fd389f_0_19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g3d114fd389f_0_19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1516949bd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d1516949bd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d1516949bd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1516949b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d1516949bd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1516949bd_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d1516949bd_5_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1516949bd_5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d1516949bd_5_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114fd389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3d114fd389f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114fd389f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d114fd389f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d114fd389f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d114fd389f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d114fd389f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d114fd389f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d1516949bd_5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d1516949bd_5_6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/>
        </p:nvSpPr>
        <p:spPr>
          <a:xfrm>
            <a:off x="0" y="971035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Architettura dei sistemi di elaborazione (</a:t>
            </a:r>
            <a:r>
              <a:rPr b="1" lang="it" sz="3500">
                <a:solidFill>
                  <a:schemeClr val="dk1"/>
                </a:solidFill>
              </a:rPr>
              <a:t>3</a:t>
            </a:r>
            <a:r>
              <a:rPr b="1" i="0" lang="it" sz="3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i="0" sz="3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427" y="2249138"/>
            <a:ext cx="4737295" cy="11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 txBox="1"/>
          <p:nvPr/>
        </p:nvSpPr>
        <p:spPr>
          <a:xfrm>
            <a:off x="3576900" y="4026000"/>
            <a:ext cx="199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alesandu0@gmail.com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i="0" lang="it" sz="1800" u="none" cap="none" strike="noStrike">
                <a:solidFill>
                  <a:srgbClr val="1A1A1A"/>
                </a:solidFill>
              </a:rPr>
              <a:t>Introduzione al CPUlator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i="0" lang="it" sz="1800" u="none" cap="none" strike="noStrike">
                <a:solidFill>
                  <a:srgbClr val="1A1A1A"/>
                </a:solidFill>
              </a:rPr>
              <a:t>Design-time e Compile-time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i="0" lang="it" sz="1800" u="none" cap="none" strike="noStrike">
                <a:solidFill>
                  <a:srgbClr val="1A1A1A"/>
                </a:solidFill>
              </a:rPr>
              <a:t>Registri ARM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i="0" lang="it" sz="1800" u="none" cap="none" strike="noStrike">
                <a:solidFill>
                  <a:srgbClr val="1A1A1A"/>
                </a:solidFill>
              </a:rPr>
              <a:t>R0–R12, SP, LR, PC, CPSR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i="0" lang="it" sz="1800" u="none" cap="none" strike="noStrike">
                <a:solidFill>
                  <a:srgbClr val="1A1A1A"/>
                </a:solidFill>
              </a:rPr>
              <a:t>Istruzioni ba</a:t>
            </a:r>
            <a:r>
              <a:rPr lang="it" sz="1800">
                <a:solidFill>
                  <a:srgbClr val="1A1A1A"/>
                </a:solidFill>
              </a:rPr>
              <a:t>se ARM</a:t>
            </a:r>
            <a:endParaRPr sz="1800">
              <a:solidFill>
                <a:srgbClr val="1A1A1A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i="0" lang="it" sz="1800" u="none" cap="none" strike="noStrike">
                <a:solidFill>
                  <a:srgbClr val="1A1A1A"/>
                </a:solidFill>
              </a:rPr>
              <a:t>Caricamento di costanti nei registri (MOV) </a:t>
            </a:r>
            <a:r>
              <a:rPr lang="it" sz="1800">
                <a:solidFill>
                  <a:srgbClr val="1A1A1A"/>
                </a:solidFill>
              </a:rPr>
              <a:t>e limiti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i="0" lang="it" sz="1800" u="none" cap="none" strike="noStrike">
                <a:solidFill>
                  <a:srgbClr val="1A1A1A"/>
                </a:solidFill>
              </a:rPr>
              <a:t>Istruzione di shift (LSL, LSR, ASR)</a:t>
            </a:r>
            <a:endParaRPr sz="1800">
              <a:solidFill>
                <a:srgbClr val="1A1A1A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lang="it" sz="1800">
                <a:solidFill>
                  <a:srgbClr val="1A1A1A"/>
                </a:solidFill>
              </a:rPr>
              <a:t>Istruzioni di storage (LDR, STR)</a:t>
            </a:r>
            <a:endParaRPr sz="1800">
              <a:solidFill>
                <a:srgbClr val="1A1A1A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Char char="-"/>
            </a:pPr>
            <a:r>
              <a:rPr lang="it" sz="1800">
                <a:solidFill>
                  <a:srgbClr val="1A1A1A"/>
                </a:solidFill>
              </a:rPr>
              <a:t>Istruzioni aritmetiche e logiche</a:t>
            </a:r>
            <a:endParaRPr sz="1800">
              <a:solidFill>
                <a:srgbClr val="1A1A1A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lang="it" sz="1800">
                <a:solidFill>
                  <a:srgbClr val="1A1A1A"/>
                </a:solidFill>
              </a:rPr>
              <a:t>DNS</a:t>
            </a:r>
            <a:endParaRPr sz="1800">
              <a:solidFill>
                <a:srgbClr val="1A1A1A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AutoNum type="arabicPeriod"/>
            </a:pPr>
            <a:r>
              <a:rPr i="0" lang="it" sz="1800" u="none" cap="none" strike="noStrike">
                <a:solidFill>
                  <a:srgbClr val="1A1A1A"/>
                </a:solidFill>
              </a:rPr>
              <a:t>Esercizi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400" u="none" cap="none" strike="noStrike">
                <a:solidFill>
                  <a:srgbClr val="1A1A1A"/>
                </a:solidFill>
              </a:rPr>
              <a:t>Indice</a:t>
            </a:r>
            <a:endParaRPr i="0" sz="3400" u="none" cap="none" strike="noStrike">
              <a:solidFill>
                <a:schemeClr val="dk1"/>
              </a:solidFill>
            </a:endParaRPr>
          </a:p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CPUlator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2000"/>
              <a:buFont typeface="Calibri"/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Cos'è il CPUlator?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548640" y="1645920"/>
            <a:ext cx="8046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Simulatore online di processore ARM (e altri), accessibile da browser.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Permette di scrivere, compilare ed eseguire programmi Assembly ARM passo-passo.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Char char="•"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Fornisce visibilità su: registri, memoria, stack e flag di stato (CPSR).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CPUlator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457200" y="1097349"/>
            <a:ext cx="8046600" cy="9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2000"/>
              <a:buFont typeface="Calibri"/>
              <a:buNone/>
            </a:pPr>
            <a:r>
              <a:rPr b="1" i="0" lang="it" sz="20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Come accedere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57200" y="2021412"/>
            <a:ext cx="80466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i="1" lang="it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https://cpulator.01xz.net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57200" y="3392192"/>
            <a:ext cx="8046600" cy="11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Selezionare: ARMv7 → Language: ARM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8503920" y="484632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Design-time e Compile-time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65760" y="1143000"/>
            <a:ext cx="3931800" cy="4389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365760" y="1143000"/>
            <a:ext cx="3931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Design-time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457200" y="1645920"/>
            <a:ext cx="3749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Fase in cui si scrive il codice sorgente.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programmatore definisce istruzioni, etichette e costanti (.equ).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processore non ha ancora eseguito nulla.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Errori tipici: sintassi sbagliata, nomi di registro errati.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4846320" y="1143000"/>
            <a:ext cx="3931800" cy="438900"/>
          </a:xfrm>
          <a:prstGeom prst="rect">
            <a:avLst/>
          </a:prstGeom>
          <a:solidFill>
            <a:srgbClr val="2C5F2D"/>
          </a:solidFill>
          <a:ln cap="flat" cmpd="sng" w="12700">
            <a:solidFill>
              <a:srgbClr val="2C5F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4846320" y="1143000"/>
            <a:ext cx="3931800" cy="438900"/>
          </a:xfrm>
          <a:prstGeom prst="rect">
            <a:avLst/>
          </a:prstGeom>
          <a:solidFill>
            <a:srgbClr val="1B6B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Compile-time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937760" y="1645920"/>
            <a:ext cx="3749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L'assembler traduce il sorgente in linguaggio macchina (opcode).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Risolve etichette, costanti e indirizzi simbolici.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Controlla la correttezza delle istruzioni.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Errori tipici: costante non codificabile, istruzione non valida.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 Registri ARM (ARMv7)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365760" y="1188720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457200" y="123444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R0 – R3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2560320" y="1234440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Argomenti di funzione / risultati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65760" y="1664208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457200" y="170992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R4 – R11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2560320" y="1709928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Registri general purpose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365760" y="2139696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457200" y="2185416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R12 (IP)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560320" y="2185416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Intra-procedure scratch register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65760" y="2615184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57200" y="2660904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R13 (SP)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2560320" y="2660904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Stack Pointer – punta alla cima dello 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365760" y="3090672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457200" y="3136392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R14 (LR)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560320" y="3136392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Link Register – indirizzo di ritorno da subroutine (BL)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365760" y="3566160"/>
            <a:ext cx="8412600" cy="475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457200" y="3611880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R15 (PC)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560320" y="3611880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Program Counter – indirizzo della prossima istruzione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365760" y="4041648"/>
            <a:ext cx="8412600" cy="4755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457200" y="4087368"/>
            <a:ext cx="201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500"/>
              <a:buFont typeface="Courier New"/>
              <a:buNone/>
            </a:pPr>
            <a:r>
              <a:rPr b="1" i="0" lang="it" sz="1500" u="none" cap="none" strike="noStrike">
                <a:solidFill>
                  <a:srgbClr val="1B6B4A"/>
                </a:solidFill>
                <a:latin typeface="Courier New"/>
                <a:ea typeface="Courier New"/>
                <a:cs typeface="Courier New"/>
                <a:sym typeface="Courier New"/>
              </a:rPr>
              <a:t>CPSR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2560320" y="4087368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Current Program Status Register – flag N, Z, C, 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Caricare costanti: istruzione MOV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48640" y="12344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Sintassi: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48640" y="1627632"/>
            <a:ext cx="8046600" cy="8229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685800" y="1719072"/>
            <a:ext cx="7772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Rd, #imm8        ; Rd &lt;- imm8  (costante immediata)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Rd, Rn           ; Rd &lt;- Rn   (copia da registro)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48640" y="25603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Esempi pratici: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48640" y="2944368"/>
            <a:ext cx="8046600" cy="1828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685800" y="3035808"/>
            <a:ext cx="7772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varX, 10     </a:t>
            </a:r>
            <a:r>
              <a:rPr lang="it" sz="1300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; salve varX come simbolo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varY, 30     </a:t>
            </a:r>
            <a:r>
              <a:rPr lang="it" sz="1300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; salve varY come simbolo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varZ, 20     </a:t>
            </a:r>
            <a:r>
              <a:rPr b="0" i="0" lang="it" sz="1300" u="none" cap="none" strike="noStrike">
                <a:solidFill>
                  <a:srgbClr val="F5F5F5"/>
                </a:solidFill>
                <a:latin typeface="Courier New"/>
                <a:ea typeface="Courier New"/>
                <a:cs typeface="Courier New"/>
                <a:sym typeface="Courier New"/>
              </a:rPr>
              <a:t>; salve varZ come simbolo 20</a:t>
            </a:r>
            <a:endParaRPr b="0" i="0" sz="1300" u="none" cap="none" strike="noStrike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R0, #varX    ; R0 &lt;- 10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#varY    ; R1 &lt;- 30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R2, #varZ    ; R2 &lt;- 20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Operazioni di Shift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548640" y="118872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 istruzioni di shift spostano i bit di un registro a sinistra o destra: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548640" y="1627632"/>
            <a:ext cx="8046600" cy="10974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685800" y="171907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R0, LSL #1   ; R1 = R0 &lt;&lt; 1  (moltiplicazione per 2)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R0, LSR #1   ; R1 = R0 &gt;&gt; 1  (divisione per 2, senza segno)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R0, ASR #1   ; R1 = R0 &gt;&gt; 1  (divisione per 2, con segno)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48640" y="2816352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Esempio: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48640" y="3172968"/>
            <a:ext cx="8046600" cy="12345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685800" y="3264408"/>
            <a:ext cx="77724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R0, #5           ; R0 = 0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00000101  (5)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R1, R0, LSL #2   ; R1 = 0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00010100  (20 = 5×4)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MOV  R2, R0, LSR #1   ; R2 = 0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00000010  (2 = 5÷2, troncato)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Operazioni di Load and Store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457200" y="114300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</a:rPr>
              <a:t>Concetto fondamentale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1A1A1A"/>
                </a:solidFill>
              </a:rPr>
              <a:t>ARM usa architettura </a:t>
            </a:r>
            <a:r>
              <a:rPr b="1" i="0" lang="it" sz="1400" u="none" cap="none" strike="noStrike">
                <a:solidFill>
                  <a:srgbClr val="1A1A1A"/>
                </a:solidFill>
              </a:rPr>
              <a:t>load/store</a:t>
            </a:r>
            <a:r>
              <a:rPr i="0" lang="it" sz="1400" u="none" cap="none" strike="noStrike">
                <a:solidFill>
                  <a:srgbClr val="1A1A1A"/>
                </a:solidFill>
              </a:rPr>
              <a:t>: solo LDR e STR accedono alla memoria; le altre istruzioni operano solo su registri.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</a:rPr>
              <a:t>LDR – Load Register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1A1A1A"/>
                </a:solidFill>
              </a:rPr>
              <a:t>Carica un valore dalla </a:t>
            </a:r>
            <a:r>
              <a:rPr b="1" i="0" lang="it" sz="1400" u="none" cap="none" strike="noStrike">
                <a:solidFill>
                  <a:srgbClr val="1A1A1A"/>
                </a:solidFill>
              </a:rPr>
              <a:t>memoria</a:t>
            </a:r>
            <a:r>
              <a:rPr i="0" lang="it" sz="1400" u="none" cap="none" strike="noStrike">
                <a:solidFill>
                  <a:srgbClr val="1A1A1A"/>
                </a:solidFill>
              </a:rPr>
              <a:t> in un registro.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</a:rPr>
              <a:t>STR – Store Register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1A1A1A"/>
                </a:solidFill>
              </a:rPr>
              <a:t>Salva il valore di un registro in </a:t>
            </a:r>
            <a:r>
              <a:rPr b="1" i="0" lang="it" sz="1400" u="none" cap="none" strike="noStrike">
                <a:solidFill>
                  <a:srgbClr val="1A1A1A"/>
                </a:solidFill>
              </a:rPr>
              <a:t>memoria</a:t>
            </a:r>
            <a:r>
              <a:rPr i="0" lang="it" sz="1400" u="none" cap="none" strike="noStrike">
                <a:solidFill>
                  <a:srgbClr val="1A1A1A"/>
                </a:solidFill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</a:rPr>
              <a:t>Modalità di indirizzamento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</a:rPr>
              <a:t>[Rn]</a:t>
            </a:r>
            <a:r>
              <a:rPr i="0" lang="it" sz="1300" u="none" cap="none" strike="noStrike">
                <a:solidFill>
                  <a:srgbClr val="1A1A1A"/>
                </a:solidFill>
              </a:rPr>
              <a:t> – indirizzo base dal registro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</a:rPr>
              <a:t>[Rn, #offset]</a:t>
            </a:r>
            <a:r>
              <a:rPr i="0" lang="it" sz="1300" u="none" cap="none" strike="noStrike">
                <a:solidFill>
                  <a:srgbClr val="1A1A1A"/>
                </a:solidFill>
              </a:rPr>
              <a:t> – base + offset immediato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</a:rPr>
              <a:t>[Rn, Rm]</a:t>
            </a:r>
            <a:r>
              <a:rPr i="0" lang="it" sz="1300" u="none" cap="none" strike="noStrike">
                <a:solidFill>
                  <a:srgbClr val="1A1A1A"/>
                </a:solidFill>
              </a:rPr>
              <a:t> – base + offset da registro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4572000" y="1143000"/>
            <a:ext cx="4114800" cy="3429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114300" lIns="171450" spcFirstLastPara="1" rIns="17145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Sintassi LDR / STR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LDR  Rd, [Rn]         ; Rd = Mem[Rn]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LDR  Rd, [Rn, #4]     ; Rd = Mem[Rn+4]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STR  Rs, [Rn]         ; Mem[Rn] = 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STR  Rs, [Rn, #8]     ; Mem[Rn+8] = 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Esempio pratico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MOV  R0, #100         ; R0 =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STR  R0, [SP]         ; salva 100 in stack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LDR  R1, [SP]         ; R1 = 100</a:t>
            </a:r>
            <a:endParaRPr/>
          </a:p>
        </p:txBody>
      </p:sp>
      <p:sp>
        <p:nvSpPr>
          <p:cNvPr id="194" name="Google Shape;19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Limiti del MOV: costanti non codificabili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548640" y="1188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Come ARM codifica le costanti immediate: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548640" y="1600200"/>
            <a:ext cx="8046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MOV accetta solo costanti codificabili come imm8r: 8 bit ruotati di un multiplo pari.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Non tutte le costanti a 32 bit sono rappresentabili direttamente.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Char char="•"/>
            </a:pPr>
            <a:r>
              <a:rPr b="0" i="0" lang="it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compilatore non segnala errore a compile-time bensì sostituisce l istruzione con MOVW.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548640" y="288036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Prova nel CPUlator: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548640" y="3273552"/>
            <a:ext cx="8046600" cy="14172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685800" y="3364992"/>
            <a:ext cx="7772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MOV  R0, #0xFF        ; ✓ OK  (255 - codificabile)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MOV  R0, #0x100       ; ✓ OK  (256 = 1 ruotato di 24)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4747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MOV  R0, #0x101       ; ✗ ERRORE – non codificabile come imm8r (MO</a:t>
            </a:r>
            <a:r>
              <a:rPr lang="it" sz="1300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VW</a:t>
            </a:r>
            <a:r>
              <a:rPr b="0" i="0" lang="it" sz="1300" u="none" cap="none" strike="noStrike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4747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MOV  R0, #0xFFFF      ; ✗ ERRORE – troppi bit attivi (MOV</a:t>
            </a:r>
            <a:r>
              <a:rPr lang="it" sz="1300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b="0" i="0" lang="it" sz="1300" u="none" cap="none" strike="noStrike">
                <a:solidFill>
                  <a:srgbClr val="F4474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48640" y="4736592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Calibri"/>
              <a:buNone/>
            </a:pPr>
            <a:r>
              <a:t/>
            </a:r>
            <a:endParaRPr b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Istruzioni ARM Base: Aritmetiche e Logiche</a:t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>
            <a:off x="4572000" y="1143000"/>
            <a:ext cx="4114800" cy="3429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114300" lIns="171450" spcFirstLastPara="1" rIns="17145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Aritmetiche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ADD  R0, R1, R2    ; R0 = R1 + R2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ADD  R0, R1, #5    ; R0 = R1 + 5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SUB  R0, R1, R2    ; R0 = R1 - R2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MUL  R0, R1, R2    ; R0 = R1 * R2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Logiche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AND  R0, R1, #0xFF ; maschera basso byte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ORR  R0, R0, #0x80 ; setta bit 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EOR  R0, R1, R2    ; XOR: toggle bit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MVN  R0, R1        ; R0 = NOT 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457200" y="114300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Istruzioni Aritmetiche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somma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SUB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sottrazione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MUL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Rm, Rs    - moltiplicazione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Istruzioni Logiche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AND bit a bit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ORR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OR bit a bit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EOR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Rn, Op2  - XOR bit a bit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MVN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Rd, Op2       - NOT bit a bit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it" sz="16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Formato Op2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6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it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Op2 puo essere: #imm8, Rm, o Rm con shift (LSL/LSR/ASR)</a:t>
            </a:r>
            <a:endParaRPr/>
          </a:p>
        </p:txBody>
      </p:sp>
      <p:sp>
        <p:nvSpPr>
          <p:cNvPr id="215" name="Google Shape;21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Istruzioni ARM: CMP, Suffissi</a:t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457200" y="114300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CMP e TST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CMP Rn, Op2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Rn - Op2, aggiorna N,Z,C,V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TST Rn, Op2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Rn AND Op2, aggiorna N,Z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Non scrivono il risultato, aggiornano solo i flag CPSR.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Suffissi condizionali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EQ / NE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uguale / diverso (Z=1 / Z=0)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GT / LT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maggiore / minore (con segno)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 / LE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magg/ug. / min/ug. (con segno)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 / LO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maggiore / minore (senza segno)</a:t>
            </a:r>
            <a:endParaRPr/>
          </a:p>
          <a:p>
            <a:pPr indent="-8255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1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</a:t>
            </a:r>
            <a:r>
              <a:rPr b="0" i="0" lang="it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  sempre (default, omissibile)</a:t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4572000" y="1143000"/>
            <a:ext cx="4114800" cy="3429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t" bIns="114300" lIns="171450" spcFirstLastPara="1" rIns="171450" wrap="square" tIns="11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Confronto e istr. condizionali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CMP  R0, R1          ; flag da R0-R1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MOVEQ R2, R0         ; R2=R0 se Z=1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MOVGT R2, R0         ; R2=R0 se R0&gt;R1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MOVLT R2, R1         ; R2=R1 se R0&lt;R1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; Istr. condizionali con ADD/SUB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CMP  R0, #0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ADDGT R1, R1, #1     ; R1++ se R0&gt;0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SUBEQ R1, R1, #1     ; R1-- se R0=0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"/>
              </a:spcBef>
              <a:spcAft>
                <a:spcPts val="5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3" name="Google Shape;22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Esercizio: Massimo tra tre numeri interi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548640" y="1188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1" lang="it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548640" y="1536192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Calcolare il massimo tra tre numeri interi X, Y, Z ∈ 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548640" y="201168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Prototipo &amp; specifiche: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548640" y="2395728"/>
            <a:ext cx="8046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Prototipo:       int max(X, Y, Z)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Pre-condizioni:  X, Y, Z sono interi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Post-condizione: max(X,Y,Z) restituisce il massimo tra X, Y e Z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548640" y="37490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Algoritmo (a parole):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548640" y="4133088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Confronta X e Y → calcola massimo temporaneo (Max).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Confronta Max con Z → calcola il massimo definitivo.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Diagramma Nassi-Shneiderman (DNS)</a:t>
            </a:r>
            <a:endParaRPr/>
          </a:p>
        </p:txBody>
      </p:sp>
      <p:sp>
        <p:nvSpPr>
          <p:cNvPr id="242" name="Google Shape;242;p27"/>
          <p:cNvSpPr/>
          <p:nvPr/>
        </p:nvSpPr>
        <p:spPr>
          <a:xfrm>
            <a:off x="457200" y="1143000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Cos'e il DNS?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Diagramma Nassi-Shneiderman e uno strumento grafico per rappresentare algoritmi strutturati in modo visuale, senza frecce o goto.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it" sz="18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Strutture di controllo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Sequenza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blocchi impilati dall alto in basso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Selezione (if/else)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blocco diviso in + e - dalla condizione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Iterazione (while/for)</a:t>
            </a:r>
            <a:r>
              <a:rPr b="0" i="0" lang="it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- barra laterale con condizione in cima</a:t>
            </a:r>
            <a:endParaRPr/>
          </a:p>
        </p:txBody>
      </p:sp>
      <p:pic>
        <p:nvPicPr>
          <p:cNvPr id="243" name="Google Shape;2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800" y="1249740"/>
            <a:ext cx="4495800" cy="215560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/>
        </p:nvSpPr>
        <p:spPr>
          <a:xfrm>
            <a:off x="505177" y="990025"/>
            <a:ext cx="7109400" cy="27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Ora proviamo a scrivere in linguaggio naturale l’algoritmo: un modo per trovare il massimo è quello di confrontare i valori a due a due fino a trovare il più grande.</a:t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it" sz="1700" u="none" cap="none" strike="noStrike">
                <a:solidFill>
                  <a:schemeClr val="dk1"/>
                </a:solidFill>
              </a:rPr>
              <a:t>Formalizzando l’algoritmo i passaggi sono: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-222250" lvl="1" marL="698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i="0" lang="it" sz="1700" u="none" cap="none" strike="noStrike">
                <a:solidFill>
                  <a:schemeClr val="dk1"/>
                </a:solidFill>
              </a:rPr>
              <a:t>Confronta X e Y e calcola il massimo temporaneo;</a:t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-114300" lvl="1" marL="698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ahoma"/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</a:endParaRPr>
          </a:p>
          <a:p>
            <a:pPr indent="-222250" lvl="1" marL="6985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i="0" lang="it" sz="1700" u="none" cap="none" strike="noStrike">
                <a:solidFill>
                  <a:schemeClr val="dk1"/>
                </a:solidFill>
              </a:rPr>
              <a:t>Confronta il massimo temporaneo precedentemente calcolato con Z per e calcola il massimo definitivo.</a:t>
            </a:r>
            <a:endParaRPr sz="1100"/>
          </a:p>
        </p:txBody>
      </p:sp>
      <p:sp>
        <p:nvSpPr>
          <p:cNvPr id="250" name="Google Shape;250;p28"/>
          <p:cNvSpPr txBox="1"/>
          <p:nvPr>
            <p:ph type="title"/>
          </p:nvPr>
        </p:nvSpPr>
        <p:spPr>
          <a:xfrm>
            <a:off x="459253" y="145325"/>
            <a:ext cx="6779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it"/>
              <a:t>Esericizo: 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Massimo tra tre numeri interi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29"/>
          <p:cNvGrpSpPr/>
          <p:nvPr/>
        </p:nvGrpSpPr>
        <p:grpSpPr>
          <a:xfrm>
            <a:off x="3362941" y="1859113"/>
            <a:ext cx="2414656" cy="426063"/>
            <a:chOff x="0" y="-1"/>
            <a:chExt cx="2575631" cy="454466"/>
          </a:xfrm>
        </p:grpSpPr>
        <p:sp>
          <p:nvSpPr>
            <p:cNvPr id="257" name="Google Shape;257;p29"/>
            <p:cNvSpPr/>
            <p:nvPr/>
          </p:nvSpPr>
          <p:spPr>
            <a:xfrm>
              <a:off x="0" y="-1"/>
              <a:ext cx="2575631" cy="454466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9"/>
            <p:cNvSpPr txBox="1"/>
            <p:nvPr/>
          </p:nvSpPr>
          <p:spPr>
            <a:xfrm>
              <a:off x="0" y="0"/>
              <a:ext cx="2575631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259" name="Google Shape;259;p29"/>
          <p:cNvCxnSpPr/>
          <p:nvPr/>
        </p:nvCxnSpPr>
        <p:spPr>
          <a:xfrm flipH="1" rot="10800000">
            <a:off x="4573586" y="1866608"/>
            <a:ext cx="1200595" cy="42298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29"/>
          <p:cNvCxnSpPr/>
          <p:nvPr/>
        </p:nvCxnSpPr>
        <p:spPr>
          <a:xfrm rot="10800000">
            <a:off x="3367736" y="1866608"/>
            <a:ext cx="1217759" cy="42298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29"/>
          <p:cNvSpPr txBox="1"/>
          <p:nvPr/>
        </p:nvSpPr>
        <p:spPr>
          <a:xfrm>
            <a:off x="3363807" y="1985656"/>
            <a:ext cx="24405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262" name="Google Shape;262;p29"/>
          <p:cNvSpPr txBox="1"/>
          <p:nvPr/>
        </p:nvSpPr>
        <p:spPr>
          <a:xfrm>
            <a:off x="5589923" y="1985656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263" name="Google Shape;263;p29"/>
          <p:cNvGrpSpPr/>
          <p:nvPr/>
        </p:nvGrpSpPr>
        <p:grpSpPr>
          <a:xfrm>
            <a:off x="3362941" y="2288231"/>
            <a:ext cx="1215445" cy="426062"/>
            <a:chOff x="-1" y="-1"/>
            <a:chExt cx="1296474" cy="454465"/>
          </a:xfrm>
        </p:grpSpPr>
        <p:sp>
          <p:nvSpPr>
            <p:cNvPr id="264" name="Google Shape;264;p29"/>
            <p:cNvSpPr/>
            <p:nvPr/>
          </p:nvSpPr>
          <p:spPr>
            <a:xfrm>
              <a:off x="-1" y="-1"/>
              <a:ext cx="1296474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9"/>
            <p:cNvSpPr txBox="1"/>
            <p:nvPr/>
          </p:nvSpPr>
          <p:spPr>
            <a:xfrm>
              <a:off x="-1" y="0"/>
              <a:ext cx="1296474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X</a:t>
              </a:r>
              <a:endParaRPr sz="1100"/>
            </a:p>
          </p:txBody>
        </p:sp>
      </p:grpSp>
      <p:grpSp>
        <p:nvGrpSpPr>
          <p:cNvPr id="266" name="Google Shape;266;p29"/>
          <p:cNvGrpSpPr/>
          <p:nvPr/>
        </p:nvGrpSpPr>
        <p:grpSpPr>
          <a:xfrm>
            <a:off x="4568449" y="2288231"/>
            <a:ext cx="1210872" cy="426062"/>
            <a:chOff x="0" y="-1"/>
            <a:chExt cx="1291595" cy="454465"/>
          </a:xfrm>
        </p:grpSpPr>
        <p:sp>
          <p:nvSpPr>
            <p:cNvPr id="267" name="Google Shape;267;p29"/>
            <p:cNvSpPr/>
            <p:nvPr/>
          </p:nvSpPr>
          <p:spPr>
            <a:xfrm>
              <a:off x="0" y="-1"/>
              <a:ext cx="1291595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9"/>
            <p:cNvSpPr txBox="1"/>
            <p:nvPr/>
          </p:nvSpPr>
          <p:spPr>
            <a:xfrm>
              <a:off x="0" y="0"/>
              <a:ext cx="1291595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Y</a:t>
              </a:r>
              <a:endParaRPr sz="1100"/>
            </a:p>
          </p:txBody>
        </p:sp>
      </p:grpSp>
      <p:grpSp>
        <p:nvGrpSpPr>
          <p:cNvPr id="269" name="Google Shape;269;p29"/>
          <p:cNvGrpSpPr/>
          <p:nvPr/>
        </p:nvGrpSpPr>
        <p:grpSpPr>
          <a:xfrm>
            <a:off x="3359479" y="2716858"/>
            <a:ext cx="2414656" cy="426062"/>
            <a:chOff x="0" y="-1"/>
            <a:chExt cx="2575631" cy="454465"/>
          </a:xfrm>
        </p:grpSpPr>
        <p:sp>
          <p:nvSpPr>
            <p:cNvPr id="270" name="Google Shape;270;p29"/>
            <p:cNvSpPr/>
            <p:nvPr/>
          </p:nvSpPr>
          <p:spPr>
            <a:xfrm>
              <a:off x="0" y="-1"/>
              <a:ext cx="2575631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9"/>
            <p:cNvSpPr txBox="1"/>
            <p:nvPr/>
          </p:nvSpPr>
          <p:spPr>
            <a:xfrm>
              <a:off x="0" y="0"/>
              <a:ext cx="2575631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Z &gt; Max</a:t>
              </a:r>
              <a:endParaRPr sz="1100"/>
            </a:p>
          </p:txBody>
        </p:sp>
      </p:grpSp>
      <p:cxnSp>
        <p:nvCxnSpPr>
          <p:cNvPr id="272" name="Google Shape;272;p29"/>
          <p:cNvCxnSpPr/>
          <p:nvPr/>
        </p:nvCxnSpPr>
        <p:spPr>
          <a:xfrm flipH="1" rot="10800000">
            <a:off x="4570124" y="2724353"/>
            <a:ext cx="1200596" cy="42298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29"/>
          <p:cNvCxnSpPr/>
          <p:nvPr/>
        </p:nvCxnSpPr>
        <p:spPr>
          <a:xfrm rot="10800000">
            <a:off x="3364273" y="2724353"/>
            <a:ext cx="1217759" cy="42298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29"/>
          <p:cNvSpPr txBox="1"/>
          <p:nvPr/>
        </p:nvSpPr>
        <p:spPr>
          <a:xfrm>
            <a:off x="3360342" y="2843402"/>
            <a:ext cx="24405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275" name="Google Shape;275;p29"/>
          <p:cNvSpPr txBox="1"/>
          <p:nvPr/>
        </p:nvSpPr>
        <p:spPr>
          <a:xfrm>
            <a:off x="5589923" y="2840760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sp>
        <p:nvSpPr>
          <p:cNvPr id="276" name="Google Shape;276;p29"/>
          <p:cNvSpPr txBox="1"/>
          <p:nvPr/>
        </p:nvSpPr>
        <p:spPr>
          <a:xfrm>
            <a:off x="1572050" y="898000"/>
            <a:ext cx="55002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Il corrispondente diagramma DNS è:</a:t>
            </a: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 max( X , Y , Z 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77" name="Google Shape;277;p29"/>
          <p:cNvGrpSpPr/>
          <p:nvPr/>
        </p:nvGrpSpPr>
        <p:grpSpPr>
          <a:xfrm>
            <a:off x="3360833" y="3145259"/>
            <a:ext cx="1215446" cy="426062"/>
            <a:chOff x="-1" y="-1"/>
            <a:chExt cx="1296474" cy="454465"/>
          </a:xfrm>
        </p:grpSpPr>
        <p:sp>
          <p:nvSpPr>
            <p:cNvPr id="278" name="Google Shape;278;p29"/>
            <p:cNvSpPr/>
            <p:nvPr/>
          </p:nvSpPr>
          <p:spPr>
            <a:xfrm>
              <a:off x="-1" y="-1"/>
              <a:ext cx="1296474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9"/>
            <p:cNvSpPr txBox="1"/>
            <p:nvPr/>
          </p:nvSpPr>
          <p:spPr>
            <a:xfrm>
              <a:off x="-1" y="0"/>
              <a:ext cx="1296474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Z</a:t>
              </a:r>
              <a:endParaRPr sz="1100"/>
            </a:p>
          </p:txBody>
        </p:sp>
      </p:grpSp>
      <p:grpSp>
        <p:nvGrpSpPr>
          <p:cNvPr id="280" name="Google Shape;280;p29"/>
          <p:cNvGrpSpPr/>
          <p:nvPr/>
        </p:nvGrpSpPr>
        <p:grpSpPr>
          <a:xfrm>
            <a:off x="3364673" y="3571962"/>
            <a:ext cx="2414656" cy="426062"/>
            <a:chOff x="0" y="-1"/>
            <a:chExt cx="2575631" cy="454465"/>
          </a:xfrm>
        </p:grpSpPr>
        <p:sp>
          <p:nvSpPr>
            <p:cNvPr id="281" name="Google Shape;281;p29"/>
            <p:cNvSpPr/>
            <p:nvPr/>
          </p:nvSpPr>
          <p:spPr>
            <a:xfrm>
              <a:off x="0" y="-1"/>
              <a:ext cx="2575631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9"/>
            <p:cNvSpPr txBox="1"/>
            <p:nvPr/>
          </p:nvSpPr>
          <p:spPr>
            <a:xfrm>
              <a:off x="0" y="0"/>
              <a:ext cx="2575631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" sz="17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Max</a:t>
              </a:r>
              <a:endParaRPr sz="1100"/>
            </a:p>
          </p:txBody>
        </p:sp>
      </p:grpSp>
      <p:sp>
        <p:nvSpPr>
          <p:cNvPr id="283" name="Google Shape;283;p29"/>
          <p:cNvSpPr txBox="1"/>
          <p:nvPr/>
        </p:nvSpPr>
        <p:spPr>
          <a:xfrm>
            <a:off x="1993254" y="294679"/>
            <a:ext cx="5246789" cy="3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t" sz="1900" u="none" cap="none" strike="noStrike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DNS</a:t>
            </a:r>
            <a:endParaRPr sz="1100"/>
          </a:p>
        </p:txBody>
      </p:sp>
      <p:sp>
        <p:nvSpPr>
          <p:cNvPr id="284" name="Google Shape;284;p29"/>
          <p:cNvSpPr/>
          <p:nvPr/>
        </p:nvSpPr>
        <p:spPr>
          <a:xfrm>
            <a:off x="4594961" y="3160874"/>
            <a:ext cx="1178720" cy="4058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3364581" y="1859927"/>
            <a:ext cx="2414656" cy="213547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 txBox="1"/>
          <p:nvPr/>
        </p:nvSpPr>
        <p:spPr>
          <a:xfrm>
            <a:off x="1634133" y="793635"/>
            <a:ext cx="5947172" cy="164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Tuttavia per ogni problema si possono trovare più soluzioni con diverse caratteristiche in termini di efficienza, complessità, riusabilità, ...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  int max( X , Y , Z )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2" name="Google Shape;292;p30"/>
          <p:cNvGrpSpPr/>
          <p:nvPr/>
        </p:nvGrpSpPr>
        <p:grpSpPr>
          <a:xfrm>
            <a:off x="2664851" y="2346703"/>
            <a:ext cx="4004182" cy="426062"/>
            <a:chOff x="0" y="-1"/>
            <a:chExt cx="4271127" cy="454465"/>
          </a:xfrm>
        </p:grpSpPr>
        <p:sp>
          <p:nvSpPr>
            <p:cNvPr id="293" name="Google Shape;293;p30"/>
            <p:cNvSpPr/>
            <p:nvPr/>
          </p:nvSpPr>
          <p:spPr>
            <a:xfrm>
              <a:off x="0" y="-1"/>
              <a:ext cx="4271127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 txBox="1"/>
            <p:nvPr/>
          </p:nvSpPr>
          <p:spPr>
            <a:xfrm>
              <a:off x="0" y="0"/>
              <a:ext cx="4271127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295" name="Google Shape;295;p30"/>
          <p:cNvCxnSpPr/>
          <p:nvPr/>
        </p:nvCxnSpPr>
        <p:spPr>
          <a:xfrm flipH="1" rot="10800000">
            <a:off x="4658673" y="2348244"/>
            <a:ext cx="2002776" cy="42298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30"/>
          <p:cNvCxnSpPr/>
          <p:nvPr/>
        </p:nvCxnSpPr>
        <p:spPr>
          <a:xfrm rot="10800000">
            <a:off x="2657738" y="2354198"/>
            <a:ext cx="2010914" cy="4146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30"/>
          <p:cNvSpPr txBox="1"/>
          <p:nvPr/>
        </p:nvSpPr>
        <p:spPr>
          <a:xfrm>
            <a:off x="2665714" y="2473247"/>
            <a:ext cx="244055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298" name="Google Shape;298;p30"/>
          <p:cNvSpPr txBox="1"/>
          <p:nvPr/>
        </p:nvSpPr>
        <p:spPr>
          <a:xfrm>
            <a:off x="6457872" y="2449531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299" name="Google Shape;299;p30"/>
          <p:cNvGrpSpPr/>
          <p:nvPr/>
        </p:nvGrpSpPr>
        <p:grpSpPr>
          <a:xfrm>
            <a:off x="2662827" y="2775328"/>
            <a:ext cx="2000738" cy="426062"/>
            <a:chOff x="0" y="-1"/>
            <a:chExt cx="2134119" cy="454465"/>
          </a:xfrm>
        </p:grpSpPr>
        <p:sp>
          <p:nvSpPr>
            <p:cNvPr id="300" name="Google Shape;300;p30"/>
            <p:cNvSpPr/>
            <p:nvPr/>
          </p:nvSpPr>
          <p:spPr>
            <a:xfrm>
              <a:off x="0" y="-1"/>
              <a:ext cx="2134119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0"/>
            <p:cNvSpPr txBox="1"/>
            <p:nvPr/>
          </p:nvSpPr>
          <p:spPr>
            <a:xfrm>
              <a:off x="0" y="0"/>
              <a:ext cx="2134119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Z</a:t>
              </a:r>
              <a:endParaRPr sz="1100"/>
            </a:p>
          </p:txBody>
        </p:sp>
      </p:grpSp>
      <p:cxnSp>
        <p:nvCxnSpPr>
          <p:cNvPr id="302" name="Google Shape;302;p30"/>
          <p:cNvCxnSpPr/>
          <p:nvPr/>
        </p:nvCxnSpPr>
        <p:spPr>
          <a:xfrm rot="10800000">
            <a:off x="2667623" y="2782822"/>
            <a:ext cx="994321" cy="411074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30"/>
          <p:cNvSpPr txBox="1"/>
          <p:nvPr/>
        </p:nvSpPr>
        <p:spPr>
          <a:xfrm>
            <a:off x="2663693" y="2901872"/>
            <a:ext cx="24405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cxnSp>
        <p:nvCxnSpPr>
          <p:cNvPr id="304" name="Google Shape;304;p30"/>
          <p:cNvCxnSpPr/>
          <p:nvPr/>
        </p:nvCxnSpPr>
        <p:spPr>
          <a:xfrm flipH="1">
            <a:off x="3659777" y="2772483"/>
            <a:ext cx="1011083" cy="4197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30"/>
          <p:cNvSpPr txBox="1"/>
          <p:nvPr/>
        </p:nvSpPr>
        <p:spPr>
          <a:xfrm>
            <a:off x="4416365" y="2900242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306" name="Google Shape;306;p30"/>
          <p:cNvGrpSpPr/>
          <p:nvPr/>
        </p:nvGrpSpPr>
        <p:grpSpPr>
          <a:xfrm>
            <a:off x="4663078" y="2775328"/>
            <a:ext cx="2000738" cy="426062"/>
            <a:chOff x="0" y="-1"/>
            <a:chExt cx="2134119" cy="454465"/>
          </a:xfrm>
        </p:grpSpPr>
        <p:sp>
          <p:nvSpPr>
            <p:cNvPr id="307" name="Google Shape;307;p30"/>
            <p:cNvSpPr/>
            <p:nvPr/>
          </p:nvSpPr>
          <p:spPr>
            <a:xfrm>
              <a:off x="0" y="-1"/>
              <a:ext cx="2134119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0"/>
            <p:cNvSpPr txBox="1"/>
            <p:nvPr/>
          </p:nvSpPr>
          <p:spPr>
            <a:xfrm>
              <a:off x="0" y="0"/>
              <a:ext cx="2134119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 &gt; Z</a:t>
              </a:r>
              <a:endParaRPr sz="1100"/>
            </a:p>
          </p:txBody>
        </p:sp>
      </p:grpSp>
      <p:cxnSp>
        <p:nvCxnSpPr>
          <p:cNvPr id="309" name="Google Shape;309;p30"/>
          <p:cNvCxnSpPr/>
          <p:nvPr/>
        </p:nvCxnSpPr>
        <p:spPr>
          <a:xfrm rot="10800000">
            <a:off x="4667873" y="2782822"/>
            <a:ext cx="994321" cy="411074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30"/>
          <p:cNvSpPr txBox="1"/>
          <p:nvPr/>
        </p:nvSpPr>
        <p:spPr>
          <a:xfrm>
            <a:off x="4663942" y="2901872"/>
            <a:ext cx="24405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cxnSp>
        <p:nvCxnSpPr>
          <p:cNvPr id="311" name="Google Shape;311;p30"/>
          <p:cNvCxnSpPr/>
          <p:nvPr/>
        </p:nvCxnSpPr>
        <p:spPr>
          <a:xfrm flipH="1">
            <a:off x="5660027" y="2772483"/>
            <a:ext cx="1011083" cy="4197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30"/>
          <p:cNvSpPr txBox="1"/>
          <p:nvPr/>
        </p:nvSpPr>
        <p:spPr>
          <a:xfrm>
            <a:off x="6457872" y="2900242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sp>
        <p:nvSpPr>
          <p:cNvPr id="313" name="Google Shape;313;p30"/>
          <p:cNvSpPr/>
          <p:nvPr/>
        </p:nvSpPr>
        <p:spPr>
          <a:xfrm>
            <a:off x="2662825" y="3203952"/>
            <a:ext cx="1003915" cy="8665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2662825" y="3418264"/>
            <a:ext cx="1003915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X</a:t>
            </a:r>
            <a:endParaRPr sz="1100"/>
          </a:p>
        </p:txBody>
      </p:sp>
      <p:sp>
        <p:nvSpPr>
          <p:cNvPr id="315" name="Google Shape;315;p30"/>
          <p:cNvSpPr/>
          <p:nvPr/>
        </p:nvSpPr>
        <p:spPr>
          <a:xfrm>
            <a:off x="3663449" y="3200849"/>
            <a:ext cx="1003741" cy="8665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3663449" y="3415160"/>
            <a:ext cx="1003741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Z</a:t>
            </a:r>
            <a:endParaRPr sz="1100"/>
          </a:p>
        </p:txBody>
      </p:sp>
      <p:sp>
        <p:nvSpPr>
          <p:cNvPr id="317" name="Google Shape;317;p30"/>
          <p:cNvSpPr/>
          <p:nvPr/>
        </p:nvSpPr>
        <p:spPr>
          <a:xfrm>
            <a:off x="4663163" y="3203952"/>
            <a:ext cx="1003742" cy="8665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4663163" y="3418264"/>
            <a:ext cx="1003742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Y</a:t>
            </a:r>
            <a:endParaRPr sz="1100"/>
          </a:p>
        </p:txBody>
      </p:sp>
      <p:sp>
        <p:nvSpPr>
          <p:cNvPr id="319" name="Google Shape;319;p30"/>
          <p:cNvSpPr/>
          <p:nvPr/>
        </p:nvSpPr>
        <p:spPr>
          <a:xfrm>
            <a:off x="5663697" y="3212440"/>
            <a:ext cx="1003744" cy="8665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5663697" y="3418264"/>
            <a:ext cx="100374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Z</a:t>
            </a:r>
            <a:endParaRPr sz="1100"/>
          </a:p>
        </p:txBody>
      </p:sp>
      <p:sp>
        <p:nvSpPr>
          <p:cNvPr id="321" name="Google Shape;321;p30"/>
          <p:cNvSpPr txBox="1"/>
          <p:nvPr/>
        </p:nvSpPr>
        <p:spPr>
          <a:xfrm>
            <a:off x="1993254" y="294679"/>
            <a:ext cx="5246789" cy="3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Una soluzione alternativa</a:t>
            </a:r>
            <a:endParaRPr sz="1100"/>
          </a:p>
        </p:txBody>
      </p:sp>
      <p:sp>
        <p:nvSpPr>
          <p:cNvPr id="322" name="Google Shape;322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31"/>
          <p:cNvGrpSpPr/>
          <p:nvPr/>
        </p:nvGrpSpPr>
        <p:grpSpPr>
          <a:xfrm>
            <a:off x="2577685" y="1547973"/>
            <a:ext cx="4004186" cy="600750"/>
            <a:chOff x="-1" y="-1"/>
            <a:chExt cx="4271130" cy="640799"/>
          </a:xfrm>
        </p:grpSpPr>
        <p:sp>
          <p:nvSpPr>
            <p:cNvPr id="328" name="Google Shape;328;p31"/>
            <p:cNvSpPr/>
            <p:nvPr/>
          </p:nvSpPr>
          <p:spPr>
            <a:xfrm>
              <a:off x="-1" y="-1"/>
              <a:ext cx="4271130" cy="640799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1"/>
            <p:cNvSpPr txBox="1"/>
            <p:nvPr/>
          </p:nvSpPr>
          <p:spPr>
            <a:xfrm>
              <a:off x="-1" y="0"/>
              <a:ext cx="4271130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(X&gt;Y) </a:t>
              </a:r>
              <a:r>
                <a:rPr lang="it" sz="1700">
                  <a:solidFill>
                    <a:schemeClr val="dk1"/>
                  </a:solidFill>
                  <a:latin typeface="Cutive"/>
                  <a:ea typeface="Cutive"/>
                  <a:cs typeface="Cutive"/>
                  <a:sym typeface="Cutive"/>
                </a:rPr>
                <a:t>AND</a:t>
              </a: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 (X&gt;Z)</a:t>
              </a:r>
              <a:endParaRPr sz="1100"/>
            </a:p>
          </p:txBody>
        </p:sp>
      </p:grpSp>
      <p:cxnSp>
        <p:nvCxnSpPr>
          <p:cNvPr id="330" name="Google Shape;330;p31"/>
          <p:cNvCxnSpPr/>
          <p:nvPr/>
        </p:nvCxnSpPr>
        <p:spPr>
          <a:xfrm flipH="1" rot="10800000">
            <a:off x="4571510" y="1549514"/>
            <a:ext cx="2002775" cy="58966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31"/>
          <p:cNvCxnSpPr/>
          <p:nvPr/>
        </p:nvCxnSpPr>
        <p:spPr>
          <a:xfrm rot="10800000">
            <a:off x="2570576" y="1555467"/>
            <a:ext cx="2010914" cy="581296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31"/>
          <p:cNvSpPr txBox="1"/>
          <p:nvPr/>
        </p:nvSpPr>
        <p:spPr>
          <a:xfrm>
            <a:off x="2578551" y="1780826"/>
            <a:ext cx="24405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333" name="Google Shape;333;p31"/>
          <p:cNvSpPr txBox="1"/>
          <p:nvPr/>
        </p:nvSpPr>
        <p:spPr>
          <a:xfrm>
            <a:off x="6377417" y="1780935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334" name="Google Shape;334;p31"/>
          <p:cNvGrpSpPr/>
          <p:nvPr/>
        </p:nvGrpSpPr>
        <p:grpSpPr>
          <a:xfrm>
            <a:off x="4582622" y="2141055"/>
            <a:ext cx="2000738" cy="426062"/>
            <a:chOff x="0" y="-1"/>
            <a:chExt cx="2134119" cy="454465"/>
          </a:xfrm>
        </p:grpSpPr>
        <p:sp>
          <p:nvSpPr>
            <p:cNvPr id="335" name="Google Shape;335;p31"/>
            <p:cNvSpPr/>
            <p:nvPr/>
          </p:nvSpPr>
          <p:spPr>
            <a:xfrm>
              <a:off x="0" y="-1"/>
              <a:ext cx="2134119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1"/>
            <p:cNvSpPr txBox="1"/>
            <p:nvPr/>
          </p:nvSpPr>
          <p:spPr>
            <a:xfrm>
              <a:off x="0" y="0"/>
              <a:ext cx="2134119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Y &gt; Z</a:t>
              </a:r>
              <a:endParaRPr sz="1100"/>
            </a:p>
          </p:txBody>
        </p:sp>
      </p:grpSp>
      <p:cxnSp>
        <p:nvCxnSpPr>
          <p:cNvPr id="337" name="Google Shape;337;p31"/>
          <p:cNvCxnSpPr/>
          <p:nvPr/>
        </p:nvCxnSpPr>
        <p:spPr>
          <a:xfrm rot="10800000">
            <a:off x="4587416" y="2148550"/>
            <a:ext cx="994322" cy="411074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31"/>
          <p:cNvSpPr txBox="1"/>
          <p:nvPr/>
        </p:nvSpPr>
        <p:spPr>
          <a:xfrm>
            <a:off x="4583488" y="2267599"/>
            <a:ext cx="24405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cxnSp>
        <p:nvCxnSpPr>
          <p:cNvPr id="339" name="Google Shape;339;p31"/>
          <p:cNvCxnSpPr/>
          <p:nvPr/>
        </p:nvCxnSpPr>
        <p:spPr>
          <a:xfrm flipH="1">
            <a:off x="5579573" y="2138212"/>
            <a:ext cx="1011082" cy="419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31"/>
          <p:cNvSpPr txBox="1"/>
          <p:nvPr/>
        </p:nvSpPr>
        <p:spPr>
          <a:xfrm>
            <a:off x="6377417" y="2267599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341" name="Google Shape;341;p31"/>
          <p:cNvGrpSpPr/>
          <p:nvPr/>
        </p:nvGrpSpPr>
        <p:grpSpPr>
          <a:xfrm>
            <a:off x="4582706" y="2569682"/>
            <a:ext cx="1003745" cy="407733"/>
            <a:chOff x="-1" y="-1"/>
            <a:chExt cx="1070659" cy="924291"/>
          </a:xfrm>
        </p:grpSpPr>
        <p:sp>
          <p:nvSpPr>
            <p:cNvPr id="342" name="Google Shape;342;p31"/>
            <p:cNvSpPr/>
            <p:nvPr/>
          </p:nvSpPr>
          <p:spPr>
            <a:xfrm>
              <a:off x="-1" y="-1"/>
              <a:ext cx="1070659" cy="92429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1"/>
            <p:cNvSpPr txBox="1"/>
            <p:nvPr/>
          </p:nvSpPr>
          <p:spPr>
            <a:xfrm>
              <a:off x="-1" y="1"/>
              <a:ext cx="1070659" cy="78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Y</a:t>
              </a:r>
              <a:endParaRPr sz="1100"/>
            </a:p>
          </p:txBody>
        </p:sp>
      </p:grpSp>
      <p:grpSp>
        <p:nvGrpSpPr>
          <p:cNvPr id="344" name="Google Shape;344;p31"/>
          <p:cNvGrpSpPr/>
          <p:nvPr/>
        </p:nvGrpSpPr>
        <p:grpSpPr>
          <a:xfrm>
            <a:off x="5583241" y="2569682"/>
            <a:ext cx="1003744" cy="407733"/>
            <a:chOff x="-1" y="-1"/>
            <a:chExt cx="1070659" cy="924291"/>
          </a:xfrm>
        </p:grpSpPr>
        <p:sp>
          <p:nvSpPr>
            <p:cNvPr id="345" name="Google Shape;345;p31"/>
            <p:cNvSpPr/>
            <p:nvPr/>
          </p:nvSpPr>
          <p:spPr>
            <a:xfrm>
              <a:off x="-1" y="-1"/>
              <a:ext cx="1070659" cy="92429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31"/>
            <p:cNvSpPr txBox="1"/>
            <p:nvPr/>
          </p:nvSpPr>
          <p:spPr>
            <a:xfrm>
              <a:off x="-1" y="1"/>
              <a:ext cx="1070659" cy="7849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Z</a:t>
              </a:r>
              <a:endParaRPr sz="1100"/>
            </a:p>
          </p:txBody>
        </p:sp>
      </p:grpSp>
      <p:grpSp>
        <p:nvGrpSpPr>
          <p:cNvPr id="347" name="Google Shape;347;p31"/>
          <p:cNvGrpSpPr/>
          <p:nvPr/>
        </p:nvGrpSpPr>
        <p:grpSpPr>
          <a:xfrm>
            <a:off x="2506673" y="2138666"/>
            <a:ext cx="2069834" cy="838747"/>
            <a:chOff x="-73479" y="0"/>
            <a:chExt cx="2207820" cy="1380799"/>
          </a:xfrm>
        </p:grpSpPr>
        <p:sp>
          <p:nvSpPr>
            <p:cNvPr id="348" name="Google Shape;348;p31"/>
            <p:cNvSpPr/>
            <p:nvPr/>
          </p:nvSpPr>
          <p:spPr>
            <a:xfrm>
              <a:off x="-1" y="0"/>
              <a:ext cx="2134342" cy="1380799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1"/>
            <p:cNvSpPr txBox="1"/>
            <p:nvPr/>
          </p:nvSpPr>
          <p:spPr>
            <a:xfrm>
              <a:off x="-73479" y="681648"/>
              <a:ext cx="2134342" cy="570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X</a:t>
              </a:r>
              <a:endParaRPr sz="1100"/>
            </a:p>
          </p:txBody>
        </p:sp>
      </p:grpSp>
      <p:sp>
        <p:nvSpPr>
          <p:cNvPr id="350" name="Google Shape;350;p31"/>
          <p:cNvSpPr txBox="1"/>
          <p:nvPr/>
        </p:nvSpPr>
        <p:spPr>
          <a:xfrm>
            <a:off x="1993254" y="294679"/>
            <a:ext cx="5246789" cy="3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Terza soluzione</a:t>
            </a:r>
            <a:endParaRPr sz="1100"/>
          </a:p>
        </p:txBody>
      </p:sp>
      <p:sp>
        <p:nvSpPr>
          <p:cNvPr id="351" name="Google Shape;351;p31"/>
          <p:cNvSpPr/>
          <p:nvPr/>
        </p:nvSpPr>
        <p:spPr>
          <a:xfrm>
            <a:off x="2501447" y="1128058"/>
            <a:ext cx="1921440" cy="3289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 max( X , Y , Z )</a:t>
            </a:r>
            <a:endParaRPr sz="1100"/>
          </a:p>
        </p:txBody>
      </p:sp>
      <p:sp>
        <p:nvSpPr>
          <p:cNvPr id="352" name="Google Shape;352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2"/>
          <p:cNvSpPr txBox="1"/>
          <p:nvPr/>
        </p:nvSpPr>
        <p:spPr>
          <a:xfrm>
            <a:off x="1525924" y="608081"/>
            <a:ext cx="6092152" cy="1384991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 il metodo che abbiamo visto, trasformiamo il primo diagramma DNS nel corrispondente codice Assembly ARM.</a:t>
            </a:r>
            <a:endParaRPr sz="1100"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Inizialmente per studiare se la soluzione è corretta assegniamo ad X, Y e Z dei valori costanti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2"/>
          <p:cNvSpPr txBox="1"/>
          <p:nvPr/>
        </p:nvSpPr>
        <p:spPr>
          <a:xfrm>
            <a:off x="3550975" y="2136935"/>
            <a:ext cx="2107406" cy="865618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varX, 10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varY, 30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varZ, 20</a:t>
            </a:r>
            <a:endParaRPr sz="1100"/>
          </a:p>
        </p:txBody>
      </p:sp>
      <p:sp>
        <p:nvSpPr>
          <p:cNvPr id="359" name="Google Shape;359;p32"/>
          <p:cNvSpPr txBox="1"/>
          <p:nvPr/>
        </p:nvSpPr>
        <p:spPr>
          <a:xfrm>
            <a:off x="1957535" y="189125"/>
            <a:ext cx="5246788" cy="3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0" name="Google Shape;360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/>
        </p:nvSpPr>
        <p:spPr>
          <a:xfrm>
            <a:off x="1525924" y="766411"/>
            <a:ext cx="6092152" cy="605932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Carichiamo convenzionalmente le costanti corrispondenti registri: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3"/>
          <p:cNvSpPr txBox="1"/>
          <p:nvPr/>
        </p:nvSpPr>
        <p:spPr>
          <a:xfrm>
            <a:off x="3582158" y="1695338"/>
            <a:ext cx="2359335" cy="2164051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varX, 10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varY, 30</a:t>
            </a:r>
            <a:endParaRPr sz="1100"/>
          </a:p>
          <a:p>
            <a:pPr indent="0" lvl="1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.equ varZ, 20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    R0, #varX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    R1, #varY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    R2, #varZ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"/>
          <p:cNvSpPr txBox="1"/>
          <p:nvPr/>
        </p:nvSpPr>
        <p:spPr>
          <a:xfrm>
            <a:off x="1957535" y="189125"/>
            <a:ext cx="5246788" cy="3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8" name="Google Shape;368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34"/>
          <p:cNvGrpSpPr/>
          <p:nvPr/>
        </p:nvGrpSpPr>
        <p:grpSpPr>
          <a:xfrm>
            <a:off x="1642184" y="3118896"/>
            <a:ext cx="983686" cy="1442468"/>
            <a:chOff x="-1" y="0"/>
            <a:chExt cx="1049264" cy="1538631"/>
          </a:xfrm>
        </p:grpSpPr>
        <p:sp>
          <p:nvSpPr>
            <p:cNvPr id="374" name="Google Shape;374;p34"/>
            <p:cNvSpPr/>
            <p:nvPr/>
          </p:nvSpPr>
          <p:spPr>
            <a:xfrm>
              <a:off x="-1" y="0"/>
              <a:ext cx="1049264" cy="153863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4"/>
            <p:cNvSpPr txBox="1"/>
            <p:nvPr/>
          </p:nvSpPr>
          <p:spPr>
            <a:xfrm>
              <a:off x="-1" y="1"/>
              <a:ext cx="1049264" cy="923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376" name="Google Shape;376;p34"/>
          <p:cNvCxnSpPr/>
          <p:nvPr/>
        </p:nvCxnSpPr>
        <p:spPr>
          <a:xfrm rot="10800000">
            <a:off x="1632980" y="3117872"/>
            <a:ext cx="1002091" cy="72227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34"/>
          <p:cNvCxnSpPr/>
          <p:nvPr/>
        </p:nvCxnSpPr>
        <p:spPr>
          <a:xfrm flipH="1">
            <a:off x="1644887" y="3844224"/>
            <a:ext cx="978278" cy="71978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34"/>
          <p:cNvSpPr txBox="1"/>
          <p:nvPr/>
        </p:nvSpPr>
        <p:spPr>
          <a:xfrm>
            <a:off x="2338178" y="3131349"/>
            <a:ext cx="24405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379" name="Google Shape;379;p34"/>
          <p:cNvSpPr txBox="1"/>
          <p:nvPr/>
        </p:nvSpPr>
        <p:spPr>
          <a:xfrm>
            <a:off x="2377211" y="4213880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sp>
        <p:nvSpPr>
          <p:cNvPr id="380" name="Google Shape;380;p34"/>
          <p:cNvSpPr/>
          <p:nvPr/>
        </p:nvSpPr>
        <p:spPr>
          <a:xfrm>
            <a:off x="2622353" y="3115186"/>
            <a:ext cx="1215446" cy="7327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= X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4"/>
          <p:cNvSpPr/>
          <p:nvPr/>
        </p:nvSpPr>
        <p:spPr>
          <a:xfrm>
            <a:off x="2625328" y="3847420"/>
            <a:ext cx="1209335" cy="7143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= Y</a:t>
            </a:r>
            <a:endParaRPr sz="1100"/>
          </a:p>
        </p:txBody>
      </p:sp>
      <p:grpSp>
        <p:nvGrpSpPr>
          <p:cNvPr id="382" name="Google Shape;382;p34"/>
          <p:cNvGrpSpPr/>
          <p:nvPr/>
        </p:nvGrpSpPr>
        <p:grpSpPr>
          <a:xfrm>
            <a:off x="1594005" y="1087137"/>
            <a:ext cx="2414656" cy="426063"/>
            <a:chOff x="0" y="-1"/>
            <a:chExt cx="2575631" cy="454466"/>
          </a:xfrm>
        </p:grpSpPr>
        <p:sp>
          <p:nvSpPr>
            <p:cNvPr id="383" name="Google Shape;383;p34"/>
            <p:cNvSpPr/>
            <p:nvPr/>
          </p:nvSpPr>
          <p:spPr>
            <a:xfrm>
              <a:off x="0" y="-1"/>
              <a:ext cx="2575631" cy="454466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4"/>
            <p:cNvSpPr txBox="1"/>
            <p:nvPr/>
          </p:nvSpPr>
          <p:spPr>
            <a:xfrm>
              <a:off x="0" y="0"/>
              <a:ext cx="2575631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385" name="Google Shape;385;p34"/>
          <p:cNvCxnSpPr/>
          <p:nvPr/>
        </p:nvCxnSpPr>
        <p:spPr>
          <a:xfrm flipH="1" rot="10800000">
            <a:off x="2804650" y="1094632"/>
            <a:ext cx="1200595" cy="42298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34"/>
          <p:cNvCxnSpPr/>
          <p:nvPr/>
        </p:nvCxnSpPr>
        <p:spPr>
          <a:xfrm rot="10800000">
            <a:off x="1598799" y="1094632"/>
            <a:ext cx="1217759" cy="42298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34"/>
          <p:cNvSpPr txBox="1"/>
          <p:nvPr/>
        </p:nvSpPr>
        <p:spPr>
          <a:xfrm>
            <a:off x="1594870" y="1213680"/>
            <a:ext cx="244055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388" name="Google Shape;388;p34"/>
          <p:cNvSpPr txBox="1"/>
          <p:nvPr/>
        </p:nvSpPr>
        <p:spPr>
          <a:xfrm>
            <a:off x="3825791" y="1198814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389" name="Google Shape;389;p34"/>
          <p:cNvGrpSpPr/>
          <p:nvPr/>
        </p:nvGrpSpPr>
        <p:grpSpPr>
          <a:xfrm>
            <a:off x="1594004" y="1516254"/>
            <a:ext cx="1215446" cy="426063"/>
            <a:chOff x="-1" y="-1"/>
            <a:chExt cx="1296474" cy="454466"/>
          </a:xfrm>
        </p:grpSpPr>
        <p:sp>
          <p:nvSpPr>
            <p:cNvPr id="390" name="Google Shape;390;p34"/>
            <p:cNvSpPr/>
            <p:nvPr/>
          </p:nvSpPr>
          <p:spPr>
            <a:xfrm>
              <a:off x="-1" y="-1"/>
              <a:ext cx="1296474" cy="454466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4"/>
            <p:cNvSpPr txBox="1"/>
            <p:nvPr/>
          </p:nvSpPr>
          <p:spPr>
            <a:xfrm>
              <a:off x="-1" y="0"/>
              <a:ext cx="1296474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X</a:t>
              </a:r>
              <a:endParaRPr sz="1100"/>
            </a:p>
          </p:txBody>
        </p:sp>
      </p:grpSp>
      <p:grpSp>
        <p:nvGrpSpPr>
          <p:cNvPr id="392" name="Google Shape;392;p34"/>
          <p:cNvGrpSpPr/>
          <p:nvPr/>
        </p:nvGrpSpPr>
        <p:grpSpPr>
          <a:xfrm>
            <a:off x="2799512" y="1516254"/>
            <a:ext cx="1210872" cy="426063"/>
            <a:chOff x="0" y="-1"/>
            <a:chExt cx="1291595" cy="454466"/>
          </a:xfrm>
        </p:grpSpPr>
        <p:sp>
          <p:nvSpPr>
            <p:cNvPr id="393" name="Google Shape;393;p34"/>
            <p:cNvSpPr/>
            <p:nvPr/>
          </p:nvSpPr>
          <p:spPr>
            <a:xfrm>
              <a:off x="0" y="-1"/>
              <a:ext cx="1291595" cy="454466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4"/>
            <p:cNvSpPr txBox="1"/>
            <p:nvPr/>
          </p:nvSpPr>
          <p:spPr>
            <a:xfrm>
              <a:off x="0" y="0"/>
              <a:ext cx="1291595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Y</a:t>
              </a:r>
              <a:endParaRPr sz="1100"/>
            </a:p>
          </p:txBody>
        </p:sp>
      </p:grpSp>
      <p:grpSp>
        <p:nvGrpSpPr>
          <p:cNvPr id="395" name="Google Shape;395;p34"/>
          <p:cNvGrpSpPr/>
          <p:nvPr/>
        </p:nvGrpSpPr>
        <p:grpSpPr>
          <a:xfrm>
            <a:off x="5372242" y="825242"/>
            <a:ext cx="983686" cy="1442468"/>
            <a:chOff x="-1" y="0"/>
            <a:chExt cx="1049264" cy="1538631"/>
          </a:xfrm>
        </p:grpSpPr>
        <p:sp>
          <p:nvSpPr>
            <p:cNvPr id="396" name="Google Shape;396;p34"/>
            <p:cNvSpPr/>
            <p:nvPr/>
          </p:nvSpPr>
          <p:spPr>
            <a:xfrm>
              <a:off x="-1" y="0"/>
              <a:ext cx="1049264" cy="153863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4"/>
            <p:cNvSpPr txBox="1"/>
            <p:nvPr/>
          </p:nvSpPr>
          <p:spPr>
            <a:xfrm>
              <a:off x="-1" y="1"/>
              <a:ext cx="1049264" cy="923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X &gt; Y</a:t>
              </a:r>
              <a:endParaRPr sz="1100"/>
            </a:p>
          </p:txBody>
        </p:sp>
      </p:grpSp>
      <p:cxnSp>
        <p:nvCxnSpPr>
          <p:cNvPr id="398" name="Google Shape;398;p34"/>
          <p:cNvCxnSpPr/>
          <p:nvPr/>
        </p:nvCxnSpPr>
        <p:spPr>
          <a:xfrm rot="10800000">
            <a:off x="5363038" y="824219"/>
            <a:ext cx="1002091" cy="72227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34"/>
          <p:cNvCxnSpPr/>
          <p:nvPr/>
        </p:nvCxnSpPr>
        <p:spPr>
          <a:xfrm flipH="1">
            <a:off x="5374946" y="1550570"/>
            <a:ext cx="978278" cy="71978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34"/>
          <p:cNvSpPr txBox="1"/>
          <p:nvPr/>
        </p:nvSpPr>
        <p:spPr>
          <a:xfrm>
            <a:off x="6068237" y="837695"/>
            <a:ext cx="24405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401" name="Google Shape;401;p34"/>
          <p:cNvSpPr txBox="1"/>
          <p:nvPr/>
        </p:nvSpPr>
        <p:spPr>
          <a:xfrm>
            <a:off x="6107269" y="1920227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sp>
        <p:nvSpPr>
          <p:cNvPr id="402" name="Google Shape;402;p34"/>
          <p:cNvSpPr/>
          <p:nvPr/>
        </p:nvSpPr>
        <p:spPr>
          <a:xfrm>
            <a:off x="6352412" y="826635"/>
            <a:ext cx="1215446" cy="7276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= X</a:t>
            </a:r>
            <a:endParaRPr sz="1100"/>
          </a:p>
        </p:txBody>
      </p:sp>
      <p:sp>
        <p:nvSpPr>
          <p:cNvPr id="403" name="Google Shape;403;p34"/>
          <p:cNvSpPr/>
          <p:nvPr/>
        </p:nvSpPr>
        <p:spPr>
          <a:xfrm>
            <a:off x="1542331" y="3566383"/>
            <a:ext cx="971778" cy="494360"/>
          </a:xfrm>
          <a:prstGeom prst="ellipse">
            <a:avLst/>
          </a:prstGeom>
          <a:noFill/>
          <a:ln cap="flat" cmpd="sng" w="25400">
            <a:solidFill>
              <a:srgbClr val="FF2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1862335" y="2643136"/>
            <a:ext cx="3627315" cy="949517"/>
          </a:xfrm>
          <a:custGeom>
            <a:rect b="b" l="l" r="r" t="t"/>
            <a:pathLst>
              <a:path extrusionOk="0" h="16231" w="21600">
                <a:moveTo>
                  <a:pt x="0" y="16231"/>
                </a:moveTo>
                <a:cubicBezTo>
                  <a:pt x="3560" y="-4472"/>
                  <a:pt x="10760" y="-5369"/>
                  <a:pt x="21600" y="13539"/>
                </a:cubicBezTo>
              </a:path>
            </a:pathLst>
          </a:custGeom>
          <a:noFill/>
          <a:ln cap="flat" cmpd="sng" w="25400">
            <a:solidFill>
              <a:srgbClr val="FF2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5476537" y="3350420"/>
            <a:ext cx="2096565" cy="865618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CMP   R0, R1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MOVGT R3, R0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MOVLT R3, R1</a:t>
            </a:r>
            <a:endParaRPr sz="1100"/>
          </a:p>
        </p:txBody>
      </p:sp>
      <p:cxnSp>
        <p:nvCxnSpPr>
          <p:cNvPr id="406" name="Google Shape;406;p34"/>
          <p:cNvCxnSpPr/>
          <p:nvPr/>
        </p:nvCxnSpPr>
        <p:spPr>
          <a:xfrm>
            <a:off x="3737713" y="3490232"/>
            <a:ext cx="1660922" cy="283199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7" name="Google Shape;407;p34"/>
          <p:cNvCxnSpPr/>
          <p:nvPr/>
        </p:nvCxnSpPr>
        <p:spPr>
          <a:xfrm flipH="1" rot="10800000">
            <a:off x="3699040" y="4026013"/>
            <a:ext cx="1714902" cy="194296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8" name="Google Shape;408;p34"/>
          <p:cNvSpPr txBox="1"/>
          <p:nvPr/>
        </p:nvSpPr>
        <p:spPr>
          <a:xfrm>
            <a:off x="1957535" y="189125"/>
            <a:ext cx="5246788" cy="3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6355388" y="1553766"/>
            <a:ext cx="1209335" cy="70982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 = Y</a:t>
            </a:r>
            <a:endParaRPr sz="1100"/>
          </a:p>
        </p:txBody>
      </p:sp>
      <p:sp>
        <p:nvSpPr>
          <p:cNvPr id="410" name="Google Shape;410;p34"/>
          <p:cNvSpPr/>
          <p:nvPr/>
        </p:nvSpPr>
        <p:spPr>
          <a:xfrm>
            <a:off x="4204608" y="1171760"/>
            <a:ext cx="1085110" cy="603973"/>
          </a:xfrm>
          <a:prstGeom prst="rightArrow">
            <a:avLst>
              <a:gd fmla="val 44374" name="adj1"/>
              <a:gd fmla="val 73087" name="adj2"/>
            </a:avLst>
          </a:prstGeom>
          <a:solidFill>
            <a:srgbClr val="92D050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4"/>
          <p:cNvSpPr txBox="1"/>
          <p:nvPr/>
        </p:nvSpPr>
        <p:spPr>
          <a:xfrm>
            <a:off x="4271783" y="1307825"/>
            <a:ext cx="768621" cy="288538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rotazione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2" name="Google Shape;412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35"/>
          <p:cNvGrpSpPr/>
          <p:nvPr/>
        </p:nvGrpSpPr>
        <p:grpSpPr>
          <a:xfrm>
            <a:off x="1668275" y="3093044"/>
            <a:ext cx="2207795" cy="1459835"/>
            <a:chOff x="4498199" y="1007804"/>
            <a:chExt cx="2354981" cy="1557157"/>
          </a:xfrm>
        </p:grpSpPr>
        <p:grpSp>
          <p:nvGrpSpPr>
            <p:cNvPr id="418" name="Google Shape;418;p35"/>
            <p:cNvGrpSpPr/>
            <p:nvPr/>
          </p:nvGrpSpPr>
          <p:grpSpPr>
            <a:xfrm>
              <a:off x="4508016" y="1019904"/>
              <a:ext cx="1049265" cy="1538633"/>
              <a:chOff x="-1" y="0"/>
              <a:chExt cx="1049264" cy="1538631"/>
            </a:xfrm>
          </p:grpSpPr>
          <p:sp>
            <p:nvSpPr>
              <p:cNvPr id="419" name="Google Shape;419;p35"/>
              <p:cNvSpPr/>
              <p:nvPr/>
            </p:nvSpPr>
            <p:spPr>
              <a:xfrm>
                <a:off x="-1" y="0"/>
                <a:ext cx="1049264" cy="1538631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2850" lIns="42850" spcFirstLastPara="1" rIns="42850" wrap="square" tIns="42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35"/>
              <p:cNvSpPr txBox="1"/>
              <p:nvPr/>
            </p:nvSpPr>
            <p:spPr>
              <a:xfrm>
                <a:off x="-1" y="1"/>
                <a:ext cx="1049264" cy="923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2850" lIns="42850" spcFirstLastPara="1" rIns="42850" wrap="square" tIns="4285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70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Z &gt; Max</a:t>
                </a:r>
                <a:endParaRPr sz="1100"/>
              </a:p>
            </p:txBody>
          </p:sp>
        </p:grpSp>
        <p:cxnSp>
          <p:nvCxnSpPr>
            <p:cNvPr id="421" name="Google Shape;421;p35"/>
            <p:cNvCxnSpPr/>
            <p:nvPr/>
          </p:nvCxnSpPr>
          <p:spPr>
            <a:xfrm rot="10800000">
              <a:off x="4498199" y="1018812"/>
              <a:ext cx="1068897" cy="77043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2" name="Google Shape;422;p35"/>
            <p:cNvCxnSpPr/>
            <p:nvPr/>
          </p:nvCxnSpPr>
          <p:spPr>
            <a:xfrm flipH="1">
              <a:off x="4510900" y="1793587"/>
              <a:ext cx="1043497" cy="7677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3" name="Google Shape;423;p35"/>
            <p:cNvSpPr txBox="1"/>
            <p:nvPr/>
          </p:nvSpPr>
          <p:spPr>
            <a:xfrm>
              <a:off x="5281892" y="1007804"/>
              <a:ext cx="260325" cy="369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+</a:t>
              </a:r>
              <a:endParaRPr sz="1100"/>
            </a:p>
          </p:txBody>
        </p:sp>
        <p:sp>
          <p:nvSpPr>
            <p:cNvPr id="424" name="Google Shape;424;p35"/>
            <p:cNvSpPr txBox="1"/>
            <p:nvPr/>
          </p:nvSpPr>
          <p:spPr>
            <a:xfrm>
              <a:off x="5323526" y="2195632"/>
              <a:ext cx="175686" cy="369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-</a:t>
              </a:r>
              <a:endParaRPr sz="1100"/>
            </a:p>
          </p:txBody>
        </p:sp>
        <p:sp>
          <p:nvSpPr>
            <p:cNvPr id="425" name="Google Shape;425;p35"/>
            <p:cNvSpPr/>
            <p:nvPr/>
          </p:nvSpPr>
          <p:spPr>
            <a:xfrm>
              <a:off x="5551715" y="1779563"/>
              <a:ext cx="1298122" cy="77585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5"/>
            <p:cNvSpPr/>
            <p:nvPr/>
          </p:nvSpPr>
          <p:spPr>
            <a:xfrm>
              <a:off x="5556705" y="1020536"/>
              <a:ext cx="1296475" cy="776197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= Z</a:t>
              </a:r>
              <a:endParaRPr sz="1100"/>
            </a:p>
          </p:txBody>
        </p:sp>
      </p:grpSp>
      <p:grpSp>
        <p:nvGrpSpPr>
          <p:cNvPr id="427" name="Google Shape;427;p35"/>
          <p:cNvGrpSpPr/>
          <p:nvPr/>
        </p:nvGrpSpPr>
        <p:grpSpPr>
          <a:xfrm>
            <a:off x="1591028" y="1218055"/>
            <a:ext cx="2414656" cy="426063"/>
            <a:chOff x="0" y="-1"/>
            <a:chExt cx="2575631" cy="454466"/>
          </a:xfrm>
        </p:grpSpPr>
        <p:sp>
          <p:nvSpPr>
            <p:cNvPr id="428" name="Google Shape;428;p35"/>
            <p:cNvSpPr/>
            <p:nvPr/>
          </p:nvSpPr>
          <p:spPr>
            <a:xfrm>
              <a:off x="0" y="-1"/>
              <a:ext cx="2575631" cy="454466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5"/>
            <p:cNvSpPr txBox="1"/>
            <p:nvPr/>
          </p:nvSpPr>
          <p:spPr>
            <a:xfrm>
              <a:off x="0" y="0"/>
              <a:ext cx="2575631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Z &gt; Max</a:t>
              </a:r>
              <a:endParaRPr sz="1100"/>
            </a:p>
          </p:txBody>
        </p:sp>
      </p:grpSp>
      <p:cxnSp>
        <p:nvCxnSpPr>
          <p:cNvPr id="430" name="Google Shape;430;p35"/>
          <p:cNvCxnSpPr/>
          <p:nvPr/>
        </p:nvCxnSpPr>
        <p:spPr>
          <a:xfrm flipH="1" rot="10800000">
            <a:off x="2801674" y="1225550"/>
            <a:ext cx="1200595" cy="42298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35"/>
          <p:cNvCxnSpPr/>
          <p:nvPr/>
        </p:nvCxnSpPr>
        <p:spPr>
          <a:xfrm rot="10800000">
            <a:off x="1595823" y="1225550"/>
            <a:ext cx="1217759" cy="42298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p35"/>
          <p:cNvSpPr txBox="1"/>
          <p:nvPr/>
        </p:nvSpPr>
        <p:spPr>
          <a:xfrm>
            <a:off x="1591893" y="1344598"/>
            <a:ext cx="24405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</a:t>
            </a:r>
            <a:endParaRPr sz="1100"/>
          </a:p>
        </p:txBody>
      </p:sp>
      <p:sp>
        <p:nvSpPr>
          <p:cNvPr id="433" name="Google Shape;433;p35"/>
          <p:cNvSpPr txBox="1"/>
          <p:nvPr/>
        </p:nvSpPr>
        <p:spPr>
          <a:xfrm>
            <a:off x="3825189" y="1329733"/>
            <a:ext cx="164706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</a:t>
            </a:r>
            <a:endParaRPr sz="1100"/>
          </a:p>
        </p:txBody>
      </p:sp>
      <p:grpSp>
        <p:nvGrpSpPr>
          <p:cNvPr id="434" name="Google Shape;434;p35"/>
          <p:cNvGrpSpPr/>
          <p:nvPr/>
        </p:nvGrpSpPr>
        <p:grpSpPr>
          <a:xfrm>
            <a:off x="1591027" y="1647172"/>
            <a:ext cx="1215446" cy="426063"/>
            <a:chOff x="-1" y="-1"/>
            <a:chExt cx="1296474" cy="454466"/>
          </a:xfrm>
        </p:grpSpPr>
        <p:sp>
          <p:nvSpPr>
            <p:cNvPr id="435" name="Google Shape;435;p35"/>
            <p:cNvSpPr/>
            <p:nvPr/>
          </p:nvSpPr>
          <p:spPr>
            <a:xfrm>
              <a:off x="-1" y="-1"/>
              <a:ext cx="1296474" cy="454466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5"/>
            <p:cNvSpPr txBox="1"/>
            <p:nvPr/>
          </p:nvSpPr>
          <p:spPr>
            <a:xfrm>
              <a:off x="-1" y="0"/>
              <a:ext cx="1296474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Max = Z</a:t>
              </a:r>
              <a:endParaRPr sz="1100"/>
            </a:p>
          </p:txBody>
        </p:sp>
      </p:grpSp>
      <p:sp>
        <p:nvSpPr>
          <p:cNvPr id="437" name="Google Shape;437;p35"/>
          <p:cNvSpPr/>
          <p:nvPr/>
        </p:nvSpPr>
        <p:spPr>
          <a:xfrm>
            <a:off x="1542331" y="3566383"/>
            <a:ext cx="1086540" cy="494360"/>
          </a:xfrm>
          <a:prstGeom prst="ellipse">
            <a:avLst/>
          </a:prstGeom>
          <a:noFill/>
          <a:ln cap="flat" cmpd="sng" w="25400">
            <a:solidFill>
              <a:srgbClr val="FF26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5"/>
          <p:cNvSpPr/>
          <p:nvPr/>
        </p:nvSpPr>
        <p:spPr>
          <a:xfrm>
            <a:off x="1862335" y="2643136"/>
            <a:ext cx="3627315" cy="949517"/>
          </a:xfrm>
          <a:custGeom>
            <a:rect b="b" l="l" r="r" t="t"/>
            <a:pathLst>
              <a:path extrusionOk="0" h="16231" w="21600">
                <a:moveTo>
                  <a:pt x="0" y="16231"/>
                </a:moveTo>
                <a:cubicBezTo>
                  <a:pt x="3560" y="-4472"/>
                  <a:pt x="10760" y="-5369"/>
                  <a:pt x="21600" y="13539"/>
                </a:cubicBezTo>
              </a:path>
            </a:pathLst>
          </a:custGeom>
          <a:noFill/>
          <a:ln cap="flat" cmpd="sng" w="25400">
            <a:solidFill>
              <a:srgbClr val="FF2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5"/>
          <p:cNvSpPr txBox="1"/>
          <p:nvPr/>
        </p:nvSpPr>
        <p:spPr>
          <a:xfrm>
            <a:off x="5476537" y="3350419"/>
            <a:ext cx="2096565" cy="605932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CMP   R2, R3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MOVGT R3, R2</a:t>
            </a:r>
            <a:endParaRPr sz="1100"/>
          </a:p>
        </p:txBody>
      </p:sp>
      <p:cxnSp>
        <p:nvCxnSpPr>
          <p:cNvPr id="440" name="Google Shape;440;p35"/>
          <p:cNvCxnSpPr/>
          <p:nvPr/>
        </p:nvCxnSpPr>
        <p:spPr>
          <a:xfrm>
            <a:off x="3791291" y="3482578"/>
            <a:ext cx="1660922" cy="275545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1" name="Google Shape;441;p35"/>
          <p:cNvSpPr txBox="1"/>
          <p:nvPr/>
        </p:nvSpPr>
        <p:spPr>
          <a:xfrm>
            <a:off x="1957535" y="189125"/>
            <a:ext cx="5246788" cy="3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4204607" y="1355456"/>
            <a:ext cx="933790" cy="603974"/>
          </a:xfrm>
          <a:prstGeom prst="rightArrow">
            <a:avLst>
              <a:gd fmla="val 44374" name="adj1"/>
              <a:gd fmla="val 73087" name="adj2"/>
            </a:avLst>
          </a:prstGeom>
          <a:solidFill>
            <a:srgbClr val="92D050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3" name="Google Shape;443;p35"/>
          <p:cNvGrpSpPr/>
          <p:nvPr/>
        </p:nvGrpSpPr>
        <p:grpSpPr>
          <a:xfrm>
            <a:off x="5360063" y="944816"/>
            <a:ext cx="2207795" cy="1459835"/>
            <a:chOff x="4498199" y="1007804"/>
            <a:chExt cx="2354981" cy="1557157"/>
          </a:xfrm>
        </p:grpSpPr>
        <p:grpSp>
          <p:nvGrpSpPr>
            <p:cNvPr id="444" name="Google Shape;444;p35"/>
            <p:cNvGrpSpPr/>
            <p:nvPr/>
          </p:nvGrpSpPr>
          <p:grpSpPr>
            <a:xfrm>
              <a:off x="4508016" y="1019904"/>
              <a:ext cx="1049265" cy="1538633"/>
              <a:chOff x="-1" y="0"/>
              <a:chExt cx="1049264" cy="1538631"/>
            </a:xfrm>
          </p:grpSpPr>
          <p:sp>
            <p:nvSpPr>
              <p:cNvPr id="445" name="Google Shape;445;p35"/>
              <p:cNvSpPr/>
              <p:nvPr/>
            </p:nvSpPr>
            <p:spPr>
              <a:xfrm>
                <a:off x="-1" y="0"/>
                <a:ext cx="1049264" cy="1538631"/>
              </a:xfrm>
              <a:prstGeom prst="rect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2850" lIns="42850" spcFirstLastPara="1" rIns="42850" wrap="square" tIns="428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35"/>
              <p:cNvSpPr txBox="1"/>
              <p:nvPr/>
            </p:nvSpPr>
            <p:spPr>
              <a:xfrm>
                <a:off x="-1" y="1"/>
                <a:ext cx="1049264" cy="923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2850" lIns="42850" spcFirstLastPara="1" rIns="42850" wrap="square" tIns="4285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700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Z &gt; Max</a:t>
                </a:r>
                <a:endParaRPr sz="1100"/>
              </a:p>
            </p:txBody>
          </p:sp>
        </p:grpSp>
        <p:cxnSp>
          <p:nvCxnSpPr>
            <p:cNvPr id="447" name="Google Shape;447;p35"/>
            <p:cNvCxnSpPr/>
            <p:nvPr/>
          </p:nvCxnSpPr>
          <p:spPr>
            <a:xfrm rot="10800000">
              <a:off x="4498199" y="1018812"/>
              <a:ext cx="1068897" cy="77043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35"/>
            <p:cNvCxnSpPr/>
            <p:nvPr/>
          </p:nvCxnSpPr>
          <p:spPr>
            <a:xfrm flipH="1">
              <a:off x="4510900" y="1793587"/>
              <a:ext cx="1043497" cy="76776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49" name="Google Shape;449;p35"/>
            <p:cNvSpPr txBox="1"/>
            <p:nvPr/>
          </p:nvSpPr>
          <p:spPr>
            <a:xfrm>
              <a:off x="5281892" y="1007804"/>
              <a:ext cx="260325" cy="369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+</a:t>
              </a:r>
              <a:endParaRPr sz="1100"/>
            </a:p>
          </p:txBody>
        </p:sp>
        <p:sp>
          <p:nvSpPr>
            <p:cNvPr id="450" name="Google Shape;450;p35"/>
            <p:cNvSpPr txBox="1"/>
            <p:nvPr/>
          </p:nvSpPr>
          <p:spPr>
            <a:xfrm>
              <a:off x="5323526" y="2195632"/>
              <a:ext cx="175686" cy="369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-</a:t>
              </a:r>
              <a:endParaRPr sz="1100"/>
            </a:p>
          </p:txBody>
        </p:sp>
        <p:sp>
          <p:nvSpPr>
            <p:cNvPr id="451" name="Google Shape;451;p35"/>
            <p:cNvSpPr/>
            <p:nvPr/>
          </p:nvSpPr>
          <p:spPr>
            <a:xfrm>
              <a:off x="5551715" y="1779563"/>
              <a:ext cx="1298122" cy="77585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0000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35"/>
            <p:cNvSpPr/>
            <p:nvPr/>
          </p:nvSpPr>
          <p:spPr>
            <a:xfrm>
              <a:off x="5556705" y="1020536"/>
              <a:ext cx="1296475" cy="776197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2850" lIns="42850" spcFirstLastPara="1" rIns="42850" wrap="square" tIns="428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Max = Z</a:t>
              </a:r>
              <a:endParaRPr sz="1100"/>
            </a:p>
          </p:txBody>
        </p:sp>
      </p:grpSp>
      <p:sp>
        <p:nvSpPr>
          <p:cNvPr id="453" name="Google Shape;453;p35"/>
          <p:cNvSpPr/>
          <p:nvPr/>
        </p:nvSpPr>
        <p:spPr>
          <a:xfrm>
            <a:off x="2809025" y="1645613"/>
            <a:ext cx="1196578" cy="4286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6"/>
          <p:cNvSpPr/>
          <p:nvPr/>
        </p:nvSpPr>
        <p:spPr>
          <a:xfrm>
            <a:off x="5801350" y="791274"/>
            <a:ext cx="1549500" cy="1135800"/>
          </a:xfrm>
          <a:prstGeom prst="roundRect">
            <a:avLst>
              <a:gd fmla="val 9421" name="adj"/>
            </a:avLst>
          </a:prstGeom>
          <a:solidFill>
            <a:srgbClr val="92D050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60" name="Google Shape;460;p36"/>
          <p:cNvSpPr txBox="1"/>
          <p:nvPr/>
        </p:nvSpPr>
        <p:spPr>
          <a:xfrm>
            <a:off x="1957535" y="189125"/>
            <a:ext cx="5246788" cy="3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Codice assembly ARM finale</a:t>
            </a:r>
            <a:endParaRPr sz="1100"/>
          </a:p>
        </p:txBody>
      </p:sp>
      <p:sp>
        <p:nvSpPr>
          <p:cNvPr id="461" name="Google Shape;461;p36"/>
          <p:cNvSpPr/>
          <p:nvPr/>
        </p:nvSpPr>
        <p:spPr>
          <a:xfrm>
            <a:off x="2857500" y="840507"/>
            <a:ext cx="3429000" cy="370486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.equ X, 10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.equ Y, 30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.equ Z, 20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  R0, #X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  R1, #Y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   R2, #Z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CMP   R0, R1   // X&gt;Y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MOVGT R3, R0   // MAX=X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MOVLT R3, R1   // MAX=Y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CMP   R2, R3   // Z&gt;MAX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MOVGT R3, R2   // MAX=Z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// R3=MAX</a:t>
            </a:r>
            <a:endParaRPr sz="1100"/>
          </a:p>
        </p:txBody>
      </p:sp>
      <p:sp>
        <p:nvSpPr>
          <p:cNvPr id="462" name="Google Shape;462;p36"/>
          <p:cNvSpPr/>
          <p:nvPr/>
        </p:nvSpPr>
        <p:spPr>
          <a:xfrm>
            <a:off x="5966210" y="1078563"/>
            <a:ext cx="13284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EQU 10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 EQU 30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Z EQU 20</a:t>
            </a:r>
            <a:endParaRPr sz="1100"/>
          </a:p>
        </p:txBody>
      </p:sp>
      <p:sp>
        <p:nvSpPr>
          <p:cNvPr id="463" name="Google Shape;463;p36"/>
          <p:cNvSpPr/>
          <p:nvPr/>
        </p:nvSpPr>
        <p:spPr>
          <a:xfrm>
            <a:off x="1526095" y="625669"/>
            <a:ext cx="1581000" cy="383100"/>
          </a:xfrm>
          <a:prstGeom prst="roundRect">
            <a:avLst>
              <a:gd fmla="val 16667" name="adj"/>
            </a:avLst>
          </a:prstGeom>
          <a:solidFill>
            <a:srgbClr val="002060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Sintassi GNU</a:t>
            </a:r>
            <a:endParaRPr sz="1100"/>
          </a:p>
        </p:txBody>
      </p:sp>
      <p:sp>
        <p:nvSpPr>
          <p:cNvPr id="464" name="Google Shape;464;p36"/>
          <p:cNvSpPr/>
          <p:nvPr/>
        </p:nvSpPr>
        <p:spPr>
          <a:xfrm>
            <a:off x="5762102" y="671397"/>
            <a:ext cx="1631400" cy="383100"/>
          </a:xfrm>
          <a:prstGeom prst="roundRect">
            <a:avLst>
              <a:gd fmla="val 16667" name="adj"/>
            </a:avLst>
          </a:prstGeom>
          <a:solidFill>
            <a:srgbClr val="339966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Sintassi KEIL</a:t>
            </a:r>
            <a:endParaRPr sz="1100"/>
          </a:p>
        </p:txBody>
      </p:sp>
      <p:sp>
        <p:nvSpPr>
          <p:cNvPr id="465" name="Google Shape;465;p36"/>
          <p:cNvSpPr/>
          <p:nvPr/>
        </p:nvSpPr>
        <p:spPr>
          <a:xfrm>
            <a:off x="4854609" y="1134562"/>
            <a:ext cx="791400" cy="68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C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66" name="Google Shape;466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7"/>
          <p:cNvSpPr txBox="1"/>
          <p:nvPr/>
        </p:nvSpPr>
        <p:spPr>
          <a:xfrm>
            <a:off x="1502067" y="922205"/>
            <a:ext cx="6139868" cy="865619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fine supponendo di voler salvare il risultato della computazione nello Stack basterà eseguire una istruzione di Store Register all’indirizzo puntato dallo Stack Pointer.</a:t>
            </a:r>
            <a:endParaRPr sz="1100"/>
          </a:p>
        </p:txBody>
      </p:sp>
      <p:grpSp>
        <p:nvGrpSpPr>
          <p:cNvPr id="472" name="Google Shape;472;p37"/>
          <p:cNvGrpSpPr/>
          <p:nvPr/>
        </p:nvGrpSpPr>
        <p:grpSpPr>
          <a:xfrm>
            <a:off x="1858192" y="2774243"/>
            <a:ext cx="1471226" cy="426062"/>
            <a:chOff x="0" y="-1"/>
            <a:chExt cx="1569305" cy="454465"/>
          </a:xfrm>
        </p:grpSpPr>
        <p:sp>
          <p:nvSpPr>
            <p:cNvPr id="473" name="Google Shape;473;p37"/>
            <p:cNvSpPr/>
            <p:nvPr/>
          </p:nvSpPr>
          <p:spPr>
            <a:xfrm>
              <a:off x="0" y="-1"/>
              <a:ext cx="1569305" cy="45446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2850" lIns="42850" spcFirstLastPara="1" rIns="42850" wrap="square" tIns="4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7"/>
            <p:cNvSpPr txBox="1"/>
            <p:nvPr/>
          </p:nvSpPr>
          <p:spPr>
            <a:xfrm>
              <a:off x="0" y="0"/>
              <a:ext cx="1569305" cy="369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2850" lIns="42850" spcFirstLastPara="1" rIns="42850" wrap="square" tIns="4285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Return Max</a:t>
              </a:r>
              <a:endParaRPr sz="1100"/>
            </a:p>
          </p:txBody>
        </p:sp>
      </p:grpSp>
      <p:sp>
        <p:nvSpPr>
          <p:cNvPr id="475" name="Google Shape;475;p37"/>
          <p:cNvSpPr/>
          <p:nvPr/>
        </p:nvSpPr>
        <p:spPr>
          <a:xfrm>
            <a:off x="3722505" y="2692291"/>
            <a:ext cx="976761" cy="589967"/>
          </a:xfrm>
          <a:prstGeom prst="rightArrow">
            <a:avLst>
              <a:gd fmla="val 44374" name="adj1"/>
              <a:gd fmla="val 95898" name="adj2"/>
            </a:avLst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2850" lIns="42850" spcFirstLastPara="1" rIns="42850" wrap="square" tIns="42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7"/>
          <p:cNvSpPr txBox="1"/>
          <p:nvPr/>
        </p:nvSpPr>
        <p:spPr>
          <a:xfrm>
            <a:off x="5093328" y="2801536"/>
            <a:ext cx="2216294" cy="346246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>
                <a:solidFill>
                  <a:schemeClr val="dk1"/>
                </a:solidFill>
                <a:latin typeface="Lemon"/>
                <a:ea typeface="Lemon"/>
                <a:cs typeface="Lemon"/>
                <a:sym typeface="Lemon"/>
              </a:rPr>
              <a:t>STR   R3, [SP]</a:t>
            </a:r>
            <a:endParaRPr sz="1100"/>
          </a:p>
        </p:txBody>
      </p:sp>
      <p:sp>
        <p:nvSpPr>
          <p:cNvPr id="477" name="Google Shape;477;p37"/>
          <p:cNvSpPr txBox="1"/>
          <p:nvPr/>
        </p:nvSpPr>
        <p:spPr>
          <a:xfrm>
            <a:off x="1957535" y="189125"/>
            <a:ext cx="5246788" cy="3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2850" spcFirstLastPara="1" rIns="42850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900">
                <a:solidFill>
                  <a:srgbClr val="336666"/>
                </a:solidFill>
                <a:latin typeface="Tahoma"/>
                <a:ea typeface="Tahoma"/>
                <a:cs typeface="Tahoma"/>
                <a:sym typeface="Tahoma"/>
              </a:rPr>
              <a:t>La fase di traduzione del DNS in assembly</a:t>
            </a:r>
            <a:endParaRPr b="1" sz="1900">
              <a:solidFill>
                <a:srgbClr val="336666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8" name="Google Shape;478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Soluzione Assembly ARM (DNS → Codice)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548750" y="1097275"/>
            <a:ext cx="8092200" cy="3840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8"/>
          <p:cNvSpPr/>
          <p:nvPr/>
        </p:nvSpPr>
        <p:spPr>
          <a:xfrm>
            <a:off x="696525" y="1188725"/>
            <a:ext cx="7807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varX, 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varY, 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varZ,  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R0, #varX       ; leggo 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R1, #varY       ; leggo 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R2, #varZ       ; leggo 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CMP   R0, R1          ; X &gt; Y 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MOVGT R3, R0          ; TRUE  --&gt; Max = 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MOVLT R3, R1          ; FALSE --&gt; Max = 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CMP   R2, R3          ; Z &gt; Max 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MOVGT R3, R2          ; TRUE  --&gt; Max = 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   R3, [SP]        ; Return Max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9"/>
          <p:cNvSpPr/>
          <p:nvPr/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 da svolgere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365760" y="2022804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9"/>
          <p:cNvSpPr/>
          <p:nvPr/>
        </p:nvSpPr>
        <p:spPr>
          <a:xfrm>
            <a:off x="365760" y="20228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9"/>
          <p:cNvSpPr/>
          <p:nvPr/>
        </p:nvSpPr>
        <p:spPr>
          <a:xfrm>
            <a:off x="960120" y="2050236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somma di tre numeri 10, 20, 30.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9"/>
          <p:cNvSpPr/>
          <p:nvPr/>
        </p:nvSpPr>
        <p:spPr>
          <a:xfrm>
            <a:off x="365760" y="2736036"/>
            <a:ext cx="457200" cy="457200"/>
          </a:xfrm>
          <a:prstGeom prst="rect">
            <a:avLst/>
          </a:prstGeom>
          <a:solidFill>
            <a:srgbClr val="1B6B4A"/>
          </a:solidFill>
          <a:ln cap="flat" cmpd="sng" w="12700">
            <a:solidFill>
              <a:srgbClr val="1B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9"/>
          <p:cNvSpPr/>
          <p:nvPr/>
        </p:nvSpPr>
        <p:spPr>
          <a:xfrm>
            <a:off x="365760" y="27360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it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9"/>
          <p:cNvSpPr/>
          <p:nvPr/>
        </p:nvSpPr>
        <p:spPr>
          <a:xfrm>
            <a:off x="960120" y="276346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lang="it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differenza di due numeri 30, 15 e moltiplicare il risultato per 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9"/>
          <p:cNvSpPr txBox="1"/>
          <p:nvPr/>
        </p:nvSpPr>
        <p:spPr>
          <a:xfrm>
            <a:off x="365750" y="1097275"/>
            <a:ext cx="76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Genera il diagramma DNS e il codice ARM dei seguenti </a:t>
            </a:r>
            <a:r>
              <a:rPr lang="it"/>
              <a:t>esercizi</a:t>
            </a:r>
            <a:r>
              <a:rPr lang="it"/>
              <a:t>:</a:t>
            </a:r>
            <a:endParaRPr/>
          </a:p>
        </p:txBody>
      </p:sp>
      <p:sp>
        <p:nvSpPr>
          <p:cNvPr id="501" name="Google Shape;501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0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1: Somma di tre numeri interi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0"/>
          <p:cNvSpPr/>
          <p:nvPr/>
        </p:nvSpPr>
        <p:spPr>
          <a:xfrm>
            <a:off x="548640" y="1188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1" lang="it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0"/>
          <p:cNvSpPr/>
          <p:nvPr/>
        </p:nvSpPr>
        <p:spPr>
          <a:xfrm>
            <a:off x="548640" y="1536192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Calcolare la somma di tre numeri interi X, Y, Z ∈ 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0"/>
          <p:cNvSpPr/>
          <p:nvPr/>
        </p:nvSpPr>
        <p:spPr>
          <a:xfrm>
            <a:off x="548640" y="201168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Prototipo &amp; specifiche: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0"/>
          <p:cNvSpPr/>
          <p:nvPr/>
        </p:nvSpPr>
        <p:spPr>
          <a:xfrm>
            <a:off x="548640" y="2395728"/>
            <a:ext cx="8046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Prototipo:       int somma(X, Y, Z)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Pre-condizioni:  X, Y, Z sono interi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Post-condizione: somma(X,Y,Z) restituisce la somma di X, Y e Z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0"/>
          <p:cNvSpPr/>
          <p:nvPr/>
        </p:nvSpPr>
        <p:spPr>
          <a:xfrm>
            <a:off x="548640" y="37490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Algoritmo (a parole):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0"/>
          <p:cNvSpPr/>
          <p:nvPr/>
        </p:nvSpPr>
        <p:spPr>
          <a:xfrm>
            <a:off x="548640" y="4133088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Calcola la somma temporanea di X e Y → Somma = X + 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Calcola la somma definitiva aggiungendo Z → Somma = Somma + Z.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1"/>
          <p:cNvSpPr txBox="1"/>
          <p:nvPr/>
        </p:nvSpPr>
        <p:spPr>
          <a:xfrm>
            <a:off x="505177" y="990025"/>
            <a:ext cx="7109400" cy="29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calcolare la somma di tre numeri il metodo più semplice è sommare i valori in sequenza: prima sommiamo due numeri e poi aggiungiamo il terzo al risultato parziale.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Formalizzando l’algoritmo i passaggi sono: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698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Calcola la somma parziale di X e Y </a:t>
            </a:r>
            <a:b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Somma = X + Y;</a:t>
            </a:r>
            <a:endParaRPr sz="1700">
              <a:solidFill>
                <a:schemeClr val="dk1"/>
              </a:solidFill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22250" lvl="1" marL="698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Aggiungi Z alla somma parziale per ottenere la somma definitiva → Somma = Somma + Z.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1"/>
          <p:cNvSpPr txBox="1"/>
          <p:nvPr>
            <p:ph type="title"/>
          </p:nvPr>
        </p:nvSpPr>
        <p:spPr>
          <a:xfrm>
            <a:off x="459253" y="145325"/>
            <a:ext cx="6779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it"/>
              <a:t>Esercizio 1: 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Somma di tre numeri interi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2"/>
          <p:cNvSpPr txBox="1"/>
          <p:nvPr/>
        </p:nvSpPr>
        <p:spPr>
          <a:xfrm>
            <a:off x="457200" y="18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</p:txBody>
      </p:sp>
      <p:sp>
        <p:nvSpPr>
          <p:cNvPr id="526" name="Google Shape;526;p42"/>
          <p:cNvSpPr txBox="1"/>
          <p:nvPr/>
        </p:nvSpPr>
        <p:spPr>
          <a:xfrm>
            <a:off x="457200" y="900000"/>
            <a:ext cx="205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corrispondente diagramma DNS e:</a:t>
            </a:r>
            <a:endParaRPr/>
          </a:p>
        </p:txBody>
      </p:sp>
      <p:sp>
        <p:nvSpPr>
          <p:cNvPr id="527" name="Google Shape;527;p42"/>
          <p:cNvSpPr/>
          <p:nvPr/>
        </p:nvSpPr>
        <p:spPr>
          <a:xfrm>
            <a:off x="2600000" y="1320000"/>
            <a:ext cx="3944000" cy="50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Somma = X + Y</a:t>
            </a:r>
            <a:endParaRPr/>
          </a:p>
        </p:txBody>
      </p:sp>
      <p:sp>
        <p:nvSpPr>
          <p:cNvPr id="528" name="Google Shape;528;p42"/>
          <p:cNvSpPr/>
          <p:nvPr/>
        </p:nvSpPr>
        <p:spPr>
          <a:xfrm>
            <a:off x="2600000" y="1820000"/>
            <a:ext cx="3944000" cy="50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Somma = Somma + Z</a:t>
            </a:r>
            <a:endParaRPr/>
          </a:p>
        </p:txBody>
      </p:sp>
      <p:sp>
        <p:nvSpPr>
          <p:cNvPr id="529" name="Google Shape;529;p42"/>
          <p:cNvSpPr/>
          <p:nvPr/>
        </p:nvSpPr>
        <p:spPr>
          <a:xfrm>
            <a:off x="2600000" y="2320000"/>
            <a:ext cx="3944000" cy="50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Somma</a:t>
            </a:r>
            <a:endParaRPr/>
          </a:p>
        </p:txBody>
      </p:sp>
      <p:sp>
        <p:nvSpPr>
          <p:cNvPr id="530" name="Google Shape;530;p42"/>
          <p:cNvSpPr txBox="1"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Nota: la somma e un algoritmo puramente sequenziale - nessuna struttura di selezione nel DNS.</a:t>
            </a:r>
            <a:endParaRPr/>
          </a:p>
        </p:txBody>
      </p:sp>
      <p:sp>
        <p:nvSpPr>
          <p:cNvPr id="531" name="Google Shape;531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3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Soluzione Assembly ARM – Es. 1: Somma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3"/>
          <p:cNvSpPr/>
          <p:nvPr/>
        </p:nvSpPr>
        <p:spPr>
          <a:xfrm>
            <a:off x="548750" y="1097275"/>
            <a:ext cx="8092200" cy="3840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3"/>
          <p:cNvSpPr/>
          <p:nvPr/>
        </p:nvSpPr>
        <p:spPr>
          <a:xfrm>
            <a:off x="696525" y="1188725"/>
            <a:ext cx="7807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varX, 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varY,  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varZ, 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R0, #varX       ; leggo X (10)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R1, #varY       ; leggo Y (20)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R2, #varZ       ; leggo Z (30)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ADD   R3, R0, R1      ; Somma = X + 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ADD   R3, R3, R2      ; Somma = Somma + 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   R3, [SP]        ; Return Somma (10+20+30=60)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 2: Differenza e moltiplicazione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4"/>
          <p:cNvSpPr/>
          <p:nvPr/>
        </p:nvSpPr>
        <p:spPr>
          <a:xfrm>
            <a:off x="548640" y="118872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Calibri"/>
              <a:buNone/>
            </a:pPr>
            <a:r>
              <a:rPr b="1" i="1" lang="it" sz="1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Esercizio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4"/>
          <p:cNvSpPr/>
          <p:nvPr/>
        </p:nvSpPr>
        <p:spPr>
          <a:xfrm>
            <a:off x="548640" y="1536192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0" i="0" lang="it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Fare la differenza di due numeri A=30, B=15 e moltiplicare il risultato per C=10.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4"/>
          <p:cNvSpPr/>
          <p:nvPr/>
        </p:nvSpPr>
        <p:spPr>
          <a:xfrm>
            <a:off x="548640" y="201168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Prototipo &amp; specifiche: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4"/>
          <p:cNvSpPr/>
          <p:nvPr/>
        </p:nvSpPr>
        <p:spPr>
          <a:xfrm>
            <a:off x="548640" y="2395728"/>
            <a:ext cx="8046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Prototipo:       int diffMul(A, B, C)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Pre-condizioni:  A, B, C sono interi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Post-condizione: diffMul(A,B,C) restituisce (A-B)*C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4"/>
          <p:cNvSpPr/>
          <p:nvPr/>
        </p:nvSpPr>
        <p:spPr>
          <a:xfrm>
            <a:off x="548640" y="3749040"/>
            <a:ext cx="8046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6B4A"/>
              </a:buClr>
              <a:buSzPts val="1900"/>
              <a:buFont typeface="Calibri"/>
              <a:buNone/>
            </a:pPr>
            <a:r>
              <a:rPr b="1" i="0" lang="it" sz="1900" u="none" cap="none" strike="noStrike">
                <a:solidFill>
                  <a:srgbClr val="1B6B4A"/>
                </a:solidFill>
                <a:latin typeface="Calibri"/>
                <a:ea typeface="Calibri"/>
                <a:cs typeface="Calibri"/>
                <a:sym typeface="Calibri"/>
              </a:rPr>
              <a:t>Algoritmo (a parole):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4"/>
          <p:cNvSpPr/>
          <p:nvPr/>
        </p:nvSpPr>
        <p:spPr>
          <a:xfrm>
            <a:off x="548640" y="4133088"/>
            <a:ext cx="8046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 Calcola la differenza tra A e B → Diff = A - B.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•"/>
            </a:pPr>
            <a:r>
              <a:rPr b="0" i="0" lang="it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 Moltiplica il risultato per C → Risultato = Diff × C.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5"/>
          <p:cNvSpPr txBox="1"/>
          <p:nvPr/>
        </p:nvSpPr>
        <p:spPr>
          <a:xfrm>
            <a:off x="505177" y="990025"/>
            <a:ext cx="7109400" cy="29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2850" lIns="42850" spcFirstLastPara="1" rIns="42850" wrap="square" tIns="4285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calcolare prima la differenza di due numeri e poi moltiplicare il risultato per un terzo valore, eseguiamo le operazioni in sequenza: prima la sottrazione, poi la moltiplicazione.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Formalizzando l’algoritmo i passaggi sono: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698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Calcola la differenza tra A e B </a:t>
            </a:r>
            <a:b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Diff = A - B;</a:t>
            </a:r>
            <a:endParaRPr sz="1700">
              <a:solidFill>
                <a:schemeClr val="dk1"/>
              </a:solidFill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22250" lvl="1" marL="6985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AutoNum type="arabicPeriod"/>
            </a:pP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Moltiplica il risultato Diff per C per ottenere il risultato definitivo </a:t>
            </a:r>
            <a:b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it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 Risultato = Diff × C.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5"/>
          <p:cNvSpPr txBox="1"/>
          <p:nvPr>
            <p:ph type="title"/>
          </p:nvPr>
        </p:nvSpPr>
        <p:spPr>
          <a:xfrm>
            <a:off x="459253" y="145325"/>
            <a:ext cx="6779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it"/>
              <a:t>Esercizio 2: </a:t>
            </a:r>
            <a:r>
              <a:rPr lang="it">
                <a:latin typeface="Arial"/>
                <a:ea typeface="Arial"/>
                <a:cs typeface="Arial"/>
                <a:sym typeface="Arial"/>
              </a:rPr>
              <a:t>Differenza e moltiplicazione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6"/>
          <p:cNvSpPr txBox="1"/>
          <p:nvPr/>
        </p:nvSpPr>
        <p:spPr>
          <a:xfrm>
            <a:off x="457200" y="180000"/>
            <a:ext cx="82296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</p:txBody>
      </p:sp>
      <p:sp>
        <p:nvSpPr>
          <p:cNvPr id="564" name="Google Shape;564;p46"/>
          <p:cNvSpPr txBox="1"/>
          <p:nvPr/>
        </p:nvSpPr>
        <p:spPr>
          <a:xfrm>
            <a:off x="457200" y="900000"/>
            <a:ext cx="20499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it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Il corrispondente diagramma DNS e:</a:t>
            </a:r>
            <a:endParaRPr/>
          </a:p>
        </p:txBody>
      </p:sp>
      <p:sp>
        <p:nvSpPr>
          <p:cNvPr id="565" name="Google Shape;565;p46"/>
          <p:cNvSpPr/>
          <p:nvPr/>
        </p:nvSpPr>
        <p:spPr>
          <a:xfrm>
            <a:off x="2600000" y="1320000"/>
            <a:ext cx="3944100" cy="50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Diff = A - B</a:t>
            </a:r>
            <a:endParaRPr/>
          </a:p>
        </p:txBody>
      </p:sp>
      <p:sp>
        <p:nvSpPr>
          <p:cNvPr id="566" name="Google Shape;566;p46"/>
          <p:cNvSpPr/>
          <p:nvPr/>
        </p:nvSpPr>
        <p:spPr>
          <a:xfrm>
            <a:off x="2600000" y="1820000"/>
            <a:ext cx="3944100" cy="50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Risultato = Diff * C</a:t>
            </a:r>
            <a:endParaRPr/>
          </a:p>
        </p:txBody>
      </p:sp>
      <p:sp>
        <p:nvSpPr>
          <p:cNvPr id="567" name="Google Shape;567;p46"/>
          <p:cNvSpPr/>
          <p:nvPr/>
        </p:nvSpPr>
        <p:spPr>
          <a:xfrm>
            <a:off x="2600000" y="2320000"/>
            <a:ext cx="3944100" cy="500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it" sz="1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Return Risultato</a:t>
            </a:r>
            <a:endParaRPr/>
          </a:p>
        </p:txBody>
      </p:sp>
      <p:sp>
        <p:nvSpPr>
          <p:cNvPr id="568" name="Google Shape;568;p46"/>
          <p:cNvSpPr txBox="1"/>
          <p:nvPr/>
        </p:nvSpPr>
        <p:spPr>
          <a:xfrm>
            <a:off x="457200" y="3050000"/>
            <a:ext cx="8229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it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Nota: anche questo e un algoritmo puramente sequenziale - i valori costanti sono A=30, B=15, C=10 → (30-15)*10 = 150.</a:t>
            </a:r>
            <a:endParaRPr/>
          </a:p>
        </p:txBody>
      </p:sp>
      <p:sp>
        <p:nvSpPr>
          <p:cNvPr id="569" name="Google Shape;56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7"/>
          <p:cNvSpPr/>
          <p:nvPr/>
        </p:nvSpPr>
        <p:spPr>
          <a:xfrm>
            <a:off x="457200" y="32004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it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Soluzione Assembly ARM – Es. 2: DiffMul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7"/>
          <p:cNvSpPr/>
          <p:nvPr/>
        </p:nvSpPr>
        <p:spPr>
          <a:xfrm>
            <a:off x="548750" y="1097275"/>
            <a:ext cx="8092200" cy="3840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7"/>
          <p:cNvSpPr/>
          <p:nvPr/>
        </p:nvSpPr>
        <p:spPr>
          <a:xfrm>
            <a:off x="696525" y="1188725"/>
            <a:ext cx="7807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varA, 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varB,  15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.equ varC, 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R0, #varA       ; leggo A (30)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R1, #varB       ; leggo B (15)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   R2, #varC       ; leggo C (10)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SUB   R3, R0, R1      ; Diff = A - B  (30-15=15)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MUL   R3, R3, R2      ; Risultato = Diff * C  (15*10=150)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STR   R3, [SP]        ; Return Risultato (150)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300"/>
              <a:buFont typeface="Courier New"/>
              <a:buNone/>
            </a:pPr>
            <a:r>
              <a:rPr b="0" i="0" lang="it" sz="1300" u="none" cap="none" strike="noStrike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