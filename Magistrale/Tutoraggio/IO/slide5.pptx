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2" r:id="rId5"/>
    <p:sldMasterId id="2147483683" r:id="rId6"/>
    <p:sldMasterId id="214748368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4A4DA8-01FB-4A93-BB0E-A9C0786689F8}">
  <a:tblStyle styleId="{D54A4DA8-01FB-4A93-BB0E-A9C0786689F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163bac5b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d163bac5b0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163bac5b0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d163bac5b0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lezione è organizzata in cinque parti principali.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prima parte riguarda i sistemi di numerazione. Vedremo cosa sono, come funzionano e qual è la differenza tra sistemi additivi e sistemi posizionali.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seconda parte studieremo come convertire un numero scritto in una base qualsiasi nel sistema decimale utilizzando la notazione polinomiale.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Nella terza parte vedremo il procedimento inverso: come convertire un numero decimale in una base qualsiasi utilizzando il metodo delle divisioni successive.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Successivamente analizzeremo un caso particolare molto importante: le basi che sono potenze l'una dell'altra, come base 2, base 8 e base 16. Queste conversioni sono particolarmente semplici e molto usate in informatica.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Infine introdurremo il codice di Hamming, che consente di rilevare e correggere errori nei dati trasmessi o memorizzati.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163bac5b0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d163bac5b0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d163bac5b0_3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163bac5b0_3_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d163bac5b0_3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163bac5b0_3_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163bac5b0_3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163bac5b0_3_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d163bac5b0_3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163bac5b0_3_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d163bac5b0_3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163bac5b0_3_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163bac5b0_3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163bac5b0_3_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d163bac5b0_3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163bac5b0_3_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d163bac5b0_3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163bac5b0_3_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163bac5b0_3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163bac5b0_3_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d163bac5b0_3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163bac5b0_3_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d163bac5b0_3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163bac5b0_3_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d163bac5b0_3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163bac5b0_3_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d163bac5b0_3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163bac5b0_3_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d163bac5b0_3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163bac5b0_3_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d163bac5b0_3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163bac5b0_3_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d163bac5b0_3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163bac5b0_3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d163bac5b0_3_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d163bac5b0_3_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163bac5b0_3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d163bac5b0_3_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d163bac5b0_3_1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163bac5b0_3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d163bac5b0_3_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d163bac5b0_3_1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163bac5b0_3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d163bac5b0_3_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d163bac5b0_3_1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163bac5b0_3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d163bac5b0_3_1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d163bac5b0_3_1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163bac5b0_3_1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d163bac5b0_3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163bac5b0_3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d163bac5b0_3_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d163bac5b0_3_1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163bac5b0_3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d163bac5b0_3_2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d163bac5b0_3_2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163bac5b0_3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d163bac5b0_3_2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d163bac5b0_3_2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163bac5b0_3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d163bac5b0_3_2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d163bac5b0_3_2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163bac5b0_3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d163bac5b0_3_2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d163bac5b0_3_2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163bac5b0_3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3d163bac5b0_3_2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d163bac5b0_3_2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163bac5b0_3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d163bac5b0_3_2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d163bac5b0_3_2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163bac5b0_3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d163bac5b0_3_2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d163bac5b0_3_2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163bac5b0_3_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d163bac5b0_3_2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Le slide devono essere redatte con sobrietà, senza uso di troppi colori (lo stretto necessario) e con frasi brevi. Interlinea 1-1,5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Possono essere inseriti collegamenti a filmati, pdf, pagine web e quant’altro. Tutti i collegamenti ipertestuali devono essere attivabili dal ppt.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È necessario che la Produzione acquisisca preventivamente tutti i video scaricati dal Web (ad esempio da YouTube) per inviarli al CPM per l’attribuzione del formato necessario.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d163bac5b0_3_2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163bac5b0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d163bac5b0_8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163bac5b0_8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d163bac5b0_8_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d163bac5b0_8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d163bac5b0_8_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163bac5b0_8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d163bac5b0_8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163bac5b0_8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d163bac5b0_8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163bac5b0_8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d163bac5b0_8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d163bac5b0_8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g3d163bac5b0_8_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d163bac5b0_8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d163bac5b0_8_1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d163bac5b0_8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d163bac5b0_8_1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d163bac5b0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d163bac5b0_6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20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1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2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9" name="Google Shape;169;p32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0" name="Google Shape;170;p32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1" name="Google Shape;171;p32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83" name="Google Shape;183;p34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4" name="Google Shape;184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itleAndTx">
  <p:cSld name="VERTICAL_TITLE_AND_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37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3" name="Google Shape;203;p3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3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Architettura dei sistemi di elaborazione (</a:t>
            </a:r>
            <a:r>
              <a:rPr b="1" lang="it" sz="3500">
                <a:solidFill>
                  <a:schemeClr val="dk1"/>
                </a:solidFill>
              </a:rPr>
              <a:t>5</a:t>
            </a: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8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/>
          <p:nvPr>
            <p:ph type="title"/>
          </p:nvPr>
        </p:nvSpPr>
        <p:spPr>
          <a:xfrm>
            <a:off x="628650" y="273849"/>
            <a:ext cx="78867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Indice</a:t>
            </a:r>
            <a:endParaRPr/>
          </a:p>
        </p:txBody>
      </p:sp>
      <p:sp>
        <p:nvSpPr>
          <p:cNvPr id="219" name="Google Shape;219;p39"/>
          <p:cNvSpPr txBox="1"/>
          <p:nvPr>
            <p:ph idx="1" type="body"/>
          </p:nvPr>
        </p:nvSpPr>
        <p:spPr>
          <a:xfrm>
            <a:off x="628650" y="1056251"/>
            <a:ext cx="78867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0" name="Google Shape;220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</a:t>
            </a:r>
            <a:endParaRPr sz="1100"/>
          </a:p>
        </p:txBody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7" r="-1739" t="-2241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2100"/>
              <a:buChar char="●"/>
            </a:pPr>
            <a:r>
              <a:rPr lang="it" sz="1100"/>
              <a:t> </a:t>
            </a:r>
            <a:endParaRPr sz="1100"/>
          </a:p>
        </p:txBody>
      </p:sp>
      <p:sp>
        <p:nvSpPr>
          <p:cNvPr id="228" name="Google Shape;228;p40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algebrico </a:t>
            </a:r>
            <a:endParaRPr sz="1100"/>
          </a:p>
        </p:txBody>
      </p:sp>
      <p:sp>
        <p:nvSpPr>
          <p:cNvPr id="234" name="Google Shape;234;p41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1"/>
          <p:cNvSpPr/>
          <p:nvPr/>
        </p:nvSpPr>
        <p:spPr>
          <a:xfrm>
            <a:off x="1836454" y="1207936"/>
            <a:ext cx="2389789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algebrico </a:t>
            </a:r>
            <a:endParaRPr sz="1100"/>
          </a:p>
        </p:txBody>
      </p:sp>
      <p:sp>
        <p:nvSpPr>
          <p:cNvPr id="241" name="Google Shape;241;p42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2"/>
          <p:cNvSpPr/>
          <p:nvPr/>
        </p:nvSpPr>
        <p:spPr>
          <a:xfrm>
            <a:off x="1836454" y="1207936"/>
            <a:ext cx="3532409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algebrico </a:t>
            </a:r>
            <a:endParaRPr sz="1100"/>
          </a:p>
        </p:txBody>
      </p:sp>
      <p:sp>
        <p:nvSpPr>
          <p:cNvPr id="248" name="Google Shape;248;p43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3"/>
          <p:cNvSpPr/>
          <p:nvPr/>
        </p:nvSpPr>
        <p:spPr>
          <a:xfrm>
            <a:off x="1836453" y="1207936"/>
            <a:ext cx="4054668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algebrico </a:t>
            </a:r>
            <a:endParaRPr sz="1100"/>
          </a:p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4"/>
          <p:cNvSpPr/>
          <p:nvPr/>
        </p:nvSpPr>
        <p:spPr>
          <a:xfrm>
            <a:off x="1836453" y="1207936"/>
            <a:ext cx="4754571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332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esaustivo </a:t>
            </a:r>
            <a:endParaRPr sz="1100"/>
          </a:p>
        </p:txBody>
      </p:sp>
      <p:sp>
        <p:nvSpPr>
          <p:cNvPr id="262" name="Google Shape;262;p45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5"/>
          <p:cNvSpPr/>
          <p:nvPr/>
        </p:nvSpPr>
        <p:spPr>
          <a:xfrm>
            <a:off x="3794977" y="930435"/>
            <a:ext cx="2827714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264" name="Google Shape;264;p45"/>
          <p:cNvGraphicFramePr/>
          <p:nvPr/>
        </p:nvGraphicFramePr>
        <p:xfrm>
          <a:off x="821833" y="144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421575"/>
                <a:gridCol w="640375"/>
                <a:gridCol w="891200"/>
                <a:gridCol w="1003275"/>
                <a:gridCol w="373550"/>
                <a:gridCol w="1238075"/>
                <a:gridCol w="436150"/>
                <a:gridCol w="860625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esaustivo </a:t>
            </a:r>
            <a:endParaRPr sz="1100"/>
          </a:p>
        </p:txBody>
      </p:sp>
      <p:sp>
        <p:nvSpPr>
          <p:cNvPr id="270" name="Google Shape;270;p46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6"/>
          <p:cNvSpPr/>
          <p:nvPr/>
        </p:nvSpPr>
        <p:spPr>
          <a:xfrm>
            <a:off x="3794977" y="930435"/>
            <a:ext cx="2827714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272" name="Google Shape;272;p46"/>
          <p:cNvGraphicFramePr/>
          <p:nvPr/>
        </p:nvGraphicFramePr>
        <p:xfrm>
          <a:off x="821833" y="1423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421575"/>
                <a:gridCol w="640375"/>
                <a:gridCol w="891200"/>
                <a:gridCol w="1003275"/>
                <a:gridCol w="373550"/>
                <a:gridCol w="1238075"/>
                <a:gridCol w="436150"/>
                <a:gridCol w="860625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esaustivo </a:t>
            </a:r>
            <a:endParaRPr sz="1100"/>
          </a:p>
        </p:txBody>
      </p:sp>
      <p:sp>
        <p:nvSpPr>
          <p:cNvPr id="278" name="Google Shape;278;p47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7"/>
          <p:cNvSpPr/>
          <p:nvPr/>
        </p:nvSpPr>
        <p:spPr>
          <a:xfrm>
            <a:off x="3794977" y="930435"/>
            <a:ext cx="2827714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280" name="Google Shape;280;p47"/>
          <p:cNvGraphicFramePr/>
          <p:nvPr/>
        </p:nvGraphicFramePr>
        <p:xfrm>
          <a:off x="821833" y="1423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421575"/>
                <a:gridCol w="640375"/>
                <a:gridCol w="891200"/>
                <a:gridCol w="1003275"/>
                <a:gridCol w="373550"/>
                <a:gridCol w="1238075"/>
                <a:gridCol w="436150"/>
                <a:gridCol w="860625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esaustivo </a:t>
            </a:r>
            <a:endParaRPr sz="1100"/>
          </a:p>
        </p:txBody>
      </p:sp>
      <p:sp>
        <p:nvSpPr>
          <p:cNvPr id="286" name="Google Shape;286;p48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8"/>
          <p:cNvSpPr/>
          <p:nvPr/>
        </p:nvSpPr>
        <p:spPr>
          <a:xfrm>
            <a:off x="3794977" y="930435"/>
            <a:ext cx="2827714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288" name="Google Shape;288;p48"/>
          <p:cNvGraphicFramePr/>
          <p:nvPr/>
        </p:nvGraphicFramePr>
        <p:xfrm>
          <a:off x="821833" y="1423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421575"/>
                <a:gridCol w="640375"/>
                <a:gridCol w="891200"/>
                <a:gridCol w="1003275"/>
                <a:gridCol w="373550"/>
                <a:gridCol w="1238075"/>
                <a:gridCol w="436150"/>
                <a:gridCol w="860625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esaustivo </a:t>
            </a:r>
            <a:endParaRPr sz="1100"/>
          </a:p>
        </p:txBody>
      </p:sp>
      <p:sp>
        <p:nvSpPr>
          <p:cNvPr id="294" name="Google Shape;294;p49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9"/>
          <p:cNvSpPr/>
          <p:nvPr/>
        </p:nvSpPr>
        <p:spPr>
          <a:xfrm>
            <a:off x="3794977" y="930435"/>
            <a:ext cx="2827714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296" name="Google Shape;296;p49"/>
          <p:cNvGraphicFramePr/>
          <p:nvPr/>
        </p:nvGraphicFramePr>
        <p:xfrm>
          <a:off x="821833" y="1423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421575"/>
                <a:gridCol w="640375"/>
                <a:gridCol w="891200"/>
                <a:gridCol w="1003275"/>
                <a:gridCol w="373550"/>
                <a:gridCol w="1238075"/>
                <a:gridCol w="436150"/>
                <a:gridCol w="860625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esaustivo </a:t>
            </a:r>
            <a:endParaRPr sz="1100"/>
          </a:p>
        </p:txBody>
      </p:sp>
      <p:sp>
        <p:nvSpPr>
          <p:cNvPr id="302" name="Google Shape;302;p50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0"/>
          <p:cNvSpPr/>
          <p:nvPr/>
        </p:nvSpPr>
        <p:spPr>
          <a:xfrm>
            <a:off x="3794977" y="930435"/>
            <a:ext cx="2827714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304" name="Google Shape;304;p50"/>
          <p:cNvGraphicFramePr/>
          <p:nvPr/>
        </p:nvGraphicFramePr>
        <p:xfrm>
          <a:off x="821833" y="1423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421575"/>
                <a:gridCol w="640375"/>
                <a:gridCol w="891200"/>
                <a:gridCol w="1003275"/>
                <a:gridCol w="373550"/>
                <a:gridCol w="1238075"/>
                <a:gridCol w="436150"/>
                <a:gridCol w="860625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esaustivo </a:t>
            </a:r>
            <a:endParaRPr sz="1100"/>
          </a:p>
        </p:txBody>
      </p:sp>
      <p:sp>
        <p:nvSpPr>
          <p:cNvPr id="310" name="Google Shape;310;p51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1"/>
          <p:cNvSpPr/>
          <p:nvPr/>
        </p:nvSpPr>
        <p:spPr>
          <a:xfrm>
            <a:off x="3794977" y="930435"/>
            <a:ext cx="2827714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312" name="Google Shape;312;p51"/>
          <p:cNvGraphicFramePr/>
          <p:nvPr/>
        </p:nvGraphicFramePr>
        <p:xfrm>
          <a:off x="821833" y="1423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421575"/>
                <a:gridCol w="640375"/>
                <a:gridCol w="891200"/>
                <a:gridCol w="1003275"/>
                <a:gridCol w="373550"/>
                <a:gridCol w="1238075"/>
                <a:gridCol w="436150"/>
                <a:gridCol w="860625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esaustivo </a:t>
            </a:r>
            <a:endParaRPr sz="1100"/>
          </a:p>
        </p:txBody>
      </p:sp>
      <p:sp>
        <p:nvSpPr>
          <p:cNvPr id="318" name="Google Shape;318;p52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2"/>
          <p:cNvSpPr/>
          <p:nvPr/>
        </p:nvSpPr>
        <p:spPr>
          <a:xfrm>
            <a:off x="3794977" y="930435"/>
            <a:ext cx="2827714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320" name="Google Shape;320;p52"/>
          <p:cNvGraphicFramePr/>
          <p:nvPr/>
        </p:nvGraphicFramePr>
        <p:xfrm>
          <a:off x="821833" y="1423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421575"/>
                <a:gridCol w="640375"/>
                <a:gridCol w="891200"/>
                <a:gridCol w="1003275"/>
                <a:gridCol w="373550"/>
                <a:gridCol w="1238075"/>
                <a:gridCol w="436150"/>
                <a:gridCol w="860625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esaustivo </a:t>
            </a:r>
            <a:endParaRPr sz="1100"/>
          </a:p>
        </p:txBody>
      </p:sp>
      <p:sp>
        <p:nvSpPr>
          <p:cNvPr id="326" name="Google Shape;326;p53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3"/>
          <p:cNvSpPr/>
          <p:nvPr/>
        </p:nvSpPr>
        <p:spPr>
          <a:xfrm>
            <a:off x="3794977" y="930435"/>
            <a:ext cx="2827714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328" name="Google Shape;328;p53"/>
          <p:cNvGraphicFramePr/>
          <p:nvPr/>
        </p:nvGraphicFramePr>
        <p:xfrm>
          <a:off x="821833" y="1423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421575"/>
                <a:gridCol w="640375"/>
                <a:gridCol w="891200"/>
                <a:gridCol w="1003275"/>
                <a:gridCol w="373550"/>
                <a:gridCol w="1238075"/>
                <a:gridCol w="436150"/>
                <a:gridCol w="860625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4 - Metodo esaustivo </a:t>
            </a:r>
            <a:endParaRPr sz="1100"/>
          </a:p>
        </p:txBody>
      </p:sp>
      <p:sp>
        <p:nvSpPr>
          <p:cNvPr id="334" name="Google Shape;334;p54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4"/>
          <p:cNvSpPr/>
          <p:nvPr/>
        </p:nvSpPr>
        <p:spPr>
          <a:xfrm>
            <a:off x="3794977" y="930435"/>
            <a:ext cx="2827714" cy="3441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0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336" name="Google Shape;336;p54"/>
          <p:cNvGraphicFramePr/>
          <p:nvPr/>
        </p:nvGraphicFramePr>
        <p:xfrm>
          <a:off x="821833" y="1423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421575"/>
                <a:gridCol w="640375"/>
                <a:gridCol w="891200"/>
                <a:gridCol w="1003275"/>
                <a:gridCol w="373550"/>
                <a:gridCol w="1238075"/>
                <a:gridCol w="436150"/>
                <a:gridCol w="860625"/>
              </a:tblGrid>
              <a:tr h="34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4 – Circuito Logico</a:t>
            </a:r>
            <a:endParaRPr sz="1100"/>
          </a:p>
        </p:txBody>
      </p:sp>
      <p:pic>
        <p:nvPicPr>
          <p:cNvPr id="342" name="Google Shape;342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8628" y="1886389"/>
            <a:ext cx="3886742" cy="2229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5</a:t>
            </a:r>
            <a:endParaRPr sz="1100"/>
          </a:p>
        </p:txBody>
      </p:sp>
      <p:sp>
        <p:nvSpPr>
          <p:cNvPr id="349" name="Google Shape;349;p5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01" r="0" t="-3501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2100"/>
              <a:buChar char="●"/>
            </a:pPr>
            <a:r>
              <a:rPr lang="it" sz="1100"/>
              <a:t> </a:t>
            </a:r>
            <a:endParaRPr sz="1100"/>
          </a:p>
        </p:txBody>
      </p:sp>
      <p:sp>
        <p:nvSpPr>
          <p:cNvPr id="350" name="Google Shape;350;p56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6"/>
          <p:cNvSpPr/>
          <p:nvPr/>
        </p:nvSpPr>
        <p:spPr>
          <a:xfrm>
            <a:off x="3446860" y="1609791"/>
            <a:ext cx="2151300" cy="344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5</a:t>
            </a:r>
            <a:endParaRPr sz="1100"/>
          </a:p>
        </p:txBody>
      </p:sp>
      <p:sp>
        <p:nvSpPr>
          <p:cNvPr id="358" name="Google Shape;358;p57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57"/>
          <p:cNvSpPr/>
          <p:nvPr/>
        </p:nvSpPr>
        <p:spPr>
          <a:xfrm>
            <a:off x="2120920" y="1003634"/>
            <a:ext cx="4304317" cy="89707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5</a:t>
            </a:r>
            <a:endParaRPr sz="1100"/>
          </a:p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58"/>
          <p:cNvSpPr/>
          <p:nvPr/>
        </p:nvSpPr>
        <p:spPr>
          <a:xfrm>
            <a:off x="2120920" y="1003634"/>
            <a:ext cx="4304317" cy="11590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5</a:t>
            </a:r>
            <a:endParaRPr sz="1100"/>
          </a:p>
        </p:txBody>
      </p:sp>
      <p:sp>
        <p:nvSpPr>
          <p:cNvPr id="374" name="Google Shape;374;p59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59"/>
          <p:cNvSpPr/>
          <p:nvPr/>
        </p:nvSpPr>
        <p:spPr>
          <a:xfrm>
            <a:off x="2120920" y="1003634"/>
            <a:ext cx="4304317" cy="16231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5</a:t>
            </a:r>
            <a:endParaRPr sz="1100"/>
          </a:p>
        </p:txBody>
      </p:sp>
      <p:sp>
        <p:nvSpPr>
          <p:cNvPr id="382" name="Google Shape;382;p60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60"/>
          <p:cNvSpPr/>
          <p:nvPr/>
        </p:nvSpPr>
        <p:spPr>
          <a:xfrm>
            <a:off x="2120920" y="1003634"/>
            <a:ext cx="4304317" cy="18673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5 – Tavola di verità</a:t>
            </a:r>
            <a:endParaRPr sz="1100"/>
          </a:p>
        </p:txBody>
      </p:sp>
      <p:sp>
        <p:nvSpPr>
          <p:cNvPr id="389" name="Google Shape;389;p61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1"/>
          <p:cNvSpPr/>
          <p:nvPr/>
        </p:nvSpPr>
        <p:spPr>
          <a:xfrm>
            <a:off x="3794977" y="930435"/>
            <a:ext cx="1306790" cy="31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391" name="Google Shape;391;p61"/>
          <p:cNvGraphicFramePr/>
          <p:nvPr/>
        </p:nvGraphicFramePr>
        <p:xfrm>
          <a:off x="2828386" y="14182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36200"/>
                <a:gridCol w="442925"/>
                <a:gridCol w="432250"/>
                <a:gridCol w="555000"/>
                <a:gridCol w="506975"/>
                <a:gridCol w="891200"/>
              </a:tblGrid>
              <a:tr h="31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5 – Multiplexer</a:t>
            </a:r>
            <a:endParaRPr sz="1100"/>
          </a:p>
        </p:txBody>
      </p:sp>
      <p:sp>
        <p:nvSpPr>
          <p:cNvPr id="398" name="Google Shape;398;p62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2"/>
          <p:cNvSpPr/>
          <p:nvPr/>
        </p:nvSpPr>
        <p:spPr>
          <a:xfrm>
            <a:off x="6838896" y="2029929"/>
            <a:ext cx="1306800" cy="31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graphicFrame>
        <p:nvGraphicFramePr>
          <p:cNvPr id="400" name="Google Shape;400;p62"/>
          <p:cNvGraphicFramePr/>
          <p:nvPr/>
        </p:nvGraphicFramePr>
        <p:xfrm>
          <a:off x="1579626" y="14236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{D54A4DA8-01FB-4A93-BB0E-A9C0786689F8}</a:tableStyleId>
              </a:tblPr>
              <a:tblGrid>
                <a:gridCol w="346875"/>
                <a:gridCol w="357525"/>
                <a:gridCol w="341550"/>
                <a:gridCol w="1147350"/>
              </a:tblGrid>
              <a:tr h="31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CC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it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36275" marB="36275" marR="72575" marL="7257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01" name="Google Shape;401;p62"/>
          <p:cNvCxnSpPr/>
          <p:nvPr/>
        </p:nvCxnSpPr>
        <p:spPr>
          <a:xfrm rot="-5400000">
            <a:off x="5790450" y="3494396"/>
            <a:ext cx="796200" cy="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62"/>
          <p:cNvSpPr/>
          <p:nvPr/>
        </p:nvSpPr>
        <p:spPr>
          <a:xfrm rot="-5400000">
            <a:off x="6129159" y="3878545"/>
            <a:ext cx="114300" cy="114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p62"/>
          <p:cNvCxnSpPr/>
          <p:nvPr/>
        </p:nvCxnSpPr>
        <p:spPr>
          <a:xfrm rot="-5400000">
            <a:off x="6232718" y="3490616"/>
            <a:ext cx="796200" cy="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62"/>
          <p:cNvSpPr/>
          <p:nvPr/>
        </p:nvSpPr>
        <p:spPr>
          <a:xfrm rot="-5400000">
            <a:off x="6571427" y="3874766"/>
            <a:ext cx="114300" cy="114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62"/>
          <p:cNvCxnSpPr/>
          <p:nvPr/>
        </p:nvCxnSpPr>
        <p:spPr>
          <a:xfrm>
            <a:off x="4951065" y="3909604"/>
            <a:ext cx="403500" cy="30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62"/>
          <p:cNvCxnSpPr/>
          <p:nvPr/>
        </p:nvCxnSpPr>
        <p:spPr>
          <a:xfrm rot="10800000">
            <a:off x="6779174" y="2432138"/>
            <a:ext cx="796200" cy="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62"/>
          <p:cNvSpPr/>
          <p:nvPr/>
        </p:nvSpPr>
        <p:spPr>
          <a:xfrm flipH="1">
            <a:off x="7580729" y="2367410"/>
            <a:ext cx="114300" cy="114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62"/>
          <p:cNvCxnSpPr/>
          <p:nvPr/>
        </p:nvCxnSpPr>
        <p:spPr>
          <a:xfrm>
            <a:off x="5153091" y="1941840"/>
            <a:ext cx="796200" cy="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9" name="Google Shape;409;p62"/>
          <p:cNvGrpSpPr/>
          <p:nvPr/>
        </p:nvGrpSpPr>
        <p:grpSpPr>
          <a:xfrm>
            <a:off x="5528820" y="1724784"/>
            <a:ext cx="420604" cy="1387258"/>
            <a:chOff x="6492358" y="2173043"/>
            <a:chExt cx="1003110" cy="1747837"/>
          </a:xfrm>
        </p:grpSpPr>
        <p:cxnSp>
          <p:nvCxnSpPr>
            <p:cNvPr id="410" name="Google Shape;410;p62"/>
            <p:cNvCxnSpPr/>
            <p:nvPr/>
          </p:nvCxnSpPr>
          <p:spPr>
            <a:xfrm>
              <a:off x="6492358" y="2173043"/>
              <a:ext cx="1003110" cy="0"/>
            </a:xfrm>
            <a:prstGeom prst="straightConnector1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" name="Google Shape;411;p62"/>
            <p:cNvCxnSpPr/>
            <p:nvPr/>
          </p:nvCxnSpPr>
          <p:spPr>
            <a:xfrm>
              <a:off x="6492358" y="2730255"/>
              <a:ext cx="1003110" cy="0"/>
            </a:xfrm>
            <a:prstGeom prst="straightConnector1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62"/>
            <p:cNvCxnSpPr/>
            <p:nvPr/>
          </p:nvCxnSpPr>
          <p:spPr>
            <a:xfrm>
              <a:off x="6492358" y="3363668"/>
              <a:ext cx="1003110" cy="0"/>
            </a:xfrm>
            <a:prstGeom prst="straightConnector1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3" name="Google Shape;413;p62"/>
            <p:cNvCxnSpPr/>
            <p:nvPr/>
          </p:nvCxnSpPr>
          <p:spPr>
            <a:xfrm>
              <a:off x="6492358" y="3920880"/>
              <a:ext cx="1003110" cy="0"/>
            </a:xfrm>
            <a:prstGeom prst="straightConnector1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4" name="Google Shape;414;p62"/>
            <p:cNvCxnSpPr/>
            <p:nvPr/>
          </p:nvCxnSpPr>
          <p:spPr>
            <a:xfrm>
              <a:off x="6492358" y="3029172"/>
              <a:ext cx="1003110" cy="0"/>
            </a:xfrm>
            <a:prstGeom prst="straightConnector1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415" name="Google Shape;415;p62"/>
          <p:cNvCxnSpPr/>
          <p:nvPr/>
        </p:nvCxnSpPr>
        <p:spPr>
          <a:xfrm>
            <a:off x="5153091" y="2893529"/>
            <a:ext cx="796200" cy="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62"/>
          <p:cNvCxnSpPr/>
          <p:nvPr/>
        </p:nvCxnSpPr>
        <p:spPr>
          <a:xfrm>
            <a:off x="5165620" y="1521011"/>
            <a:ext cx="783656" cy="4577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62"/>
          <p:cNvCxnSpPr/>
          <p:nvPr/>
        </p:nvCxnSpPr>
        <p:spPr>
          <a:xfrm flipH="1" rot="10800000">
            <a:off x="5153092" y="1527050"/>
            <a:ext cx="11700" cy="238470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62"/>
          <p:cNvCxnSpPr/>
          <p:nvPr/>
        </p:nvCxnSpPr>
        <p:spPr>
          <a:xfrm rot="10800000">
            <a:off x="5525427" y="1225277"/>
            <a:ext cx="12300" cy="189270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419" name="Google Shape;419;p62"/>
          <p:cNvSpPr/>
          <p:nvPr/>
        </p:nvSpPr>
        <p:spPr>
          <a:xfrm>
            <a:off x="5498546" y="1689817"/>
            <a:ext cx="57300" cy="573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62"/>
          <p:cNvSpPr/>
          <p:nvPr/>
        </p:nvSpPr>
        <p:spPr>
          <a:xfrm>
            <a:off x="5498546" y="2142114"/>
            <a:ext cx="57300" cy="573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62"/>
          <p:cNvSpPr/>
          <p:nvPr/>
        </p:nvSpPr>
        <p:spPr>
          <a:xfrm>
            <a:off x="5498546" y="2376675"/>
            <a:ext cx="57300" cy="573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2"/>
          <p:cNvSpPr/>
          <p:nvPr/>
        </p:nvSpPr>
        <p:spPr>
          <a:xfrm>
            <a:off x="5498546" y="2642792"/>
            <a:ext cx="57300" cy="573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5133032" y="2859473"/>
            <a:ext cx="57300" cy="573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62"/>
          <p:cNvSpPr/>
          <p:nvPr/>
        </p:nvSpPr>
        <p:spPr>
          <a:xfrm>
            <a:off x="5136188" y="1904396"/>
            <a:ext cx="57300" cy="573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62"/>
          <p:cNvCxnSpPr/>
          <p:nvPr/>
        </p:nvCxnSpPr>
        <p:spPr>
          <a:xfrm>
            <a:off x="5014512" y="3954833"/>
            <a:ext cx="276600" cy="240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62"/>
          <p:cNvCxnSpPr/>
          <p:nvPr/>
        </p:nvCxnSpPr>
        <p:spPr>
          <a:xfrm>
            <a:off x="5074993" y="4006373"/>
            <a:ext cx="155700" cy="120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62"/>
          <p:cNvCxnSpPr/>
          <p:nvPr/>
        </p:nvCxnSpPr>
        <p:spPr>
          <a:xfrm>
            <a:off x="5124242" y="4054947"/>
            <a:ext cx="57300" cy="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62"/>
          <p:cNvCxnSpPr/>
          <p:nvPr/>
        </p:nvCxnSpPr>
        <p:spPr>
          <a:xfrm rot="-5400000">
            <a:off x="6002924" y="3492293"/>
            <a:ext cx="796200" cy="0"/>
          </a:xfrm>
          <a:prstGeom prst="straightConnector1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62"/>
          <p:cNvSpPr/>
          <p:nvPr/>
        </p:nvSpPr>
        <p:spPr>
          <a:xfrm rot="-5400000">
            <a:off x="6341633" y="3876442"/>
            <a:ext cx="114300" cy="1143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62"/>
          <p:cNvSpPr/>
          <p:nvPr/>
        </p:nvSpPr>
        <p:spPr>
          <a:xfrm rot="5400000">
            <a:off x="5364603" y="2018604"/>
            <a:ext cx="2022900" cy="828600"/>
          </a:xfrm>
          <a:prstGeom prst="trapezoid">
            <a:avLst>
              <a:gd fmla="val 2500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275" lIns="72575" spcFirstLastPara="1" rIns="72575" wrap="square" tIns="36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62"/>
          <p:cNvSpPr/>
          <p:nvPr/>
        </p:nvSpPr>
        <p:spPr>
          <a:xfrm>
            <a:off x="6129950" y="2226662"/>
            <a:ext cx="4608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62"/>
          <p:cNvSpPr/>
          <p:nvPr/>
        </p:nvSpPr>
        <p:spPr>
          <a:xfrm>
            <a:off x="6468644" y="2972421"/>
            <a:ext cx="268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100"/>
          </a:p>
        </p:txBody>
      </p:sp>
      <p:sp>
        <p:nvSpPr>
          <p:cNvPr id="433" name="Google Shape;433;p62"/>
          <p:cNvSpPr/>
          <p:nvPr/>
        </p:nvSpPr>
        <p:spPr>
          <a:xfrm>
            <a:off x="6245653" y="3020806"/>
            <a:ext cx="268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434" name="Google Shape;434;p62"/>
          <p:cNvSpPr/>
          <p:nvPr/>
        </p:nvSpPr>
        <p:spPr>
          <a:xfrm>
            <a:off x="6028971" y="3084970"/>
            <a:ext cx="268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aseline="-25000"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435" name="Google Shape;435;p62"/>
          <p:cNvSpPr/>
          <p:nvPr/>
        </p:nvSpPr>
        <p:spPr>
          <a:xfrm>
            <a:off x="6058638" y="3976934"/>
            <a:ext cx="8487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  B  C</a:t>
            </a:r>
            <a:endParaRPr baseline="-2500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62"/>
          <p:cNvSpPr/>
          <p:nvPr/>
        </p:nvSpPr>
        <p:spPr>
          <a:xfrm>
            <a:off x="5522645" y="1268425"/>
            <a:ext cx="5406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endParaRPr baseline="-2500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62"/>
          <p:cNvSpPr/>
          <p:nvPr/>
        </p:nvSpPr>
        <p:spPr>
          <a:xfrm>
            <a:off x="5525918" y="1506150"/>
            <a:ext cx="531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001</a:t>
            </a:r>
            <a:endParaRPr baseline="-2500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62"/>
          <p:cNvSpPr/>
          <p:nvPr/>
        </p:nvSpPr>
        <p:spPr>
          <a:xfrm>
            <a:off x="5514991" y="1711252"/>
            <a:ext cx="5403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</a:t>
            </a:r>
            <a:endParaRPr baseline="-2500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62"/>
          <p:cNvSpPr/>
          <p:nvPr/>
        </p:nvSpPr>
        <p:spPr>
          <a:xfrm>
            <a:off x="5534238" y="1952134"/>
            <a:ext cx="531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011</a:t>
            </a:r>
            <a:endParaRPr baseline="-2500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5534318" y="2174075"/>
            <a:ext cx="523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aseline="-2500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62"/>
          <p:cNvSpPr/>
          <p:nvPr/>
        </p:nvSpPr>
        <p:spPr>
          <a:xfrm>
            <a:off x="5525918" y="2430725"/>
            <a:ext cx="5319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101</a:t>
            </a:r>
            <a:endParaRPr baseline="-2500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62"/>
          <p:cNvSpPr/>
          <p:nvPr/>
        </p:nvSpPr>
        <p:spPr>
          <a:xfrm>
            <a:off x="5542509" y="2645301"/>
            <a:ext cx="523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110</a:t>
            </a:r>
            <a:endParaRPr baseline="-2500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62"/>
          <p:cNvSpPr/>
          <p:nvPr/>
        </p:nvSpPr>
        <p:spPr>
          <a:xfrm>
            <a:off x="5531892" y="2876700"/>
            <a:ext cx="5403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</a:t>
            </a:r>
            <a:endParaRPr baseline="-2500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6</a:t>
            </a:r>
            <a:endParaRPr sz="1100"/>
          </a:p>
        </p:txBody>
      </p:sp>
      <p:sp>
        <p:nvSpPr>
          <p:cNvPr id="450" name="Google Shape;450;p6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01" r="0" t="-3501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2100"/>
              <a:buChar char="●"/>
            </a:pPr>
            <a:r>
              <a:rPr lang="it" sz="1100"/>
              <a:t> </a:t>
            </a:r>
            <a:endParaRPr sz="1100"/>
          </a:p>
        </p:txBody>
      </p:sp>
      <p:sp>
        <p:nvSpPr>
          <p:cNvPr id="451" name="Google Shape;451;p63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3239791" y="1575267"/>
            <a:ext cx="2175307" cy="3973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6 – Metodo algebrico</a:t>
            </a:r>
            <a:endParaRPr sz="1100"/>
          </a:p>
        </p:txBody>
      </p:sp>
      <p:sp>
        <p:nvSpPr>
          <p:cNvPr id="459" name="Google Shape;459;p64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64"/>
          <p:cNvSpPr/>
          <p:nvPr/>
        </p:nvSpPr>
        <p:spPr>
          <a:xfrm>
            <a:off x="1721341" y="1163765"/>
            <a:ext cx="5232058" cy="41506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6 – Metodo algebrico</a:t>
            </a:r>
            <a:endParaRPr sz="1100"/>
          </a:p>
        </p:txBody>
      </p:sp>
      <p:sp>
        <p:nvSpPr>
          <p:cNvPr id="467" name="Google Shape;467;p65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65"/>
          <p:cNvSpPr/>
          <p:nvPr/>
        </p:nvSpPr>
        <p:spPr>
          <a:xfrm>
            <a:off x="1721341" y="1163765"/>
            <a:ext cx="5419993" cy="6899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6 – Metodo algebrico</a:t>
            </a:r>
            <a:endParaRPr sz="1100"/>
          </a:p>
        </p:txBody>
      </p:sp>
      <p:sp>
        <p:nvSpPr>
          <p:cNvPr id="475" name="Google Shape;475;p66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66"/>
          <p:cNvSpPr/>
          <p:nvPr/>
        </p:nvSpPr>
        <p:spPr>
          <a:xfrm>
            <a:off x="1721341" y="1163765"/>
            <a:ext cx="5764415" cy="9098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14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6 – Metodo algebrico</a:t>
            </a:r>
            <a:endParaRPr sz="1100"/>
          </a:p>
        </p:txBody>
      </p:sp>
      <p:sp>
        <p:nvSpPr>
          <p:cNvPr id="483" name="Google Shape;483;p67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67"/>
          <p:cNvSpPr/>
          <p:nvPr/>
        </p:nvSpPr>
        <p:spPr>
          <a:xfrm>
            <a:off x="1721340" y="1163765"/>
            <a:ext cx="5754797" cy="18151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15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6 – Metodo algebrico</a:t>
            </a:r>
            <a:endParaRPr sz="1100"/>
          </a:p>
        </p:txBody>
      </p:sp>
      <p:sp>
        <p:nvSpPr>
          <p:cNvPr id="491" name="Google Shape;491;p68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68"/>
          <p:cNvSpPr/>
          <p:nvPr/>
        </p:nvSpPr>
        <p:spPr>
          <a:xfrm>
            <a:off x="1721341" y="1163765"/>
            <a:ext cx="5753594" cy="15952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15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6 – Metodo algebrico</a:t>
            </a:r>
            <a:endParaRPr sz="1100"/>
          </a:p>
        </p:txBody>
      </p:sp>
      <p:sp>
        <p:nvSpPr>
          <p:cNvPr id="499" name="Google Shape;499;p69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69"/>
          <p:cNvSpPr/>
          <p:nvPr/>
        </p:nvSpPr>
        <p:spPr>
          <a:xfrm>
            <a:off x="1721340" y="1163765"/>
            <a:ext cx="5754797" cy="18151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15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it" sz="1100"/>
              <a:t>Esercizio 6 – Circuito Logico</a:t>
            </a:r>
            <a:endParaRPr sz="1100"/>
          </a:p>
        </p:txBody>
      </p:sp>
      <p:sp>
        <p:nvSpPr>
          <p:cNvPr id="507" name="Google Shape;507;p70"/>
          <p:cNvSpPr txBox="1"/>
          <p:nvPr>
            <p:ph idx="12" type="sldNum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70"/>
          <p:cNvSpPr/>
          <p:nvPr/>
        </p:nvSpPr>
        <p:spPr>
          <a:xfrm>
            <a:off x="1721340" y="1163765"/>
            <a:ext cx="4583824" cy="160255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pic>
        <p:nvPicPr>
          <p:cNvPr id="509" name="Google Shape;509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8351" y="1968865"/>
            <a:ext cx="5987298" cy="3072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1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515" name="Google Shape;515;p71"/>
          <p:cNvSpPr txBox="1"/>
          <p:nvPr/>
        </p:nvSpPr>
        <p:spPr>
          <a:xfrm>
            <a:off x="67678" y="797092"/>
            <a:ext cx="90236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minimo corrispondente all'espressione logica: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71"/>
          <p:cNvSpPr txBox="1"/>
          <p:nvPr/>
        </p:nvSpPr>
        <p:spPr>
          <a:xfrm>
            <a:off x="3084596" y="1234741"/>
            <a:ext cx="2674019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B + A D + A B + D A</a:t>
            </a:r>
            <a:endParaRPr sz="1100"/>
          </a:p>
        </p:txBody>
      </p:sp>
      <p:cxnSp>
        <p:nvCxnSpPr>
          <p:cNvPr id="517" name="Google Shape;517;p71"/>
          <p:cNvCxnSpPr/>
          <p:nvPr/>
        </p:nvCxnSpPr>
        <p:spPr>
          <a:xfrm flipH="1" rot="10800000">
            <a:off x="3619441" y="1284007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8" name="Google Shape;518;p71"/>
          <p:cNvCxnSpPr/>
          <p:nvPr/>
        </p:nvCxnSpPr>
        <p:spPr>
          <a:xfrm flipH="1" rot="10800000">
            <a:off x="4198460" y="1284006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9" name="Google Shape;519;p71"/>
          <p:cNvCxnSpPr/>
          <p:nvPr/>
        </p:nvCxnSpPr>
        <p:spPr>
          <a:xfrm flipH="1" rot="10800000">
            <a:off x="5266263" y="1284007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0" name="Google Shape;520;p71"/>
          <p:cNvSpPr txBox="1"/>
          <p:nvPr/>
        </p:nvSpPr>
        <p:spPr>
          <a:xfrm>
            <a:off x="219575" y="1655845"/>
            <a:ext cx="2734177" cy="22852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  =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  A(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B+B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A D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D + D A 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A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1+D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D A =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+ D 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= A + D</a:t>
            </a:r>
            <a:endParaRPr sz="1100"/>
          </a:p>
        </p:txBody>
      </p:sp>
      <p:cxnSp>
        <p:nvCxnSpPr>
          <p:cNvPr id="521" name="Google Shape;521;p71"/>
          <p:cNvCxnSpPr/>
          <p:nvPr/>
        </p:nvCxnSpPr>
        <p:spPr>
          <a:xfrm flipH="1" rot="10800000">
            <a:off x="754421" y="1705111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2" name="Google Shape;522;p71"/>
          <p:cNvCxnSpPr/>
          <p:nvPr/>
        </p:nvCxnSpPr>
        <p:spPr>
          <a:xfrm flipH="1" rot="10800000">
            <a:off x="1333439" y="1705111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3" name="Google Shape;523;p71"/>
          <p:cNvCxnSpPr/>
          <p:nvPr/>
        </p:nvCxnSpPr>
        <p:spPr>
          <a:xfrm flipH="1" rot="10800000">
            <a:off x="2401243" y="1705111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4" name="Google Shape;524;p71"/>
          <p:cNvCxnSpPr/>
          <p:nvPr/>
        </p:nvCxnSpPr>
        <p:spPr>
          <a:xfrm flipH="1" rot="10800000">
            <a:off x="814578" y="1975822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5" name="Google Shape;525;p71"/>
          <p:cNvCxnSpPr/>
          <p:nvPr/>
        </p:nvCxnSpPr>
        <p:spPr>
          <a:xfrm flipH="1" rot="10800000">
            <a:off x="1671828" y="1975822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6" name="Google Shape;526;p71"/>
          <p:cNvCxnSpPr/>
          <p:nvPr/>
        </p:nvCxnSpPr>
        <p:spPr>
          <a:xfrm flipH="1" rot="10800000">
            <a:off x="2235808" y="1975821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7" name="Google Shape;527;p71"/>
          <p:cNvCxnSpPr/>
          <p:nvPr/>
        </p:nvCxnSpPr>
        <p:spPr>
          <a:xfrm flipH="1" rot="10800000">
            <a:off x="1310881" y="2231492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8" name="Google Shape;528;p71"/>
          <p:cNvCxnSpPr/>
          <p:nvPr/>
        </p:nvCxnSpPr>
        <p:spPr>
          <a:xfrm flipH="1" rot="10800000">
            <a:off x="1867341" y="2231492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9" name="Google Shape;529;p71"/>
          <p:cNvCxnSpPr/>
          <p:nvPr/>
        </p:nvCxnSpPr>
        <p:spPr>
          <a:xfrm flipH="1" rot="10800000">
            <a:off x="1115367" y="2494684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0" name="Google Shape;530;p71"/>
          <p:cNvCxnSpPr/>
          <p:nvPr/>
        </p:nvCxnSpPr>
        <p:spPr>
          <a:xfrm flipH="1" rot="10800000">
            <a:off x="1671827" y="2494683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1" name="Google Shape;531;p71"/>
          <p:cNvCxnSpPr/>
          <p:nvPr/>
        </p:nvCxnSpPr>
        <p:spPr>
          <a:xfrm flipH="1" rot="10800000">
            <a:off x="1085288" y="2765393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2" name="Google Shape;532;p71"/>
          <p:cNvCxnSpPr/>
          <p:nvPr/>
        </p:nvCxnSpPr>
        <p:spPr>
          <a:xfrm flipH="1" rot="10800000">
            <a:off x="1701907" y="2795473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" name="Google Shape;533;p71"/>
          <p:cNvCxnSpPr/>
          <p:nvPr/>
        </p:nvCxnSpPr>
        <p:spPr>
          <a:xfrm flipH="1" rot="10800000">
            <a:off x="1310880" y="3058664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" name="Google Shape;534;p71"/>
          <p:cNvCxnSpPr/>
          <p:nvPr/>
        </p:nvCxnSpPr>
        <p:spPr>
          <a:xfrm flipH="1" rot="10800000">
            <a:off x="1145447" y="3321854"/>
            <a:ext cx="16451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5" name="Google Shape;535;p71"/>
          <p:cNvCxnSpPr/>
          <p:nvPr/>
        </p:nvCxnSpPr>
        <p:spPr>
          <a:xfrm flipH="1" rot="10800000">
            <a:off x="2723274" y="2792454"/>
            <a:ext cx="723397" cy="6016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Immagine che contiene schizzo, diagramma, disegno, linea&#10;&#10;Descrizione generata automaticamente" id="536" name="Google Shape;53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5608" y="2087667"/>
            <a:ext cx="2268704" cy="1517107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71"/>
          <p:cNvSpPr txBox="1"/>
          <p:nvPr/>
        </p:nvSpPr>
        <p:spPr>
          <a:xfrm>
            <a:off x="4323848" y="2406316"/>
            <a:ext cx="263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71"/>
          <p:cNvSpPr txBox="1"/>
          <p:nvPr/>
        </p:nvSpPr>
        <p:spPr>
          <a:xfrm>
            <a:off x="4316328" y="3045493"/>
            <a:ext cx="263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71"/>
          <p:cNvSpPr txBox="1"/>
          <p:nvPr/>
        </p:nvSpPr>
        <p:spPr>
          <a:xfrm>
            <a:off x="6835441" y="2707106"/>
            <a:ext cx="3233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2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545" name="Google Shape;545;p72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72"/>
          <p:cNvSpPr txBox="1"/>
          <p:nvPr/>
        </p:nvSpPr>
        <p:spPr>
          <a:xfrm>
            <a:off x="3062036" y="2310062"/>
            <a:ext cx="3057526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A C + A C + A B C D + A</a:t>
            </a:r>
            <a:endParaRPr sz="1100"/>
          </a:p>
        </p:txBody>
      </p:sp>
      <p:cxnSp>
        <p:nvCxnSpPr>
          <p:cNvPr id="547" name="Google Shape;547;p72"/>
          <p:cNvCxnSpPr/>
          <p:nvPr/>
        </p:nvCxnSpPr>
        <p:spPr>
          <a:xfrm flipH="1" rot="10800000">
            <a:off x="3461526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8" name="Google Shape;548;p72"/>
          <p:cNvCxnSpPr/>
          <p:nvPr/>
        </p:nvCxnSpPr>
        <p:spPr>
          <a:xfrm flipH="1" rot="10800000">
            <a:off x="3634480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9" name="Google Shape;549;p72"/>
          <p:cNvCxnSpPr/>
          <p:nvPr/>
        </p:nvCxnSpPr>
        <p:spPr>
          <a:xfrm flipH="1" rot="10800000">
            <a:off x="4363894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0" name="Google Shape;550;p72"/>
          <p:cNvCxnSpPr/>
          <p:nvPr/>
        </p:nvCxnSpPr>
        <p:spPr>
          <a:xfrm flipH="1" rot="10800000">
            <a:off x="5792644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1" name="Google Shape;551;p72"/>
          <p:cNvCxnSpPr/>
          <p:nvPr/>
        </p:nvCxnSpPr>
        <p:spPr>
          <a:xfrm flipH="1" rot="10800000">
            <a:off x="5394098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2" name="Google Shape;552;p72"/>
          <p:cNvCxnSpPr/>
          <p:nvPr/>
        </p:nvCxnSpPr>
        <p:spPr>
          <a:xfrm flipH="1" rot="10800000">
            <a:off x="4890275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3" name="Google Shape;553;p72"/>
          <p:cNvCxnSpPr/>
          <p:nvPr/>
        </p:nvCxnSpPr>
        <p:spPr>
          <a:xfrm flipH="1" rot="10800000">
            <a:off x="5055710" y="234428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4" name="Google Shape;554;p72"/>
          <p:cNvCxnSpPr/>
          <p:nvPr/>
        </p:nvCxnSpPr>
        <p:spPr>
          <a:xfrm flipH="1" rot="10800000">
            <a:off x="3845032" y="2344289"/>
            <a:ext cx="284828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5" name="Google Shape;555;p72"/>
          <p:cNvCxnSpPr/>
          <p:nvPr/>
        </p:nvCxnSpPr>
        <p:spPr>
          <a:xfrm flipH="1" rot="10800000">
            <a:off x="4890275" y="2269091"/>
            <a:ext cx="653296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6" name="Google Shape;556;p72"/>
          <p:cNvCxnSpPr/>
          <p:nvPr/>
        </p:nvCxnSpPr>
        <p:spPr>
          <a:xfrm flipH="1" rot="10800000">
            <a:off x="4890275" y="2193893"/>
            <a:ext cx="1044322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3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562" name="Google Shape;562;p73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73"/>
          <p:cNvSpPr txBox="1"/>
          <p:nvPr/>
        </p:nvSpPr>
        <p:spPr>
          <a:xfrm>
            <a:off x="2738688" y="1588168"/>
            <a:ext cx="3057526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C + A B C D + A</a:t>
            </a:r>
            <a:endParaRPr sz="1100"/>
          </a:p>
        </p:txBody>
      </p:sp>
      <p:cxnSp>
        <p:nvCxnSpPr>
          <p:cNvPr id="564" name="Google Shape;564;p73"/>
          <p:cNvCxnSpPr/>
          <p:nvPr/>
        </p:nvCxnSpPr>
        <p:spPr>
          <a:xfrm flipH="1" rot="10800000">
            <a:off x="3138178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5" name="Google Shape;565;p73"/>
          <p:cNvCxnSpPr/>
          <p:nvPr/>
        </p:nvCxnSpPr>
        <p:spPr>
          <a:xfrm flipH="1" rot="10800000">
            <a:off x="3311132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6" name="Google Shape;566;p73"/>
          <p:cNvCxnSpPr/>
          <p:nvPr/>
        </p:nvCxnSpPr>
        <p:spPr>
          <a:xfrm flipH="1" rot="10800000">
            <a:off x="4040546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7" name="Google Shape;567;p73"/>
          <p:cNvCxnSpPr/>
          <p:nvPr/>
        </p:nvCxnSpPr>
        <p:spPr>
          <a:xfrm flipH="1" rot="10800000">
            <a:off x="5469296" y="162239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8" name="Google Shape;568;p73"/>
          <p:cNvCxnSpPr/>
          <p:nvPr/>
        </p:nvCxnSpPr>
        <p:spPr>
          <a:xfrm flipH="1" rot="10800000">
            <a:off x="5070750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9" name="Google Shape;569;p73"/>
          <p:cNvCxnSpPr/>
          <p:nvPr/>
        </p:nvCxnSpPr>
        <p:spPr>
          <a:xfrm flipH="1" rot="10800000">
            <a:off x="4566927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0" name="Google Shape;570;p73"/>
          <p:cNvCxnSpPr/>
          <p:nvPr/>
        </p:nvCxnSpPr>
        <p:spPr>
          <a:xfrm flipH="1" rot="10800000">
            <a:off x="4732362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1" name="Google Shape;571;p73"/>
          <p:cNvCxnSpPr/>
          <p:nvPr/>
        </p:nvCxnSpPr>
        <p:spPr>
          <a:xfrm flipH="1" rot="10800000">
            <a:off x="3521684" y="1622394"/>
            <a:ext cx="284828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2" name="Google Shape;572;p73"/>
          <p:cNvCxnSpPr/>
          <p:nvPr/>
        </p:nvCxnSpPr>
        <p:spPr>
          <a:xfrm flipH="1" rot="10800000">
            <a:off x="4566926" y="1547196"/>
            <a:ext cx="653296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3" name="Google Shape;573;p73"/>
          <p:cNvCxnSpPr/>
          <p:nvPr/>
        </p:nvCxnSpPr>
        <p:spPr>
          <a:xfrm flipH="1" rot="10800000">
            <a:off x="4566926" y="1471998"/>
            <a:ext cx="1044322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4" name="Google Shape;574;p73"/>
          <p:cNvSpPr txBox="1"/>
          <p:nvPr/>
        </p:nvSpPr>
        <p:spPr>
          <a:xfrm>
            <a:off x="1287379" y="2475497"/>
            <a:ext cx="68098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A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 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(A+C)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A 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+ B A C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+ B A 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 A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1+C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 A 1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BA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5" name="Google Shape;575;p73"/>
          <p:cNvCxnSpPr/>
          <p:nvPr/>
        </p:nvCxnSpPr>
        <p:spPr>
          <a:xfrm flipH="1" rot="10800000">
            <a:off x="1342465" y="250370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6" name="Google Shape;576;p73"/>
          <p:cNvCxnSpPr/>
          <p:nvPr/>
        </p:nvCxnSpPr>
        <p:spPr>
          <a:xfrm flipH="1" rot="10800000">
            <a:off x="1515419" y="250370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7" name="Google Shape;577;p73"/>
          <p:cNvCxnSpPr/>
          <p:nvPr/>
        </p:nvCxnSpPr>
        <p:spPr>
          <a:xfrm flipH="1" rot="10800000">
            <a:off x="1725971" y="2503707"/>
            <a:ext cx="284828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8" name="Google Shape;578;p73"/>
          <p:cNvCxnSpPr/>
          <p:nvPr/>
        </p:nvCxnSpPr>
        <p:spPr>
          <a:xfrm flipH="1" rot="10800000">
            <a:off x="2229794" y="250370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9" name="Google Shape;579;p73"/>
          <p:cNvCxnSpPr/>
          <p:nvPr/>
        </p:nvCxnSpPr>
        <p:spPr>
          <a:xfrm flipH="1" rot="10800000">
            <a:off x="2417787" y="250370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0" name="Google Shape;580;p73"/>
          <p:cNvCxnSpPr/>
          <p:nvPr/>
        </p:nvCxnSpPr>
        <p:spPr>
          <a:xfrm flipH="1" rot="10800000">
            <a:off x="2650900" y="250370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1" name="Google Shape;581;p73"/>
          <p:cNvCxnSpPr/>
          <p:nvPr/>
        </p:nvCxnSpPr>
        <p:spPr>
          <a:xfrm flipH="1" rot="10800000">
            <a:off x="2899051" y="250370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" name="Google Shape;582;p73"/>
          <p:cNvCxnSpPr/>
          <p:nvPr/>
        </p:nvCxnSpPr>
        <p:spPr>
          <a:xfrm flipH="1" rot="10800000">
            <a:off x="3320156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3" name="Google Shape;583;p73"/>
          <p:cNvCxnSpPr/>
          <p:nvPr/>
        </p:nvCxnSpPr>
        <p:spPr>
          <a:xfrm flipH="1" rot="10800000">
            <a:off x="3523189" y="250370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4" name="Google Shape;584;p73"/>
          <p:cNvCxnSpPr/>
          <p:nvPr/>
        </p:nvCxnSpPr>
        <p:spPr>
          <a:xfrm flipH="1" rot="10800000">
            <a:off x="3711182" y="250370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5" name="Google Shape;585;p73"/>
          <p:cNvCxnSpPr/>
          <p:nvPr/>
        </p:nvCxnSpPr>
        <p:spPr>
          <a:xfrm flipH="1" rot="10800000">
            <a:off x="4019492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6" name="Google Shape;586;p73"/>
          <p:cNvCxnSpPr/>
          <p:nvPr/>
        </p:nvCxnSpPr>
        <p:spPr>
          <a:xfrm flipH="1" rot="10800000">
            <a:off x="4222524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7" name="Google Shape;587;p73"/>
          <p:cNvCxnSpPr/>
          <p:nvPr/>
        </p:nvCxnSpPr>
        <p:spPr>
          <a:xfrm flipH="1" rot="10800000">
            <a:off x="4395479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8" name="Google Shape;588;p73"/>
          <p:cNvCxnSpPr/>
          <p:nvPr/>
        </p:nvCxnSpPr>
        <p:spPr>
          <a:xfrm flipH="1" rot="10800000">
            <a:off x="4733867" y="250370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9" name="Google Shape;589;p73"/>
          <p:cNvCxnSpPr/>
          <p:nvPr/>
        </p:nvCxnSpPr>
        <p:spPr>
          <a:xfrm flipH="1" rot="10800000">
            <a:off x="4936900" y="250370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0" name="Google Shape;590;p73"/>
          <p:cNvCxnSpPr/>
          <p:nvPr/>
        </p:nvCxnSpPr>
        <p:spPr>
          <a:xfrm flipH="1" rot="10800000">
            <a:off x="5245208" y="250370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1" name="Google Shape;591;p73"/>
          <p:cNvCxnSpPr/>
          <p:nvPr/>
        </p:nvCxnSpPr>
        <p:spPr>
          <a:xfrm flipH="1" rot="10800000">
            <a:off x="5425682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2" name="Google Shape;592;p73"/>
          <p:cNvCxnSpPr/>
          <p:nvPr/>
        </p:nvCxnSpPr>
        <p:spPr>
          <a:xfrm flipH="1" rot="10800000">
            <a:off x="5613676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3" name="Google Shape;593;p73"/>
          <p:cNvCxnSpPr/>
          <p:nvPr/>
        </p:nvCxnSpPr>
        <p:spPr>
          <a:xfrm flipH="1" rot="10800000">
            <a:off x="5952064" y="250370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4" name="Google Shape;594;p73"/>
          <p:cNvCxnSpPr/>
          <p:nvPr/>
        </p:nvCxnSpPr>
        <p:spPr>
          <a:xfrm flipH="1" rot="10800000">
            <a:off x="6140057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5" name="Google Shape;595;p73"/>
          <p:cNvCxnSpPr/>
          <p:nvPr/>
        </p:nvCxnSpPr>
        <p:spPr>
          <a:xfrm flipH="1" rot="10800000">
            <a:off x="6613801" y="247362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6" name="Google Shape;596;p73"/>
          <p:cNvCxnSpPr/>
          <p:nvPr/>
        </p:nvCxnSpPr>
        <p:spPr>
          <a:xfrm flipH="1" rot="10800000">
            <a:off x="7004827" y="247362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7" name="Google Shape;597;p73"/>
          <p:cNvCxnSpPr/>
          <p:nvPr/>
        </p:nvCxnSpPr>
        <p:spPr>
          <a:xfrm flipH="1" rot="10800000">
            <a:off x="7207860" y="247362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8" name="Google Shape;598;p73"/>
          <p:cNvCxnSpPr/>
          <p:nvPr/>
        </p:nvCxnSpPr>
        <p:spPr>
          <a:xfrm flipH="1" rot="10800000">
            <a:off x="7711682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9" name="Google Shape;599;p73"/>
          <p:cNvCxnSpPr/>
          <p:nvPr/>
        </p:nvCxnSpPr>
        <p:spPr>
          <a:xfrm flipH="1" rot="10800000">
            <a:off x="7839518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4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605" name="Google Shape;605;p74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74"/>
          <p:cNvSpPr txBox="1"/>
          <p:nvPr/>
        </p:nvSpPr>
        <p:spPr>
          <a:xfrm>
            <a:off x="2738688" y="1588168"/>
            <a:ext cx="3057526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A C + A C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 + A</a:t>
            </a:r>
            <a:endParaRPr sz="1100"/>
          </a:p>
        </p:txBody>
      </p:sp>
      <p:cxnSp>
        <p:nvCxnSpPr>
          <p:cNvPr id="607" name="Google Shape;607;p74"/>
          <p:cNvCxnSpPr/>
          <p:nvPr/>
        </p:nvCxnSpPr>
        <p:spPr>
          <a:xfrm flipH="1" rot="10800000">
            <a:off x="3138178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8" name="Google Shape;608;p74"/>
          <p:cNvCxnSpPr/>
          <p:nvPr/>
        </p:nvCxnSpPr>
        <p:spPr>
          <a:xfrm flipH="1" rot="10800000">
            <a:off x="3311132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9" name="Google Shape;609;p74"/>
          <p:cNvCxnSpPr/>
          <p:nvPr/>
        </p:nvCxnSpPr>
        <p:spPr>
          <a:xfrm flipH="1" rot="10800000">
            <a:off x="4040546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0" name="Google Shape;610;p74"/>
          <p:cNvCxnSpPr/>
          <p:nvPr/>
        </p:nvCxnSpPr>
        <p:spPr>
          <a:xfrm flipH="1" rot="10800000">
            <a:off x="5469296" y="162239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1" name="Google Shape;611;p74"/>
          <p:cNvCxnSpPr/>
          <p:nvPr/>
        </p:nvCxnSpPr>
        <p:spPr>
          <a:xfrm flipH="1" rot="10800000">
            <a:off x="5070750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2" name="Google Shape;612;p74"/>
          <p:cNvCxnSpPr/>
          <p:nvPr/>
        </p:nvCxnSpPr>
        <p:spPr>
          <a:xfrm flipH="1" rot="10800000">
            <a:off x="4566927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3" name="Google Shape;613;p74"/>
          <p:cNvCxnSpPr/>
          <p:nvPr/>
        </p:nvCxnSpPr>
        <p:spPr>
          <a:xfrm flipH="1" rot="10800000">
            <a:off x="4732362" y="1622395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4" name="Google Shape;614;p74"/>
          <p:cNvCxnSpPr/>
          <p:nvPr/>
        </p:nvCxnSpPr>
        <p:spPr>
          <a:xfrm flipH="1" rot="10800000">
            <a:off x="3521684" y="1622394"/>
            <a:ext cx="284828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5" name="Google Shape;615;p74"/>
          <p:cNvCxnSpPr/>
          <p:nvPr/>
        </p:nvCxnSpPr>
        <p:spPr>
          <a:xfrm flipH="1" rot="10800000">
            <a:off x="4566926" y="1547196"/>
            <a:ext cx="653296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6" name="Google Shape;616;p74"/>
          <p:cNvCxnSpPr/>
          <p:nvPr/>
        </p:nvCxnSpPr>
        <p:spPr>
          <a:xfrm flipH="1" rot="10800000">
            <a:off x="4566926" y="1471998"/>
            <a:ext cx="1044322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7" name="Google Shape;617;p74"/>
          <p:cNvSpPr txBox="1"/>
          <p:nvPr/>
        </p:nvSpPr>
        <p:spPr>
          <a:xfrm>
            <a:off x="1521994" y="2469482"/>
            <a:ext cx="6215816" cy="3537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 C D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A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B + C + D +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A+A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+ C + D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+ C + D </a:t>
            </a: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 = 0</a:t>
            </a:r>
            <a:endParaRPr sz="1100"/>
          </a:p>
        </p:txBody>
      </p:sp>
      <p:cxnSp>
        <p:nvCxnSpPr>
          <p:cNvPr id="618" name="Google Shape;618;p74"/>
          <p:cNvCxnSpPr/>
          <p:nvPr/>
        </p:nvCxnSpPr>
        <p:spPr>
          <a:xfrm flipH="1" rot="10800000">
            <a:off x="2553142" y="251122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9" name="Google Shape;619;p74"/>
          <p:cNvCxnSpPr/>
          <p:nvPr/>
        </p:nvCxnSpPr>
        <p:spPr>
          <a:xfrm flipH="1" rot="10800000">
            <a:off x="2154596" y="251122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0" name="Google Shape;620;p74"/>
          <p:cNvCxnSpPr/>
          <p:nvPr/>
        </p:nvCxnSpPr>
        <p:spPr>
          <a:xfrm flipH="1" rot="10800000">
            <a:off x="1650773" y="251122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1" name="Google Shape;621;p74"/>
          <p:cNvCxnSpPr/>
          <p:nvPr/>
        </p:nvCxnSpPr>
        <p:spPr>
          <a:xfrm flipH="1" rot="10800000">
            <a:off x="1816208" y="251122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2" name="Google Shape;622;p74"/>
          <p:cNvCxnSpPr/>
          <p:nvPr/>
        </p:nvCxnSpPr>
        <p:spPr>
          <a:xfrm flipH="1" rot="10800000">
            <a:off x="1650772" y="2436029"/>
            <a:ext cx="653296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3" name="Google Shape;623;p74"/>
          <p:cNvCxnSpPr/>
          <p:nvPr/>
        </p:nvCxnSpPr>
        <p:spPr>
          <a:xfrm flipH="1" rot="10800000">
            <a:off x="1650772" y="2360831"/>
            <a:ext cx="1044322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4" name="Google Shape;624;p74"/>
          <p:cNvCxnSpPr/>
          <p:nvPr/>
        </p:nvCxnSpPr>
        <p:spPr>
          <a:xfrm flipH="1" rot="10800000">
            <a:off x="3568306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5" name="Google Shape;625;p74"/>
          <p:cNvCxnSpPr/>
          <p:nvPr/>
        </p:nvCxnSpPr>
        <p:spPr>
          <a:xfrm flipH="1" rot="10800000">
            <a:off x="4290200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6" name="Google Shape;626;p74"/>
          <p:cNvCxnSpPr/>
          <p:nvPr/>
        </p:nvCxnSpPr>
        <p:spPr>
          <a:xfrm flipH="1" rot="10800000">
            <a:off x="2876489" y="2436029"/>
            <a:ext cx="151806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7" name="Google Shape;627;p74"/>
          <p:cNvCxnSpPr/>
          <p:nvPr/>
        </p:nvCxnSpPr>
        <p:spPr>
          <a:xfrm flipH="1" rot="10800000">
            <a:off x="4951937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8" name="Google Shape;628;p74"/>
          <p:cNvCxnSpPr/>
          <p:nvPr/>
        </p:nvCxnSpPr>
        <p:spPr>
          <a:xfrm flipH="1" rot="10800000">
            <a:off x="5373043" y="2496188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9" name="Google Shape;629;p74"/>
          <p:cNvCxnSpPr/>
          <p:nvPr/>
        </p:nvCxnSpPr>
        <p:spPr>
          <a:xfrm flipH="1" rot="10800000">
            <a:off x="4673706" y="2436029"/>
            <a:ext cx="1157118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0" name="Google Shape;630;p74"/>
          <p:cNvCxnSpPr/>
          <p:nvPr/>
        </p:nvCxnSpPr>
        <p:spPr>
          <a:xfrm flipH="1" rot="10800000">
            <a:off x="6004700" y="2436028"/>
            <a:ext cx="826249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1" name="Google Shape;631;p74"/>
          <p:cNvCxnSpPr/>
          <p:nvPr/>
        </p:nvCxnSpPr>
        <p:spPr>
          <a:xfrm flipH="1" rot="10800000">
            <a:off x="6365648" y="251122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74"/>
          <p:cNvCxnSpPr/>
          <p:nvPr/>
        </p:nvCxnSpPr>
        <p:spPr>
          <a:xfrm flipH="1" rot="10800000">
            <a:off x="7072503" y="2496187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5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638" name="Google Shape;638;p75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75"/>
          <p:cNvSpPr txBox="1"/>
          <p:nvPr/>
        </p:nvSpPr>
        <p:spPr>
          <a:xfrm>
            <a:off x="3332747" y="1475372"/>
            <a:ext cx="17190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+ A C + 0</a:t>
            </a:r>
            <a:endParaRPr sz="1100"/>
          </a:p>
        </p:txBody>
      </p:sp>
      <p:cxnSp>
        <p:nvCxnSpPr>
          <p:cNvPr id="640" name="Google Shape;640;p75"/>
          <p:cNvCxnSpPr/>
          <p:nvPr/>
        </p:nvCxnSpPr>
        <p:spPr>
          <a:xfrm flipH="1" rot="10800000">
            <a:off x="3732236" y="150959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1" name="Google Shape;641;p75"/>
          <p:cNvCxnSpPr/>
          <p:nvPr/>
        </p:nvCxnSpPr>
        <p:spPr>
          <a:xfrm flipH="1" rot="10800000">
            <a:off x="3905191" y="150959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2" name="Google Shape;642;p75"/>
          <p:cNvCxnSpPr/>
          <p:nvPr/>
        </p:nvCxnSpPr>
        <p:spPr>
          <a:xfrm flipH="1" rot="10800000">
            <a:off x="4251098" y="150959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3" name="Google Shape;643;p75"/>
          <p:cNvSpPr txBox="1"/>
          <p:nvPr/>
        </p:nvSpPr>
        <p:spPr>
          <a:xfrm>
            <a:off x="2031832" y="2603332"/>
            <a:ext cx="4892342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B A + A C + 0 = B A + A C = A B + A C = </a:t>
            </a:r>
            <a:r>
              <a:rPr lang="it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(B+C)</a:t>
            </a:r>
            <a:endParaRPr sz="1100"/>
          </a:p>
        </p:txBody>
      </p:sp>
      <p:cxnSp>
        <p:nvCxnSpPr>
          <p:cNvPr id="644" name="Google Shape;644;p75"/>
          <p:cNvCxnSpPr/>
          <p:nvPr/>
        </p:nvCxnSpPr>
        <p:spPr>
          <a:xfrm flipH="1" rot="10800000">
            <a:off x="2438841" y="263755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5" name="Google Shape;645;p75"/>
          <p:cNvCxnSpPr/>
          <p:nvPr/>
        </p:nvCxnSpPr>
        <p:spPr>
          <a:xfrm flipH="1" rot="10800000">
            <a:off x="2611796" y="263755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6" name="Google Shape;646;p75"/>
          <p:cNvCxnSpPr/>
          <p:nvPr/>
        </p:nvCxnSpPr>
        <p:spPr>
          <a:xfrm flipH="1" rot="10800000">
            <a:off x="2957702" y="263755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7" name="Google Shape;647;p75"/>
          <p:cNvCxnSpPr/>
          <p:nvPr/>
        </p:nvCxnSpPr>
        <p:spPr>
          <a:xfrm flipH="1" rot="10800000">
            <a:off x="3814952" y="263755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8" name="Google Shape;648;p75"/>
          <p:cNvCxnSpPr/>
          <p:nvPr/>
        </p:nvCxnSpPr>
        <p:spPr>
          <a:xfrm flipH="1" rot="10800000">
            <a:off x="3987907" y="263755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9" name="Google Shape;649;p75"/>
          <p:cNvCxnSpPr/>
          <p:nvPr/>
        </p:nvCxnSpPr>
        <p:spPr>
          <a:xfrm flipH="1" rot="10800000">
            <a:off x="4333814" y="263755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0" name="Google Shape;650;p75"/>
          <p:cNvCxnSpPr/>
          <p:nvPr/>
        </p:nvCxnSpPr>
        <p:spPr>
          <a:xfrm flipH="1" rot="10800000">
            <a:off x="4867715" y="262251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1" name="Google Shape;651;p75"/>
          <p:cNvCxnSpPr/>
          <p:nvPr/>
        </p:nvCxnSpPr>
        <p:spPr>
          <a:xfrm flipH="1" rot="10800000">
            <a:off x="5040670" y="262251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2" name="Google Shape;652;p75"/>
          <p:cNvCxnSpPr/>
          <p:nvPr/>
        </p:nvCxnSpPr>
        <p:spPr>
          <a:xfrm flipH="1" rot="10800000">
            <a:off x="5386577" y="262251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3" name="Google Shape;653;p75"/>
          <p:cNvCxnSpPr/>
          <p:nvPr/>
        </p:nvCxnSpPr>
        <p:spPr>
          <a:xfrm flipH="1" rot="10800000">
            <a:off x="5905439" y="263003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4" name="Google Shape;654;p75"/>
          <p:cNvCxnSpPr/>
          <p:nvPr/>
        </p:nvCxnSpPr>
        <p:spPr>
          <a:xfrm flipH="1" rot="10800000">
            <a:off x="6146072" y="2622519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6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660" name="Google Shape;660;p76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76"/>
          <p:cNvSpPr txBox="1"/>
          <p:nvPr/>
        </p:nvSpPr>
        <p:spPr>
          <a:xfrm>
            <a:off x="3580898" y="1347536"/>
            <a:ext cx="1207671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A (B+C)</a:t>
            </a:r>
            <a:endParaRPr sz="1100"/>
          </a:p>
        </p:txBody>
      </p:sp>
      <p:cxnSp>
        <p:nvCxnSpPr>
          <p:cNvPr id="662" name="Google Shape;662;p76"/>
          <p:cNvCxnSpPr/>
          <p:nvPr/>
        </p:nvCxnSpPr>
        <p:spPr>
          <a:xfrm flipH="1" rot="10800000">
            <a:off x="3972867" y="134416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3" name="Google Shape;663;p76"/>
          <p:cNvCxnSpPr/>
          <p:nvPr/>
        </p:nvCxnSpPr>
        <p:spPr>
          <a:xfrm flipH="1" rot="10800000">
            <a:off x="4243577" y="134416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4" name="Google Shape;664;p76"/>
          <p:cNvSpPr txBox="1"/>
          <p:nvPr/>
        </p:nvSpPr>
        <p:spPr>
          <a:xfrm>
            <a:off x="1752098" y="1977691"/>
            <a:ext cx="53540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vogliono utilizzare le porte NOR. Risulta conveniente eliminare gli AND.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76"/>
          <p:cNvSpPr txBox="1"/>
          <p:nvPr/>
        </p:nvSpPr>
        <p:spPr>
          <a:xfrm>
            <a:off x="3114674" y="2791325"/>
            <a:ext cx="2350671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A (B+C) = A + B + C</a:t>
            </a:r>
            <a:endParaRPr sz="1100"/>
          </a:p>
        </p:txBody>
      </p:sp>
      <p:cxnSp>
        <p:nvCxnSpPr>
          <p:cNvPr id="666" name="Google Shape;666;p76"/>
          <p:cNvCxnSpPr/>
          <p:nvPr/>
        </p:nvCxnSpPr>
        <p:spPr>
          <a:xfrm flipH="1" rot="10800000">
            <a:off x="3506644" y="2787953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7" name="Google Shape;667;p76"/>
          <p:cNvCxnSpPr/>
          <p:nvPr/>
        </p:nvCxnSpPr>
        <p:spPr>
          <a:xfrm flipH="1" rot="10800000">
            <a:off x="3777353" y="2787953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8" name="Google Shape;668;p76"/>
          <p:cNvCxnSpPr/>
          <p:nvPr/>
        </p:nvCxnSpPr>
        <p:spPr>
          <a:xfrm flipH="1" rot="10800000">
            <a:off x="4769960" y="2818032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9" name="Google Shape;669;p76"/>
          <p:cNvCxnSpPr/>
          <p:nvPr/>
        </p:nvCxnSpPr>
        <p:spPr>
          <a:xfrm flipH="1" rot="10800000">
            <a:off x="4769959" y="2765393"/>
            <a:ext cx="420184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0" name="Google Shape;670;p76"/>
          <p:cNvCxnSpPr/>
          <p:nvPr/>
        </p:nvCxnSpPr>
        <p:spPr>
          <a:xfrm flipH="1" rot="10800000">
            <a:off x="4401491" y="2712755"/>
            <a:ext cx="788650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7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676" name="Google Shape;676;p77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77"/>
          <p:cNvSpPr txBox="1"/>
          <p:nvPr/>
        </p:nvSpPr>
        <p:spPr>
          <a:xfrm>
            <a:off x="3347786" y="1302416"/>
            <a:ext cx="2350671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 + B + C</a:t>
            </a:r>
            <a:endParaRPr sz="1100"/>
          </a:p>
        </p:txBody>
      </p:sp>
      <p:cxnSp>
        <p:nvCxnSpPr>
          <p:cNvPr id="678" name="Google Shape;678;p77"/>
          <p:cNvCxnSpPr/>
          <p:nvPr/>
        </p:nvCxnSpPr>
        <p:spPr>
          <a:xfrm flipH="1" rot="10800000">
            <a:off x="4093184" y="132160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9" name="Google Shape;679;p77"/>
          <p:cNvCxnSpPr/>
          <p:nvPr/>
        </p:nvCxnSpPr>
        <p:spPr>
          <a:xfrm flipH="1" rot="10800000">
            <a:off x="4093183" y="1284005"/>
            <a:ext cx="420184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0" name="Google Shape;680;p77"/>
          <p:cNvCxnSpPr/>
          <p:nvPr/>
        </p:nvCxnSpPr>
        <p:spPr>
          <a:xfrm flipH="1" rot="10800000">
            <a:off x="3732235" y="1223846"/>
            <a:ext cx="788650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magine che contiene diagramma, schizzo, Line art, design&#10;&#10;Descrizione generata automaticamente" id="681" name="Google Shape;68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8987" y="1957466"/>
            <a:ext cx="6106026" cy="22437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2" name="Google Shape;682;p77"/>
          <p:cNvCxnSpPr/>
          <p:nvPr/>
        </p:nvCxnSpPr>
        <p:spPr>
          <a:xfrm rot="10800000">
            <a:off x="5666874" y="3659104"/>
            <a:ext cx="6016" cy="33688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3" name="Google Shape;683;p77"/>
          <p:cNvCxnSpPr/>
          <p:nvPr/>
        </p:nvCxnSpPr>
        <p:spPr>
          <a:xfrm rot="10800000">
            <a:off x="1756610" y="2290511"/>
            <a:ext cx="6016" cy="42712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4" name="Google Shape;684;p77"/>
          <p:cNvCxnSpPr/>
          <p:nvPr/>
        </p:nvCxnSpPr>
        <p:spPr>
          <a:xfrm flipH="1" rot="10800000">
            <a:off x="1416719" y="3456070"/>
            <a:ext cx="2513096" cy="210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5" name="Google Shape;685;p77"/>
          <p:cNvCxnSpPr/>
          <p:nvPr/>
        </p:nvCxnSpPr>
        <p:spPr>
          <a:xfrm flipH="1">
            <a:off x="1350544" y="2514598"/>
            <a:ext cx="419601" cy="150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6" name="Google Shape;686;p77"/>
          <p:cNvCxnSpPr/>
          <p:nvPr/>
        </p:nvCxnSpPr>
        <p:spPr>
          <a:xfrm flipH="1" rot="10800000">
            <a:off x="1334001" y="3989971"/>
            <a:ext cx="4362950" cy="1353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7" name="Google Shape;687;p77"/>
          <p:cNvSpPr/>
          <p:nvPr/>
        </p:nvSpPr>
        <p:spPr>
          <a:xfrm>
            <a:off x="1706980" y="2473994"/>
            <a:ext cx="97756" cy="90236"/>
          </a:xfrm>
          <a:prstGeom prst="flowChartConnector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77"/>
          <p:cNvSpPr txBox="1"/>
          <p:nvPr/>
        </p:nvSpPr>
        <p:spPr>
          <a:xfrm>
            <a:off x="1031708" y="3821531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77"/>
          <p:cNvSpPr txBox="1"/>
          <p:nvPr/>
        </p:nvSpPr>
        <p:spPr>
          <a:xfrm>
            <a:off x="1054268" y="3310188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77"/>
          <p:cNvSpPr txBox="1"/>
          <p:nvPr/>
        </p:nvSpPr>
        <p:spPr>
          <a:xfrm>
            <a:off x="1001629" y="2347661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77"/>
          <p:cNvSpPr txBox="1"/>
          <p:nvPr/>
        </p:nvSpPr>
        <p:spPr>
          <a:xfrm>
            <a:off x="7438524" y="3287629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8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697" name="Google Shape;697;p78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78"/>
          <p:cNvSpPr txBox="1"/>
          <p:nvPr/>
        </p:nvSpPr>
        <p:spPr>
          <a:xfrm>
            <a:off x="3580898" y="1347536"/>
            <a:ext cx="1207671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A (B+C)</a:t>
            </a:r>
            <a:endParaRPr sz="1100"/>
          </a:p>
        </p:txBody>
      </p:sp>
      <p:cxnSp>
        <p:nvCxnSpPr>
          <p:cNvPr id="699" name="Google Shape;699;p78"/>
          <p:cNvCxnSpPr/>
          <p:nvPr/>
        </p:nvCxnSpPr>
        <p:spPr>
          <a:xfrm flipH="1" rot="10800000">
            <a:off x="3972867" y="134416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0" name="Google Shape;700;p78"/>
          <p:cNvCxnSpPr/>
          <p:nvPr/>
        </p:nvCxnSpPr>
        <p:spPr>
          <a:xfrm flipH="1" rot="10800000">
            <a:off x="4243577" y="1344164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1" name="Google Shape;701;p78"/>
          <p:cNvSpPr txBox="1"/>
          <p:nvPr/>
        </p:nvSpPr>
        <p:spPr>
          <a:xfrm>
            <a:off x="1752098" y="1977691"/>
            <a:ext cx="53540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vogliono utilizzare le porte NAND. Risulta conveniente eliminare gli 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78"/>
          <p:cNvSpPr txBox="1"/>
          <p:nvPr/>
        </p:nvSpPr>
        <p:spPr>
          <a:xfrm>
            <a:off x="3092115" y="2535653"/>
            <a:ext cx="2350671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 A (B+C) =   A  B   C</a:t>
            </a:r>
            <a:endParaRPr sz="1100"/>
          </a:p>
        </p:txBody>
      </p:sp>
      <p:cxnSp>
        <p:nvCxnSpPr>
          <p:cNvPr id="703" name="Google Shape;703;p78"/>
          <p:cNvCxnSpPr/>
          <p:nvPr/>
        </p:nvCxnSpPr>
        <p:spPr>
          <a:xfrm flipH="1" rot="10800000">
            <a:off x="3484085" y="2532282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4" name="Google Shape;704;p78"/>
          <p:cNvCxnSpPr/>
          <p:nvPr/>
        </p:nvCxnSpPr>
        <p:spPr>
          <a:xfrm flipH="1" rot="10800000">
            <a:off x="3754794" y="2532282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5" name="Google Shape;705;p78"/>
          <p:cNvCxnSpPr/>
          <p:nvPr/>
        </p:nvCxnSpPr>
        <p:spPr>
          <a:xfrm flipH="1" rot="10800000">
            <a:off x="4491729" y="2532282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6" name="Google Shape;706;p78"/>
          <p:cNvCxnSpPr/>
          <p:nvPr/>
        </p:nvCxnSpPr>
        <p:spPr>
          <a:xfrm flipH="1" rot="10800000">
            <a:off x="4739879" y="2457082"/>
            <a:ext cx="420184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7" name="Google Shape;707;p78"/>
          <p:cNvCxnSpPr/>
          <p:nvPr/>
        </p:nvCxnSpPr>
        <p:spPr>
          <a:xfrm flipH="1" rot="10800000">
            <a:off x="4995551" y="2532282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9"/>
          <p:cNvSpPr txBox="1"/>
          <p:nvPr>
            <p:ph type="title"/>
          </p:nvPr>
        </p:nvSpPr>
        <p:spPr>
          <a:xfrm>
            <a:off x="3313196" y="221206"/>
            <a:ext cx="2517609" cy="475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it" sz="2700"/>
              <a:t>Circuiti digitali</a:t>
            </a:r>
            <a:endParaRPr sz="2700"/>
          </a:p>
        </p:txBody>
      </p:sp>
      <p:sp>
        <p:nvSpPr>
          <p:cNvPr id="713" name="Google Shape;713;p79"/>
          <p:cNvSpPr txBox="1"/>
          <p:nvPr/>
        </p:nvSpPr>
        <p:spPr>
          <a:xfrm>
            <a:off x="120316" y="917408"/>
            <a:ext cx="892592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Realizzare il circuito digitale corrispondente all'espressione logica F, utilizzando esclusivamente porte universali (NOR e NAND):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79"/>
          <p:cNvSpPr txBox="1"/>
          <p:nvPr/>
        </p:nvSpPr>
        <p:spPr>
          <a:xfrm>
            <a:off x="3580898" y="1422732"/>
            <a:ext cx="1267829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A  B   C</a:t>
            </a:r>
            <a:endParaRPr sz="1100"/>
          </a:p>
        </p:txBody>
      </p:sp>
      <p:cxnSp>
        <p:nvCxnSpPr>
          <p:cNvPr id="715" name="Google Shape;715;p79"/>
          <p:cNvCxnSpPr/>
          <p:nvPr/>
        </p:nvCxnSpPr>
        <p:spPr>
          <a:xfrm flipH="1" rot="10800000">
            <a:off x="3980387" y="1419362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6" name="Google Shape;716;p79"/>
          <p:cNvCxnSpPr/>
          <p:nvPr/>
        </p:nvCxnSpPr>
        <p:spPr>
          <a:xfrm flipH="1" rot="10800000">
            <a:off x="4228538" y="1344162"/>
            <a:ext cx="420184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7" name="Google Shape;717;p79"/>
          <p:cNvCxnSpPr/>
          <p:nvPr/>
        </p:nvCxnSpPr>
        <p:spPr>
          <a:xfrm flipH="1" rot="10800000">
            <a:off x="4484210" y="1419362"/>
            <a:ext cx="104355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magine che contiene diagramma, schizzo, design&#10;&#10;Descrizione generata automaticamente" id="718" name="Google Shape;71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3756" y="2177705"/>
            <a:ext cx="5466848" cy="2216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9" name="Google Shape;719;p79"/>
          <p:cNvCxnSpPr/>
          <p:nvPr/>
        </p:nvCxnSpPr>
        <p:spPr>
          <a:xfrm flipH="1" rot="10800000">
            <a:off x="6763252" y="3350795"/>
            <a:ext cx="1504" cy="2316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0" name="Google Shape;720;p79"/>
          <p:cNvCxnSpPr/>
          <p:nvPr/>
        </p:nvCxnSpPr>
        <p:spPr>
          <a:xfrm flipH="1" rot="10800000">
            <a:off x="2672515" y="2425867"/>
            <a:ext cx="1504" cy="26168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1" name="Google Shape;721;p79"/>
          <p:cNvCxnSpPr/>
          <p:nvPr/>
        </p:nvCxnSpPr>
        <p:spPr>
          <a:xfrm flipH="1" rot="10800000">
            <a:off x="3183857" y="3824537"/>
            <a:ext cx="1504" cy="26168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2" name="Google Shape;722;p79"/>
          <p:cNvCxnSpPr/>
          <p:nvPr/>
        </p:nvCxnSpPr>
        <p:spPr>
          <a:xfrm flipH="1">
            <a:off x="2185235" y="2552196"/>
            <a:ext cx="457200" cy="150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3" name="Google Shape;723;p79"/>
          <p:cNvCxnSpPr/>
          <p:nvPr/>
        </p:nvCxnSpPr>
        <p:spPr>
          <a:xfrm>
            <a:off x="2183731" y="3153776"/>
            <a:ext cx="2024313" cy="902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4" name="Google Shape;724;p79"/>
          <p:cNvCxnSpPr/>
          <p:nvPr/>
        </p:nvCxnSpPr>
        <p:spPr>
          <a:xfrm flipH="1" rot="10800000">
            <a:off x="2221331" y="3944853"/>
            <a:ext cx="964030" cy="601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5" name="Google Shape;725;p79"/>
          <p:cNvSpPr/>
          <p:nvPr/>
        </p:nvSpPr>
        <p:spPr>
          <a:xfrm>
            <a:off x="3135730" y="3902744"/>
            <a:ext cx="97756" cy="90236"/>
          </a:xfrm>
          <a:prstGeom prst="flowChartConnector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79"/>
          <p:cNvSpPr/>
          <p:nvPr/>
        </p:nvSpPr>
        <p:spPr>
          <a:xfrm>
            <a:off x="6730164" y="3421481"/>
            <a:ext cx="97757" cy="90236"/>
          </a:xfrm>
          <a:prstGeom prst="flowChartConnector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79"/>
          <p:cNvSpPr/>
          <p:nvPr/>
        </p:nvSpPr>
        <p:spPr>
          <a:xfrm>
            <a:off x="2624388" y="2511593"/>
            <a:ext cx="97756" cy="90236"/>
          </a:xfrm>
          <a:prstGeom prst="flowChartConnector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79"/>
          <p:cNvSpPr txBox="1"/>
          <p:nvPr/>
        </p:nvSpPr>
        <p:spPr>
          <a:xfrm>
            <a:off x="1919038" y="2986839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79"/>
          <p:cNvSpPr txBox="1"/>
          <p:nvPr/>
        </p:nvSpPr>
        <p:spPr>
          <a:xfrm>
            <a:off x="1994235" y="3768893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79"/>
          <p:cNvSpPr txBox="1"/>
          <p:nvPr/>
        </p:nvSpPr>
        <p:spPr>
          <a:xfrm>
            <a:off x="1919037" y="2385260"/>
            <a:ext cx="297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79"/>
          <p:cNvSpPr txBox="1"/>
          <p:nvPr/>
        </p:nvSpPr>
        <p:spPr>
          <a:xfrm>
            <a:off x="7679156" y="3295149"/>
            <a:ext cx="5684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 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80"/>
          <p:cNvSpPr txBox="1"/>
          <p:nvPr/>
        </p:nvSpPr>
        <p:spPr>
          <a:xfrm>
            <a:off x="2930652" y="86868"/>
            <a:ext cx="2889504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Espressioni booleane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80"/>
          <p:cNvSpPr txBox="1"/>
          <p:nvPr/>
        </p:nvSpPr>
        <p:spPr>
          <a:xfrm>
            <a:off x="86867" y="580644"/>
            <a:ext cx="8974836" cy="15234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Esistono diverse notazioni per esprimere le funzioni booleane: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Notazione algebrica, ad esempio:  Y = (A+B)⋅C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Notazione logica, ad esempio : Y = (A ∨¬B)∧C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Rappresentazione grafica mediante circuito, ad esempio:</a:t>
            </a:r>
            <a:endParaRPr sz="1100"/>
          </a:p>
        </p:txBody>
      </p:sp>
      <p:cxnSp>
        <p:nvCxnSpPr>
          <p:cNvPr id="738" name="Google Shape;738;p80"/>
          <p:cNvCxnSpPr/>
          <p:nvPr/>
        </p:nvCxnSpPr>
        <p:spPr>
          <a:xfrm flipH="1" rot="10800000">
            <a:off x="3208418" y="1035539"/>
            <a:ext cx="141953" cy="921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magine che contiene diagramma, schizzo, linea, design&#10;&#10;Descrizione generata automaticamente" id="739" name="Google Shape;73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4161" y="2524287"/>
            <a:ext cx="4572000" cy="195691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80"/>
          <p:cNvSpPr txBox="1"/>
          <p:nvPr/>
        </p:nvSpPr>
        <p:spPr>
          <a:xfrm>
            <a:off x="1921899" y="2852890"/>
            <a:ext cx="442451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