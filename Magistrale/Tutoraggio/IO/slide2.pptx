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</p:sldIdLst>
  <p:sldSz cy="5143500" cx="9144000"/>
  <p:notesSz cx="6858000" cy="9144000"/>
  <p:embeddedFontLst>
    <p:embeddedFont>
      <p:font typeface="Play"/>
      <p:regular r:id="rId54"/>
      <p:bold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7A8508-84C2-4DF3-8AE5-87389DD60ED7}">
  <a:tblStyle styleId="{FC7A8508-84C2-4DF3-8AE5-87389DD60ED7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font" Target="fonts/Play-bold.fntdata"/><Relationship Id="rId10" Type="http://schemas.openxmlformats.org/officeDocument/2006/relationships/slide" Target="slides/slide2.xml"/><Relationship Id="rId54" Type="http://schemas.openxmlformats.org/officeDocument/2006/relationships/font" Target="fonts/Play-regular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0cf7ad983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questa lezione introduciamo alcuni concetti fondamentali dell'architettura dei sistemi di elaborazione. In particolare ci concentreremo su tre aspetti principali: i sistemi di numerazione, le conversioni tra basi numeriche e un primo esempio di controllo degli errori nei dati tramite il codice di Hamming.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Questi concetti sono fondamentali perché tutti i computer rappresentano e manipolano informazioni utilizzando numeri binari. Comprendere come funzionano le basi numeriche e come avvengono le conversioni permette di capire come i dati vengono memorizzati, trasmessi e processati all’interno dei sistemi digitali.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seconda parte della lezione vedremo anche come i segnali elettrici reali, che sono analogici, vengono interpretati dai circuiti digitali come valori logici discreti, cioè 0 e 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Infine introdurremo il codice di Hamming, un metodo utilizzato nei sistemi di comunicazione e memorizzazione per rilevare e correggere errori nei dati trasmessi.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d0cf7ad983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0cf7ad983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d0cf7ad983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lezione è organizzata in cinque parti principali.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prima parte riguarda i sistemi di numerazione. Vedremo cosa sono, come funzionano e qual è la differenza tra sistemi additivi e sistemi posizionali.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seconda parte studieremo come convertire un numero scritto in una base qualsiasi nel sistema decimale utilizzando la notazione polinomiale.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terza parte vedremo il procedimento inverso: come convertire un numero decimale in una base qualsiasi utilizzando il metodo delle divisioni successive.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Successivamente analizzeremo un caso particolare molto importante: le basi che sono potenze l'una dell'altra, come base 2, base 8 e base 16. Queste conversioni sono particolarmente semplici e molto usate in informatica.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Infine introdurremo il codice di Hamming, che consente di rilevare e correggere errori nei dati trasmessi o memorizzati.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0cf7ad983_2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d0cf7ad983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codice di Hamming funziona introducendo dei bit aggiuntivi chiamati bit di parità o bit di controllo.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Questi bit non contengono dati, ma servono esclusivamente per verificare la correttezza della sequenza.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 bit di parità vengono inseriti in posizioni specifiche della sequenza, precisamente nelle posizioni che corrispondono a potenze di due.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Quindi le posizioni 1, 2, 4, 8, 16 e così via.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altre posizioni contengono invece i bit di dati reali.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Ogni bit di parità controlla un certo gruppo di bit della sequenza.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durante la trasmissione un bit cambia valore, i controlli di parità non risulteranno più corretti.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Analizzando quali controlli risultano errati è possibile individuare la posizione del bit corrotto.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formula mostrata nella slide serve per determinare quanti bit di parità sono necessari.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condizione è: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2^n ≥ m + n + 1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dove m è il numero di bit di dati e n è il numero di bit di parità.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0cf7ad983_2_2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Dopo aver calcolato tutti i bit di parità otteniamo la parola codificata completa.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Questa sequenza contiene sia i bit di dati sia i bit di controllo.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presenza dei bit di controllo permette al sistema ricevente di verificare se durante la trasmissione si è verificato un errore.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un singolo bit cambia valore, il sistema di controllo sarà in grado di individuare la posizione dell'errore.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d0cf7ad983_2_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0cf7ad98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0cf7ad98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0cf7ad98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0cf7ad98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0cf7ad983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d0cf7ad983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0cf7ad98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d0cf7ad98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0cf7ad983_2_2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d0cf7ad983_2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0cf7ad98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d0cf7ad98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0cf7ad983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d0cf7ad983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0cf7ad983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d0cf7ad983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0cf7ad983_2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g3d0cf7ad983_2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0cf7ad983_2_2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g3d0cf7ad983_2_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0cf7ad983_2_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g3d0cf7ad983_2_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0cf7ad983_2_2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g3d0cf7ad983_2_2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0cf7ad983_2_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d0cf7ad983_2_2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g3d0cf7ad983_2_2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0cf7ad983_2_2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d0cf7ad983_2_2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g3d0cf7ad983_2_2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0cf7ad983_2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d0cf7ad983_2_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g3d0cf7ad983_2_2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d0cf7ad983_2_2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d0cf7ad983_2_2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g3d0cf7ad983_2_2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d0cf7ad983_2_2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d0cf7ad983_2_2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g3d0cf7ad983_2_2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0cf7ad983_2_3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d0cf7ad983_2_3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g3d0cf7ad983_2_3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d0cf7ad983_2_3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3d0cf7ad983_2_3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g3d0cf7ad983_2_3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d0cf7ad983_2_3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d0cf7ad983_2_3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3" name="Google Shape;413;g3d0cf7ad983_2_3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0cf7ad983_2_3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d0cf7ad983_2_3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3" name="Google Shape;423;g3d0cf7ad983_2_3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d0cf7ad983_2_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d0cf7ad983_2_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g3d0cf7ad983_2_3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10e8217b7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d10e8217b7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g3d10e8217b7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11393afc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d11393afc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8" name="Google Shape;458;g3d11393afc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d10e8217b7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3d10e8217b7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7" name="Google Shape;467;g3d10e8217b7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0cf7ad983_0_3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d0cf7ad983_0_3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8" name="Google Shape;478;g3d0cf7ad983_0_3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d0cf7ad983_0_3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d0cf7ad983_0_3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0" name="Google Shape;490;g3d0cf7ad983_0_3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d0cf7ad983_0_4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3d0cf7ad983_0_4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4" name="Google Shape;504;g3d0cf7ad983_0_4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d0cf7ad983_0_4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3d0cf7ad983_0_4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8" name="Google Shape;518;g3d0cf7ad983_0_4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d0cf7ad983_0_4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d0cf7ad983_0_4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2" name="Google Shape;532;g3d0cf7ad983_0_4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d0cf7ad983_0_4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d0cf7ad983_0_4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6" name="Google Shape;546;g3d0cf7ad983_0_4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d0cf7ad983_0_4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g3d0cf7ad983_0_4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0" name="Google Shape;560;g3d0cf7ad983_0_4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d0cf7ad983_0_4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d0cf7ad983_0_4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4" name="Google Shape;574;g3d0cf7ad983_0_4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d0cf7ad983_0_5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g3d0cf7ad983_0_5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8" name="Google Shape;588;g3d0cf7ad983_0_5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0cf7ad983_0_5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d0cf7ad983_0_5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2" name="Google Shape;602;g3d0cf7ad983_0_5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d0cf7ad983_0_5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g3d0cf7ad983_0_5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6" name="Google Shape;616;g3d0cf7ad983_0_5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d10e8217b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d10e8217b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0" name="Google Shape;630;g3d10e8217b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d11393afcd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g3d11393afcd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3" name="Google Shape;643;g3d11393afcd_0_1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d11393afcd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g3d11393afcd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3" name="Google Shape;653;g3d11393afcd_0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d11393afcd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g3d11393afcd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4" name="Google Shape;664;g3d11393afcd_0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d11393afcd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g3d11393afcd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8" name="Google Shape;678;g3d11393afcd_0_1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0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31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5" name="Google Shape;165;p31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4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14.png"/><Relationship Id="rId8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13.png"/><Relationship Id="rId6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13.png"/><Relationship Id="rId6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13.png"/><Relationship Id="rId6" Type="http://schemas.openxmlformats.org/officeDocument/2006/relationships/image" Target="../media/image2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13.png"/><Relationship Id="rId6" Type="http://schemas.openxmlformats.org/officeDocument/2006/relationships/image" Target="../media/image2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13.png"/><Relationship Id="rId6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5.png"/><Relationship Id="rId6" Type="http://schemas.openxmlformats.org/officeDocument/2006/relationships/image" Target="../media/image1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/>
        </p:nvSpPr>
        <p:spPr>
          <a:xfrm>
            <a:off x="0" y="971035"/>
            <a:ext cx="9144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Architettura dei sistemi di elaborazione (2)</a:t>
            </a:r>
            <a:endParaRPr b="1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427" y="2249138"/>
            <a:ext cx="4737295" cy="113020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7"/>
          <p:cNvSpPr txBox="1"/>
          <p:nvPr/>
        </p:nvSpPr>
        <p:spPr>
          <a:xfrm>
            <a:off x="3576900" y="4026000"/>
            <a:ext cx="199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alesandu0@gmail.com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>
            <p:ph type="title"/>
          </p:nvPr>
        </p:nvSpPr>
        <p:spPr>
          <a:xfrm>
            <a:off x="628650" y="273849"/>
            <a:ext cx="78867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Indice</a:t>
            </a:r>
            <a:endParaRPr/>
          </a:p>
        </p:txBody>
      </p:sp>
      <p:sp>
        <p:nvSpPr>
          <p:cNvPr id="213" name="Google Shape;213;p38"/>
          <p:cNvSpPr txBox="1"/>
          <p:nvPr>
            <p:ph idx="1" type="body"/>
          </p:nvPr>
        </p:nvSpPr>
        <p:spPr>
          <a:xfrm>
            <a:off x="628650" y="1056251"/>
            <a:ext cx="7886700" cy="3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 sz="1800"/>
              <a:t>Recap Tutoraggio 1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Breve recap di Hamming.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 sz="1800"/>
              <a:t>Hamming code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Invio e Calcolo bit in Hamming.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Ricezione e Controllo bit in Hamming.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 sz="1800"/>
              <a:t>Risoluzione equazione con tavola di verità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 sz="1800"/>
              <a:t>Verifica equivalenza tra espressioni tramite tavola di verità</a:t>
            </a:r>
            <a:endParaRPr sz="1800"/>
          </a:p>
        </p:txBody>
      </p:sp>
      <p:sp>
        <p:nvSpPr>
          <p:cNvPr id="214" name="Google Shape;214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2. Hamming Code: Invio dati</a:t>
            </a:r>
            <a:endParaRPr/>
          </a:p>
        </p:txBody>
      </p:sp>
      <p:sp>
        <p:nvSpPr>
          <p:cNvPr id="220" name="Google Shape;220;p3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 sz="1600"/>
              <a:t>Il Codice di Hamming inserisce dei </a:t>
            </a:r>
            <a:r>
              <a:rPr b="1" lang="it" sz="1600"/>
              <a:t>bit di parità</a:t>
            </a:r>
            <a:r>
              <a:rPr lang="it" sz="1600"/>
              <a:t> (o bit di controllo) in posizioni strategiche (le potenze di 2: posizioni 1, 2, 4, 8) rispettando la formula </a:t>
            </a:r>
            <a:br>
              <a:rPr lang="it" sz="1600"/>
            </a:b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</a:pPr>
            <a:r>
              <a:rPr lang="it" sz="1600"/>
              <a:t>2</a:t>
            </a:r>
            <a:r>
              <a:rPr baseline="30000" lang="it" sz="1600"/>
              <a:t>n</a:t>
            </a:r>
            <a:r>
              <a:rPr lang="it" sz="1600"/>
              <a:t> &gt;= m + n + 1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</a:pPr>
            <a:r>
              <a:rPr lang="it" sz="1200"/>
              <a:t>Es.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 sz="1200"/>
              <a:t>Se hai </a:t>
            </a:r>
            <a:r>
              <a:rPr b="1" lang="it" sz="1200"/>
              <a:t>4 bit</a:t>
            </a:r>
            <a:r>
              <a:rPr lang="it" sz="1200"/>
              <a:t> di dati (m=4): 2</a:t>
            </a:r>
            <a:r>
              <a:rPr baseline="30000" lang="it" sz="1200"/>
              <a:t>3</a:t>
            </a:r>
            <a:r>
              <a:rPr lang="it" sz="1200"/>
              <a:t> &gt;= 4+3+1 = 8. Servono </a:t>
            </a:r>
            <a:r>
              <a:rPr b="1" lang="it" sz="1200"/>
              <a:t>3 bit</a:t>
            </a:r>
            <a:r>
              <a:rPr lang="it" sz="1200"/>
              <a:t> di parità.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 sz="1200"/>
              <a:t>Se hai </a:t>
            </a:r>
            <a:r>
              <a:rPr b="1" lang="it" sz="1200"/>
              <a:t>11 bit</a:t>
            </a:r>
            <a:r>
              <a:rPr lang="it" sz="1200"/>
              <a:t> di dati (m=11): 2</a:t>
            </a:r>
            <a:r>
              <a:rPr baseline="30000" lang="it" sz="1200"/>
              <a:t>4</a:t>
            </a:r>
            <a:r>
              <a:rPr lang="it" sz="1200"/>
              <a:t> &gt;= 11+4+1 = 16. Servono </a:t>
            </a:r>
            <a:r>
              <a:rPr b="1" lang="it" sz="1200"/>
              <a:t>4 bit</a:t>
            </a:r>
            <a:r>
              <a:rPr lang="it" sz="1200"/>
              <a:t> di parità.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</p:txBody>
      </p:sp>
      <p:sp>
        <p:nvSpPr>
          <p:cNvPr id="221" name="Google Shape;221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" name="Google Shape;226;p40"/>
          <p:cNvGraphicFramePr/>
          <p:nvPr/>
        </p:nvGraphicFramePr>
        <p:xfrm>
          <a:off x="2355762" y="25717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  <a:gridCol w="34185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aseline="-2500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aseline="-2500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aseline="-2500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7" name="Google Shape;227;p4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Hamming Code: Calcolo bit correzione d’errore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0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Calcola i bit di correzione d’errore da aggiungere alla parola 1B</a:t>
            </a:r>
            <a:r>
              <a:rPr b="0" baseline="-2500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230" name="Google Shape;230;p40"/>
          <p:cNvGraphicFramePr/>
          <p:nvPr/>
        </p:nvGraphicFramePr>
        <p:xfrm>
          <a:off x="358622" y="14205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  <a:gridCol w="324000"/>
              </a:tblGrid>
              <a:tr h="324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31" name="Google Shape;231;p40"/>
          <p:cNvSpPr txBox="1"/>
          <p:nvPr/>
        </p:nvSpPr>
        <p:spPr>
          <a:xfrm>
            <a:off x="2730551" y="1476688"/>
            <a:ext cx="463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0"/>
          <p:cNvSpPr txBox="1"/>
          <p:nvPr/>
        </p:nvSpPr>
        <p:spPr>
          <a:xfrm>
            <a:off x="2790739" y="1809807"/>
            <a:ext cx="457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-25000" i="0" lang="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0"/>
          <p:cNvSpPr txBox="1"/>
          <p:nvPr/>
        </p:nvSpPr>
        <p:spPr>
          <a:xfrm>
            <a:off x="5660750" y="1286547"/>
            <a:ext cx="189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= 8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+ m + 1 &lt;= 2</a:t>
            </a:r>
            <a:r>
              <a:rPr b="0" baseline="3000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baseline="3000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= 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r>
              <a:rPr i="0" lang="it" sz="2700" u="none" cap="none" strike="noStrike">
                <a:solidFill>
                  <a:schemeClr val="dk1"/>
                </a:solidFill>
              </a:rPr>
              <a:t>: Calcolo bit correzione d’errore</a:t>
            </a:r>
            <a:endParaRPr/>
          </a:p>
        </p:txBody>
      </p:sp>
      <p:sp>
        <p:nvSpPr>
          <p:cNvPr id="239" name="Google Shape;239;p41"/>
          <p:cNvSpPr txBox="1"/>
          <p:nvPr/>
        </p:nvSpPr>
        <p:spPr>
          <a:xfrm>
            <a:off x="137158" y="570000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Calcola i bit di correzione d’errore da aggiungere alla parola ADA1</a:t>
            </a:r>
            <a:r>
              <a:rPr baseline="-25000" i="0" lang="it" sz="1700" u="none" cap="none" strike="noStrike">
                <a:solidFill>
                  <a:schemeClr val="dk1"/>
                </a:solidFill>
              </a:rPr>
              <a:t>16</a:t>
            </a:r>
            <a:endParaRPr/>
          </a:p>
        </p:txBody>
      </p:sp>
      <p:graphicFrame>
        <p:nvGraphicFramePr>
          <p:cNvPr id="240" name="Google Shape;240;p41"/>
          <p:cNvGraphicFramePr/>
          <p:nvPr/>
        </p:nvGraphicFramePr>
        <p:xfrm>
          <a:off x="243674" y="10808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41" name="Google Shape;241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r>
              <a:rPr i="0" lang="it" sz="2700" u="none" cap="none" strike="noStrike">
                <a:solidFill>
                  <a:schemeClr val="dk1"/>
                </a:solidFill>
              </a:rPr>
              <a:t>: Calcolo bit correzione d’errore</a:t>
            </a:r>
            <a:endParaRPr/>
          </a:p>
        </p:txBody>
      </p:sp>
      <p:sp>
        <p:nvSpPr>
          <p:cNvPr id="247" name="Google Shape;247;p42"/>
          <p:cNvSpPr txBox="1"/>
          <p:nvPr/>
        </p:nvSpPr>
        <p:spPr>
          <a:xfrm>
            <a:off x="137158" y="570000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Calcola i bit di correzione d’errore da aggiungere alla parola ADA1</a:t>
            </a:r>
            <a:r>
              <a:rPr baseline="-25000" i="0" lang="it" sz="1700" u="none" cap="none" strike="noStrike">
                <a:solidFill>
                  <a:schemeClr val="dk1"/>
                </a:solidFill>
              </a:rPr>
              <a:t>16</a:t>
            </a:r>
            <a:endParaRPr/>
          </a:p>
        </p:txBody>
      </p:sp>
      <p:sp>
        <p:nvSpPr>
          <p:cNvPr id="248" name="Google Shape;248;p42"/>
          <p:cNvSpPr txBox="1"/>
          <p:nvPr/>
        </p:nvSpPr>
        <p:spPr>
          <a:xfrm>
            <a:off x="439140" y="2617668"/>
            <a:ext cx="166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it" sz="1600" u="none" cap="none" strike="noStrike">
                <a:solidFill>
                  <a:schemeClr val="dk1"/>
                </a:solidFill>
              </a:rPr>
              <a:t>m = 16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it" sz="1600" u="none" cap="none" strike="noStrike">
                <a:solidFill>
                  <a:schemeClr val="dk1"/>
                </a:solidFill>
              </a:rPr>
              <a:t>n + m + 1 &lt;= 2</a:t>
            </a:r>
            <a:r>
              <a:rPr baseline="30000" i="0" lang="it" sz="1600" u="none" cap="none" strike="noStrike">
                <a:solidFill>
                  <a:schemeClr val="dk1"/>
                </a:solidFill>
              </a:rPr>
              <a:t>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it" sz="1600" u="none" cap="none" strike="noStrike">
                <a:solidFill>
                  <a:schemeClr val="dk1"/>
                </a:solidFill>
              </a:rPr>
              <a:t>n = 5</a:t>
            </a:r>
            <a:endParaRPr/>
          </a:p>
        </p:txBody>
      </p:sp>
      <p:graphicFrame>
        <p:nvGraphicFramePr>
          <p:cNvPr id="249" name="Google Shape;249;p42"/>
          <p:cNvGraphicFramePr/>
          <p:nvPr/>
        </p:nvGraphicFramePr>
        <p:xfrm>
          <a:off x="243674" y="10808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50" name="Google Shape;250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r>
              <a:rPr i="0" lang="it" sz="2700" u="none" cap="none" strike="noStrike">
                <a:solidFill>
                  <a:schemeClr val="dk1"/>
                </a:solidFill>
              </a:rPr>
              <a:t>: Calcolo bit correzione d’errore</a:t>
            </a:r>
            <a:endParaRPr/>
          </a:p>
        </p:txBody>
      </p:sp>
      <p:sp>
        <p:nvSpPr>
          <p:cNvPr id="256" name="Google Shape;256;p43"/>
          <p:cNvSpPr txBox="1"/>
          <p:nvPr/>
        </p:nvSpPr>
        <p:spPr>
          <a:xfrm>
            <a:off x="137158" y="570000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Calcola i bit di correzione d’errore da aggiungere alla parola ADA1</a:t>
            </a:r>
            <a:r>
              <a:rPr baseline="-25000" i="0" lang="it" sz="1700" u="none" cap="none" strike="noStrike">
                <a:solidFill>
                  <a:schemeClr val="dk1"/>
                </a:solidFill>
              </a:rPr>
              <a:t>16</a:t>
            </a:r>
            <a:endParaRPr/>
          </a:p>
        </p:txBody>
      </p:sp>
      <p:graphicFrame>
        <p:nvGraphicFramePr>
          <p:cNvPr id="257" name="Google Shape;257;p43"/>
          <p:cNvGraphicFramePr/>
          <p:nvPr/>
        </p:nvGraphicFramePr>
        <p:xfrm>
          <a:off x="243674" y="10808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8" name="Google Shape;258;p43"/>
          <p:cNvGraphicFramePr/>
          <p:nvPr/>
        </p:nvGraphicFramePr>
        <p:xfrm>
          <a:off x="583674" y="22686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</a:tblGrid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aseline="-25000"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aseline="-25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59" name="Google Shape;259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r>
              <a:rPr i="0" lang="it" sz="2700" u="none" cap="none" strike="noStrike">
                <a:solidFill>
                  <a:schemeClr val="dk1"/>
                </a:solidFill>
              </a:rPr>
              <a:t>: Calcolo bit correzione d’errore</a:t>
            </a:r>
            <a:endParaRPr/>
          </a:p>
        </p:txBody>
      </p:sp>
      <p:sp>
        <p:nvSpPr>
          <p:cNvPr id="265" name="Google Shape;265;p44"/>
          <p:cNvSpPr txBox="1"/>
          <p:nvPr/>
        </p:nvSpPr>
        <p:spPr>
          <a:xfrm>
            <a:off x="137158" y="570000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Calcola i bit di correzione d’errore da aggiungere alla parola ADA1</a:t>
            </a:r>
            <a:r>
              <a:rPr baseline="-25000" i="0" lang="it" sz="1700" u="none" cap="none" strike="noStrike">
                <a:solidFill>
                  <a:schemeClr val="dk1"/>
                </a:solidFill>
              </a:rPr>
              <a:t>16</a:t>
            </a:r>
            <a:endParaRPr/>
          </a:p>
        </p:txBody>
      </p:sp>
      <p:graphicFrame>
        <p:nvGraphicFramePr>
          <p:cNvPr id="266" name="Google Shape;266;p44"/>
          <p:cNvGraphicFramePr/>
          <p:nvPr/>
        </p:nvGraphicFramePr>
        <p:xfrm>
          <a:off x="243674" y="10808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  <a:gridCol w="340000"/>
              </a:tblGrid>
              <a:tr h="324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7" name="Google Shape;267;p44"/>
          <p:cNvGraphicFramePr/>
          <p:nvPr/>
        </p:nvGraphicFramePr>
        <p:xfrm>
          <a:off x="583674" y="22686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  <a:gridCol w="326575"/>
              </a:tblGrid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DD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👮‍♀️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68" name="Google Shape;268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" name="Google Shape;273;p45"/>
          <p:cNvGraphicFramePr/>
          <p:nvPr/>
        </p:nvGraphicFramePr>
        <p:xfrm>
          <a:off x="1646259" y="1550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  <a:gridCol w="34122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it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it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74" name="Google Shape;274;p45"/>
          <p:cNvSpPr txBox="1"/>
          <p:nvPr/>
        </p:nvSpPr>
        <p:spPr>
          <a:xfrm>
            <a:off x="5989320" y="2280089"/>
            <a:ext cx="457200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5"/>
          <p:cNvSpPr txBox="1"/>
          <p:nvPr/>
        </p:nvSpPr>
        <p:spPr>
          <a:xfrm>
            <a:off x="137158" y="683255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Assumendo abbiamo ricevuto la sequenza 2B1</a:t>
            </a:r>
            <a:r>
              <a:rPr b="0" baseline="-2500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i="0" lang="it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calcola i bit di parità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Hamming Code: Controllo bit parità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278" name="Google Shape;278;p45"/>
          <p:cNvGraphicFramePr/>
          <p:nvPr/>
        </p:nvGraphicFramePr>
        <p:xfrm>
          <a:off x="7117116" y="19380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324000"/>
                <a:gridCol w="324000"/>
                <a:gridCol w="324000"/>
                <a:gridCol w="324000"/>
              </a:tblGrid>
              <a:tr h="32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baseline="-2500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baseline="-2500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baseline="-2500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b="0" baseline="-2500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baseline="-2500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r>
              <a:rPr i="0" lang="it" sz="2700" u="none" cap="none" strike="noStrike">
                <a:solidFill>
                  <a:schemeClr val="dk1"/>
                </a:solidFill>
              </a:rPr>
              <a:t>: Controllo bit parità</a:t>
            </a:r>
            <a:endParaRPr/>
          </a:p>
        </p:txBody>
      </p:sp>
      <p:sp>
        <p:nvSpPr>
          <p:cNvPr id="284" name="Google Shape;284;p46"/>
          <p:cNvSpPr txBox="1"/>
          <p:nvPr/>
        </p:nvSpPr>
        <p:spPr>
          <a:xfrm>
            <a:off x="137158" y="570000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Assumendo abbiamo ricevuto la sequenza 05735</a:t>
            </a:r>
            <a:r>
              <a:rPr baseline="-25000" i="0" lang="it" sz="1700" u="none" cap="none" strike="noStrike">
                <a:solidFill>
                  <a:schemeClr val="dk1"/>
                </a:solidFill>
              </a:rPr>
              <a:t>16</a:t>
            </a:r>
            <a:r>
              <a:rPr i="0" lang="it" sz="1700" u="none" cap="none" strike="noStrike">
                <a:solidFill>
                  <a:schemeClr val="dk1"/>
                </a:solidFill>
              </a:rPr>
              <a:t> calcola i bit di parità</a:t>
            </a:r>
            <a:endParaRPr/>
          </a:p>
        </p:txBody>
      </p:sp>
      <p:sp>
        <p:nvSpPr>
          <p:cNvPr id="285" name="Google Shape;285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r>
              <a:rPr i="0" lang="it" sz="2700" u="none" cap="none" strike="noStrike">
                <a:solidFill>
                  <a:schemeClr val="dk1"/>
                </a:solidFill>
              </a:rPr>
              <a:t>: Controllo bit parità</a:t>
            </a:r>
            <a:endParaRPr/>
          </a:p>
        </p:txBody>
      </p:sp>
      <p:sp>
        <p:nvSpPr>
          <p:cNvPr id="291" name="Google Shape;291;p47"/>
          <p:cNvSpPr txBox="1"/>
          <p:nvPr/>
        </p:nvSpPr>
        <p:spPr>
          <a:xfrm>
            <a:off x="137158" y="570000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Assumendo abbiamo ricevuto la sequenza 05735</a:t>
            </a:r>
            <a:r>
              <a:rPr baseline="-25000" i="0" lang="it" sz="1700" u="none" cap="none" strike="noStrike">
                <a:solidFill>
                  <a:schemeClr val="dk1"/>
                </a:solidFill>
              </a:rPr>
              <a:t>16</a:t>
            </a:r>
            <a:r>
              <a:rPr i="0" lang="it" sz="1700" u="none" cap="none" strike="noStrike">
                <a:solidFill>
                  <a:schemeClr val="dk1"/>
                </a:solidFill>
              </a:rPr>
              <a:t> calcola i bit di parità</a:t>
            </a:r>
            <a:endParaRPr/>
          </a:p>
        </p:txBody>
      </p:sp>
      <p:graphicFrame>
        <p:nvGraphicFramePr>
          <p:cNvPr id="292" name="Google Shape;292;p47"/>
          <p:cNvGraphicFramePr/>
          <p:nvPr/>
        </p:nvGraphicFramePr>
        <p:xfrm>
          <a:off x="870943" y="12551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93" name="Google Shape;293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r>
              <a:rPr i="0" lang="it" sz="2700" u="none" cap="none" strike="noStrike">
                <a:solidFill>
                  <a:schemeClr val="dk1"/>
                </a:solidFill>
              </a:rPr>
              <a:t>: Controllo bit parità</a:t>
            </a:r>
            <a:endParaRPr/>
          </a:p>
        </p:txBody>
      </p:sp>
      <p:sp>
        <p:nvSpPr>
          <p:cNvPr id="299" name="Google Shape;299;p48"/>
          <p:cNvSpPr txBox="1"/>
          <p:nvPr/>
        </p:nvSpPr>
        <p:spPr>
          <a:xfrm>
            <a:off x="137158" y="570000"/>
            <a:ext cx="8785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Assumendo abbiamo ricevuto la sequenza 05735</a:t>
            </a:r>
            <a:r>
              <a:rPr baseline="-25000" i="0" lang="it" sz="1700" u="none" cap="none" strike="noStrike">
                <a:solidFill>
                  <a:schemeClr val="dk1"/>
                </a:solidFill>
              </a:rPr>
              <a:t>16</a:t>
            </a:r>
            <a:r>
              <a:rPr i="0" lang="it" sz="1700" u="none" cap="none" strike="noStrike">
                <a:solidFill>
                  <a:schemeClr val="dk1"/>
                </a:solidFill>
              </a:rPr>
              <a:t> calcola i bit di parità</a:t>
            </a:r>
            <a:endParaRPr/>
          </a:p>
        </p:txBody>
      </p:sp>
      <p:graphicFrame>
        <p:nvGraphicFramePr>
          <p:cNvPr id="300" name="Google Shape;300;p48"/>
          <p:cNvGraphicFramePr/>
          <p:nvPr/>
        </p:nvGraphicFramePr>
        <p:xfrm>
          <a:off x="870943" y="12551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📌</a:t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1" name="Google Shape;301;p48"/>
          <p:cNvGraphicFramePr/>
          <p:nvPr/>
        </p:nvGraphicFramePr>
        <p:xfrm>
          <a:off x="685126" y="35968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400000"/>
                <a:gridCol w="400000"/>
                <a:gridCol w="400000"/>
                <a:gridCol w="400000"/>
                <a:gridCol w="400000"/>
              </a:tblGrid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b4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b3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b2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02" name="Google Shape;302;p48"/>
          <p:cNvSpPr txBox="1"/>
          <p:nvPr/>
        </p:nvSpPr>
        <p:spPr>
          <a:xfrm>
            <a:off x="2847967" y="3596846"/>
            <a:ext cx="3999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it" sz="1800" u="none" cap="none" strike="noStrike">
                <a:solidFill>
                  <a:schemeClr val="dk1"/>
                </a:solidFill>
              </a:rPr>
              <a:t>⚠️ Errore in posizione 1</a:t>
            </a:r>
            <a:r>
              <a:rPr lang="it" sz="1800">
                <a:solidFill>
                  <a:schemeClr val="dk1"/>
                </a:solidFill>
              </a:rPr>
              <a:t>1</a:t>
            </a:r>
            <a:r>
              <a:rPr i="0" lang="it" sz="1800" u="none" cap="none" strike="noStrike">
                <a:solidFill>
                  <a:schemeClr val="dk1"/>
                </a:solidFill>
              </a:rPr>
              <a:t>!</a:t>
            </a:r>
            <a:endParaRPr/>
          </a:p>
        </p:txBody>
      </p:sp>
      <p:sp>
        <p:nvSpPr>
          <p:cNvPr id="303" name="Google Shape;303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" name="Google Shape;308;p49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2025"/>
                <a:gridCol w="652025"/>
                <a:gridCol w="652025"/>
                <a:gridCol w="6520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09" name="Google Shape;309;p4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Risoluzione tramite 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9"/>
          <p:cNvSpPr txBox="1"/>
          <p:nvPr/>
        </p:nvSpPr>
        <p:spPr>
          <a:xfrm>
            <a:off x="3991610" y="74841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12" name="Google Shape;312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" name="Google Shape;317;p50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318;p5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50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21" name="Google Shape;321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6" name="Google Shape;326;p51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27" name="Google Shape;327;p51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5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30" name="Google Shape;330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5" name="Google Shape;335;p52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36" name="Google Shape;336;p52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5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39" name="Google Shape;339;p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5" name="Google Shape;345;p53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46" name="Google Shape;346;p53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49" name="Google Shape;349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5" name="Google Shape;355;p54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6" name="Google Shape;356;p54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5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59" name="Google Shape;359;p5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5" name="Google Shape;365;p55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66" name="Google Shape;366;p55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69" name="Google Shape;369;p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5" name="Google Shape;375;p56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76" name="Google Shape;376;p56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5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79" name="Google Shape;379;p5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5" name="Google Shape;385;p57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86" name="Google Shape;386;p57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89" name="Google Shape;389;p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5" name="Google Shape;395;p58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96" name="Google Shape;396;p58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99" name="Google Shape;399;p5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5" name="Google Shape;405;p59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06" name="Google Shape;406;p59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5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09" name="Google Shape;409;p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5" name="Google Shape;415;p60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16" name="Google Shape;416;p60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6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19" name="Google Shape;419;p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5" name="Google Shape;425;p61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26" name="Google Shape;426;p61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28" name="Google Shape;428;p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4" name="Google Shape;434;p62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20250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+ B + C̅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(A+B+C)·(A+B+C̅)+A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35" name="Google Shape;435;p62"/>
          <p:cNvSpPr txBox="1"/>
          <p:nvPr/>
        </p:nvSpPr>
        <p:spPr>
          <a:xfrm>
            <a:off x="3991610" y="453197"/>
            <a:ext cx="3691800" cy="3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841" l="-2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6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38" name="Google Shape;438;p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4" name="Google Shape;444;p63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</a:tbl>
          </a:graphicData>
        </a:graphic>
      </p:graphicFrame>
      <p:sp>
        <p:nvSpPr>
          <p:cNvPr id="445" name="Google Shape;445;p6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Da tavola di verità a Equazione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6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47" name="Google Shape;447;p6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48" name="Google Shape;448;p63"/>
          <p:cNvSpPr txBox="1"/>
          <p:nvPr/>
        </p:nvSpPr>
        <p:spPr>
          <a:xfrm>
            <a:off x="2734775" y="1048125"/>
            <a:ext cx="55239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Dobbiamo guardare le righe dove </a:t>
            </a:r>
            <a:br>
              <a:rPr lang="it" sz="1600"/>
            </a:br>
            <a:r>
              <a:rPr lang="it" sz="1600"/>
              <a:t>Se la variabile è 0, si scrive negata es.</a:t>
            </a:r>
            <a:br>
              <a:rPr lang="it" sz="1600"/>
            </a:br>
            <a:r>
              <a:rPr lang="it" sz="1600"/>
              <a:t>Se la variabile è 1, si scrive non negata es.</a:t>
            </a:r>
            <a:br>
              <a:rPr lang="it" sz="1600"/>
            </a:br>
            <a:r>
              <a:rPr lang="it" sz="1600"/>
              <a:t>Dalla tabella nelle seguenti combinazioni: </a:t>
            </a:r>
            <a:br>
              <a:rPr lang="it" sz="1600"/>
            </a:b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Riga 3: Il termine corrispondente è (A "vera" e B "negata"):</a:t>
            </a:r>
            <a:br>
              <a:rPr lang="it" sz="1600"/>
            </a:b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Riga 4: Il termine corrispondente è (entrambe "vere"):</a:t>
            </a:r>
            <a:br>
              <a:rPr lang="it" sz="1600"/>
            </a:b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Sommiamo i termini trovati per ottenere l'equazione non semplificata:</a:t>
            </a:r>
            <a:br>
              <a:rPr lang="it" sz="1600"/>
            </a:br>
            <a:endParaRPr sz="1600"/>
          </a:p>
        </p:txBody>
      </p:sp>
      <p:pic>
        <p:nvPicPr>
          <p:cNvPr id="449" name="Google Shape;449;p63" title="{&quot;red&quot;:0,&quot;green&quot;:0,&quot;blue&quot;:0,&quot;origURL&quot;:&quot;https://www.codecogs.com/eqnedit.php?latex=%5Cbar%7BA%7D#0&quot;,&quot;size&quot;:16,&quot;width&quot;:434.9527559055118,&quot;height&quot;:286.03937007874015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5257" y="1407875"/>
            <a:ext cx="153924" cy="19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63" title="{&quot;red&quot;:0,&quot;green&quot;:0,&quot;blue&quot;:0,&quot;origURL&quot;:&quot;https://www.codecogs.com/eqnedit.php?latex=A#0&quot;,&quot;size&quot;:16,&quot;width&quot;:434.9527559055118,&quot;height&quot;:286.03937007874015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5766" y="1662688"/>
            <a:ext cx="153924" cy="163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63" title="{&quot;red&quot;:0,&quot;green&quot;:0,&quot;blue&quot;:0,&quot;origURL&quot;:&quot;https://www.codecogs.com/eqnedit.php?latex=Y%3D1#0&quot;,&quot;size&quot;:16,&quot;width&quot;:434.9527559055118,&quot;height&quot;:286.03937007874015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9450" y="1203575"/>
            <a:ext cx="566928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63" title="{&quot;red&quot;:0,&quot;green&quot;:0,&quot;blue&quot;:0,&quot;origURL&quot;:&quot;https://www.codecogs.com/eqnedit.php?latex=A%5Cbar%7BB%7D#0&quot;,&quot;size&quot;:16,&quot;width&quot;:434.9527559055118,&quot;height&quot;:286.03937007874015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32425" y="2371450"/>
            <a:ext cx="330708" cy="19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63" title="{&quot;red&quot;:0,&quot;green&quot;:0,&quot;blue&quot;:0,&quot;origURL&quot;:&quot;https://www.codecogs.com/eqnedit.php?latex=AB#0&quot;,&quot;size&quot;:16,&quot;width&quot;:434.9527559055118,&quot;height&quot;:286.03937007874015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09875" y="2900375"/>
            <a:ext cx="330708" cy="163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63" title="{&quot;red&quot;:0,&quot;green&quot;:0,&quot;blue&quot;:0,&quot;origURL&quot;:&quot;https://www.codecogs.com/eqnedit.php?latex=Y%20%3D%20A%5Cbar%7BB%7D%20%2B%20AB#0&quot;,&quot;size&quot;:16,&quot;width&quot;:434.9527559055118,&quot;height&quot;:286.03937007874015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74225" y="3612200"/>
            <a:ext cx="1432560" cy="210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" name="Google Shape;460;p64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61" name="Google Shape;461;p6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Esercizio: Da tavola di verità a Equazione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6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63" name="Google Shape;463;p6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9" name="Google Shape;469;p65"/>
          <p:cNvGraphicFramePr/>
          <p:nvPr/>
        </p:nvGraphicFramePr>
        <p:xfrm>
          <a:off x="404149" y="99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653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CF8"/>
                    </a:solidFill>
                  </a:tcPr>
                </a:tc>
              </a:tr>
            </a:tbl>
          </a:graphicData>
        </a:graphic>
      </p:graphicFrame>
      <p:sp>
        <p:nvSpPr>
          <p:cNvPr id="470" name="Google Shape;470;p6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Esercizio: </a:t>
            </a:r>
            <a:r>
              <a:rPr lang="it" sz="2700">
                <a:solidFill>
                  <a:schemeClr val="dk1"/>
                </a:solidFill>
              </a:rPr>
              <a:t>Da tavola di verità a Equazione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6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72" name="Google Shape;472;p6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73" name="Google Shape;473;p65"/>
          <p:cNvSpPr txBox="1"/>
          <p:nvPr/>
        </p:nvSpPr>
        <p:spPr>
          <a:xfrm>
            <a:off x="4179075" y="1247600"/>
            <a:ext cx="37659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474" name="Google Shape;474;p65" title="{&quot;red&quot;:0,&quot;green&quot;:0,&quot;blue&quot;:0,&quot;origURL&quot;:&quot;https://www.codecogs.com/eqnedit.php?latex=Y%20%3D%20%5Cbar%7BA%7DB%5Cbar%7BC%7D%20%2B%20%5Cbar%7BA%7DBC%20%2B%20A%5Cbar%7BB%7D%5Cbar%7BC%7D%20%2B%20A%5Cbar%7BB%7DC%20%2B%20AB%5Cbar%7BC%7D%20%2B%20ABC#0&quot;,&quot;size&quot;:17,&quot;width&quot;:296.5275590551181,&quot;height&quot;:106.22834645669292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4346" y="2219900"/>
            <a:ext cx="4576234" cy="19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4. Equivalenza tra espressioni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66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482" name="Google Shape;482;p66"/>
          <p:cNvSpPr txBox="1"/>
          <p:nvPr/>
        </p:nvSpPr>
        <p:spPr>
          <a:xfrm>
            <a:off x="137150" y="599100"/>
            <a:ext cx="70161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Verificare l’equivalenza di queste due equazioni</a:t>
            </a:r>
            <a:br>
              <a:rPr lang="it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Y =</a:t>
            </a:r>
            <a:br>
              <a:rPr lang="it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G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descr="equation" id="483" name="Google Shape;48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900" y="2089900"/>
            <a:ext cx="1791325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421" y="1381650"/>
            <a:ext cx="1650425" cy="2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6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86" name="Google Shape;486;p6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p67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1200350"/>
                <a:gridCol w="86340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93" name="Google Shape;493;p6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67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Y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495" name="Google Shape;49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5421" y="546491"/>
            <a:ext cx="1650425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496" name="Google Shape;496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9850" y="1109969"/>
            <a:ext cx="414650" cy="235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497" name="Google Shape;497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3489" y="1109975"/>
            <a:ext cx="793061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498" name="Google Shape;498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5686" y="1109975"/>
            <a:ext cx="414639" cy="2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00" name="Google Shape;500;p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6" name="Google Shape;506;p68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1200350"/>
                <a:gridCol w="86340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07" name="Google Shape;507;p6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68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Y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509" name="Google Shape;50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5421" y="546491"/>
            <a:ext cx="1650425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10" name="Google Shape;510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9850" y="1109969"/>
            <a:ext cx="414650" cy="235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11" name="Google Shape;511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3489" y="1109975"/>
            <a:ext cx="793061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12" name="Google Shape;512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5686" y="1109975"/>
            <a:ext cx="414639" cy="2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6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14" name="Google Shape;514;p6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0" name="Google Shape;520;p69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1200350"/>
                <a:gridCol w="86340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21" name="Google Shape;521;p6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69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Y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523" name="Google Shape;52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5421" y="546491"/>
            <a:ext cx="1650425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24" name="Google Shape;52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9850" y="1109969"/>
            <a:ext cx="414650" cy="235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25" name="Google Shape;525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3489" y="1109975"/>
            <a:ext cx="793061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26" name="Google Shape;526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5686" y="1109975"/>
            <a:ext cx="414639" cy="2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6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28" name="Google Shape;528;p6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4" name="Google Shape;534;p70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1200350"/>
                <a:gridCol w="86340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35" name="Google Shape;535;p7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70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Y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537" name="Google Shape;53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5421" y="546491"/>
            <a:ext cx="1650425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38" name="Google Shape;53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9850" y="1109969"/>
            <a:ext cx="414650" cy="235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39" name="Google Shape;539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3489" y="1109975"/>
            <a:ext cx="793061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40" name="Google Shape;540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5686" y="1109975"/>
            <a:ext cx="414639" cy="2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42" name="Google Shape;542;p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8" name="Google Shape;548;p71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1200350"/>
                <a:gridCol w="86340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49" name="Google Shape;549;p7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71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Y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551" name="Google Shape;55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5421" y="546491"/>
            <a:ext cx="1650425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52" name="Google Shape;552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9850" y="1109969"/>
            <a:ext cx="414650" cy="235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53" name="Google Shape;553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3489" y="1109975"/>
            <a:ext cx="793061" cy="23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54" name="Google Shape;554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5686" y="1109975"/>
            <a:ext cx="414639" cy="2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56" name="Google Shape;556;p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2" name="Google Shape;562;p72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106475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63" name="Google Shape;563;p72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72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G</a:t>
            </a:r>
            <a:r>
              <a:rPr lang="it" sz="2100">
                <a:solidFill>
                  <a:schemeClr val="dk1"/>
                </a:solidFill>
              </a:rPr>
              <a:t>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descr="equation" id="565" name="Google Shape;56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25" y="562738"/>
            <a:ext cx="1791325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66" name="Google Shape;56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401" y="1128575"/>
            <a:ext cx="350474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67" name="Google Shape;567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6850" y="1108705"/>
            <a:ext cx="628500" cy="243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68" name="Google Shape;568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4625" y="1110300"/>
            <a:ext cx="628500" cy="2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7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70" name="Google Shape;570;p7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6" name="Google Shape;576;p73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106475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77" name="Google Shape;577;p73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73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G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descr="equation" id="579" name="Google Shape;57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25" y="562738"/>
            <a:ext cx="1791325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80" name="Google Shape;58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401" y="1128575"/>
            <a:ext cx="350474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81" name="Google Shape;581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6850" y="1108705"/>
            <a:ext cx="628500" cy="243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82" name="Google Shape;582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4625" y="1110300"/>
            <a:ext cx="628500" cy="2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84" name="Google Shape;584;p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0" name="Google Shape;590;p74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106475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91" name="Google Shape;591;p74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74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G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descr="equation" id="593" name="Google Shape;59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25" y="562738"/>
            <a:ext cx="1791325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94" name="Google Shape;59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401" y="1128575"/>
            <a:ext cx="350474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95" name="Google Shape;595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6850" y="1108705"/>
            <a:ext cx="628500" cy="243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596" name="Google Shape;596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4625" y="1110300"/>
            <a:ext cx="628500" cy="2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7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98" name="Google Shape;598;p7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" name="Google Shape;604;p75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106475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05" name="Google Shape;605;p75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75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G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descr="equation" id="607" name="Google Shape;60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25" y="562738"/>
            <a:ext cx="1791325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608" name="Google Shape;60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401" y="1128575"/>
            <a:ext cx="350474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609" name="Google Shape;609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6850" y="1108705"/>
            <a:ext cx="628500" cy="243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610" name="Google Shape;610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4625" y="1110300"/>
            <a:ext cx="628500" cy="2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7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12" name="Google Shape;612;p7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8" name="Google Shape;618;p76"/>
          <p:cNvGraphicFramePr/>
          <p:nvPr/>
        </p:nvGraphicFramePr>
        <p:xfrm>
          <a:off x="458349" y="1069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653400"/>
                <a:gridCol w="653400"/>
                <a:gridCol w="653400"/>
                <a:gridCol w="999000"/>
                <a:gridCol w="999000"/>
                <a:gridCol w="1064750"/>
                <a:gridCol w="16136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</a:t>
                      </a:r>
                      <a:endParaRPr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19" name="Google Shape;619;p76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it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Tavole di verità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76"/>
          <p:cNvSpPr txBox="1"/>
          <p:nvPr/>
        </p:nvSpPr>
        <p:spPr>
          <a:xfrm>
            <a:off x="3941650" y="410428"/>
            <a:ext cx="446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G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descr="equation" id="621" name="Google Shape;62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25" y="562738"/>
            <a:ext cx="1791325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622" name="Google Shape;622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401" y="1128575"/>
            <a:ext cx="350474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623" name="Google Shape;623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6850" y="1108705"/>
            <a:ext cx="628500" cy="243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uation" id="624" name="Google Shape;624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4625" y="1110300"/>
            <a:ext cx="628500" cy="2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7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26" name="Google Shape;626;p7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2" name="Google Shape;632;p77"/>
          <p:cNvGraphicFramePr/>
          <p:nvPr/>
        </p:nvGraphicFramePr>
        <p:xfrm>
          <a:off x="1985005" y="18206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{FC7A8508-84C2-4DF3-8AE5-87389DD60ED7}</a:tableStyleId>
              </a:tblPr>
              <a:tblGrid>
                <a:gridCol w="854100"/>
                <a:gridCol w="854100"/>
                <a:gridCol w="854100"/>
                <a:gridCol w="1305850"/>
                <a:gridCol w="13058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9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t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33" name="Google Shape;633;p77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77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635" name="Google Shape;635;p77"/>
          <p:cNvSpPr txBox="1"/>
          <p:nvPr/>
        </p:nvSpPr>
        <p:spPr>
          <a:xfrm>
            <a:off x="137150" y="599100"/>
            <a:ext cx="7016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100">
                <a:solidFill>
                  <a:schemeClr val="dk1"/>
                </a:solidFill>
              </a:rPr>
              <a:t>Verificare l’equivalenza di queste due equazioni</a:t>
            </a:r>
            <a:br>
              <a:rPr lang="it" sz="2100">
                <a:solidFill>
                  <a:schemeClr val="dk1"/>
                </a:solidFill>
              </a:rPr>
            </a:br>
            <a:r>
              <a:rPr lang="it" sz="2100">
                <a:solidFill>
                  <a:schemeClr val="dk1"/>
                </a:solidFill>
              </a:rPr>
              <a:t>Y =</a:t>
            </a:r>
            <a:br>
              <a:rPr lang="it" sz="2100">
                <a:solidFill>
                  <a:schemeClr val="dk1"/>
                </a:solidFill>
              </a:rPr>
            </a:br>
            <a:r>
              <a:rPr lang="it" sz="2100">
                <a:solidFill>
                  <a:schemeClr val="dk1"/>
                </a:solidFill>
              </a:rPr>
              <a:t>G =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descr="equation" id="636" name="Google Shape;63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900" y="1392950"/>
            <a:ext cx="1791325" cy="20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896" y="1058413"/>
            <a:ext cx="1650425" cy="2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7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39" name="Google Shape;639;p7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8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78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647" name="Google Shape;647;p78"/>
          <p:cNvSpPr txBox="1"/>
          <p:nvPr/>
        </p:nvSpPr>
        <p:spPr>
          <a:xfrm>
            <a:off x="137150" y="599100"/>
            <a:ext cx="70161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Un corridoio di sicurezza di una centrale elettrica utilizza quattro porte disposte in sequenza (P</a:t>
            </a:r>
            <a:r>
              <a:rPr baseline="-25000" lang="it" sz="1700">
                <a:solidFill>
                  <a:schemeClr val="dk1"/>
                </a:solidFill>
              </a:rPr>
              <a:t>1</a:t>
            </a:r>
            <a:r>
              <a:rPr lang="it" sz="1700">
                <a:solidFill>
                  <a:schemeClr val="dk1"/>
                </a:solidFill>
              </a:rPr>
              <a:t>, P</a:t>
            </a:r>
            <a:r>
              <a:rPr baseline="-25000" lang="it" sz="1700">
                <a:solidFill>
                  <a:schemeClr val="dk1"/>
                </a:solidFill>
              </a:rPr>
              <a:t>2</a:t>
            </a:r>
            <a:r>
              <a:rPr lang="it" sz="1700">
                <a:solidFill>
                  <a:schemeClr val="dk1"/>
                </a:solidFill>
              </a:rPr>
              <a:t>, P</a:t>
            </a:r>
            <a:r>
              <a:rPr baseline="-25000" lang="it" sz="1700">
                <a:solidFill>
                  <a:schemeClr val="dk1"/>
                </a:solidFill>
              </a:rPr>
              <a:t>3</a:t>
            </a:r>
            <a:r>
              <a:rPr lang="it" sz="1700">
                <a:solidFill>
                  <a:schemeClr val="dk1"/>
                </a:solidFill>
              </a:rPr>
              <a:t>, P</a:t>
            </a:r>
            <a:r>
              <a:rPr baseline="-25000" lang="it" sz="1700">
                <a:solidFill>
                  <a:schemeClr val="dk1"/>
                </a:solidFill>
              </a:rPr>
              <a:t>4</a:t>
            </a:r>
            <a:r>
              <a:rPr lang="it" sz="1700">
                <a:solidFill>
                  <a:schemeClr val="dk1"/>
                </a:solidFill>
              </a:rPr>
              <a:t>) per l'accesso al locale. </a:t>
            </a:r>
            <a:br>
              <a:rPr lang="it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In base al livello di allarme, la centrale allerta la sicurezza con un segnale luminoso lampeggiante (L) e con una sirena acustica (A) mentre nei casi più gravi attraverso il blocco degli accessi alla centrale (B). </a:t>
            </a:r>
            <a:br>
              <a:rPr lang="it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Il lampeggiante (L) si attiva quando si apre almeno una porta. </a:t>
            </a:r>
            <a:br>
              <a:rPr lang="it" sz="1700">
                <a:solidFill>
                  <a:schemeClr val="dk1"/>
                </a:solidFill>
              </a:rPr>
            </a:br>
            <a:r>
              <a:rPr lang="it" sz="1700">
                <a:solidFill>
                  <a:schemeClr val="dk1"/>
                </a:solidFill>
              </a:rPr>
              <a:t>L'allarme (A) suona se almeno due porte adiacenti sono aperte.</a:t>
            </a:r>
            <a:br>
              <a:rPr lang="it" sz="1700">
                <a:solidFill>
                  <a:schemeClr val="dk1"/>
                </a:solidFill>
              </a:rPr>
            </a:br>
            <a:r>
              <a:rPr lang="it" sz="1700">
                <a:solidFill>
                  <a:schemeClr val="dk1"/>
                </a:solidFill>
              </a:rPr>
              <a:t>Il sistema di blocco (B) è attivato solo quando sono aperte almeno 3 porte.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Scrivere le espressioni booleane per L, A, B.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48" name="Google Shape;648;p7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49" name="Google Shape;649;p7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9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79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657" name="Google Shape;657;p79"/>
          <p:cNvSpPr txBox="1"/>
          <p:nvPr/>
        </p:nvSpPr>
        <p:spPr>
          <a:xfrm>
            <a:off x="137150" y="599100"/>
            <a:ext cx="7016100" cy="18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700">
                <a:solidFill>
                  <a:schemeClr val="dk1"/>
                </a:solidFill>
              </a:rPr>
              <a:t>Lampeggiante (L)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>
                <a:solidFill>
                  <a:schemeClr val="dk1"/>
                </a:solidFill>
              </a:rPr>
              <a:t>Il segnale si attiva quando </a:t>
            </a:r>
            <a:r>
              <a:rPr b="1" lang="it" sz="1700">
                <a:solidFill>
                  <a:schemeClr val="dk1"/>
                </a:solidFill>
              </a:rPr>
              <a:t>almeno una porta è aperta</a:t>
            </a:r>
            <a:r>
              <a:rPr lang="it" sz="1700">
                <a:solidFill>
                  <a:schemeClr val="dk1"/>
                </a:solidFill>
              </a:rPr>
              <a:t>. In termini logici, questa è una funzione </a:t>
            </a:r>
            <a:r>
              <a:rPr b="1" lang="it" sz="1700">
                <a:solidFill>
                  <a:schemeClr val="dk1"/>
                </a:solidFill>
              </a:rPr>
              <a:t>OR</a:t>
            </a:r>
            <a:r>
              <a:rPr lang="it" sz="1700">
                <a:solidFill>
                  <a:schemeClr val="dk1"/>
                </a:solidFill>
              </a:rPr>
              <a:t> a quattro ingressi. Si attiva se non sono tutte chiuse.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58" name="Google Shape;658;p7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59" name="Google Shape;659;p7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660" name="Google Shape;660;p79" title="{&quot;red&quot;:0,&quot;green&quot;:0,&quot;blue&quot;:0,&quot;origURL&quot;:&quot;https://www.codecogs.com/eqnedit.php?latex=L%20%3D%20P_1%20%5Clor%20P_2%20%5Clor%20P_3%20%5Clor%20P_4#0&quot;,&quot;size&quot;:17,&quot;width&quot;:552.4488188976378,&quot;height&quot;:149.10236220472441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175" y="2212875"/>
            <a:ext cx="2234974" cy="20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0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80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668" name="Google Shape;668;p80"/>
          <p:cNvSpPr txBox="1"/>
          <p:nvPr/>
        </p:nvSpPr>
        <p:spPr>
          <a:xfrm>
            <a:off x="137150" y="599100"/>
            <a:ext cx="7016100" cy="18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</a:rPr>
              <a:t>Allarme (A)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La sirena suona se </a:t>
            </a:r>
            <a:r>
              <a:rPr b="1" lang="it" sz="1700">
                <a:solidFill>
                  <a:schemeClr val="dk1"/>
                </a:solidFill>
              </a:rPr>
              <a:t>almeno due porte adiacenti</a:t>
            </a:r>
            <a:r>
              <a:rPr lang="it" sz="1700">
                <a:solidFill>
                  <a:schemeClr val="dk1"/>
                </a:solidFill>
              </a:rPr>
              <a:t> sono aperte. Le coppie adiacenti possibili sono: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 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Se almeno una di queste coppie è "11", l'allarme scatta.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69" name="Google Shape;669;p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70" name="Google Shape;670;p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671" name="Google Shape;671;p80" title="{&quot;red&quot;:0,&quot;green&quot;:0,&quot;blue&quot;:0,&quot;origURL&quot;:&quot;https://www.codecogs.com/eqnedit.php?latex=A%20%3D%20(P_1%20%5Cland%20P_2)%20%5Clor%20(P_2%20%5Cland%20P_3)%20%5Clor%20(P_3%20%5Cland%20P_4)#0&quot;,&quot;size&quot;:17,&quot;width&quot;:552.4488188976378,&quot;height&quot;:149.10236220472441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150" y="3071350"/>
            <a:ext cx="3636277" cy="2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80" title="{&quot;red&quot;:0,&quot;green&quot;:0,&quot;blue&quot;:0,&quot;origURL&quot;:&quot;https://www.codecogs.com/eqnedit.php?latex=(P_1%2C%20P_2)#0&quot;,&quot;size&quot;:17,&quot;width&quot;:552.4488188976378,&quot;height&quot;:149.10236220472441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875" y="1846700"/>
            <a:ext cx="741617" cy="242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80" title="{&quot;red&quot;:0,&quot;green&quot;:0,&quot;blue&quot;:0,&quot;origURL&quot;:&quot;https://www.codecogs.com/eqnedit.php?latex=(P_2%2C%20P_3)#0&quot;,&quot;size&quot;:17,&quot;width&quot;:552.4488188976378,&quot;height&quot;:149.10236220472441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0450" y="1846700"/>
            <a:ext cx="741617" cy="242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80" title="{&quot;red&quot;:0,&quot;green&quot;:0,&quot;blue&quot;:0,&quot;origURL&quot;:&quot;https://www.codecogs.com/eqnedit.php?latex=(P_3%2C%20P_4)#0&quot;,&quot;size&quot;:17,&quot;width&quot;:552.4488188976378,&quot;height&quot;:149.10236220472441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3025" y="1846700"/>
            <a:ext cx="741617" cy="242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81"/>
          <p:cNvSpPr txBox="1"/>
          <p:nvPr/>
        </p:nvSpPr>
        <p:spPr>
          <a:xfrm>
            <a:off x="137159" y="114300"/>
            <a:ext cx="886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it" sz="2700">
                <a:solidFill>
                  <a:schemeClr val="dk1"/>
                </a:solidFill>
              </a:rPr>
              <a:t>Esercizio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81"/>
          <p:cNvSpPr txBox="1"/>
          <p:nvPr/>
        </p:nvSpPr>
        <p:spPr>
          <a:xfrm>
            <a:off x="4247500" y="365300"/>
            <a:ext cx="29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682" name="Google Shape;682;p81"/>
          <p:cNvSpPr txBox="1"/>
          <p:nvPr/>
        </p:nvSpPr>
        <p:spPr>
          <a:xfrm>
            <a:off x="137150" y="599100"/>
            <a:ext cx="7016100" cy="4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</a:rPr>
              <a:t>Blocco (B)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</a:rPr>
              <a:t>Il sistema di blocco si attiva quando sono aperte </a:t>
            </a:r>
            <a:r>
              <a:rPr b="1" lang="it" sz="1700">
                <a:solidFill>
                  <a:schemeClr val="dk1"/>
                </a:solidFill>
              </a:rPr>
              <a:t>almeno 3 porte</a:t>
            </a:r>
            <a:r>
              <a:rPr lang="it" sz="1700">
                <a:solidFill>
                  <a:schemeClr val="dk1"/>
                </a:solidFill>
              </a:rPr>
              <a:t> (qualsiasi). Dobbiamo considerare tutte le combinazioni di 3 e 4 porte aperte: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" sz="1700">
                <a:solidFill>
                  <a:schemeClr val="dk1"/>
                </a:solidFill>
              </a:rPr>
              <a:t>Porte 1, 2, 3 aperte: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" sz="1700">
                <a:solidFill>
                  <a:schemeClr val="dk1"/>
                </a:solidFill>
              </a:rPr>
              <a:t>Porte 1, 2, 4 aperte: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" sz="1700">
                <a:solidFill>
                  <a:schemeClr val="dk1"/>
                </a:solidFill>
              </a:rPr>
              <a:t>Porte 1, 3, 4 aperte: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it" sz="1700">
                <a:solidFill>
                  <a:schemeClr val="dk1"/>
                </a:solidFill>
              </a:rPr>
              <a:t>Porte 2, 3, 4 aperte: 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83" name="Google Shape;683;p8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84" name="Google Shape;684;p8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685" name="Google Shape;685;p81" title="{&quot;red&quot;:0,&quot;green&quot;:0,&quot;blue&quot;:0,&quot;origURL&quot;:&quot;https://www.codecogs.com/eqnedit.php?latex=B%20%3D%20(P_1%20P_2%20P_3)%20%5Clor%20(P_1%20P_2%20P_4)%20%5Clor%20(P_1%20P_3%20P_4)%20%5Clor%20(P_2%20P_3%20P_4)#0&quot;,&quot;size&quot;:17,&quot;width&quot;:552.4488188976378,&quot;height&quot;:314.9763779527559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875" y="3530575"/>
            <a:ext cx="4843552" cy="2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81" title="{&quot;red&quot;:0,&quot;green&quot;:0,&quot;blue&quot;:0,&quot;origURL&quot;:&quot;https://www.codecogs.com/eqnedit.php?latex=P_1%20P_2%20P_3#0&quot;,&quot;size&quot;:17,&quot;width&quot;:552.4488188976378,&quot;height&quot;:314.9763779527559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1463" y="2163725"/>
            <a:ext cx="717328" cy="205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81" title="{&quot;red&quot;:0,&quot;green&quot;:0,&quot;blue&quot;:0,&quot;origURL&quot;:&quot;https://www.codecogs.com/eqnedit.php?latex=P_1%20P_2%20P_4#0&quot;,&quot;size&quot;:17,&quot;width&quot;:552.4488188976378,&quot;height&quot;:314.9763779527559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0650" y="2469900"/>
            <a:ext cx="718947" cy="202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81" title="{&quot;red&quot;:0,&quot;green&quot;:0,&quot;blue&quot;:0,&quot;origURL&quot;:&quot;https://www.codecogs.com/eqnedit.php?latex=P_1%20P_3%20P_4#0&quot;,&quot;size&quot;:17,&quot;width&quot;:552.4488188976378,&quot;height&quot;:314.9763779527559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0650" y="2772825"/>
            <a:ext cx="718947" cy="205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81" title="{&quot;red&quot;:0,&quot;green&quot;:0,&quot;blue&quot;:0,&quot;origURL&quot;:&quot;https://www.codecogs.com/eqnedit.php?latex=P_2%20P_3%20P_4#0&quot;,&quot;size&quot;:17,&quot;width&quot;:552.4488188976378,&quot;height&quot;:314.9763779527559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70650" y="3079000"/>
            <a:ext cx="718947" cy="205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