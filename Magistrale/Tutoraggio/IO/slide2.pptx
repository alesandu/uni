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  <p:sldMasterId id="2147483683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</p:sldIdLst>
  <p:sldSz cy="5143500" cx="9144000"/>
  <p:notesSz cx="6858000" cy="9144000"/>
  <p:embeddedFontLst>
    <p:embeddedFont>
      <p:font typeface="Play"/>
      <p:regular r:id="rId67"/>
      <p:bold r:id="rId68"/>
    </p:embeddedFont>
    <p:embeddedFont>
      <p:font typeface="Tahoma"/>
      <p:regular r:id="rId69"/>
      <p:bold r:id="rId7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3A1E18-1DB1-46BE-B74F-D14732490682}">
  <a:tblStyle styleId="{3D3A1E18-1DB1-46BE-B74F-D147324906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AF6EDC89-2771-4769-A4B4-3951E1B7AC81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44" Type="http://schemas.openxmlformats.org/officeDocument/2006/relationships/slide" Target="slides/slide36.xml"/><Relationship Id="rId43" Type="http://schemas.openxmlformats.org/officeDocument/2006/relationships/slide" Target="slides/slide35.xml"/><Relationship Id="rId46" Type="http://schemas.openxmlformats.org/officeDocument/2006/relationships/slide" Target="slides/slide38.xml"/><Relationship Id="rId45" Type="http://schemas.openxmlformats.org/officeDocument/2006/relationships/slide" Target="slides/slide3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48" Type="http://schemas.openxmlformats.org/officeDocument/2006/relationships/slide" Target="slides/slide40.xml"/><Relationship Id="rId47" Type="http://schemas.openxmlformats.org/officeDocument/2006/relationships/slide" Target="slides/slide39.xml"/><Relationship Id="rId49" Type="http://schemas.openxmlformats.org/officeDocument/2006/relationships/slide" Target="slides/slide41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33" Type="http://schemas.openxmlformats.org/officeDocument/2006/relationships/slide" Target="slides/slide25.xml"/><Relationship Id="rId32" Type="http://schemas.openxmlformats.org/officeDocument/2006/relationships/slide" Target="slides/slide24.xml"/><Relationship Id="rId35" Type="http://schemas.openxmlformats.org/officeDocument/2006/relationships/slide" Target="slides/slide27.xml"/><Relationship Id="rId34" Type="http://schemas.openxmlformats.org/officeDocument/2006/relationships/slide" Target="slides/slide26.xml"/><Relationship Id="rId70" Type="http://schemas.openxmlformats.org/officeDocument/2006/relationships/font" Target="fonts/Tahoma-bold.fntdata"/><Relationship Id="rId37" Type="http://schemas.openxmlformats.org/officeDocument/2006/relationships/slide" Target="slides/slide29.xml"/><Relationship Id="rId36" Type="http://schemas.openxmlformats.org/officeDocument/2006/relationships/slide" Target="slides/slide28.xml"/><Relationship Id="rId39" Type="http://schemas.openxmlformats.org/officeDocument/2006/relationships/slide" Target="slides/slide31.xml"/><Relationship Id="rId38" Type="http://schemas.openxmlformats.org/officeDocument/2006/relationships/slide" Target="slides/slide30.xml"/><Relationship Id="rId62" Type="http://schemas.openxmlformats.org/officeDocument/2006/relationships/slide" Target="slides/slide54.xml"/><Relationship Id="rId61" Type="http://schemas.openxmlformats.org/officeDocument/2006/relationships/slide" Target="slides/slide53.xml"/><Relationship Id="rId20" Type="http://schemas.openxmlformats.org/officeDocument/2006/relationships/slide" Target="slides/slide12.xml"/><Relationship Id="rId64" Type="http://schemas.openxmlformats.org/officeDocument/2006/relationships/slide" Target="slides/slide56.xml"/><Relationship Id="rId63" Type="http://schemas.openxmlformats.org/officeDocument/2006/relationships/slide" Target="slides/slide55.xml"/><Relationship Id="rId22" Type="http://schemas.openxmlformats.org/officeDocument/2006/relationships/slide" Target="slides/slide14.xml"/><Relationship Id="rId66" Type="http://schemas.openxmlformats.org/officeDocument/2006/relationships/slide" Target="slides/slide58.xml"/><Relationship Id="rId21" Type="http://schemas.openxmlformats.org/officeDocument/2006/relationships/slide" Target="slides/slide13.xml"/><Relationship Id="rId65" Type="http://schemas.openxmlformats.org/officeDocument/2006/relationships/slide" Target="slides/slide57.xml"/><Relationship Id="rId24" Type="http://schemas.openxmlformats.org/officeDocument/2006/relationships/slide" Target="slides/slide16.xml"/><Relationship Id="rId68" Type="http://schemas.openxmlformats.org/officeDocument/2006/relationships/font" Target="fonts/Play-bold.fntdata"/><Relationship Id="rId23" Type="http://schemas.openxmlformats.org/officeDocument/2006/relationships/slide" Target="slides/slide15.xml"/><Relationship Id="rId67" Type="http://schemas.openxmlformats.org/officeDocument/2006/relationships/font" Target="fonts/Play-regular.fntdata"/><Relationship Id="rId60" Type="http://schemas.openxmlformats.org/officeDocument/2006/relationships/slide" Target="slides/slide52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69" Type="http://schemas.openxmlformats.org/officeDocument/2006/relationships/font" Target="fonts/Tahoma-regular.fntdata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29" Type="http://schemas.openxmlformats.org/officeDocument/2006/relationships/slide" Target="slides/slide21.xml"/><Relationship Id="rId51" Type="http://schemas.openxmlformats.org/officeDocument/2006/relationships/slide" Target="slides/slide43.xml"/><Relationship Id="rId50" Type="http://schemas.openxmlformats.org/officeDocument/2006/relationships/slide" Target="slides/slide42.xml"/><Relationship Id="rId53" Type="http://schemas.openxmlformats.org/officeDocument/2006/relationships/slide" Target="slides/slide45.xml"/><Relationship Id="rId52" Type="http://schemas.openxmlformats.org/officeDocument/2006/relationships/slide" Target="slides/slide44.xml"/><Relationship Id="rId11" Type="http://schemas.openxmlformats.org/officeDocument/2006/relationships/slide" Target="slides/slide3.xml"/><Relationship Id="rId55" Type="http://schemas.openxmlformats.org/officeDocument/2006/relationships/slide" Target="slides/slide47.xml"/><Relationship Id="rId10" Type="http://schemas.openxmlformats.org/officeDocument/2006/relationships/slide" Target="slides/slide2.xml"/><Relationship Id="rId54" Type="http://schemas.openxmlformats.org/officeDocument/2006/relationships/slide" Target="slides/slide46.xml"/><Relationship Id="rId13" Type="http://schemas.openxmlformats.org/officeDocument/2006/relationships/slide" Target="slides/slide5.xml"/><Relationship Id="rId57" Type="http://schemas.openxmlformats.org/officeDocument/2006/relationships/slide" Target="slides/slide49.xml"/><Relationship Id="rId12" Type="http://schemas.openxmlformats.org/officeDocument/2006/relationships/slide" Target="slides/slide4.xml"/><Relationship Id="rId56" Type="http://schemas.openxmlformats.org/officeDocument/2006/relationships/slide" Target="slides/slide48.xml"/><Relationship Id="rId15" Type="http://schemas.openxmlformats.org/officeDocument/2006/relationships/slide" Target="slides/slide7.xml"/><Relationship Id="rId59" Type="http://schemas.openxmlformats.org/officeDocument/2006/relationships/slide" Target="slides/slide51.xml"/><Relationship Id="rId14" Type="http://schemas.openxmlformats.org/officeDocument/2006/relationships/slide" Target="slides/slide6.xml"/><Relationship Id="rId58" Type="http://schemas.openxmlformats.org/officeDocument/2006/relationships/slide" Target="slides/slide50.xml"/><Relationship Id="rId17" Type="http://schemas.openxmlformats.org/officeDocument/2006/relationships/slide" Target="slides/slide9.xml"/><Relationship Id="rId16" Type="http://schemas.openxmlformats.org/officeDocument/2006/relationships/slide" Target="slides/slide8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d0cf7ad983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In questa lezione introduciamo alcuni concetti fondamentali dell'architettura dei sistemi di elaborazione. In particolare ci concentreremo su tre aspetti principali: i sistemi di numerazione, le conversioni tra basi numeriche e un primo esempio di controllo degli errori nei dati tramite il codice di Hamming.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Questi concetti sono fondamentali perché tutti i computer rappresentano e manipolano informazioni utilizzando numeri binari. Comprendere come funzionano le basi numeriche e come avvengono le conversioni permette di capire come i dati vengono memorizzati, trasmessi e processati all’interno dei sistemi digitali.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Nella seconda parte della lezione vedremo anche come i segnali elettrici reali, che sono analogici, vengono interpretati dai circuiti digitali come valori logici discreti, cioè 0 e 1.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Infine introdurremo il codice di Hamming, un metodo utilizzato nei sistemi di comunicazione e memorizzazione per rilevare e correggere errori nei dati trasmessi.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2" name="Google Shape;202;g3d0cf7ad983_2_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d0cf7ad983_2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g3d0cf7ad983_2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La lezione è organizzata in cinque parti principali.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La prima parte riguarda i sistemi di numerazione. Vedremo cosa sono, come funzionano e qual è la differenza tra sistemi additivi e sistemi posizionali.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Nella seconda parte studieremo come convertire un numero scritto in una base qualsiasi nel sistema decimale utilizzando la notazione polinomiale.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Nella terza parte vedremo il procedimento inverso: come convertire un numero decimale in una base qualsiasi utilizzando il metodo delle divisioni successive.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Successivamente analizzeremo un caso particolare molto importante: le basi che sono potenze l'una dell'altra, come base 2, base 8 e base 16. Queste conversioni sono particolarmente semplici e molto usate in informatica.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Infine introdurremo il codice di Hamming, che consente di rilevare e correggere errori nei dati trasmessi o memorizzati.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d0cf7ad983_2_8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g3d0cf7ad983_2_89:notes"/>
          <p:cNvSpPr/>
          <p:nvPr>
            <p:ph idx="2" type="sldImg"/>
          </p:nvPr>
        </p:nvSpPr>
        <p:spPr>
          <a:xfrm>
            <a:off x="139700" y="768350"/>
            <a:ext cx="6819900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8" name="Google Shape;218;g3d0cf7ad983_2_8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Ora iniziamo con le conversioni tra basi numeriche.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Il primo caso è la conversione da una base generica al sistema decimale.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Il metodo che utilizziamo si basa sulla rappresentazione polinomiale dei numeri posizionali.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Supponiamo di avere un numero scritto in una base b con cifre ck, ck-1, fino a c0.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Il valore del numero si ottiene moltiplicando ogni cifra per la potenza della base corrispondente alla sua posizione e poi sommando tutti i risultati.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Formalmente il numero vale: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ck * b^k + ck-1 * b^(k-1) + … + c1 * b¹ + c0 * b⁰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Questo metodo funziona per qualsiasi base: binaria, ottale, esadecimale o qualsiasi altra.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d0cf7ad983_2_9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3d0cf7ad983_2_99:notes"/>
          <p:cNvSpPr/>
          <p:nvPr>
            <p:ph idx="2" type="sldImg"/>
          </p:nvPr>
        </p:nvSpPr>
        <p:spPr>
          <a:xfrm>
            <a:off x="139700" y="768350"/>
            <a:ext cx="6819900" cy="3837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g3d0cf7ad983_2_9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In questo esempio convertiamo il numero 1F4 dalla base 16 al sistema decimale.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Prima ricordiamo che nel sistema esadecimale le cifre vanno da 0 a 15.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Le cifre da 10 a 15 sono rappresentate dalle lettere A, B, C, D, E, F.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In particolare la lettera F rappresenta il valore 15.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Ora applichiamo la notazione polinomiale.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Il numero è composto da tre cifre.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La prima vale 1 ed è associata alla potenza 16².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La seconda vale F, cioè 15, ed è associata alla potenza 16¹.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La terza vale 4 ed è associata alla potenza 16⁰.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Calcoliamo quindi: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1 * 256 + 15 * 16 + 4 * 1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Il risultato finale è 500 in base 10.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d0cf7ad983_2_10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g3d0cf7ad983_2_108:notes"/>
          <p:cNvSpPr/>
          <p:nvPr>
            <p:ph idx="2" type="sldImg"/>
          </p:nvPr>
        </p:nvSpPr>
        <p:spPr>
          <a:xfrm>
            <a:off x="139700" y="768350"/>
            <a:ext cx="6819900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9" name="Google Shape;239;g3d0cf7ad983_2_10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Passiamo ora al procedimento inverso.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Vogliamo convertire un numero decimale in una base qualsiasi.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Il metodo utilizzato è il metodo delle divisioni successive.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L’idea è dividere ripetutamente il numero per la base desiderata.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Ad ogni divisione si annota il resto.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 resti ottenuti, letti dal basso verso l’alto, formano il numero nella nuova base.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Questo metodo è molto generale e funziona per qualsiasi base.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d0cf7ad983_2_1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g3d0cf7ad983_2_115:notes"/>
          <p:cNvSpPr/>
          <p:nvPr>
            <p:ph idx="2" type="sldImg"/>
          </p:nvPr>
        </p:nvSpPr>
        <p:spPr>
          <a:xfrm>
            <a:off x="139700" y="768350"/>
            <a:ext cx="6819900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g3d0cf7ad983_2_1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In questo esempio convertiamo il numero 500 in base 10 nella base 16.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Dividiamo ripetutamente per 16.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Ogni volta annotiamo il resto.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 resti ottenuti rappresentano le cifre del numero esadecimale.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Alla fine leggiamo i resti dal basso verso l’alto per ottenere la rappresentazione finale.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Questo procedimento è lo stesso visto prima, ma applicato alla base 16.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d0cf7ad983_2_1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Questa tabella riassume le conversioni tra i diversi sistemi di numerazione.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Serve come riferimento rapido per verificare le equivalenze tra binario, ottale, decimale ed esadecimale.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In informatica questa tabella è molto utile perché le conversioni tra base 2, 8 e 16 sono molto frequenti.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Imparare alcune corrispondenze a memoria può velocizzare molto i calcoli.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6" name="Google Shape;256;g3d0cf7ad983_2_1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d0cf7ad983_2_1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g3d0cf7ad983_2_131:notes"/>
          <p:cNvSpPr/>
          <p:nvPr>
            <p:ph idx="2" type="sldImg"/>
          </p:nvPr>
        </p:nvSpPr>
        <p:spPr>
          <a:xfrm>
            <a:off x="139700" y="768350"/>
            <a:ext cx="6819900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5" name="Google Shape;265;g3d0cf7ad983_2_1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Quando le basi sono potenze l’una dell’altra la conversione diventa molto più semplice.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Ad esempio 8 è uguale a 2³.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Questo significa che ogni cifra ottale corrisponde esattamente a 3 bit.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Per convertire da binario a ottale basta raggruppare i bit in gruppi di tre partendo da destra.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Ogni gruppo di tre bit viene poi convertito nella cifra ottale corrispondente.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Il procedimento inverso è altrettanto semplice: ogni cifra ottale viene sostituita con tre bit.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d0cf7ad983_2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g3d0cf7ad983_2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Il codice di Hamming funziona introducendo dei bit aggiuntivi chiamati bit di parità o bit di controllo.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Questi bit non contengono dati, ma servono esclusivamente per verificare la correttezza della sequenza.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I bit di parità vengono inseriti in posizioni specifiche della sequenza, precisamente nelle posizioni che corrispondono a potenze di due.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Quindi le posizioni 1, 2, 4, 8, 16 e così via.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Le altre posizioni contengono invece i bit di dati reali.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Ogni bit di parità controlla un certo gruppo di bit della sequenza.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Se durante la trasmissione un bit cambia valore, i controlli di parità non risulteranno più corretti.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Analizzando quali controlli risultano errati è possibile individuare la posizione del bit corrotto.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La formula mostrata nella slide serve per determinare quanti bit di parità sono necessari.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La condizione è: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2^n ≥ m + n + 1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dove m è il numero di bit di dati e n è il numero di bit di parità.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d0cf7ad983_2_2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Dopo aver calcolato tutti i bit di parità otteniamo la parola codificata completa.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Questa sequenza contiene sia i bit di dati sia i bit di controllo.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La presenza dei bit di controllo permette al sistema ricevente di verificare se durante la trasmissione si è verificato un errore.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/>
              <a:t>Se un singolo bit cambia valore, il sistema di controllo sarà in grado di individuare la posizione dell'errore.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1" name="Google Shape;281;g3d0cf7ad983_2_2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d0cf7ad983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3d0cf7ad983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d0cf7ad983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g3d0cf7ad983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d0cf7ad983_0_2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g3d0cf7ad983_0_2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d0cf7ad983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g3d0cf7ad983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d0cf7ad98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g3d0cf7ad983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d0cf7ad98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g3d0cf7ad983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d0cf7ad983_0_2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d0cf7ad983_0_2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d0cf7ad983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g3d0cf7ad983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d0cf7ad983_2_2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3" name="Google Shape;363;g3d0cf7ad983_2_2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d0cf7ad983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g3d0cf7ad983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d0cf7ad983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g3d0cf7ad983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d0cf7ad983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g3d0cf7ad983_0_3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d0cf7ad983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g3d0cf7ad983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3d0cf7ad983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g3d0cf7ad983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d0cf7ad983_0_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g3d0cf7ad983_0_3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d0cf7ad983_2_2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3" name="Google Shape;423;g3d0cf7ad983_2_2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d0cf7ad983_2_2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1" name="Google Shape;431;g3d0cf7ad983_2_2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d0cf7ad983_2_2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9" name="Google Shape;439;g3d0cf7ad983_2_2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d0cf7ad983_2_25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7" name="Google Shape;447;g3d0cf7ad983_2_2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d0cf7ad983_2_2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5" name="Google Shape;455;g3d0cf7ad983_2_2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6" name="Google Shape;456;g3d0cf7ad983_2_26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d0cf7ad983_2_2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4" name="Google Shape;464;g3d0cf7ad983_2_2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65" name="Google Shape;465;g3d0cf7ad983_2_2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d0cf7ad983_2_27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3" name="Google Shape;473;g3d0cf7ad983_2_27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4" name="Google Shape;474;g3d0cf7ad983_2_27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d0cf7ad983_2_28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2" name="Google Shape;482;g3d0cf7ad983_2_28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3" name="Google Shape;483;g3d0cf7ad983_2_28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d0cf7ad983_2_2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1" name="Google Shape;491;g3d0cf7ad983_2_29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2" name="Google Shape;492;g3d0cf7ad983_2_29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d0cf7ad983_2_3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0" name="Google Shape;500;g3d0cf7ad983_2_3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1" name="Google Shape;501;g3d0cf7ad983_2_30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d0cf7ad983_2_30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9" name="Google Shape;509;g3d0cf7ad983_2_30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0" name="Google Shape;510;g3d0cf7ad983_2_30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d0cf7ad983_2_3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8" name="Google Shape;518;g3d0cf7ad983_2_3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9" name="Google Shape;519;g3d0cf7ad983_2_3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d0cf7ad983_2_3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7" name="Google Shape;527;g3d0cf7ad983_2_3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8" name="Google Shape;528;g3d0cf7ad983_2_3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d0cf7ad983_2_3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5" name="Google Shape;535;g3d0cf7ad983_2_3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6" name="Google Shape;536;g3d0cf7ad983_2_32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d0cf7ad983_0_18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g3d0cf7ad983_0_18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45" name="Google Shape;545;g3d0cf7ad983_0_18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d0cf7ad983_0_5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4" name="Google Shape;554;g3d0cf7ad983_0_5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55" name="Google Shape;555;g3d0cf7ad983_0_5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3d0cf7ad983_0_2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8" name="Google Shape;568;g3d0cf7ad983_0_2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69" name="Google Shape;569;g3d0cf7ad983_0_20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d0cf7ad983_0_2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2" name="Google Shape;582;g3d0cf7ad983_0_2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83" name="Google Shape;583;g3d0cf7ad983_0_2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d0cf7ad983_0_2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g3d0cf7ad983_0_2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97" name="Google Shape;597;g3d0cf7ad983_0_22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3d0cf7ad983_0_2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0" name="Google Shape;610;g3d0cf7ad983_0_2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11" name="Google Shape;611;g3d0cf7ad983_0_2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d0cf7ad983_0_2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4" name="Google Shape;624;g3d0cf7ad983_0_26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5" name="Google Shape;625;g3d0cf7ad983_0_26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d0cf7ad983_0_3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8" name="Google Shape;638;g3d0cf7ad983_0_32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39" name="Google Shape;639;g3d0cf7ad983_0_32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d0cf7ad983_0_3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9" name="Google Shape;649;g3d0cf7ad983_0_3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50" name="Google Shape;650;g3d0cf7ad983_0_33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d0cf7ad983_0_4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2" name="Google Shape;662;g3d0cf7ad983_0_4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63" name="Google Shape;663;g3d0cf7ad983_0_4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d0cf7ad983_0_45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5" name="Google Shape;675;g3d0cf7ad983_0_45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6" name="Google Shape;676;g3d0cf7ad983_0_45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d0cf7ad983_0_4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8" name="Google Shape;688;g3d0cf7ad983_0_46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9" name="Google Shape;689;g3d0cf7ad983_0_46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3d0cf7ad983_0_4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3d0cf7ad983_0_4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02" name="Google Shape;702;g3d0cf7ad983_0_4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3d0cf7ad983_0_4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4" name="Google Shape;714;g3d0cf7ad983_0_40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15" name="Google Shape;715;g3d0cf7ad983_0_40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d0cf7ad983_0_49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7" name="Google Shape;727;g3d0cf7ad983_0_49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8" name="Google Shape;728;g3d0cf7ad983_0_49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d0cf7ad983_0_5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3d0cf7ad983_0_5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41" name="Google Shape;741;g3d0cf7ad983_0_5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d0cf7ad983_0_5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3" name="Google Shape;753;g3d0cf7ad983_0_5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54" name="Google Shape;754;g3d0cf7ad983_0_5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3d0cf7ad983_0_5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6" name="Google Shape;766;g3d0cf7ad983_0_5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67" name="Google Shape;767;g3d0cf7ad983_0_52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d0cf7ad983_0_1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9" name="Google Shape;779;g3d0cf7ad983_0_16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0" name="Google Shape;780;g3d0cf7ad983_0_16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uota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" type="obj">
  <p:cSld name="OBJEC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titolo" type="title">
  <p:cSld name="TITLE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stazione sezione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23888" y="1282304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623888" y="3442097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e contenuti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ronto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titolo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to con didascalia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magine con didascalia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testo verticale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olo e testo verticale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50" y="1467543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475" y="-447057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uota" type="blank">
  <p:cSld name="BLANK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4" name="Google Shape;134;p2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titolo" type="title">
  <p:cSld name="TITLE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7" name="Google Shape;137;p27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38" name="Google Shape;138;p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3" name="Google Shape;143;p28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4" name="Google Shape;144;p2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5" name="Google Shape;145;p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6" name="Google Shape;146;p2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stazione sezione" type="secHead">
  <p:cSld name="SECTION_HEADER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9" name="Google Shape;149;p29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150" name="Google Shape;150;p2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1" name="Google Shape;151;p2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2" name="Google Shape;152;p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e contenuti" type="twoObj">
  <p:cSld name="TWO_OBJECTS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3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56" name="Google Shape;156;p30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57" name="Google Shape;157;p3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3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9" name="Google Shape;159;p3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ronto" type="twoTxTwoObj">
  <p:cSld name="TWO_OBJECTS_WITH_TEX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1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31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3" name="Google Shape;163;p31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4" name="Google Shape;164;p31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5" name="Google Shape;165;p31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6" name="Google Shape;166;p3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3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8" name="Google Shape;168;p3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titolo" type="titleOnly">
  <p:cSld name="TITLE_ONLY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1" name="Google Shape;171;p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2" name="Google Shape;172;p3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3" name="Google Shape;173;p3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to con didascalia" type="objTx">
  <p:cSld name="OBJECT_WITH_CAPTION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33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77" name="Google Shape;177;p33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78" name="Google Shape;178;p3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9" name="Google Shape;179;p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3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magine con didascalia" type="picTx">
  <p:cSld name="PICTURE_WITH_CAPTION_TEXT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34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34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85" name="Google Shape;185;p3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6" name="Google Shape;186;p3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7" name="Google Shape;187;p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testo verticale" type="vertTx">
  <p:cSld name="VERTICAL_TEXT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0" name="Google Shape;190;p35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1" name="Google Shape;191;p3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2" name="Google Shape;192;p3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3" name="Google Shape;193;p3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olo e testo verticale" type="vertTitleAndTx">
  <p:cSld name="VERTICAL_TITLE_AND_VERTICAL_TEXT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6" name="Google Shape;196;p3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7" name="Google Shape;197;p3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8" name="Google Shape;198;p3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9" name="Google Shape;199;p3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9" name="Google Shape;129;p2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6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8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10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10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10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10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10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10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17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17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17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17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17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7"/>
          <p:cNvSpPr txBox="1"/>
          <p:nvPr/>
        </p:nvSpPr>
        <p:spPr>
          <a:xfrm>
            <a:off x="0" y="971035"/>
            <a:ext cx="91440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it" sz="3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Architettura dei sistemi di elaborazione (2)</a:t>
            </a:r>
            <a:endParaRPr b="1" i="0" sz="3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57427" y="2249138"/>
            <a:ext cx="4737295" cy="1130207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37"/>
          <p:cNvSpPr txBox="1"/>
          <p:nvPr/>
        </p:nvSpPr>
        <p:spPr>
          <a:xfrm>
            <a:off x="3576900" y="4026000"/>
            <a:ext cx="1990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it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alesandu0@gmail.com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3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628650" y="273849"/>
            <a:ext cx="7886700" cy="78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it"/>
              <a:t>Indice</a:t>
            </a:r>
            <a:endParaRPr/>
          </a:p>
        </p:txBody>
      </p:sp>
      <p:sp>
        <p:nvSpPr>
          <p:cNvPr id="213" name="Google Shape;213;p38"/>
          <p:cNvSpPr txBox="1"/>
          <p:nvPr>
            <p:ph idx="1" type="body"/>
          </p:nvPr>
        </p:nvSpPr>
        <p:spPr>
          <a:xfrm>
            <a:off x="628650" y="1056251"/>
            <a:ext cx="7886700" cy="35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it" sz="1600"/>
              <a:t>Recap Tutoraggio 1 </a:t>
            </a:r>
            <a:endParaRPr sz="1600"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it" sz="1600"/>
              <a:t>Conversioni di base.</a:t>
            </a:r>
            <a:endParaRPr sz="1600"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it" sz="1600"/>
              <a:t>Breve recap di Hamming.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it" sz="1600"/>
              <a:t>Hamming code</a:t>
            </a:r>
            <a:endParaRPr sz="1600"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it" sz="1600"/>
              <a:t>Invio e Calcolo bit in Hamming.</a:t>
            </a:r>
            <a:endParaRPr sz="1600"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it" sz="1600"/>
              <a:t>Ricezione e Controllo bit in Hamming.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it" sz="1600"/>
              <a:t>Risoluzione equazione con tavola di verità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it" sz="1600"/>
              <a:t>Verifica equivalenza tra espressioni tramite tavola di verità</a:t>
            </a:r>
            <a:endParaRPr sz="1600"/>
          </a:p>
        </p:txBody>
      </p:sp>
      <p:sp>
        <p:nvSpPr>
          <p:cNvPr id="214" name="Google Shape;214;p3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it"/>
              <a:t>1. Conversioni Base generica -&gt; Base 10</a:t>
            </a:r>
            <a:endParaRPr/>
          </a:p>
        </p:txBody>
      </p:sp>
      <p:sp>
        <p:nvSpPr>
          <p:cNvPr id="221" name="Google Shape;221;p39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36666"/>
              </a:buClr>
              <a:buSzPts val="2100"/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it"/>
              <a:t>Da qualsiasi base (b) a decimale:</a:t>
            </a:r>
            <a:endParaRPr/>
          </a:p>
        </p:txBody>
      </p:sp>
      <p:pic>
        <p:nvPicPr>
          <p:cNvPr id="222" name="Google Shape;22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15518" y="2637653"/>
            <a:ext cx="1858344" cy="73483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3" name="Google Shape;223;p39"/>
          <p:cNvGraphicFramePr/>
          <p:nvPr/>
        </p:nvGraphicFramePr>
        <p:xfrm>
          <a:off x="4008789" y="26163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{3D3A1E18-1DB1-46BE-B74F-D14732490682}</a:tableStyleId>
              </a:tblPr>
              <a:tblGrid>
                <a:gridCol w="651275"/>
                <a:gridCol w="650075"/>
                <a:gridCol w="650075"/>
                <a:gridCol w="650075"/>
                <a:gridCol w="651275"/>
              </a:tblGrid>
              <a:tr h="359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c</a:t>
                      </a:r>
                      <a:r>
                        <a:rPr baseline="-25000" lang="it" sz="1400" u="none" cap="none" strike="noStrike"/>
                        <a:t>k</a:t>
                      </a:r>
                      <a:endParaRPr b="0" baseline="-2500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c</a:t>
                      </a:r>
                      <a:r>
                        <a:rPr baseline="-25000" lang="it" sz="1400" u="none" cap="none" strike="noStrike"/>
                        <a:t>k-1</a:t>
                      </a:r>
                      <a:endParaRPr b="0" baseline="-2500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…</a:t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c</a:t>
                      </a:r>
                      <a:r>
                        <a:rPr baseline="-25000" lang="it" sz="1400" u="none" cap="none" strike="noStrike"/>
                        <a:t>1</a:t>
                      </a:r>
                      <a:endParaRPr b="0" baseline="-2500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c</a:t>
                      </a:r>
                      <a:r>
                        <a:rPr baseline="-25000" lang="it" sz="1400" u="none" cap="none" strike="noStrike"/>
                        <a:t>0</a:t>
                      </a:r>
                      <a:endParaRPr b="0" baseline="-2500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graphicFrame>
        <p:nvGraphicFramePr>
          <p:cNvPr id="224" name="Google Shape;224;p39"/>
          <p:cNvGraphicFramePr/>
          <p:nvPr/>
        </p:nvGraphicFramePr>
        <p:xfrm>
          <a:off x="4008789" y="306398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{3D3A1E18-1DB1-46BE-B74F-D14732490682}</a:tableStyleId>
              </a:tblPr>
              <a:tblGrid>
                <a:gridCol w="651275"/>
                <a:gridCol w="650075"/>
                <a:gridCol w="650075"/>
                <a:gridCol w="650075"/>
                <a:gridCol w="651275"/>
              </a:tblGrid>
              <a:tr h="329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b</a:t>
                      </a:r>
                      <a:r>
                        <a:rPr baseline="30000" lang="it" sz="1400" u="none" cap="none" strike="noStrike"/>
                        <a:t>k</a:t>
                      </a:r>
                      <a:endParaRPr b="0" baseline="3000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b</a:t>
                      </a:r>
                      <a:r>
                        <a:rPr baseline="30000" lang="it" sz="1400" u="none" cap="none" strike="noStrike"/>
                        <a:t>k-1</a:t>
                      </a:r>
                      <a:endParaRPr b="0" baseline="3000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…</a:t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b</a:t>
                      </a:r>
                      <a:r>
                        <a:rPr baseline="30000" lang="it" sz="1400" u="none" cap="none" strike="noStrike"/>
                        <a:t>1</a:t>
                      </a:r>
                      <a:endParaRPr b="0" baseline="3000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lang="it" sz="1400" u="none" cap="none" strike="noStrike"/>
                        <a:t>b</a:t>
                      </a:r>
                      <a:r>
                        <a:rPr baseline="30000" lang="it" sz="1400" u="none" cap="none" strike="noStrike"/>
                        <a:t>0</a:t>
                      </a:r>
                      <a:endParaRPr b="0" baseline="30000" i="0" sz="1400" u="none" cap="none" strike="noStrike">
                        <a:solidFill>
                          <a:srgbClr val="000000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sp>
        <p:nvSpPr>
          <p:cNvPr id="225" name="Google Shape;225;p3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it"/>
              <a:t>Conversione: Base generica -&gt; Base 10</a:t>
            </a:r>
            <a:endParaRPr/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0000" lnSpcReduction="20000"/>
          </a:bodyPr>
          <a:lstStyle/>
          <a:p>
            <a:pPr indent="-136842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it"/>
              <a:t>Trasformare 1F4</a:t>
            </a:r>
            <a:r>
              <a:rPr baseline="-25000" lang="it"/>
              <a:t>16</a:t>
            </a:r>
            <a:r>
              <a:rPr lang="it"/>
              <a:t> in base 10.</a:t>
            </a:r>
            <a:endParaRPr/>
          </a:p>
          <a:p>
            <a:pPr indent="-63500" lvl="0" marL="1778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B050"/>
              </a:buClr>
              <a:buSzPct val="100000"/>
              <a:buNone/>
            </a:pPr>
            <a:r>
              <a:rPr lang="it">
                <a:solidFill>
                  <a:srgbClr val="00B050"/>
                </a:solidFill>
              </a:rPr>
              <a:t>1</a:t>
            </a:r>
            <a:r>
              <a:rPr lang="it">
                <a:solidFill>
                  <a:srgbClr val="FF0000"/>
                </a:solidFill>
              </a:rPr>
              <a:t>F</a:t>
            </a:r>
            <a:r>
              <a:rPr lang="it">
                <a:solidFill>
                  <a:srgbClr val="0070C0"/>
                </a:solidFill>
              </a:rPr>
              <a:t>4</a:t>
            </a:r>
            <a:r>
              <a:rPr baseline="-25000" lang="it"/>
              <a:t>16</a:t>
            </a:r>
            <a:r>
              <a:rPr lang="it"/>
              <a:t> = </a:t>
            </a:r>
            <a:r>
              <a:rPr lang="it">
                <a:solidFill>
                  <a:srgbClr val="00B050"/>
                </a:solidFill>
              </a:rPr>
              <a:t>1</a:t>
            </a:r>
            <a:r>
              <a:rPr lang="it"/>
              <a:t>·16</a:t>
            </a:r>
            <a:r>
              <a:rPr baseline="30000" lang="it"/>
              <a:t>2</a:t>
            </a:r>
            <a:r>
              <a:rPr lang="it"/>
              <a:t> + </a:t>
            </a:r>
            <a:r>
              <a:rPr lang="it">
                <a:solidFill>
                  <a:srgbClr val="FF0000"/>
                </a:solidFill>
              </a:rPr>
              <a:t>F</a:t>
            </a:r>
            <a:r>
              <a:rPr lang="it"/>
              <a:t>·16</a:t>
            </a:r>
            <a:r>
              <a:rPr baseline="30000" lang="it"/>
              <a:t>1 </a:t>
            </a:r>
            <a:r>
              <a:rPr lang="it"/>
              <a:t>+ </a:t>
            </a:r>
            <a:r>
              <a:rPr lang="it">
                <a:solidFill>
                  <a:srgbClr val="0070C0"/>
                </a:solidFill>
              </a:rPr>
              <a:t>4</a:t>
            </a:r>
            <a:r>
              <a:rPr lang="it"/>
              <a:t>·16</a:t>
            </a:r>
            <a:r>
              <a:rPr baseline="30000" lang="it"/>
              <a:t>0 </a:t>
            </a:r>
            <a:r>
              <a:rPr lang="it"/>
              <a:t>= </a:t>
            </a:r>
            <a:r>
              <a:rPr lang="it">
                <a:solidFill>
                  <a:srgbClr val="00B050"/>
                </a:solidFill>
              </a:rPr>
              <a:t>1</a:t>
            </a:r>
            <a:r>
              <a:rPr lang="it"/>
              <a:t>·256+ </a:t>
            </a:r>
            <a:r>
              <a:rPr lang="it">
                <a:solidFill>
                  <a:srgbClr val="FF0000"/>
                </a:solidFill>
              </a:rPr>
              <a:t>15</a:t>
            </a:r>
            <a:r>
              <a:rPr lang="it"/>
              <a:t>·16 + </a:t>
            </a:r>
            <a:r>
              <a:rPr lang="it">
                <a:solidFill>
                  <a:srgbClr val="0070C0"/>
                </a:solidFill>
              </a:rPr>
              <a:t>4</a:t>
            </a:r>
            <a:r>
              <a:rPr lang="it"/>
              <a:t>·1 = 500</a:t>
            </a:r>
            <a:r>
              <a:rPr baseline="-25000" lang="it"/>
              <a:t>10</a:t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 b="1"/>
          </a:p>
        </p:txBody>
      </p:sp>
      <p:graphicFrame>
        <p:nvGraphicFramePr>
          <p:cNvPr id="233" name="Google Shape;233;p40"/>
          <p:cNvGraphicFramePr/>
          <p:nvPr/>
        </p:nvGraphicFramePr>
        <p:xfrm>
          <a:off x="2207515" y="191636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{3D3A1E18-1DB1-46BE-B74F-D14732490682}</a:tableStyleId>
              </a:tblPr>
              <a:tblGrid>
                <a:gridCol w="742950"/>
                <a:gridCol w="685800"/>
                <a:gridCol w="685800"/>
                <a:gridCol w="571500"/>
              </a:tblGrid>
              <a:tr h="388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cifre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1" i="0" lang="it" sz="1400" u="none" cap="none" strike="noStrike">
                          <a:solidFill>
                            <a:srgbClr val="FF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1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1" i="0" lang="it" sz="1400" u="none" cap="none" strike="noStrike">
                          <a:solidFill>
                            <a:srgbClr val="FF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F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1" i="0" lang="it" sz="1400" u="none" cap="none" strike="noStrike">
                          <a:solidFill>
                            <a:srgbClr val="FF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4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pesi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16</a:t>
                      </a:r>
                      <a:r>
                        <a:rPr b="0" baseline="3000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16</a:t>
                      </a:r>
                      <a:r>
                        <a:rPr b="0" baseline="3000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1</a:t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16</a:t>
                      </a:r>
                      <a:r>
                        <a:rPr b="0" baseline="3000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0</a:t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valori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256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240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800"/>
                        <a:buFont typeface="Noto Sans Symbols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4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234" name="Google Shape;234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53561" y="2388629"/>
            <a:ext cx="1689439" cy="667562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it"/>
              <a:t>Conversioni Base 10 -&gt; Base generica</a:t>
            </a:r>
            <a:endParaRPr/>
          </a:p>
        </p:txBody>
      </p:sp>
      <p:sp>
        <p:nvSpPr>
          <p:cNvPr id="242" name="Google Shape;242;p41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7145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it"/>
              <a:t>Da decimale a qualsiasi base: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36666"/>
              </a:buClr>
              <a:buSzPts val="2100"/>
              <a:buNone/>
            </a:pPr>
            <a:r>
              <a:rPr b="1" lang="it">
                <a:solidFill>
                  <a:srgbClr val="336666"/>
                </a:solidFill>
              </a:rPr>
              <a:t>Metodo delle divisioni successive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3" name="Google Shape;243;p4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it"/>
              <a:t>Conversione: Base 10 -&gt; Base generica</a:t>
            </a:r>
            <a:endParaRPr/>
          </a:p>
        </p:txBody>
      </p:sp>
      <p:sp>
        <p:nvSpPr>
          <p:cNvPr id="250" name="Google Shape;250;p4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7145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it"/>
              <a:t>Trasformare 500</a:t>
            </a:r>
            <a:r>
              <a:rPr baseline="-25000" lang="it"/>
              <a:t>10</a:t>
            </a:r>
            <a:r>
              <a:rPr lang="it"/>
              <a:t> in base 16.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 b="1"/>
          </a:p>
        </p:txBody>
      </p:sp>
      <p:graphicFrame>
        <p:nvGraphicFramePr>
          <p:cNvPr id="251" name="Google Shape;251;p42"/>
          <p:cNvGraphicFramePr/>
          <p:nvPr/>
        </p:nvGraphicFramePr>
        <p:xfrm>
          <a:off x="3539617" y="193400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{3D3A1E18-1DB1-46BE-B74F-D14732490682}</a:tableStyleId>
              </a:tblPr>
              <a:tblGrid>
                <a:gridCol w="498250"/>
                <a:gridCol w="703075"/>
                <a:gridCol w="865950"/>
              </a:tblGrid>
              <a:tr h="4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500</a:t>
                      </a:r>
                      <a:endParaRPr sz="1100" u="none" cap="none" strike="noStrike"/>
                    </a:p>
                  </a:txBody>
                  <a:tcPr marT="35100" marB="35100" marR="67500" marL="675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 sz="1100" u="none" cap="none" strike="noStrike"/>
                    </a:p>
                  </a:txBody>
                  <a:tcPr marT="35100" marB="35100" marR="67500" marL="675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t/>
                      </a:r>
                      <a:endParaRPr b="0" i="0" sz="15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5100" marB="35100" marR="67500" marL="675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8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496</a:t>
                      </a:r>
                      <a:endParaRPr sz="1100" u="none" cap="none" strike="noStrike"/>
                    </a:p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</a:t>
                      </a:r>
                      <a:r>
                        <a:rPr lang="it" sz="1500" u="none" cap="none" strike="noStrike"/>
                        <a:t>4</a:t>
                      </a:r>
                      <a:endParaRPr sz="1100" u="none" cap="none" strike="noStrike"/>
                    </a:p>
                  </a:txBody>
                  <a:tcPr marT="35100" marB="35100" marR="67500" marL="675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</a:t>
                      </a:r>
                      <a:endParaRPr sz="11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lang="it" sz="1500" u="none" cap="none" strike="noStrike"/>
                        <a:t>15</a:t>
                      </a:r>
                      <a:endParaRPr b="0" i="0" sz="15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5100" marB="35100" marR="67500" marL="675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lang="it" sz="1500" u="none" cap="none" strike="noStrike"/>
                        <a:t>16</a:t>
                      </a:r>
                      <a:endParaRPr sz="1500" u="none" cap="none" strike="noStrike"/>
                    </a:p>
                  </a:txBody>
                  <a:tcPr marT="35100" marB="35100" marR="67500" marL="675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882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</a:t>
                      </a:r>
                      <a:endParaRPr sz="1100" u="none" cap="none" strike="noStrike"/>
                    </a:p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r>
                        <a:rPr b="0" i="0" lang="it" sz="1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100" u="none" cap="none" strike="noStrike"/>
                    </a:p>
                  </a:txBody>
                  <a:tcPr marT="35100" marB="35100" marR="67500" marL="675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35100" marB="35100" marR="67500" marL="675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/>
                    </a:p>
                  </a:txBody>
                  <a:tcPr marT="35100" marB="35100" marR="67500" marL="675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91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t/>
                      </a:r>
                      <a:endParaRPr b="0" i="0" sz="15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5100" marB="35100" marR="67500" marL="675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 sz="1100" u="none" cap="none" strike="noStrike"/>
                    </a:p>
                  </a:txBody>
                  <a:tcPr marT="35100" marB="35100" marR="67500" marL="675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t/>
                      </a:r>
                      <a:endParaRPr b="0" i="0" sz="15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5100" marB="35100" marR="67500" marL="675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91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t/>
                      </a:r>
                      <a:endParaRPr b="0" i="0" sz="15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5100" marB="35100" marR="67500" marL="675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t/>
                      </a:r>
                      <a:endParaRPr b="0" i="0" sz="15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5100" marB="35100" marR="67500" marL="675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CC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0" i="0" lang="it" sz="15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/>
                    </a:p>
                  </a:txBody>
                  <a:tcPr marT="35100" marB="35100" marR="67500" marL="675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cxnSp>
        <p:nvCxnSpPr>
          <p:cNvPr id="252" name="Google Shape;252;p42"/>
          <p:cNvCxnSpPr/>
          <p:nvPr/>
        </p:nvCxnSpPr>
        <p:spPr>
          <a:xfrm rot="10800000">
            <a:off x="3787148" y="3600192"/>
            <a:ext cx="1363500" cy="742200"/>
          </a:xfrm>
          <a:prstGeom prst="straightConnector1">
            <a:avLst/>
          </a:prstGeom>
          <a:noFill/>
          <a:ln cap="flat" cmpd="sng" w="57150">
            <a:solidFill>
              <a:srgbClr val="CC33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53" name="Google Shape;253;p4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07332" y="1467633"/>
            <a:ext cx="4329335" cy="2590933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260" name="Google Shape;260;p4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it"/>
              <a:t>Tabella riassuntiva</a:t>
            </a:r>
            <a:endParaRPr/>
          </a:p>
        </p:txBody>
      </p:sp>
      <p:sp>
        <p:nvSpPr>
          <p:cNvPr id="261" name="Google Shape;261;p4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rPr lang="it"/>
              <a:t> 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it" sz="3100"/>
              <a:t>Basi potenza l’una dell’altra (x &lt;-&gt; x</a:t>
            </a:r>
            <a:r>
              <a:rPr baseline="30000" lang="it" sz="3100"/>
              <a:t>n</a:t>
            </a:r>
            <a:r>
              <a:rPr lang="it" sz="3100"/>
              <a:t>)</a:t>
            </a:r>
            <a:endParaRPr sz="3100"/>
          </a:p>
        </p:txBody>
      </p:sp>
      <p:graphicFrame>
        <p:nvGraphicFramePr>
          <p:cNvPr id="268" name="Google Shape;268;p44"/>
          <p:cNvGraphicFramePr/>
          <p:nvPr/>
        </p:nvGraphicFramePr>
        <p:xfrm>
          <a:off x="3693378" y="280787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{3D3A1E18-1DB1-46BE-B74F-D14732490682}</a:tableStyleId>
              </a:tblPr>
              <a:tblGrid>
                <a:gridCol w="196850"/>
                <a:gridCol w="196850"/>
                <a:gridCol w="196850"/>
                <a:gridCol w="196850"/>
                <a:gridCol w="196850"/>
                <a:gridCol w="196850"/>
                <a:gridCol w="196850"/>
                <a:gridCol w="196850"/>
                <a:gridCol w="196850"/>
              </a:tblGrid>
              <a:tr h="2857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/>
                        <a:t>1</a:t>
                      </a:r>
                      <a:endParaRPr sz="1100" u="none" cap="none" strike="noStrike"/>
                    </a:p>
                  </a:txBody>
                  <a:tcPr marT="42875" marB="42875" marR="85725" marL="85725" anchor="ctr">
                    <a:solidFill>
                      <a:srgbClr val="B3E5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/>
                        <a:t>0</a:t>
                      </a:r>
                      <a:endParaRPr sz="1100" u="none" cap="none" strike="noStrike"/>
                    </a:p>
                  </a:txBody>
                  <a:tcPr marT="42875" marB="42875" marR="85725" marL="85725" anchor="ctr">
                    <a:solidFill>
                      <a:srgbClr val="B3E5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/>
                        <a:t>1</a:t>
                      </a:r>
                      <a:endParaRPr sz="1100" u="none" cap="none" strike="noStrike"/>
                    </a:p>
                  </a:txBody>
                  <a:tcPr marT="42875" marB="42875" marR="85725" marL="85725" anchor="ctr">
                    <a:solidFill>
                      <a:srgbClr val="B3E5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/>
                        <a:t>1</a:t>
                      </a:r>
                      <a:endParaRPr sz="1100" u="none" cap="none" strike="noStrike"/>
                    </a:p>
                  </a:txBody>
                  <a:tcPr marT="42875" marB="42875" marR="85725" marL="85725" anchor="ctr"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/>
                        <a:t>1</a:t>
                      </a:r>
                      <a:endParaRPr sz="1100" u="none" cap="none" strike="noStrike"/>
                    </a:p>
                  </a:txBody>
                  <a:tcPr marT="42875" marB="42875" marR="85725" marL="85725" anchor="ctr"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/>
                        <a:t>0</a:t>
                      </a:r>
                      <a:endParaRPr sz="1100" u="none" cap="none" strike="noStrike"/>
                    </a:p>
                  </a:txBody>
                  <a:tcPr marT="42875" marB="42875" marR="85725" marL="85725" anchor="ctr"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/>
                        <a:t>1</a:t>
                      </a:r>
                      <a:endParaRPr sz="1100" u="none" cap="none" strike="noStrike"/>
                    </a:p>
                  </a:txBody>
                  <a:tcPr marT="42875" marB="42875" marR="85725" marL="85725" anchor="ctr"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/>
                        <a:t>0</a:t>
                      </a:r>
                      <a:endParaRPr sz="1100" u="none" cap="none" strike="noStrike"/>
                    </a:p>
                  </a:txBody>
                  <a:tcPr marT="42875" marB="42875" marR="85725" marL="85725" anchor="ctr"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/>
                        <a:t>0</a:t>
                      </a:r>
                      <a:endParaRPr sz="1100" u="none" cap="none" strike="noStrike"/>
                    </a:p>
                  </a:txBody>
                  <a:tcPr marT="42875" marB="42875" marR="85725" marL="85725" anchor="ctr">
                    <a:solidFill>
                      <a:srgbClr val="E59DDC"/>
                    </a:solidFill>
                  </a:tcPr>
                </a:tc>
              </a:tr>
              <a:tr h="2570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it" sz="1000" u="none" cap="none" strike="noStrike"/>
                        <a:t>4</a:t>
                      </a:r>
                      <a:endParaRPr sz="1100" u="none" cap="none" strike="noStrike"/>
                    </a:p>
                  </a:txBody>
                  <a:tcPr marT="42875" marB="42875" marR="85725" marL="857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it" sz="1000" u="none" cap="none" strike="noStrike"/>
                        <a:t>2</a:t>
                      </a:r>
                      <a:endParaRPr sz="1100" u="none" cap="none" strike="noStrike"/>
                    </a:p>
                  </a:txBody>
                  <a:tcPr marT="42875" marB="42875" marR="85725" marL="857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it" sz="1000" u="none" cap="none" strike="noStrike"/>
                        <a:t>1</a:t>
                      </a:r>
                      <a:endParaRPr sz="1100" u="none" cap="none" strike="noStrike"/>
                    </a:p>
                  </a:txBody>
                  <a:tcPr marT="42875" marB="42875" marR="85725" marL="857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it" sz="1000" u="none" cap="none" strike="noStrike"/>
                        <a:t>4</a:t>
                      </a:r>
                      <a:endParaRPr sz="1100" u="none" cap="none" strike="noStrike"/>
                    </a:p>
                  </a:txBody>
                  <a:tcPr marT="42875" marB="42875" marR="85725" marL="85725"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it" sz="1000" u="none" cap="none" strike="noStrike"/>
                        <a:t>2</a:t>
                      </a:r>
                      <a:endParaRPr sz="1100" u="none" cap="none" strike="noStrike"/>
                    </a:p>
                  </a:txBody>
                  <a:tcPr marT="42875" marB="42875" marR="85725" marL="857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it" sz="1000" u="none" cap="none" strike="noStrike"/>
                        <a:t>1</a:t>
                      </a:r>
                      <a:endParaRPr sz="1100" u="none" cap="none" strike="noStrike"/>
                    </a:p>
                  </a:txBody>
                  <a:tcPr marT="42875" marB="42875" marR="85725" marL="857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it" sz="1000" u="none" cap="none" strike="noStrike"/>
                        <a:t>4</a:t>
                      </a:r>
                      <a:endParaRPr sz="1100" u="none" cap="none" strike="noStrike"/>
                    </a:p>
                  </a:txBody>
                  <a:tcPr marT="42875" marB="42875" marR="85725" marL="85725"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it" sz="1000" u="none" cap="none" strike="noStrike"/>
                        <a:t>2</a:t>
                      </a:r>
                      <a:endParaRPr sz="1100" u="none" cap="none" strike="noStrike"/>
                    </a:p>
                  </a:txBody>
                  <a:tcPr marT="42875" marB="42875" marR="85725" marL="857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it" sz="1000" u="none" cap="none" strike="noStrike"/>
                        <a:t>1</a:t>
                      </a:r>
                      <a:endParaRPr sz="1100" u="none" cap="none" strike="noStrike"/>
                    </a:p>
                  </a:txBody>
                  <a:tcPr marT="42875" marB="42875" marR="85725" marL="857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69" name="Google Shape;269;p44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it"/>
              <a:t>Per le Basi potenza (-&gt;) si suddivide il numero in gruppi di n bit e si trasforma ogni gruppo nella corrispondente cifra.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it"/>
              <a:t>Per l’inversa (&lt;-), ad ogni cifra corrispondono n bit.</a:t>
            </a:r>
            <a:endParaRPr/>
          </a:p>
          <a:p>
            <a:pPr indent="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rPr lang="it" sz="1300"/>
              <a:t>Es: base 8 -&gt; base 2</a:t>
            </a:r>
            <a:endParaRPr sz="1300"/>
          </a:p>
          <a:p>
            <a:pPr indent="0" lvl="6" marL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1400"/>
              <a:buNone/>
            </a:pPr>
            <a:r>
              <a:rPr lang="it" sz="2100">
                <a:solidFill>
                  <a:srgbClr val="FF0000"/>
                </a:solidFill>
              </a:rPr>
              <a:t> </a:t>
            </a:r>
            <a:endParaRPr sz="2100">
              <a:solidFill>
                <a:srgbClr val="FF0000"/>
              </a:solidFill>
            </a:endParaRPr>
          </a:p>
          <a:p>
            <a:pPr indent="0" lvl="6" marL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1400"/>
              <a:buNone/>
            </a:pPr>
            <a:r>
              <a:t/>
            </a:r>
            <a:endParaRPr sz="2100">
              <a:solidFill>
                <a:srgbClr val="00B050"/>
              </a:solidFill>
            </a:endParaRPr>
          </a:p>
          <a:p>
            <a:pPr indent="4572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1400"/>
              <a:buNone/>
            </a:pPr>
            <a:r>
              <a:rPr lang="it" sz="2100">
                <a:solidFill>
                  <a:srgbClr val="00B050"/>
                </a:solidFill>
              </a:rPr>
              <a:t>5</a:t>
            </a:r>
            <a:r>
              <a:rPr lang="it" sz="2100">
                <a:solidFill>
                  <a:srgbClr val="3C78D8"/>
                </a:solidFill>
              </a:rPr>
              <a:t>6</a:t>
            </a:r>
            <a:r>
              <a:rPr lang="it" sz="2100">
                <a:solidFill>
                  <a:srgbClr val="FF00FF"/>
                </a:solidFill>
              </a:rPr>
              <a:t>4</a:t>
            </a:r>
            <a:r>
              <a:rPr lang="it" sz="2100">
                <a:solidFill>
                  <a:srgbClr val="0070C0"/>
                </a:solidFill>
              </a:rPr>
              <a:t> </a:t>
            </a:r>
            <a:r>
              <a:rPr baseline="-25000" lang="it" sz="2100"/>
              <a:t>8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0" lvl="0" marL="139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 b="1"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 b="1"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 b="1"/>
          </a:p>
        </p:txBody>
      </p:sp>
      <p:cxnSp>
        <p:nvCxnSpPr>
          <p:cNvPr id="270" name="Google Shape;270;p44"/>
          <p:cNvCxnSpPr/>
          <p:nvPr/>
        </p:nvCxnSpPr>
        <p:spPr>
          <a:xfrm rot="10800000">
            <a:off x="3897823" y="2769910"/>
            <a:ext cx="1552800" cy="0"/>
          </a:xfrm>
          <a:prstGeom prst="straightConnector1">
            <a:avLst/>
          </a:prstGeom>
          <a:noFill/>
          <a:ln cap="flat" cmpd="sng" w="12700">
            <a:solidFill>
              <a:srgbClr val="FF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1" name="Google Shape;271;p4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it"/>
              <a:t>2. Hamming Code: Invio dati</a:t>
            </a:r>
            <a:endParaRPr/>
          </a:p>
        </p:txBody>
      </p:sp>
      <p:sp>
        <p:nvSpPr>
          <p:cNvPr id="277" name="Google Shape;277;p4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it" sz="1600"/>
              <a:t>Il Codice di Hamming inserisce dei </a:t>
            </a:r>
            <a:r>
              <a:rPr b="1" lang="it" sz="1600"/>
              <a:t>bit di parità</a:t>
            </a:r>
            <a:r>
              <a:rPr lang="it" sz="1600"/>
              <a:t> (o bit di controllo) in posizioni strategiche (le potenze di 2: posizioni 1, 2, 4, 8) rispettando la formula </a:t>
            </a:r>
            <a:br>
              <a:rPr lang="it" sz="1600"/>
            </a:b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SzPts val="1400"/>
              <a:buNone/>
            </a:pPr>
            <a:r>
              <a:rPr lang="it" sz="1600"/>
              <a:t>2</a:t>
            </a:r>
            <a:r>
              <a:rPr baseline="30000" lang="it" sz="1600"/>
              <a:t>n</a:t>
            </a:r>
            <a:r>
              <a:rPr lang="it" sz="1600"/>
              <a:t> &gt;= m + n + 1</a:t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SzPts val="1400"/>
              <a:buNone/>
            </a:pPr>
            <a:r>
              <a:rPr lang="it" sz="1200"/>
              <a:t>Es.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it" sz="1200"/>
              <a:t>Se hai </a:t>
            </a:r>
            <a:r>
              <a:rPr b="1" lang="it" sz="1200"/>
              <a:t>4 bit</a:t>
            </a:r>
            <a:r>
              <a:rPr lang="it" sz="1200"/>
              <a:t> di dati (m=4): 2</a:t>
            </a:r>
            <a:r>
              <a:rPr baseline="30000" lang="it" sz="1200"/>
              <a:t>3</a:t>
            </a:r>
            <a:r>
              <a:rPr lang="it" sz="1200"/>
              <a:t> &gt;= 4+3+1 = 8. Servono </a:t>
            </a:r>
            <a:r>
              <a:rPr b="1" lang="it" sz="1200"/>
              <a:t>3 bit</a:t>
            </a:r>
            <a:r>
              <a:rPr lang="it" sz="1200"/>
              <a:t> di parità.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it" sz="1200"/>
              <a:t>Se hai </a:t>
            </a:r>
            <a:r>
              <a:rPr b="1" lang="it" sz="1200"/>
              <a:t>11 bit</a:t>
            </a:r>
            <a:r>
              <a:rPr lang="it" sz="1200"/>
              <a:t> di dati (m=11): 2</a:t>
            </a:r>
            <a:r>
              <a:rPr baseline="30000" lang="it" sz="1200"/>
              <a:t>4</a:t>
            </a:r>
            <a:r>
              <a:rPr lang="it" sz="1200"/>
              <a:t> &gt;= 11+4+1 = 16. Servono </a:t>
            </a:r>
            <a:r>
              <a:rPr b="1" lang="it" sz="1200"/>
              <a:t>4 bit</a:t>
            </a:r>
            <a:r>
              <a:rPr lang="it" sz="1200"/>
              <a:t> di parità.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600"/>
          </a:p>
        </p:txBody>
      </p:sp>
      <p:sp>
        <p:nvSpPr>
          <p:cNvPr id="278" name="Google Shape;278;p4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46"/>
          <p:cNvGraphicFramePr/>
          <p:nvPr/>
        </p:nvGraphicFramePr>
        <p:xfrm>
          <a:off x="2355762" y="25717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1850"/>
                <a:gridCol w="341850"/>
                <a:gridCol w="341850"/>
                <a:gridCol w="341850"/>
                <a:gridCol w="341850"/>
                <a:gridCol w="341850"/>
                <a:gridCol w="341850"/>
                <a:gridCol w="341850"/>
                <a:gridCol w="341850"/>
                <a:gridCol w="341850"/>
                <a:gridCol w="341850"/>
                <a:gridCol w="341850"/>
              </a:tblGrid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baseline="-25000" i="0" sz="16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baseline="-25000" i="0" sz="16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baseline="-25000" i="0" sz="16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baseline="-25000" sz="16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i="0" lang="it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i="0" lang="it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4" name="Google Shape;284;p46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Hamming Code: Calcolo bit correzione d’errore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6"/>
          <p:cNvSpPr txBox="1"/>
          <p:nvPr/>
        </p:nvSpPr>
        <p:spPr>
          <a:xfrm>
            <a:off x="137158" y="683255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it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Calcola i bit di correzione d’errore da aggiungere alla parola 1B</a:t>
            </a:r>
            <a:r>
              <a:rPr b="0" baseline="-25000" i="0" lang="it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4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graphicFrame>
        <p:nvGraphicFramePr>
          <p:cNvPr id="287" name="Google Shape;287;p46"/>
          <p:cNvGraphicFramePr/>
          <p:nvPr/>
        </p:nvGraphicFramePr>
        <p:xfrm>
          <a:off x="358622" y="14205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24000"/>
                <a:gridCol w="324000"/>
                <a:gridCol w="324000"/>
                <a:gridCol w="324000"/>
                <a:gridCol w="324000"/>
                <a:gridCol w="324000"/>
                <a:gridCol w="324000"/>
                <a:gridCol w="324000"/>
              </a:tblGrid>
              <a:tr h="324000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8" name="Google Shape;288;p46"/>
          <p:cNvSpPr txBox="1"/>
          <p:nvPr/>
        </p:nvSpPr>
        <p:spPr>
          <a:xfrm>
            <a:off x="2730551" y="1476688"/>
            <a:ext cx="46311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baseline="-25000" i="0" lang="it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46"/>
          <p:cNvSpPr txBox="1"/>
          <p:nvPr/>
        </p:nvSpPr>
        <p:spPr>
          <a:xfrm>
            <a:off x="2790739" y="1809807"/>
            <a:ext cx="45708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baseline="-25000" i="0" lang="it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46"/>
          <p:cNvSpPr txBox="1"/>
          <p:nvPr/>
        </p:nvSpPr>
        <p:spPr>
          <a:xfrm>
            <a:off x="5660750" y="1286547"/>
            <a:ext cx="1893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it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 = 8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it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 + m + 1 &lt;= 2</a:t>
            </a:r>
            <a:r>
              <a:rPr b="0" baseline="30000" i="0" lang="it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b="0" baseline="3000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it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 = 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7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Calcolo bit correzione d’errore</a:t>
            </a:r>
            <a:endParaRPr/>
          </a:p>
        </p:txBody>
      </p:sp>
      <p:sp>
        <p:nvSpPr>
          <p:cNvPr id="296" name="Google Shape;296;p47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Calcola i bit di correzione d’errore da aggiungere alla parola ADA1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endParaRPr/>
          </a:p>
        </p:txBody>
      </p:sp>
      <p:graphicFrame>
        <p:nvGraphicFramePr>
          <p:cNvPr id="297" name="Google Shape;297;p47"/>
          <p:cNvGraphicFramePr/>
          <p:nvPr/>
        </p:nvGraphicFramePr>
        <p:xfrm>
          <a:off x="243674" y="108085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</a:tblGrid>
              <a:tr h="324000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98" name="Google Shape;298;p4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8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Calcolo bit correzione d’errore</a:t>
            </a:r>
            <a:endParaRPr/>
          </a:p>
        </p:txBody>
      </p:sp>
      <p:sp>
        <p:nvSpPr>
          <p:cNvPr id="304" name="Google Shape;304;p48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Calcola i bit di correzione d’errore da aggiungere alla parola ADA1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endParaRPr/>
          </a:p>
        </p:txBody>
      </p:sp>
      <p:sp>
        <p:nvSpPr>
          <p:cNvPr id="305" name="Google Shape;305;p48"/>
          <p:cNvSpPr txBox="1"/>
          <p:nvPr/>
        </p:nvSpPr>
        <p:spPr>
          <a:xfrm>
            <a:off x="439140" y="2617668"/>
            <a:ext cx="16650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i="0" lang="it" sz="1600" u="none" cap="none" strike="noStrike">
                <a:solidFill>
                  <a:schemeClr val="dk1"/>
                </a:solidFill>
              </a:rPr>
              <a:t>m = 16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i="0" lang="it" sz="1600" u="none" cap="none" strike="noStrike">
                <a:solidFill>
                  <a:schemeClr val="dk1"/>
                </a:solidFill>
              </a:rPr>
              <a:t>n + m + 1 &lt;= 2</a:t>
            </a:r>
            <a:r>
              <a:rPr baseline="30000" i="0" lang="it" sz="1600" u="none" cap="none" strike="noStrike">
                <a:solidFill>
                  <a:schemeClr val="dk1"/>
                </a:solidFill>
              </a:rPr>
              <a:t>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i="0" lang="it" sz="1600" u="none" cap="none" strike="noStrike">
                <a:solidFill>
                  <a:schemeClr val="dk1"/>
                </a:solidFill>
              </a:rPr>
              <a:t>n = 5</a:t>
            </a:r>
            <a:endParaRPr/>
          </a:p>
        </p:txBody>
      </p:sp>
      <p:graphicFrame>
        <p:nvGraphicFramePr>
          <p:cNvPr id="306" name="Google Shape;306;p48"/>
          <p:cNvGraphicFramePr/>
          <p:nvPr/>
        </p:nvGraphicFramePr>
        <p:xfrm>
          <a:off x="243674" y="108085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</a:tblGrid>
              <a:tr h="324000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07" name="Google Shape;307;p4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9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Calcolo bit correzione d’errore</a:t>
            </a:r>
            <a:endParaRPr/>
          </a:p>
        </p:txBody>
      </p:sp>
      <p:sp>
        <p:nvSpPr>
          <p:cNvPr id="313" name="Google Shape;313;p49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Calcola i bit di correzione d’errore da aggiungere alla parola ADA1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endParaRPr/>
          </a:p>
        </p:txBody>
      </p:sp>
      <p:graphicFrame>
        <p:nvGraphicFramePr>
          <p:cNvPr id="314" name="Google Shape;314;p49"/>
          <p:cNvGraphicFramePr/>
          <p:nvPr/>
        </p:nvGraphicFramePr>
        <p:xfrm>
          <a:off x="243674" y="108085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</a:tblGrid>
              <a:tr h="324000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5" name="Google Shape;315;p49"/>
          <p:cNvGraphicFramePr/>
          <p:nvPr/>
        </p:nvGraphicFramePr>
        <p:xfrm>
          <a:off x="583674" y="226869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6" name="Google Shape;316;p4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50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Calcolo bit correzione d’errore</a:t>
            </a:r>
            <a:endParaRPr/>
          </a:p>
        </p:txBody>
      </p:sp>
      <p:sp>
        <p:nvSpPr>
          <p:cNvPr id="322" name="Google Shape;322;p50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Calcola i bit di correzione d’errore da aggiungere alla parola ADA1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endParaRPr/>
          </a:p>
        </p:txBody>
      </p:sp>
      <p:graphicFrame>
        <p:nvGraphicFramePr>
          <p:cNvPr id="323" name="Google Shape;323;p50"/>
          <p:cNvGraphicFramePr/>
          <p:nvPr/>
        </p:nvGraphicFramePr>
        <p:xfrm>
          <a:off x="243674" y="108085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</a:tblGrid>
              <a:tr h="324000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4" name="Google Shape;324;p50"/>
          <p:cNvGraphicFramePr/>
          <p:nvPr/>
        </p:nvGraphicFramePr>
        <p:xfrm>
          <a:off x="583674" y="226869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25" name="Google Shape;325;p5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1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Calcolo bit correzione d’errore</a:t>
            </a:r>
            <a:endParaRPr/>
          </a:p>
        </p:txBody>
      </p:sp>
      <p:sp>
        <p:nvSpPr>
          <p:cNvPr id="331" name="Google Shape;331;p51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Calcola i bit di correzione d’errore da aggiungere alla parola 2F7F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endParaRPr/>
          </a:p>
        </p:txBody>
      </p:sp>
      <p:graphicFrame>
        <p:nvGraphicFramePr>
          <p:cNvPr id="332" name="Google Shape;332;p51"/>
          <p:cNvGraphicFramePr/>
          <p:nvPr/>
        </p:nvGraphicFramePr>
        <p:xfrm>
          <a:off x="199191" y="106533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</a:tblGrid>
              <a:tr h="324000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33" name="Google Shape;333;p5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52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Calcolo bit correzione d’errore</a:t>
            </a:r>
            <a:endParaRPr/>
          </a:p>
        </p:txBody>
      </p:sp>
      <p:sp>
        <p:nvSpPr>
          <p:cNvPr id="339" name="Google Shape;339;p52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Calcola i bit di correzione d’errore da aggiungere alla parola 2F7F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endParaRPr/>
          </a:p>
        </p:txBody>
      </p:sp>
      <p:sp>
        <p:nvSpPr>
          <p:cNvPr id="340" name="Google Shape;340;p52"/>
          <p:cNvSpPr txBox="1"/>
          <p:nvPr/>
        </p:nvSpPr>
        <p:spPr>
          <a:xfrm>
            <a:off x="199207" y="2439530"/>
            <a:ext cx="16650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i="0" lang="it" sz="1600" u="none" cap="none" strike="noStrike">
                <a:solidFill>
                  <a:schemeClr val="dk1"/>
                </a:solidFill>
              </a:rPr>
              <a:t>m = 16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i="0" lang="it" sz="1600" u="none" cap="none" strike="noStrike">
                <a:solidFill>
                  <a:schemeClr val="dk1"/>
                </a:solidFill>
              </a:rPr>
              <a:t>n + m + 1 &lt;= 2</a:t>
            </a:r>
            <a:r>
              <a:rPr baseline="30000" i="0" lang="it" sz="1600" u="none" cap="none" strike="noStrike">
                <a:solidFill>
                  <a:schemeClr val="dk1"/>
                </a:solidFill>
              </a:rPr>
              <a:t>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i="0" lang="it" sz="1600" u="none" cap="none" strike="noStrike">
                <a:solidFill>
                  <a:schemeClr val="dk1"/>
                </a:solidFill>
              </a:rPr>
              <a:t>n = 5</a:t>
            </a:r>
            <a:endParaRPr/>
          </a:p>
        </p:txBody>
      </p:sp>
      <p:graphicFrame>
        <p:nvGraphicFramePr>
          <p:cNvPr id="341" name="Google Shape;341;p52"/>
          <p:cNvGraphicFramePr/>
          <p:nvPr/>
        </p:nvGraphicFramePr>
        <p:xfrm>
          <a:off x="199191" y="106533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</a:tblGrid>
              <a:tr h="324000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42" name="Google Shape;342;p5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3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Calcolo bit correzione d’errore</a:t>
            </a:r>
            <a:endParaRPr/>
          </a:p>
        </p:txBody>
      </p:sp>
      <p:sp>
        <p:nvSpPr>
          <p:cNvPr id="348" name="Google Shape;348;p53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Calcola i bit di correzione d’errore da aggiungere alla parola 2F7F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endParaRPr/>
          </a:p>
        </p:txBody>
      </p:sp>
      <p:graphicFrame>
        <p:nvGraphicFramePr>
          <p:cNvPr id="349" name="Google Shape;349;p53"/>
          <p:cNvGraphicFramePr/>
          <p:nvPr/>
        </p:nvGraphicFramePr>
        <p:xfrm>
          <a:off x="199191" y="106533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</a:tblGrid>
              <a:tr h="324000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0" name="Google Shape;350;p53"/>
          <p:cNvGraphicFramePr/>
          <p:nvPr/>
        </p:nvGraphicFramePr>
        <p:xfrm>
          <a:off x="1101004" y="226093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aseline="-25000"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baseline="-25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1" name="Google Shape;351;p5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4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Calcolo bit correzione d’errore</a:t>
            </a:r>
            <a:endParaRPr/>
          </a:p>
        </p:txBody>
      </p:sp>
      <p:sp>
        <p:nvSpPr>
          <p:cNvPr id="357" name="Google Shape;357;p54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Calcola i bit di correzione d’errore da aggiungere alla parola 2F7F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endParaRPr/>
          </a:p>
        </p:txBody>
      </p:sp>
      <p:graphicFrame>
        <p:nvGraphicFramePr>
          <p:cNvPr id="358" name="Google Shape;358;p54"/>
          <p:cNvGraphicFramePr/>
          <p:nvPr/>
        </p:nvGraphicFramePr>
        <p:xfrm>
          <a:off x="199191" y="106533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  <a:gridCol w="340000"/>
              </a:tblGrid>
              <a:tr h="324000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0"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9" name="Google Shape;359;p54"/>
          <p:cNvGraphicFramePr/>
          <p:nvPr/>
        </p:nvGraphicFramePr>
        <p:xfrm>
          <a:off x="1101004" y="226093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  <a:gridCol w="326575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59DDC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👮‍♀️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0" name="Google Shape;360;p5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55"/>
          <p:cNvGraphicFramePr/>
          <p:nvPr/>
        </p:nvGraphicFramePr>
        <p:xfrm>
          <a:off x="1646259" y="155046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1225"/>
                <a:gridCol w="341225"/>
                <a:gridCol w="341225"/>
                <a:gridCol w="341225"/>
                <a:gridCol w="341225"/>
                <a:gridCol w="341225"/>
                <a:gridCol w="341225"/>
                <a:gridCol w="341225"/>
                <a:gridCol w="341225"/>
                <a:gridCol w="341225"/>
                <a:gridCol w="341225"/>
                <a:gridCol w="341225"/>
              </a:tblGrid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it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it" sz="17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i="0" lang="it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i="0" lang="it" sz="12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i="0" sz="1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6" name="Google Shape;366;p55"/>
          <p:cNvSpPr txBox="1"/>
          <p:nvPr/>
        </p:nvSpPr>
        <p:spPr>
          <a:xfrm>
            <a:off x="5989320" y="2280089"/>
            <a:ext cx="4572000" cy="48474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⚠️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55"/>
          <p:cNvSpPr txBox="1"/>
          <p:nvPr/>
        </p:nvSpPr>
        <p:spPr>
          <a:xfrm>
            <a:off x="137158" y="683255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it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Assumendo abbiamo ricevuto la sequenza 2B1</a:t>
            </a:r>
            <a:r>
              <a:rPr b="0" baseline="-25000" i="0" lang="it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r>
              <a:rPr b="0" i="0" lang="it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calcola i bit di parità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55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Hamming Code: Controllo bit parità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5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graphicFrame>
        <p:nvGraphicFramePr>
          <p:cNvPr id="370" name="Google Shape;370;p55"/>
          <p:cNvGraphicFramePr/>
          <p:nvPr/>
        </p:nvGraphicFramePr>
        <p:xfrm>
          <a:off x="7117116" y="193802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24000"/>
                <a:gridCol w="324000"/>
                <a:gridCol w="324000"/>
                <a:gridCol w="324000"/>
              </a:tblGrid>
              <a:tr h="321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="0" baseline="-2500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b="0" baseline="-25000"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="0" baseline="-2500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b="0" baseline="-25000"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="0" baseline="-2500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b="0" baseline="-25000"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b="0" baseline="-2500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b="0" baseline="-25000"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8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56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Controllo bit parità</a:t>
            </a:r>
            <a:endParaRPr/>
          </a:p>
        </p:txBody>
      </p:sp>
      <p:sp>
        <p:nvSpPr>
          <p:cNvPr id="376" name="Google Shape;376;p56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Assumendo abbiamo ricevuto la sequenza 05735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r>
              <a:rPr i="0" lang="it" sz="1700" u="none" cap="none" strike="noStrike">
                <a:solidFill>
                  <a:schemeClr val="dk1"/>
                </a:solidFill>
              </a:rPr>
              <a:t> calcola i bit di parità</a:t>
            </a:r>
            <a:endParaRPr/>
          </a:p>
        </p:txBody>
      </p:sp>
      <p:sp>
        <p:nvSpPr>
          <p:cNvPr id="377" name="Google Shape;377;p5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7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Controllo bit parità</a:t>
            </a:r>
            <a:endParaRPr/>
          </a:p>
        </p:txBody>
      </p:sp>
      <p:sp>
        <p:nvSpPr>
          <p:cNvPr id="383" name="Google Shape;383;p57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Assumendo abbiamo ricevuto la sequenza 05735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r>
              <a:rPr i="0" lang="it" sz="1700" u="none" cap="none" strike="noStrike">
                <a:solidFill>
                  <a:schemeClr val="dk1"/>
                </a:solidFill>
              </a:rPr>
              <a:t> calcola i bit di parità</a:t>
            </a:r>
            <a:endParaRPr/>
          </a:p>
        </p:txBody>
      </p:sp>
      <p:graphicFrame>
        <p:nvGraphicFramePr>
          <p:cNvPr id="384" name="Google Shape;384;p57"/>
          <p:cNvGraphicFramePr/>
          <p:nvPr/>
        </p:nvGraphicFramePr>
        <p:xfrm>
          <a:off x="870943" y="125517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85" name="Google Shape;385;p5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8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Controllo bit parità</a:t>
            </a:r>
            <a:endParaRPr/>
          </a:p>
        </p:txBody>
      </p:sp>
      <p:sp>
        <p:nvSpPr>
          <p:cNvPr id="391" name="Google Shape;391;p58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Assumendo abbiamo ricevuto la sequenza 05735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r>
              <a:rPr i="0" lang="it" sz="1700" u="none" cap="none" strike="noStrike">
                <a:solidFill>
                  <a:schemeClr val="dk1"/>
                </a:solidFill>
              </a:rPr>
              <a:t> calcola i bit di parità</a:t>
            </a:r>
            <a:endParaRPr/>
          </a:p>
        </p:txBody>
      </p:sp>
      <p:graphicFrame>
        <p:nvGraphicFramePr>
          <p:cNvPr id="392" name="Google Shape;392;p58"/>
          <p:cNvGraphicFramePr/>
          <p:nvPr/>
        </p:nvGraphicFramePr>
        <p:xfrm>
          <a:off x="870943" y="125517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  <a:gridCol w="342900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3" name="Google Shape;393;p58"/>
          <p:cNvGraphicFramePr/>
          <p:nvPr/>
        </p:nvGraphicFramePr>
        <p:xfrm>
          <a:off x="685126" y="359684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400000"/>
                <a:gridCol w="400000"/>
                <a:gridCol w="400000"/>
                <a:gridCol w="400000"/>
                <a:gridCol w="400000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b4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94" name="Google Shape;394;p58"/>
          <p:cNvSpPr txBox="1"/>
          <p:nvPr/>
        </p:nvSpPr>
        <p:spPr>
          <a:xfrm>
            <a:off x="2847967" y="3596846"/>
            <a:ext cx="39999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it" sz="1800" u="none" cap="none" strike="noStrike">
                <a:solidFill>
                  <a:schemeClr val="dk1"/>
                </a:solidFill>
              </a:rPr>
              <a:t>⚠️ Errore in posizione 1</a:t>
            </a:r>
            <a:r>
              <a:rPr lang="it" sz="1800">
                <a:solidFill>
                  <a:schemeClr val="dk1"/>
                </a:solidFill>
              </a:rPr>
              <a:t>1</a:t>
            </a:r>
            <a:r>
              <a:rPr i="0" lang="it" sz="1800" u="none" cap="none" strike="noStrike">
                <a:solidFill>
                  <a:schemeClr val="dk1"/>
                </a:solidFill>
              </a:rPr>
              <a:t>!</a:t>
            </a:r>
            <a:endParaRPr/>
          </a:p>
        </p:txBody>
      </p:sp>
      <p:sp>
        <p:nvSpPr>
          <p:cNvPr id="395" name="Google Shape;395;p5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59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Controllo bit parità</a:t>
            </a:r>
            <a:endParaRPr/>
          </a:p>
        </p:txBody>
      </p:sp>
      <p:sp>
        <p:nvSpPr>
          <p:cNvPr id="401" name="Google Shape;401;p59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Assumendo abbiamo ricevuto la sequenza 17DA04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r>
              <a:rPr i="0" lang="it" sz="1700" u="none" cap="none" strike="noStrike">
                <a:solidFill>
                  <a:schemeClr val="dk1"/>
                </a:solidFill>
              </a:rPr>
              <a:t> calcola i bit di parità</a:t>
            </a:r>
            <a:endParaRPr/>
          </a:p>
        </p:txBody>
      </p:sp>
      <p:sp>
        <p:nvSpPr>
          <p:cNvPr id="402" name="Google Shape;402;p5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0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Controllo bit parità</a:t>
            </a:r>
            <a:endParaRPr/>
          </a:p>
        </p:txBody>
      </p:sp>
      <p:sp>
        <p:nvSpPr>
          <p:cNvPr id="408" name="Google Shape;408;p60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Assumendo abbiamo ricevuto la sequenza 17DA04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r>
              <a:rPr i="0" lang="it" sz="1700" u="none" cap="none" strike="noStrike">
                <a:solidFill>
                  <a:schemeClr val="dk1"/>
                </a:solidFill>
              </a:rPr>
              <a:t> calcola i bit di parità</a:t>
            </a:r>
            <a:endParaRPr/>
          </a:p>
        </p:txBody>
      </p:sp>
      <p:graphicFrame>
        <p:nvGraphicFramePr>
          <p:cNvPr id="409" name="Google Shape;409;p60"/>
          <p:cNvGraphicFramePr/>
          <p:nvPr/>
        </p:nvGraphicFramePr>
        <p:xfrm>
          <a:off x="284584" y="119608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10" name="Google Shape;410;p6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61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</a:t>
            </a:r>
            <a:r>
              <a:rPr i="0" lang="it" sz="2700" u="none" cap="none" strike="noStrike">
                <a:solidFill>
                  <a:schemeClr val="dk1"/>
                </a:solidFill>
              </a:rPr>
              <a:t>: Controllo bit parità</a:t>
            </a:r>
            <a:endParaRPr/>
          </a:p>
        </p:txBody>
      </p:sp>
      <p:sp>
        <p:nvSpPr>
          <p:cNvPr id="416" name="Google Shape;416;p61"/>
          <p:cNvSpPr txBox="1"/>
          <p:nvPr/>
        </p:nvSpPr>
        <p:spPr>
          <a:xfrm>
            <a:off x="137158" y="570000"/>
            <a:ext cx="8785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i="0" lang="it" sz="1700" u="none" cap="none" strike="noStrike">
                <a:solidFill>
                  <a:schemeClr val="dk1"/>
                </a:solidFill>
              </a:rPr>
              <a:t>Assumendo abbiamo ricevuto la sequenza 17DA04</a:t>
            </a:r>
            <a:r>
              <a:rPr baseline="-25000" i="0" lang="it" sz="1700" u="none" cap="none" strike="noStrike">
                <a:solidFill>
                  <a:schemeClr val="dk1"/>
                </a:solidFill>
              </a:rPr>
              <a:t>16</a:t>
            </a:r>
            <a:r>
              <a:rPr i="0" lang="it" sz="1700" u="none" cap="none" strike="noStrike">
                <a:solidFill>
                  <a:schemeClr val="dk1"/>
                </a:solidFill>
              </a:rPr>
              <a:t> calcola i bit di parità</a:t>
            </a:r>
            <a:endParaRPr/>
          </a:p>
        </p:txBody>
      </p:sp>
      <p:graphicFrame>
        <p:nvGraphicFramePr>
          <p:cNvPr id="417" name="Google Shape;417;p61"/>
          <p:cNvGraphicFramePr/>
          <p:nvPr/>
        </p:nvGraphicFramePr>
        <p:xfrm>
          <a:off x="284584" y="119608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  <a:gridCol w="337200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DCF8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📌</a:t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8" name="Google Shape;418;p61"/>
          <p:cNvGraphicFramePr/>
          <p:nvPr/>
        </p:nvGraphicFramePr>
        <p:xfrm>
          <a:off x="271562" y="393645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400000"/>
                <a:gridCol w="400000"/>
                <a:gridCol w="400000"/>
                <a:gridCol w="400000"/>
                <a:gridCol w="400000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b4</a:t>
                      </a:r>
                      <a:endParaRPr b="0" baseline="-25000"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b3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b2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19" name="Google Shape;419;p61"/>
          <p:cNvSpPr txBox="1"/>
          <p:nvPr/>
        </p:nvSpPr>
        <p:spPr>
          <a:xfrm>
            <a:off x="2434403" y="3936452"/>
            <a:ext cx="39999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it" sz="1800" u="none" cap="none" strike="noStrike">
                <a:solidFill>
                  <a:schemeClr val="dk1"/>
                </a:solidFill>
              </a:rPr>
              <a:t>⚠️ Errore in posizione 1</a:t>
            </a:r>
            <a:r>
              <a:rPr lang="it" sz="1800">
                <a:solidFill>
                  <a:schemeClr val="dk1"/>
                </a:solidFill>
              </a:rPr>
              <a:t>8</a:t>
            </a:r>
            <a:r>
              <a:rPr i="0" lang="it" sz="1800" u="none" cap="none" strike="noStrike">
                <a:solidFill>
                  <a:schemeClr val="dk1"/>
                </a:solidFill>
              </a:rPr>
              <a:t>!</a:t>
            </a:r>
            <a:endParaRPr/>
          </a:p>
        </p:txBody>
      </p:sp>
      <p:sp>
        <p:nvSpPr>
          <p:cNvPr id="420" name="Google Shape;420;p6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5" name="Google Shape;425;p62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2025"/>
                <a:gridCol w="652025"/>
                <a:gridCol w="652025"/>
                <a:gridCol w="652025"/>
              </a:tblGrid>
              <a:tr h="278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8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8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8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8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8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8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8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78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26" name="Google Shape;426;p62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Risoluzione tramite 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62"/>
          <p:cNvSpPr txBox="1"/>
          <p:nvPr/>
        </p:nvSpPr>
        <p:spPr>
          <a:xfrm>
            <a:off x="3991610" y="74841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6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3" name="Google Shape;433;p63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Google Shape;434;p63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63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6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1" name="Google Shape;441;p64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42" name="Google Shape;442;p64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64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6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9" name="Google Shape;449;p65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50" name="Google Shape;450;p65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65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6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8" name="Google Shape;458;p66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59" name="Google Shape;459;p66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66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6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67" name="Google Shape;467;p67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68" name="Google Shape;468;p67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67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6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6" name="Google Shape;476;p68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77" name="Google Shape;477;p68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68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6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85" name="Google Shape;485;p69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86" name="Google Shape;486;p69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69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6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4" name="Google Shape;494;p70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95" name="Google Shape;495;p70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70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7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03" name="Google Shape;503;p71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04" name="Google Shape;504;p71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71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7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2" name="Google Shape;512;p72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3" name="Google Shape;513;p72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72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7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1" name="Google Shape;521;p73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22" name="Google Shape;522;p73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73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7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30" name="Google Shape;530;p74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31" name="Google Shape;531;p74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7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38" name="Google Shape;538;p75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2025000"/>
                <a:gridCol w="6534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+ B + C̅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(A+B+C)·(A+B+C̅)+A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39" name="Google Shape;539;p75"/>
          <p:cNvSpPr txBox="1"/>
          <p:nvPr/>
        </p:nvSpPr>
        <p:spPr>
          <a:xfrm>
            <a:off x="3991610" y="453197"/>
            <a:ext cx="3691800" cy="346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1841" l="-250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it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75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47" name="Google Shape;547;p76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06950"/>
                <a:gridCol w="606950"/>
                <a:gridCol w="606950"/>
                <a:gridCol w="606950"/>
                <a:gridCol w="927950"/>
                <a:gridCol w="927950"/>
                <a:gridCol w="888375"/>
                <a:gridCol w="888375"/>
                <a:gridCol w="1599625"/>
              </a:tblGrid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48" name="Google Shape;548;p76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Esercizio: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76"/>
          <p:cNvSpPr txBox="1"/>
          <p:nvPr/>
        </p:nvSpPr>
        <p:spPr>
          <a:xfrm>
            <a:off x="1897250" y="410400"/>
            <a:ext cx="5942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1"/>
                </a:solidFill>
              </a:rPr>
              <a:t>Trovare la tabella di </a:t>
            </a:r>
            <a:r>
              <a:rPr lang="it" sz="1600">
                <a:solidFill>
                  <a:schemeClr val="dk1"/>
                </a:solidFill>
              </a:rPr>
              <a:t>Y =  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descr="equation" id="550" name="Google Shape;55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0150" y="476724"/>
            <a:ext cx="2445950" cy="236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7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57" name="Google Shape;557;p77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06950"/>
                <a:gridCol w="606950"/>
                <a:gridCol w="606950"/>
                <a:gridCol w="606950"/>
                <a:gridCol w="927950"/>
                <a:gridCol w="927950"/>
                <a:gridCol w="888375"/>
                <a:gridCol w="888375"/>
                <a:gridCol w="1599625"/>
              </a:tblGrid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58" name="Google Shape;558;p77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Esercizio: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77"/>
          <p:cNvSpPr txBox="1"/>
          <p:nvPr/>
        </p:nvSpPr>
        <p:spPr>
          <a:xfrm>
            <a:off x="3724825" y="410400"/>
            <a:ext cx="4114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1"/>
                </a:solidFill>
              </a:rPr>
              <a:t>Y =  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descr="equation" id="560" name="Google Shape;560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0150" y="476724"/>
            <a:ext cx="2445950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61" name="Google Shape;561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3326" y="999850"/>
            <a:ext cx="715724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62" name="Google Shape;562;p7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4713" y="1025625"/>
            <a:ext cx="318950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63" name="Google Shape;563;p7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28700" y="1025609"/>
            <a:ext cx="338058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64" name="Google Shape;564;p7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75725" y="1047563"/>
            <a:ext cx="318950" cy="141076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p7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1" name="Google Shape;571;p78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06950"/>
                <a:gridCol w="606950"/>
                <a:gridCol w="606950"/>
                <a:gridCol w="606950"/>
                <a:gridCol w="927950"/>
                <a:gridCol w="927950"/>
                <a:gridCol w="888375"/>
                <a:gridCol w="888375"/>
                <a:gridCol w="1599625"/>
              </a:tblGrid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72" name="Google Shape;572;p78"/>
          <p:cNvSpPr txBox="1"/>
          <p:nvPr/>
        </p:nvSpPr>
        <p:spPr>
          <a:xfrm>
            <a:off x="3724825" y="410400"/>
            <a:ext cx="4114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1"/>
                </a:solidFill>
              </a:rPr>
              <a:t>Y =  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descr="equation" id="573" name="Google Shape;573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0150" y="476724"/>
            <a:ext cx="2445950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74" name="Google Shape;574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3326" y="999850"/>
            <a:ext cx="715724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75" name="Google Shape;575;p7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4713" y="1025625"/>
            <a:ext cx="318950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76" name="Google Shape;576;p7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28700" y="1025609"/>
            <a:ext cx="338058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77" name="Google Shape;577;p7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75725" y="1047563"/>
            <a:ext cx="318950" cy="141076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p78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Esercizio: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7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5" name="Google Shape;585;p79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06950"/>
                <a:gridCol w="606950"/>
                <a:gridCol w="606950"/>
                <a:gridCol w="606950"/>
                <a:gridCol w="927950"/>
                <a:gridCol w="927950"/>
                <a:gridCol w="888375"/>
                <a:gridCol w="888375"/>
                <a:gridCol w="1599625"/>
              </a:tblGrid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86" name="Google Shape;586;p79"/>
          <p:cNvSpPr txBox="1"/>
          <p:nvPr/>
        </p:nvSpPr>
        <p:spPr>
          <a:xfrm>
            <a:off x="3724825" y="410400"/>
            <a:ext cx="4114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1"/>
                </a:solidFill>
              </a:rPr>
              <a:t>Y =  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descr="equation" id="587" name="Google Shape;587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0150" y="476724"/>
            <a:ext cx="2445950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88" name="Google Shape;588;p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3326" y="999850"/>
            <a:ext cx="715724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89" name="Google Shape;589;p7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4713" y="1025625"/>
            <a:ext cx="318950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90" name="Google Shape;590;p7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28700" y="1025609"/>
            <a:ext cx="338058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591" name="Google Shape;591;p7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75725" y="1047563"/>
            <a:ext cx="318950" cy="141076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79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Esercizio: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7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99" name="Google Shape;599;p80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06950"/>
                <a:gridCol w="606950"/>
                <a:gridCol w="606950"/>
                <a:gridCol w="606950"/>
                <a:gridCol w="927950"/>
                <a:gridCol w="927950"/>
                <a:gridCol w="888375"/>
                <a:gridCol w="888375"/>
                <a:gridCol w="1599625"/>
              </a:tblGrid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600" name="Google Shape;600;p80"/>
          <p:cNvSpPr txBox="1"/>
          <p:nvPr/>
        </p:nvSpPr>
        <p:spPr>
          <a:xfrm>
            <a:off x="3724825" y="410400"/>
            <a:ext cx="4114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1"/>
                </a:solidFill>
              </a:rPr>
              <a:t>Y =  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descr="equation" id="601" name="Google Shape;601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0150" y="476724"/>
            <a:ext cx="2445950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02" name="Google Shape;602;p8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3326" y="999850"/>
            <a:ext cx="715724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03" name="Google Shape;603;p8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4713" y="1025625"/>
            <a:ext cx="318950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04" name="Google Shape;604;p8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28700" y="1025609"/>
            <a:ext cx="338058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05" name="Google Shape;605;p8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75725" y="1047563"/>
            <a:ext cx="318950" cy="141076"/>
          </a:xfrm>
          <a:prstGeom prst="rect">
            <a:avLst/>
          </a:prstGeom>
          <a:noFill/>
          <a:ln>
            <a:noFill/>
          </a:ln>
        </p:spPr>
      </p:pic>
      <p:sp>
        <p:nvSpPr>
          <p:cNvPr id="606" name="Google Shape;606;p80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Esercizio: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8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3" name="Google Shape;613;p81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06950"/>
                <a:gridCol w="606950"/>
                <a:gridCol w="606950"/>
                <a:gridCol w="606950"/>
                <a:gridCol w="927950"/>
                <a:gridCol w="927950"/>
                <a:gridCol w="888375"/>
                <a:gridCol w="888375"/>
                <a:gridCol w="1599625"/>
              </a:tblGrid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614" name="Google Shape;614;p81"/>
          <p:cNvSpPr txBox="1"/>
          <p:nvPr/>
        </p:nvSpPr>
        <p:spPr>
          <a:xfrm>
            <a:off x="3724825" y="410400"/>
            <a:ext cx="4114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1"/>
                </a:solidFill>
              </a:rPr>
              <a:t>Y =  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descr="equation" id="615" name="Google Shape;615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0150" y="476724"/>
            <a:ext cx="2445950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16" name="Google Shape;616;p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3326" y="999850"/>
            <a:ext cx="715724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17" name="Google Shape;617;p8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4713" y="1025625"/>
            <a:ext cx="318950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18" name="Google Shape;618;p8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28700" y="1025609"/>
            <a:ext cx="338058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19" name="Google Shape;619;p8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75725" y="1047563"/>
            <a:ext cx="318950" cy="141076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81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Esercizio: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8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7" name="Google Shape;627;p82"/>
          <p:cNvGraphicFramePr/>
          <p:nvPr/>
        </p:nvGraphicFramePr>
        <p:xfrm>
          <a:off x="404149" y="99984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06950"/>
                <a:gridCol w="606950"/>
                <a:gridCol w="606950"/>
                <a:gridCol w="606950"/>
                <a:gridCol w="927950"/>
                <a:gridCol w="927950"/>
                <a:gridCol w="888375"/>
                <a:gridCol w="888375"/>
                <a:gridCol w="1599625"/>
              </a:tblGrid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97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0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sz="1100"/>
                        <a:t>1</a:t>
                      </a:r>
                      <a:endParaRPr sz="1100"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628" name="Google Shape;628;p82"/>
          <p:cNvSpPr txBox="1"/>
          <p:nvPr/>
        </p:nvSpPr>
        <p:spPr>
          <a:xfrm>
            <a:off x="3724825" y="410400"/>
            <a:ext cx="4114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1"/>
                </a:solidFill>
              </a:rPr>
              <a:t>Y =  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descr="equation" id="629" name="Google Shape;629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0150" y="476724"/>
            <a:ext cx="2445950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30" name="Google Shape;630;p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3326" y="999850"/>
            <a:ext cx="715724" cy="23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31" name="Google Shape;631;p8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4713" y="1025625"/>
            <a:ext cx="318950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32" name="Google Shape;632;p8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28700" y="1025609"/>
            <a:ext cx="338058" cy="18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33" name="Google Shape;633;p8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75725" y="1047563"/>
            <a:ext cx="318950" cy="141076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82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Esercizio: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8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83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4. Equivalenza tra espressioni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83"/>
          <p:cNvSpPr txBox="1"/>
          <p:nvPr/>
        </p:nvSpPr>
        <p:spPr>
          <a:xfrm>
            <a:off x="4247500" y="365300"/>
            <a:ext cx="2977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643" name="Google Shape;643;p83"/>
          <p:cNvSpPr txBox="1"/>
          <p:nvPr/>
        </p:nvSpPr>
        <p:spPr>
          <a:xfrm>
            <a:off x="137150" y="599100"/>
            <a:ext cx="7016100" cy="18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Verificare l’equivalenza di queste due equazioni</a:t>
            </a:r>
            <a:br>
              <a:rPr lang="it" sz="2100">
                <a:solidFill>
                  <a:schemeClr val="dk1"/>
                </a:solidFill>
              </a:rPr>
            </a:b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Y =</a:t>
            </a:r>
            <a:br>
              <a:rPr lang="it" sz="2100">
                <a:solidFill>
                  <a:schemeClr val="dk1"/>
                </a:solidFill>
              </a:rPr>
            </a:b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G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equation" id="644" name="Google Shape;644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1900" y="2089900"/>
            <a:ext cx="1791325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45" name="Google Shape;645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5421" y="1381650"/>
            <a:ext cx="1650425" cy="235775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8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2" name="Google Shape;652;p84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1200350"/>
                <a:gridCol w="86340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653" name="Google Shape;653;p84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84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Y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655" name="Google Shape;655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35421" y="546491"/>
            <a:ext cx="1650425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56" name="Google Shape;656;p8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9850" y="1109969"/>
            <a:ext cx="414650" cy="2357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57" name="Google Shape;657;p8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3489" y="1109975"/>
            <a:ext cx="793061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58" name="Google Shape;658;p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05686" y="1109975"/>
            <a:ext cx="414639" cy="235775"/>
          </a:xfrm>
          <a:prstGeom prst="rect">
            <a:avLst/>
          </a:prstGeom>
          <a:noFill/>
          <a:ln>
            <a:noFill/>
          </a:ln>
        </p:spPr>
      </p:pic>
      <p:sp>
        <p:nvSpPr>
          <p:cNvPr id="659" name="Google Shape;659;p8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65" name="Google Shape;665;p85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1200350"/>
                <a:gridCol w="86340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666" name="Google Shape;666;p85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85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Y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668" name="Google Shape;668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35421" y="546491"/>
            <a:ext cx="1650425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69" name="Google Shape;669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9850" y="1109969"/>
            <a:ext cx="414650" cy="2357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70" name="Google Shape;670;p8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3489" y="1109975"/>
            <a:ext cx="793061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71" name="Google Shape;671;p8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05686" y="1109975"/>
            <a:ext cx="414639" cy="235775"/>
          </a:xfrm>
          <a:prstGeom prst="rect">
            <a:avLst/>
          </a:prstGeom>
          <a:noFill/>
          <a:ln>
            <a:noFill/>
          </a:ln>
        </p:spPr>
      </p:pic>
      <p:sp>
        <p:nvSpPr>
          <p:cNvPr id="672" name="Google Shape;672;p8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8" name="Google Shape;678;p86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1200350"/>
                <a:gridCol w="86340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679" name="Google Shape;679;p86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86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Y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681" name="Google Shape;681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35421" y="546491"/>
            <a:ext cx="1650425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82" name="Google Shape;682;p8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9850" y="1109969"/>
            <a:ext cx="414650" cy="2357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83" name="Google Shape;683;p8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3489" y="1109975"/>
            <a:ext cx="793061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84" name="Google Shape;684;p8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05686" y="1109975"/>
            <a:ext cx="414639" cy="235775"/>
          </a:xfrm>
          <a:prstGeom prst="rect">
            <a:avLst/>
          </a:prstGeom>
          <a:noFill/>
          <a:ln>
            <a:noFill/>
          </a:ln>
        </p:spPr>
      </p:pic>
      <p:sp>
        <p:nvSpPr>
          <p:cNvPr id="685" name="Google Shape;685;p8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1" name="Google Shape;691;p87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1200350"/>
                <a:gridCol w="86340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692" name="Google Shape;692;p87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87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Y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694" name="Google Shape;694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35421" y="546491"/>
            <a:ext cx="1650425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95" name="Google Shape;695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9850" y="1109969"/>
            <a:ext cx="414650" cy="2357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96" name="Google Shape;696;p8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3489" y="1109975"/>
            <a:ext cx="793061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697" name="Google Shape;697;p8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05686" y="1109975"/>
            <a:ext cx="414639" cy="235775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04" name="Google Shape;704;p88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1200350"/>
                <a:gridCol w="86340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0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0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1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1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1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1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0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0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705" name="Google Shape;705;p88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88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Y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707" name="Google Shape;707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35421" y="546491"/>
            <a:ext cx="1650425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08" name="Google Shape;708;p8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9850" y="1109969"/>
            <a:ext cx="414650" cy="2357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09" name="Google Shape;709;p8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3489" y="1109975"/>
            <a:ext cx="793061" cy="235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10" name="Google Shape;710;p8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05686" y="1109975"/>
            <a:ext cx="414639" cy="235775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8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17" name="Google Shape;717;p89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106475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718" name="Google Shape;718;p89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89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G</a:t>
            </a:r>
            <a:r>
              <a:rPr lang="it" sz="2100">
                <a:solidFill>
                  <a:schemeClr val="dk1"/>
                </a:solidFill>
              </a:rPr>
              <a:t>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equation" id="720" name="Google Shape;720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5125" y="562738"/>
            <a:ext cx="1791325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21" name="Google Shape;721;p8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6401" y="1128575"/>
            <a:ext cx="350474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22" name="Google Shape;722;p8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6850" y="1108705"/>
            <a:ext cx="628500" cy="2430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23" name="Google Shape;723;p8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24625" y="1110300"/>
            <a:ext cx="628500" cy="23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24" name="Google Shape;724;p8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30" name="Google Shape;730;p90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106475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731" name="Google Shape;731;p90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90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G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equation" id="733" name="Google Shape;733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5125" y="562738"/>
            <a:ext cx="1791325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34" name="Google Shape;734;p9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6401" y="1128575"/>
            <a:ext cx="350474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35" name="Google Shape;735;p9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6850" y="1108705"/>
            <a:ext cx="628500" cy="2430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36" name="Google Shape;736;p9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24625" y="1110300"/>
            <a:ext cx="628500" cy="23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37" name="Google Shape;737;p9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43" name="Google Shape;743;p91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106475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744" name="Google Shape;744;p91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91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G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equation" id="746" name="Google Shape;746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5125" y="562738"/>
            <a:ext cx="1791325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47" name="Google Shape;747;p9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6401" y="1128575"/>
            <a:ext cx="350474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48" name="Google Shape;748;p9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6850" y="1108705"/>
            <a:ext cx="628500" cy="2430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49" name="Google Shape;749;p9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24625" y="1110300"/>
            <a:ext cx="628500" cy="23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9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56" name="Google Shape;756;p92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106475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757" name="Google Shape;757;p92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92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G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equation" id="759" name="Google Shape;759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5125" y="562738"/>
            <a:ext cx="1791325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60" name="Google Shape;760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6401" y="1128575"/>
            <a:ext cx="350474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61" name="Google Shape;761;p9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6850" y="1108705"/>
            <a:ext cx="628500" cy="2430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62" name="Google Shape;762;p9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24625" y="1110300"/>
            <a:ext cx="628500" cy="23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63" name="Google Shape;763;p9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69" name="Google Shape;769;p93"/>
          <p:cNvGraphicFramePr/>
          <p:nvPr/>
        </p:nvGraphicFramePr>
        <p:xfrm>
          <a:off x="458349" y="1069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653400"/>
                <a:gridCol w="653400"/>
                <a:gridCol w="653400"/>
                <a:gridCol w="999000"/>
                <a:gridCol w="999000"/>
                <a:gridCol w="1064750"/>
                <a:gridCol w="16136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</a:t>
                      </a:r>
                      <a:endParaRPr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0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0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1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1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1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1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1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/>
                        <a:t>0</a:t>
                      </a:r>
                      <a:endParaRPr/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770" name="Google Shape;770;p93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it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Tavole di verità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93"/>
          <p:cNvSpPr txBox="1"/>
          <p:nvPr/>
        </p:nvSpPr>
        <p:spPr>
          <a:xfrm>
            <a:off x="3941650" y="410428"/>
            <a:ext cx="446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G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equation" id="772" name="Google Shape;772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5125" y="562738"/>
            <a:ext cx="1791325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73" name="Google Shape;773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6401" y="1128575"/>
            <a:ext cx="350474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74" name="Google Shape;774;p9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6850" y="1108705"/>
            <a:ext cx="628500" cy="2430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quation" id="775" name="Google Shape;775;p9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24625" y="1110300"/>
            <a:ext cx="628500" cy="23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76" name="Google Shape;776;p9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82" name="Google Shape;782;p94"/>
          <p:cNvGraphicFramePr/>
          <p:nvPr/>
        </p:nvGraphicFramePr>
        <p:xfrm>
          <a:off x="1985005" y="182067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{AF6EDC89-2771-4769-A4B4-3951E1B7AC81}</a:tableStyleId>
              </a:tblPr>
              <a:tblGrid>
                <a:gridCol w="854100"/>
                <a:gridCol w="854100"/>
                <a:gridCol w="854100"/>
                <a:gridCol w="1305850"/>
                <a:gridCol w="130585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6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it" sz="16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99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8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it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6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783" name="Google Shape;783;p94"/>
          <p:cNvSpPr txBox="1"/>
          <p:nvPr/>
        </p:nvSpPr>
        <p:spPr>
          <a:xfrm>
            <a:off x="137159" y="114300"/>
            <a:ext cx="8865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it" sz="2700">
                <a:solidFill>
                  <a:schemeClr val="dk1"/>
                </a:solidFill>
              </a:rPr>
              <a:t>4. Equivalenza tra espressioni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94"/>
          <p:cNvSpPr txBox="1"/>
          <p:nvPr/>
        </p:nvSpPr>
        <p:spPr>
          <a:xfrm>
            <a:off x="4247500" y="365300"/>
            <a:ext cx="2977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785" name="Google Shape;785;p94"/>
          <p:cNvSpPr txBox="1"/>
          <p:nvPr/>
        </p:nvSpPr>
        <p:spPr>
          <a:xfrm>
            <a:off x="137150" y="599100"/>
            <a:ext cx="70161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chemeClr val="dk1"/>
                </a:solidFill>
              </a:rPr>
              <a:t>Verificare l’equivalenza di queste due equazioni</a:t>
            </a:r>
            <a:br>
              <a:rPr lang="it" sz="2100">
                <a:solidFill>
                  <a:schemeClr val="dk1"/>
                </a:solidFill>
              </a:rPr>
            </a:br>
            <a:r>
              <a:rPr lang="it" sz="2100">
                <a:solidFill>
                  <a:schemeClr val="dk1"/>
                </a:solidFill>
              </a:rPr>
              <a:t>Y =</a:t>
            </a:r>
            <a:br>
              <a:rPr lang="it" sz="2100">
                <a:solidFill>
                  <a:schemeClr val="dk1"/>
                </a:solidFill>
              </a:rPr>
            </a:br>
            <a:r>
              <a:rPr lang="it" sz="2100">
                <a:solidFill>
                  <a:schemeClr val="dk1"/>
                </a:solidFill>
              </a:rPr>
              <a:t>G =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equation" id="786" name="Google Shape;78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1900" y="1392950"/>
            <a:ext cx="1791325" cy="203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7" name="Google Shape;787;p9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1896" y="1058413"/>
            <a:ext cx="1650425" cy="235775"/>
          </a:xfrm>
          <a:prstGeom prst="rect">
            <a:avLst/>
          </a:prstGeom>
          <a:noFill/>
          <a:ln>
            <a:noFill/>
          </a:ln>
        </p:spPr>
      </p:pic>
      <p:sp>
        <p:nvSpPr>
          <p:cNvPr id="788" name="Google Shape;788;p9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