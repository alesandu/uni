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lay"/>
      <p:regular r:id="rId40"/>
      <p:bold r:id="rId41"/>
    </p:embeddedFont>
    <p:embeddedFont>
      <p:font typeface="Tahoma"/>
      <p:regular r:id="rId42"/>
      <p:bold r:id="rId43"/>
    </p:embeddedFont>
    <p:embeddedFont>
      <p:font typeface="Cutive"/>
      <p:regular r:id="rId44"/>
    </p:embeddedFont>
    <p:embeddedFont>
      <p:font typeface="Lemon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5.xml"/><Relationship Id="rId42" Type="http://schemas.openxmlformats.org/officeDocument/2006/relationships/font" Target="fonts/Tahoma-regular.fntdata"/><Relationship Id="rId41" Type="http://schemas.openxmlformats.org/officeDocument/2006/relationships/font" Target="fonts/Play-bold.fntdata"/><Relationship Id="rId22" Type="http://schemas.openxmlformats.org/officeDocument/2006/relationships/slide" Target="slides/slide17.xml"/><Relationship Id="rId44" Type="http://schemas.openxmlformats.org/officeDocument/2006/relationships/font" Target="fonts/Cutive-regular.fntdata"/><Relationship Id="rId21" Type="http://schemas.openxmlformats.org/officeDocument/2006/relationships/slide" Target="slides/slide16.xml"/><Relationship Id="rId43" Type="http://schemas.openxmlformats.org/officeDocument/2006/relationships/font" Target="fonts/Tahoma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Lem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14fd389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d114fd389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4e37c3b5_1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14e37c3b5_1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14e37c3b5_1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14fd389f_0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114fd389f_0_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114fd389f_0_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14fd389f_0_4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114fd389f_0_4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114fd389f_0_4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114fd389f_0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114fd389f_0_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114fd389f_0_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14fd389f_0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114fd389f_0_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114fd389f_0_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14fd389f_0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114fd389f_0_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114fd389f_0_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114fd389f_0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114fd389f_0_1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114fd389f_0_1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1516949bd_1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1516949bd_1_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1516949bd_1_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114fd389f_0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114fd389f_0_1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114fd389f_0_1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114fd389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114fd389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114fd389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114fd389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114fd389f_0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114fd389f_0_1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114fd389f_0_1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114fd38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d114fd38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114fd389f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114fd389f_4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114fd389f_4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114fd389f_4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114fd389f_4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114fd389f_4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114fd389f_4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114fd389f_4_1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114fd389f_4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114fd389f_4_1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114fd389f_4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114fd389f_4_2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114fd389f_4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114fd389f_4_2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114fd389f_4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114fd389f_4_2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114fd389f_4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114fd389f_4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114fd389f_4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114fd389f_4_3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114fd389f_0_1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d114fd389f_0_1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114fd389f_0_1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1516949bd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d1516949bd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1516949bd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1516949b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1516949bd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Main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5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</a:rPr>
              <a:t>)</a:t>
            </a:r>
          </a:p>
        </p:txBody>
      </p:sp>
      <p:sp>
        <p:nvSpPr>
          <p:cNvPr id="87" name="LogoImg"/>
          <p:cNvSpPr/>
          <p:nvPr/>
        </p:nvSpPr>
        <p:spPr>
          <a:xfrm>
            <a:off x="3200400" y="1752600"/>
            <a:ext cx="27432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TOR VERGATA</a:t>
            </a: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</a:rPr>
              <a:t>Università degli Studi di Roma</a:t>
            </a:r>
          </a:p>
        </p:txBody>
      </p:sp>
      <p:sp>
        <p:nvSpPr>
          <p:cNvPr id="88" name="Email"/>
          <p:cNvSpPr/>
          <p:nvPr/>
        </p:nvSpPr>
        <p:spPr>
          <a:xfrm>
            <a:off x="3657600" y="3657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666666"/>
                </a:solidFill>
                <a:latin typeface="Calibri"/>
              </a:rPr>
              <a:t>alesandu0@gmail.com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/>
          <p:nvPr/>
        </p:nvSpPr>
        <p:spPr>
          <a:xfrm>
            <a:off x="548640" y="274320"/>
            <a:ext cx="80467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Indice</a:t>
            </a:r>
          </a:p>
        </p:txBody>
      </p:sp>
      <p:sp>
        <p:nvSpPr>
          <p:cNvPr id="101" name="IndexList"/>
          <p:cNvSpPr/>
          <p:nvPr/>
        </p:nvSpPr>
        <p:spPr>
          <a:xfrm>
            <a:off x="548640" y="900000"/>
            <a:ext cx="8046720" cy="3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Espressioni Booleane: notazioni e rappresentazioni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Trasformazioni algebriche: leggi e teoremi di De Morgan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Metodo algebrico per la semplificazione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Tabelle di Verità e metodo esaustivo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Multiplexer (MUX): struttura e funzionamento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Realizzazione di funzioni con MUX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Circuiti logici: porte AND, OR, NOT, NAND, NOR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Porte universali: realizzazione con solo NAND o solo NOR</a:t>
            </a:r>
          </a:p>
          <a:p>
            <a:pPr indent="-3429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AutoNum type="arabicPeriod"/>
            </a:pPr>
            <a:r>
              <a:rPr i="0" lang="it" sz="1600" u="none" cap="none" strike="noStrike">
                <a:solidFill>
                  <a:srgbClr val="1A1A1A"/>
                </a:solidFill>
                <a:latin typeface="Calibri"/>
              </a:rPr>
              <a:t>Esercizi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Espressioni Booleane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Diverse notazioni equivalenti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Notazione algebrica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Usa operatori +, ·, ‾ (barra). Esempio:  Y = (A+B)·C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Notazione logica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Usa simboli ∨ (OR), ∧ (AND), ¬ (NOT). Esempio:  Y = (A ∨ ¬B) ∧ C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Rappresentazione grafica (circuito logico)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Schema con porte AND, OR, NOT che implementano fisicamente la funzione.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Tabella di verità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Elenca tutti i possibili valori di input e l'output corrispondente (metodo esaustivo).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Leggi dell'Algebra di Boole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Proprietà fondamentali</a:t>
            </a:r>
          </a:p>
        </p:txBody>
      </p:sp>
      <p:sp>
        <p:nvSpPr>
          <p:cNvPr id="300" name="BulletBox"/>
          <p:cNvSpPr/>
          <p:nvPr/>
        </p:nvSpPr>
        <p:spPr>
          <a:xfrm>
            <a:off x="548640" y="1645920"/>
            <a:ext cx="8046600" cy="3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Identità:  A + 0 = A     A · 1 = A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Annullamento:  A + 1 = 1     A · 0 = 0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Idempotenza:  A + A = A     A · A = A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Complementazione:  A + A̅ = 1     A · A̅ = 0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Doppia negazione:  A̅̅ = A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Commutatività:  A + B = B + A     A·B = B§A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Associatività:  (A+B)+C = A+(B+C)</a:t>
            </a: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Distributività:  A(B+C) = AB + AC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Teoremi di De Morgan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Regola per negare un'espressione composta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Primo teorema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La negazione di un OR è uguale all'AND delle negazioni: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A1A1A"/>
                </a:solidFill>
                <a:latin typeface="Calibri"/>
              </a:rPr>
              <a:t>A + B  =  A̅ · B̅</a:t>
            </a: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Secondo teorema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La negazione di un AND è uguale all'OR delle negazioni: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A1A1A"/>
                </a:solidFill>
                <a:latin typeface="Calibri"/>
              </a:rPr>
              <a:t>A · B  =  A̅ + B̅</a:t>
            </a: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Come applicarli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1. Negare l'intera espressione   2. Sostituire + con · e viceversa   3. Negare ogni variabile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Semplificazione Algebrica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Obiettivo: ridurre il numero di porte logiche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A1A1A"/>
                </a:solidFill>
                <a:latin typeface="Calibri"/>
              </a:rPr>
              <a:t>Perché semplificare?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• Meno porte = circuito più piccolo, economico e veloce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• Le leggi booleane permettono di trasformare espressioni equivalenti</a:t>
            </a: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A1A1A"/>
                </a:solidFill>
                <a:latin typeface="Calibri"/>
              </a:rPr>
              <a:t>Passaggi del metodo algebrico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1. Scrivere l'espressione originale in forma SOP (Sum of Products)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2. Applicare le leggi booleane (assorbimento, idempotenza, De Morgan, ...)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3. Verificare che la forma finale sia equivalente all'originale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4. Disegnare il circuito con il minor numero di porte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4 – Semplificazione Algebrica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Dato il problema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2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Realizzare il circuito digitale minimo corrispondente all'espressione: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2200" u="none" cap="none" strike="noStrike">
                <a:solidFill>
                  <a:srgbClr val="1A1A1A"/>
                </a:solidFill>
                <a:latin typeface="Calibri"/>
              </a:rPr>
              <a:t>F = A̅B + A̅D + AB̅ + DA̅</a:t>
            </a: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Metodo: semplificazione algebrica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Applicare le leggi booleane step-by-step per ridurre il numero di porte logiche.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Identificare i raggruppamenti e raccogliere fattori comuni.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4 – Metodo Algebrico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Svolgimento passo per passo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29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F = A̅B + A̅D + AB̅ + DA̅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A̅(B+D) + A̅B̅ + DA̅    [raccoglimento A̅]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A̅(B+D) + A̅(B̅ + D)         [De Morgan: B̅ = B̅]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A̅B + A̅D + AB̅ + A̅D   [riscrivo]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A̅(B + B̅) + A̅D             [B + B̅ = 1]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 · 1 + A̅D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 + A̅D                            [assorbimento: X + XY = X]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                                        [A̅ + A̅D = A̅]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600000"/>
            <a:ext cx="8046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B6B4A"/>
                </a:solidFill>
                <a:latin typeface="Calibri"/>
              </a:rPr>
              <a:t>Risultato: F = A̅  (forma minima – una sola porta NOT!)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4 – Metodo Esaustivo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Tavola di verità per F = A̅B + A̅D + AB̅ + DA̅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31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A  |  B  |  D  |  A̅B  |  A̅D  |  AB̅  |  DA̅  |  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-------------------------------------------------------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0  |  0  |  0  |   0   |   0   |   0   |   0   | 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0  |  0  |  1  |   0   |   1   |   0   |   1   | 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0  |  1  |  0  |   1   |   0   |   0   |   0   | 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0  |  1  |  1  |   1   |   1   |   0   |   1   | 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1  |  0  |  0  |   0   |   0   |   1   |   0   | 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1  |  0  |  1  |   0   |   0   |   1   |   0   | 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1  |  1  |  0  |   0   |   0   |   0   |   0   | 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1  |  1  |  1  |   0   |   0   |   0   |   0   |   0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780000"/>
            <a:ext cx="8046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600" u="none" cap="none" strike="noStrike">
                <a:solidFill>
                  <a:srgbClr val="1B6B4A"/>
                </a:solidFill>
                <a:latin typeface="Calibri"/>
              </a:rPr>
              <a:t>F = 1 quando A̅=1, ovvero A=0 — conforme alla forma minima F = A̅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4 – Circuito Logico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Schema del circuito minimo  F = A̅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700000"/>
            <a:ext cx="4800000" cy="26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A ──[ NOT ]────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Il circuito minimo è composto da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una sola porta NOT.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F = 1  quando  A =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F = 0  quando  A =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</p:txBody>
      </p:sp>
      <p:sp>
        <p:nvSpPr>
          <p:cNvPr id="500" name="MultiPara"/>
          <p:cNvSpPr/>
          <p:nvPr/>
        </p:nvSpPr>
        <p:spPr>
          <a:xfrm>
            <a:off x="5400000" y="1700000"/>
            <a:ext cx="3200000" cy="2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La semplificazione algebrica ha ridotto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un'espressione con 4 prodotti (molte porte)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ad una singola porta NOT.</a:t>
            </a: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B6B4A"/>
                </a:solidFill>
                <a:latin typeface="Calibri"/>
              </a:rPr>
              <a:t>Risparmio: da ~9 porte a 1 porta.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5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Testo del problema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Data una funzione booleana F(A, B, C) a 3 variabili,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determinare la tavola di verità e la forma algebrica minima.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/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Tavola di verità assegnata: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3300000"/>
            <a:ext cx="4000000" cy="17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  |  B  |  C  | 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---+-----+-----+---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0  |  0  |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0  |  1  |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1  |  0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1  |  1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0  |  0  |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0  |  1  | 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1  |  0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1  |  1  |  0</a:t>
            </a:r>
          </a:p>
        </p:txBody>
      </p:sp>
      <p:sp>
        <p:nvSpPr>
          <p:cNvPr id="500" name="TextBox"/>
          <p:cNvSpPr/>
          <p:nvPr/>
        </p:nvSpPr>
        <p:spPr>
          <a:xfrm>
            <a:off x="4700000" y="3300000"/>
            <a:ext cx="3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F = 1 quando B = 0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5 – Metodo Algebrico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Ricavare la forma algebrica dalla tavola di verità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1. Estrarre i mintermini (righe con F=1):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A=0,B=0,C=0  ⇒  A̅B̅C̅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A=0,B=0,C=1  ⇒  A̅B̅C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A=1,B=0,C=0  ⇒  AB̅C̅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A=1,B=0,C=1  ⇒  AB̅C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2. Scrivere la forma canonica SOP: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A̅B̅C̅ + A̅B̅C + AB̅C̅ + AB̅C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</a:rPr>
              <a:t>3. Semplificare: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= A̅B̅(C̅+C) + AB̅(C̅+C)  =  A̅B̅ + AB̅  =  B̅(A̅+A)  =  B̅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850000"/>
            <a:ext cx="8046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Forma minima:  F = B̅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5 – Multiplexer (MUX)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Realizzazione con MUX 8:1 (3 variabili di selezione)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Un MUX 8:1 ha 8 ingressi dati (I0..I7) e 3 segnali di selezione (S2, S1, S0).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Le variabili A, B, C diventano i segnali di selezione S2=A, S1=B, S0=C.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Ogni ingresso Ix riceve il valore F per la combinazione corrispondente: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2900000"/>
            <a:ext cx="8046600" cy="21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I0 (A=0,B=0,C=0) = F(0,0,0) =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I1 (A=0,B=0,C=1) = F(0,0,1) =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I2 (A=0,B=1,C=0) = F(0,1,0) =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I3 (A=0,B=1,C=1) = F(0,1,1) =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I4 (A=1,B=0,C=0) = F(1,0,0) =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I5 (A=1,B=0,C=1) = F(1,0,1) =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I6 (A=1,B=1,C=0) = F(1,1,0) =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I7 (A=1,B=1,C=1) = F(1,1,1) =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S2=A,  S1=B,  S0=C   ⇒  Uscita = F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Multiplexer (MUX) – Struttura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Selettore di dati controllato da segnali di selezione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Cos'è un MUX?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Un Multiplexer è un circuito combinatorio che seleziona uno tra N ingressi e lo instrada sull'uscita.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Un MUX 2^n : 1 ha n bit di selezione e 2^n ingressi dati.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Tipi comuni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MUX 2:1   1 bit di selezione   2 ingressi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MUX 4:1   2 bit di selezione   4 ingressi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MUX 8:1   3 bit di selezione   8 ingressi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Uso come generatore di funzioni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Un MUX 2^n:1 può realizzare qualsiasi funzione booleana a n variabili collegando 0 o 1 agli ingressi.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6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Testo del problema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2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Data l'espressione logica:</a:t>
            </a: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2100" u="none" cap="none" strike="noStrike">
                <a:solidFill>
                  <a:srgbClr val="1A1A1A"/>
                </a:solidFill>
                <a:latin typeface="Calibri"/>
              </a:rPr>
              <a:t>F = B̅A̅C + A̅C + A̅BCD̅ + A̅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Realizzare il circuito digitale corrispondente utilizzando esclusivamente porte universali: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• Versione con sole porte NOR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• Versione con sole porte NAND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500000"/>
            <a:ext cx="80466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666666"/>
                </a:solidFill>
                <a:latin typeface="Calibri"/>
              </a:rPr>
              <a:t>Procedimento: prima semplificare, poi convertire nella forma adatta alle porte universali.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6 – Semplificazione Algebrica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Passo 1: semplificare il primo termine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29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F = B̅A̅C + A̅C + A̅BCD̅ +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Semplifichiamo il primo termine B̅A̅C: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B̅A̅C = B̅ · A̅ · 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(non si semplifica ulteriormente da solo)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Verifichiamo se A̅C assorbe B̅A̅C: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A̅C + B̅A̅C = A̅C (1 + B̅) = A̅C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Per la legge di assorbimento: X + XY = X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Quindi B̅A̅C viene assorbito da A̅C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580000"/>
            <a:ext cx="8046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B6B4A"/>
                </a:solidFill>
                <a:latin typeface="Calibri"/>
              </a:rPr>
              <a:t>Risultato parziale: F = A̅C + A̅BCD̅ + A̅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6 – Semplificazione Algebrica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Passo 2: semplificare A̅BCD̅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29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F = A̅C + A̅BCD̅ +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Verifichiamo se A̅ assorbe A̅C: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A̅ + A̅C = A̅(1 + C) = A̅ · 1 =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Per assorbimento: A̅C viene assorbito da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Verifichiamo se A̅ assorbe A̅BCD̅: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A̅ + A̅BCD̅ = A̅(1 + BCD̅) =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Anche questo termine viene assorbito.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F = A̅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580000"/>
            <a:ext cx="8046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B6B4A"/>
                </a:solidFill>
                <a:latin typeface="Calibri"/>
              </a:rPr>
              <a:t>Forma minima: F = A̅  (identica all'Es.4 - conferma!)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Porte Universali: NAND e NOR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Qualsiasi funzione può essere realizzata con sole porte NAND o sole porte NOR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Porta NAND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NAND(A,B) = (A·B)̅  =  A̅ + B̅  (De Morgan)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NOT(A) = NAND(A,A) = (A·A)̅ = A̅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OR(A,B) = NAND(A̅, B̅) = NAND(NAND(A,A), NAND(B,B))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Porta NOR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NOR(A,B) = (A+B)̅  =  A̅ · B̅  (De Morgan)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NOT(A) = NOR(A,A) = (A+A)̅ = A̅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AND(A,B) = NOR(A̅, B̅) = NOR(NOR(A,A), NOR(B,B))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Strategia di conversione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Per NOR: preferire forma SOP, poi convertire AND in NOR.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Per NAND: preferire forma POS, poi convertire OR in NAND.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6 – Circuito con Porte NOR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A̅  realizzata con porte NOR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Dalla forma minima F = A̅ vogliamo usare solo porte NOR.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Applicare De Morgan per eliminare AND: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F = A̅ = NOR(A, A)  perché  NOR(X,X) = NOT(X)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3200000"/>
            <a:ext cx="8046600" cy="17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A ──┬─────────┐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    │         │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    └─[ NOR ]───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NOR(A, A) = (A + A)̅ =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Esercizio 6 – Circuito con Porte NAND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A̅  realizzata con porte NAND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Dalla forma minima F = A̅ vogliamo usare solo porte NAND.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Applicare De Morgan per eliminare OR: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</a:rPr>
              <a:t>F = A̅ = NAND(A, A)  perché  NAND(X,X) = NOT(X)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3200000"/>
            <a:ext cx="8046600" cy="17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A ──┬──────────┐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    │          │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       └─[ NAND ]───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 xml:space="preserve">   NAND(A, A) = (A · A)̅ =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Circuiti Digitali – Esempio Avanzato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A(B+C) con porte NOR e con porte NAND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A1A1A"/>
                </a:solidFill>
                <a:latin typeface="Calibri"/>
              </a:rPr>
              <a:t>Espressione: F = A(B+C)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Con porte NOR – eliminare AND: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A(B+C)  applicando De Morgan due volte: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A(B+C) = A̅̅ + B̅+C̅̅̅ = NOR(A̅, NOR(B,C))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Con porte NAND – eliminare OR: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A(B+C)  applicando De Morgan: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A̅̅ · B̅·C̅̅̅ = NAND(A̅, NAND(B̅, C̅))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 xml:space="preserve">   = NAND(NAND(A,A), NAND(NAND(B,B), NAND(C,C)))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Riepilogo – Espressioni Booleane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Percorso dalla funzione al circuito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1. Scrittura dell'espressione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Dalla specifica del problema, si scrive F in forma algebrica o si costruisce la tabella di verità.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2. Semplificazione algebrica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Si applicano leggi booleane (assorbimento, De Morgan, distributività) per ottenere la forma minima.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3. Scelta delle porte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Si sceglie se usare porte AND/OR/NOT oppure sole porte universali (NAND o NOR).</a:t>
            </a: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4. Disegno del circuito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Si traccia lo schema logico connettendo le porte secondo l'espressione semplificata.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Esercizi da Svolgere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Semplifica, costruisci la tavola di verità e disegna il circuito</a:t>
            </a:r>
          </a:p>
        </p:txBody>
      </p:sp>
      <p:sp>
        <p:nvSpPr>
          <p:cNvPr id="300" name="MultiPara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Esercizio A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Semplifica F = AB + AB̅ + A̅B e realizza il circuito minimo.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Esercizio B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Data F(A,B,C): F=1 quando (A=0,B=0,C=1), (A=1,B=0,C=0), (A=1,B=1,C=1).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Costruisci la tavola completa, ricava la forma SOP minima e realizza con MUX 8:1.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Esercizio C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Realizza F = A̅(B+C̅) usando solo porte NAND, poi solo porte NOR.</a:t>
            </a: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</a:rPr>
              <a:t>Esercizio D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Semplifica F = A̅B̅C + A̅BC + AB̅C + ABC e disegna il circuito finale.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Soluzione Esercizio A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AB + AB̅ + A̅B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2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F = AB + AB̅ + A̅B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A(B + B̅) + A̅B      [raccoglimento di A]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 · 1 + A̅B            [B + B̅ = 1]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 + A̅B               [identità]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 + B                    [assorbimento: A + A̅B = A + B]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Circuito minimo: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A ────┐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      [ OR ]────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B ────┘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500000"/>
            <a:ext cx="8046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Forma minima: F = A + B  (un solo gate OR)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Soluzione Esercizio B – Tavola di Verità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F=1 per i mintermini: (0,0,1), (1,0,0), (1,1,1)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5500000" cy="26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A  |  B  |  C  |  F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---+-----+-----+---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0  |  0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0  |  1  |  1   ← A̅B̅C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1  |  0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0  |  1  |  1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0  |  0  |  1   ← AB̅C̅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0  |  1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1  |  0  |  0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1  |  1  |  1  |  1   ← ABC</a:t>
            </a:r>
          </a:p>
        </p:txBody>
      </p:sp>
      <p:sp>
        <p:nvSpPr>
          <p:cNvPr id="500" name="MultiPara"/>
          <p:cNvSpPr/>
          <p:nvPr/>
        </p:nvSpPr>
        <p:spPr>
          <a:xfrm>
            <a:off x="5700000" y="1645920"/>
            <a:ext cx="2900000" cy="2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A1A1A"/>
                </a:solidFill>
                <a:latin typeface="Calibri"/>
              </a:rPr>
              <a:t>SOP canonica: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</a:rPr>
              <a:t>F = A̅B̅C + AB̅C̅ + ABC</a:t>
            </a: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666666"/>
                </a:solidFill>
                <a:latin typeface="Calibri"/>
              </a:rPr>
              <a:t>Nessuna ulteriore semplificazione ovvia.</a:t>
            </a: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1A1A1A"/>
                </a:solidFill>
                <a:latin typeface="Calibri"/>
              </a:rPr>
              <a:t>MUX 8:1:</a:t>
            </a: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</a:rPr>
              <a:t>I0=0, I1=1, I2=0,</a:t>
            </a:r>
          </a:p>
          <a:p>
            <a:pPr indent="0" lvl="0" marL="0" marR="0" rtl="0" algn="l"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</a:rPr>
              <a:t>I3=0, I4=1, I5=0,</a:t>
            </a:r>
          </a:p>
          <a:p>
            <a:pPr indent="0" lvl="0" marL="0" marR="0" rtl="0" algn="l"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</a:rPr>
              <a:t>I6=0, I7=1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Soluzione Esercizio C – Con NAND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A̅(B+C̅) realizzata con sole porte NAND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32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>F = A̅(B + C̅)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>Passiamo alla forma NAND-NAND: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F = A̅ · (B + C̅)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  = NAND(NAND(A,A), NAND(B, NAND(C,C)))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>Implementazione: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n1 = NAND(A, A)  = A̅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n2 = NAND(C, C)  = C̅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n3 = NAND(B, n2) = (B · C̅)̅ = B̅ + 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Nota: NAND(B, C̅) ≠ B+C̅; serve uno step in più.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Usare: NAND(NAND(B,B), NAND(n2,n2)) per B+C̅,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50" u="none" cap="none" strike="noStrike">
                <a:solidFill>
                  <a:srgbClr val="D4D4D4"/>
                </a:solidFill>
                <a:latin typeface="Courier New"/>
              </a:rPr>
              <a:t xml:space="preserve">  poi NAND(n1, (B+C̅)̅̅) = n1 · (B+C̅) = F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" name="Group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</a:rPr>
              <a:t>Soluzione Esercizio D</a:t>
            </a:r>
          </a:p>
        </p:txBody>
      </p:sp>
      <p:sp>
        <p:nvSpPr>
          <p:cNvPr id="201" name="GreenLabel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</a:rPr>
              <a:t>F = A̅B̅C + A̅BC + AB̅C + ABC</a:t>
            </a:r>
          </a:p>
        </p:txBody>
      </p:sp>
      <p:sp>
        <p:nvSpPr>
          <p:cNvPr id="400" name="CodeBox"/>
          <p:cNvSpPr/>
          <p:nvPr/>
        </p:nvSpPr>
        <p:spPr>
          <a:xfrm>
            <a:off x="548640" y="1645920"/>
            <a:ext cx="8046600" cy="26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91425" lIns="18288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>F = A̅B̅C + A̅BC + AB̅C + ABC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A̅C(B̅+B) + AC(B̅+B)   [raccoglimento C]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A̅C · 1 + AC · 1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A̅C + AC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C(A̅ + A)                      [raccoglimento C]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= C · 1  =  C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/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D4D4D4"/>
                </a:solidFill>
                <a:latin typeface="Courier New"/>
              </a:rPr>
              <a:t xml:space="preserve">   Circuito minimo:  C ─────────── F</a:t>
            </a:r>
          </a:p>
        </p:txBody>
      </p:sp>
      <p:sp>
        <p:nvSpPr>
          <p:cNvPr id="500" name="TextBox"/>
          <p:cNvSpPr/>
          <p:nvPr/>
        </p:nvSpPr>
        <p:spPr>
          <a:xfrm>
            <a:off x="548640" y="4300000"/>
            <a:ext cx="8046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</a:rPr>
              <a:t>Forma minima: F = C  (nessuna porta necessaria!)</a:t>
            </a:r>
          </a:p>
        </p:txBody>
      </p:sp>
      <p:sp>
        <p:nvSpPr>
          <p:cNvPr id="9999" name="PageNum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