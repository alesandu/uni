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14fd389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d114fd389f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c3f2a205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5c3f2a205_2_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c3f2a205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5c3f2a205_2_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5c3f2a205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5c3f2a205_2_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5c3f2a205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d5c3f2a205_2_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5c3f2a205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5c3f2a205_2_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5c3f2a205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5c3f2a205_2_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5c3f2a205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5c3f2a205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5c3f2a205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5c3f2a205_2_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5c3f2a205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5c3f2a205_2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5c3f2a205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5c3f2a205_2_10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5c3f2a205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5c3f2a205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5c3f2a205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5c3f2a205_2_1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5c3f2a205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5c3f2a205_2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5c3f2a205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5c3f2a205_2_1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5c3f2a205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5c3f2a205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Architettura dei sistemi di elaborazione (</a:t>
            </a:r>
            <a:r>
              <a:rPr b="1" lang="it" sz="3500">
                <a:solidFill>
                  <a:schemeClr val="dk1"/>
                </a:solidFill>
              </a:rPr>
              <a:t>7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365760" y="274320"/>
            <a:ext cx="8412600" cy="5487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Indice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548640" y="960000"/>
            <a:ext cx="8046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Recap istruzioni base ARM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MOV, LSL, LSR, ASR, LDR, STR, ADD, SUB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L'istruzione di salto: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Branch, condizioni, CMP, etichette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Esercizi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Fattoriale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Somma di un vettore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Potenza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N-esimo termine di Fibonacci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Scambio di elementi tra due array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Recap: Istruzioni base ARM</a:t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365760" y="1143000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57200" y="11887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MOV Rd, #imm</a:t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2560440" y="11887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Carica una costante immediata (8 bit) nel registro Rd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365760" y="1618500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57200" y="16642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MOV Rd, Rn</a:t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2560440" y="16642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Copia il contenuto del registro Rn in Rd</a:t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365760" y="2094000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57200" y="21397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LSL / LSR / ASR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2560440" y="21397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Shift: sposta i bit a sinistra (×2ⁿ) o destra (÷2ⁿ)</a:t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365760" y="2569500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57200" y="26152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LDR Rd, [Rn]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2560440" y="26152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Carica in Rd il valore dalla memoria all'indirizzo Rn</a:t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365760" y="3045000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57200" y="30907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STR Rs, [Rn]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560440" y="30907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Salva il valore di Rs in memoria all'indirizzo Rn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365760" y="3520500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57200" y="35662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ADD Rd, Rn, Op2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2560440" y="35662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Somma: Rd = Rn + Op2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365760" y="3996000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57200" y="40417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SUB Rd, Rn, Op2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2560440" y="40417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Sottrazione: Rd = Rn − Op2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365760" y="4471500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57200" y="45172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MUL Rd, Rn, Rm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2560440" y="45172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Moltiplicazione: Rd = Rn × Rm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L'istruzione di salto: B (Branch)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548640" y="1315688"/>
            <a:ext cx="8046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t" sz="1900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Cos'è un salto?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Normalmente il processore esegue le istruzioni in sequenza (PC += 4).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L'istruzione B (Branch) modifica il flusso: salta a un'etichetta.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Permette di creare cicli (loop) e strutture condizionali (if/else).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48640" y="230000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Sintassi: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48640" y="2700000"/>
            <a:ext cx="8046600" cy="1850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85800" y="2791440"/>
            <a:ext cx="7772400" cy="1667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  etichetta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salta SEMPRE a 'etichetta'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BEQ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etichetta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salta se uguale (Z=1)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BNE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etichetta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salta se diverso (Z=0)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BGT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etichetta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salta se maggiore (signed)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BLT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etichetta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salta se minore (signed)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BGE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etichetta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salta se &gt;= (signed)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BLE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etichetta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salta se &lt;= (signed)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CMP e i flag del CPSR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18025" y="1132797"/>
            <a:ext cx="80466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Come funziona CMP?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CMP Rn, Op2 esegue Rn − Op2 SENZA salvare il risultato.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Aggiorna solo i flag N, Z, C, V nel registro CPSR.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Le istruzioni Bcond leggono i flag per decidere se saltare.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48640" y="230000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Tabella flag: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365760" y="2700000"/>
            <a:ext cx="8412600" cy="43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57200" y="27457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N (Negative)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2560440" y="27457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 se il risultato è negativo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65760" y="3130000"/>
            <a:ext cx="8412600" cy="430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57200" y="31757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Z (Zero)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2560440" y="31757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 se il risultato è zero (Rn == Op2)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365760" y="3560000"/>
            <a:ext cx="8412600" cy="43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57200" y="36057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C (Carry)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2560440" y="36057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 se c'è un riporto (unsigned overflow)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365760" y="3990000"/>
            <a:ext cx="8412600" cy="430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57200" y="40357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V (oVerflow)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2560440" y="4035768"/>
            <a:ext cx="612648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 se c'è overflow con segno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Esempio: Branch con CMP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48640" y="115000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Se R0 &gt; R1 </a:t>
            </a:r>
            <a:r>
              <a:rPr b="1" lang="it" sz="1900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 R2 = R0, altrimenti R2 = R1  (massimo)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48640" y="1550000"/>
            <a:ext cx="8046600" cy="3100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685800" y="1641440"/>
            <a:ext cx="7772400" cy="2917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#10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R0 =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R1, #20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R1 = 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CMP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R1 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confronta R0 con 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BGT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r0_maggiore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se R0 &gt; R1, salta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R2, R1       	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R2 = R1 (R1 e' il max)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  fine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	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salta alla fine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r0_maggiore: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R2, R0     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R2 = R0 (R0 e' il max)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fine:</a:t>
            </a:r>
            <a:r>
              <a:rPr lang="it"/>
              <a:t>			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R2 contiene il massimo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1: Fattoriale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502725" y="1097349"/>
            <a:ext cx="8046600" cy="22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Calcolare il fattoriale di N, dove N è un numero intero positivo.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Traccia: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Definizione: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N! = N × (N-1) × (N-2) × ... × 2 ×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Caso base: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0! = 1,   1! = 1</a:t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Esempio: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N = 5 → 5! = 5 × 4 × 3 × 2 × 1 = 120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Suggerimento: usa un accumulatore inizializzato a 1 e un loop che</a:t>
            </a:r>
            <a:r>
              <a:rPr lang="it"/>
              <a:t> </a:t>
            </a: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decrementa N, moltiplicando l'accumulatore per N ad ogni passo.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548640" y="3354667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Setup iniziale:</a:t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48640" y="3754667"/>
            <a:ext cx="8046600" cy="900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685800" y="3846107"/>
            <a:ext cx="77724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N, 5           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valore di 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#N         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R0 = N (contatore)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R1, #1         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R1 = 1 (accumulatore)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1: Fattoriale – Soluzione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548650" y="1097350"/>
            <a:ext cx="8046600" cy="365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685810" y="1209380"/>
            <a:ext cx="7772400" cy="344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.global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_start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 sz="14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N, 5   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valore di N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#N 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R0 = N (contatore)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MOVS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R1, R0 	</a:t>
            </a:r>
            <a:r>
              <a:rPr lang="it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Copia n in R1 e aggiorna i flag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R0, #1 		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Inizializza a 1 (gestisce anche 0!)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Loop_F:</a:t>
            </a:r>
            <a:r>
              <a:rPr lang="it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MULGT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R0, R1, R0 	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Se R1 &gt; 0, risultato = risultato * R1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SUBS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R1, R1, #1 	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Decrementa R1 e aggiorna i flag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BGT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Loop_F 		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Ripeti finché R1 &gt; 0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2: Somma di un Vettore</a:t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548650" y="1097350"/>
            <a:ext cx="80466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Traccia: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Dato un vettore di N interi in memoria, calcolare la somma di tutti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gli elementi e salvare il risultato in un registro.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Esempio: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vettore = {3, 7, 2, 5, 1} → somma = 18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Suggerimento: usa LDR per ogni elemento, ADD per accumulare,</a:t>
            </a:r>
            <a:r>
              <a:rPr lang="it"/>
              <a:t> </a:t>
            </a: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incrementa il puntatore di 4 byte ad ogni</a:t>
            </a:r>
            <a:r>
              <a:rPr i="1" lang="it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iterazione.</a:t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548640" y="275308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Setup iniziale:</a:t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548640" y="3153080"/>
            <a:ext cx="8046600" cy="1749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685800" y="3244520"/>
            <a:ext cx="7772400" cy="15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.global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_start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LDR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=vettore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R0 = indirizzo base del vettore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R1, #5  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R1 = N (numero di elementi)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R2, #0  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R2 = somma accumulata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vettore: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.word 3, 7, 2, 5,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2: Somma Vettore – Soluzione</a:t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548650" y="1097350"/>
            <a:ext cx="8046600" cy="365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685810" y="1201722"/>
            <a:ext cx="7772400" cy="344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.global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_start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 sz="14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LDR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=vettore    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R0 = indirizzo base del vettore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R1, #5          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R1 = N (numero di elementi)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R2, #0          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R2 = somma accumulata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3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vettore: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.word 3, 7, 2, 5, 1</a:t>
            </a:r>
            <a:endParaRPr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Loop_V: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LDR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R3, [R0], #4 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Carica elemento in R3 e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scorri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di 4byte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R2, R2, R3 	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Somma l'elemento all'accumulatore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SUBS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R1, R1, #1 	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Decrementa la lunghezza del vettore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BGT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Loop_V 		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Ripeti finché ci sono elementi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4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R0, R2 		</a:t>
            </a:r>
            <a:r>
              <a:rPr lang="it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4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Salva il risultato finale in R0</a:t>
            </a:r>
            <a:endParaRPr sz="14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3: Potenza (base^exp)</a:t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548650" y="1097350"/>
            <a:ext cx="80466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Traccia: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Dati due numeri: base ed esponente, calcolare base^exp.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Definizione: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base^exp = base × base × ... × base  (exp volte)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Caso base: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base^0 =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Esempio: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base = 3, exp = 4 → 3⁴ = 81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Suggerimento: accumulatore = 1, moltiplica per base, decrementa exp.</a:t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>
            <a:off x="548640" y="3051587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Setup iniziale:</a:t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548640" y="3451587"/>
            <a:ext cx="8046600" cy="14001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685800" y="3543027"/>
            <a:ext cx="77724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BASE, 3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valore della 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EXP, 4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valore dell'esponente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#BASE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R0 = 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R1, #EXP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R1 = esponente (contatore)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R2, #1  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R2 = risultato (accumulatore)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3: Potenza – Soluzione</a:t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548650" y="1097350"/>
            <a:ext cx="8046600" cy="365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685810" y="1201722"/>
            <a:ext cx="7772400" cy="344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.global 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_start</a:t>
            </a:r>
            <a:endParaRPr sz="130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 sz="13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BASE, 3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valore della base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EXP, 4 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valore dell'esponente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R2, #BASE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R0 = base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R1, #EXP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R1 = esponente (contatore)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#1 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R2 = risultato (accumulatore)</a:t>
            </a:r>
            <a:endParaRPr sz="13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Loop_P:</a:t>
            </a: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	SUBS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R1, R1, #1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Decrementa l'esponente</a:t>
            </a:r>
            <a:endParaRPr sz="130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MULGE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R0, R2, R0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Se esponente &gt;= 0, moltiplica ris * base</a:t>
            </a:r>
            <a:endParaRPr sz="130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BGE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Loop_P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Ripeti finché esponente &gt;= 0</a:t>
            </a:r>
            <a:endParaRPr sz="130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4: N-esimo Fibonacci</a:t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548650" y="1097350"/>
            <a:ext cx="8046600" cy="20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Traccia: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Calcolare l'N-esimo termine della successione di Fibonacci.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Definizione: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F(0)=0,  F(1)=1,  F(n) = F(n-1) + F(n-2)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Sequenza: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0, 1, 1, 2, 3, 5, 8, 13, 21, 34, ...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Esempio: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N = 7 → F(7) = 13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Suggerimento: mantieni F(n-2) e F(n-1) in due registri, sommali.</a:t>
            </a:r>
            <a:endParaRPr/>
          </a:p>
        </p:txBody>
      </p:sp>
      <p:sp>
        <p:nvSpPr>
          <p:cNvPr id="215" name="Google Shape;215;p26"/>
          <p:cNvSpPr/>
          <p:nvPr/>
        </p:nvSpPr>
        <p:spPr>
          <a:xfrm>
            <a:off x="548640" y="3120473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Setup iniziale:</a:t>
            </a:r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548640" y="3520473"/>
            <a:ext cx="8046600" cy="12000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685800" y="3611913"/>
            <a:ext cx="77724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N, 7   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termine desiderato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#0  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R0 = F(n-2)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R1, #1  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R1 = F(n-1) =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R3, #N  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R3 = contatore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4: Fibonacci – Soluzione</a:t>
            </a:r>
            <a:endParaRPr/>
          </a:p>
        </p:txBody>
      </p:sp>
      <p:sp>
        <p:nvSpPr>
          <p:cNvPr id="223" name="Google Shape;223;p27"/>
          <p:cNvSpPr/>
          <p:nvPr/>
        </p:nvSpPr>
        <p:spPr>
          <a:xfrm>
            <a:off x="548650" y="1097350"/>
            <a:ext cx="8046600" cy="365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685810" y="1201722"/>
            <a:ext cx="7772400" cy="344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.global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3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_start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 sz="13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N, 7   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termine desiderato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#N 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R0 = contatore</a:t>
            </a:r>
            <a:endParaRPr sz="13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R1, #0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Fib(0) = 0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R2, #1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Fib(1) = 1</a:t>
            </a:r>
            <a:endParaRPr sz="13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Loop_I: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SUBS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R0, R0, #1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Decrementa n</a:t>
            </a:r>
            <a:endParaRPr sz="13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ADDGT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R3, R1, R2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R3 = nuovo termine (Fib(i-1) + Fib(i-2))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MOVGT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R1, R2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Scorre la finestra all'indietro (R1 = R2)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MOVGT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R2, R3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Scorre la finestra in avanti (R2 = R3)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BGT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Loop_I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Ripeti finché n &gt; 0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R0, R1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Sposta il risultato finale in R0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5: Scambio elementi tra Array</a:t>
            </a:r>
            <a:endParaRPr/>
          </a:p>
        </p:txBody>
      </p:sp>
      <p:sp>
        <p:nvSpPr>
          <p:cNvPr id="230" name="Google Shape;230;p28"/>
          <p:cNvSpPr/>
          <p:nvPr/>
        </p:nvSpPr>
        <p:spPr>
          <a:xfrm>
            <a:off x="548650" y="1097351"/>
            <a:ext cx="8046600" cy="16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Traccia: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Dati due array A e B di N elementi, scambiare tutti gli elementi:</a:t>
            </a:r>
            <a:r>
              <a:rPr lang="it"/>
              <a:t> 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ogni A[i] diventa B[i] e viceversa.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Esempio: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 = {1, 2, 3},  B = {4, 5, 6}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4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Dopo: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 A = {4, 5, 6},  B = {1, 2, 3}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Suggerimento: LDR per caricare A[i] e B[i], STR incrociato, +4 byte.</a:t>
            </a:r>
            <a:endParaRPr/>
          </a:p>
        </p:txBody>
      </p:sp>
      <p:sp>
        <p:nvSpPr>
          <p:cNvPr id="231" name="Google Shape;231;p28"/>
          <p:cNvSpPr/>
          <p:nvPr/>
        </p:nvSpPr>
        <p:spPr>
          <a:xfrm>
            <a:off x="548640" y="271481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Setup iniziale:</a:t>
            </a:r>
            <a:endParaRPr/>
          </a:p>
        </p:txBody>
      </p:sp>
      <p:sp>
        <p:nvSpPr>
          <p:cNvPr id="232" name="Google Shape;232;p28"/>
          <p:cNvSpPr/>
          <p:nvPr/>
        </p:nvSpPr>
        <p:spPr>
          <a:xfrm>
            <a:off x="548640" y="3114810"/>
            <a:ext cx="8046600" cy="1899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685800" y="3206250"/>
            <a:ext cx="77724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.global</a:t>
            </a:r>
            <a:r>
              <a:rPr b="0" i="0" lang="it" sz="1300" u="none" cap="none" strike="noStrike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_start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LDR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=arrayA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R0 = indirizzo di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LDR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R1, =arrayB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R1 = indirizzo di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R2, #3          </a:t>
            </a: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; R2 = N (numero elementi)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arrayA: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.word 1, 2,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arrayB: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.word 4, 5, 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5: Scambio Array – Soluzione</a:t>
            </a:r>
            <a:endParaRPr/>
          </a:p>
        </p:txBody>
      </p:sp>
      <p:sp>
        <p:nvSpPr>
          <p:cNvPr id="239" name="Google Shape;239;p29"/>
          <p:cNvSpPr/>
          <p:nvPr/>
        </p:nvSpPr>
        <p:spPr>
          <a:xfrm>
            <a:off x="548650" y="1097350"/>
            <a:ext cx="8046600" cy="365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9"/>
          <p:cNvSpPr/>
          <p:nvPr/>
        </p:nvSpPr>
        <p:spPr>
          <a:xfrm>
            <a:off x="685810" y="1201722"/>
            <a:ext cx="7772400" cy="344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.global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3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_start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_start:</a:t>
            </a:r>
            <a:endParaRPr sz="13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LDR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R0, =arrayA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R0 = indirizzo di A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LDR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R1, =arrayB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R1 = indirizzo di B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MOV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R2, #3         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R2 = N (numero elementi)</a:t>
            </a:r>
            <a:endParaRPr sz="13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arrayA: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.word 1, 2, 3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arrayB: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.word 4, 5, 6</a:t>
            </a:r>
            <a:endParaRPr sz="13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Loop_S: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SUBS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R2, R2, #1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Decrementa lunghezza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BLT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End_S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Se lunghezza &lt; 0, termina il ciclo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LDR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R3, [R0]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Legge da Array A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LDR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R4, [R1] 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Legge da Array B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R4, [R0], #4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Scrive in Array A e avanza di 4 byte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R3, [R1], #4 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Scrive in Array B e avanza di 4 byte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Loop_S 			</a:t>
            </a: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@ Torna all'inizio del ciclo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End_S: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