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  <p:sldMasterId id="2147483693" r:id="rId6"/>
    <p:sldMasterId id="2147483694" r:id="rId7"/>
    <p:sldMasterId id="214748369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</p:sldIdLst>
  <p:sldSz cy="5143500" cx="9144000"/>
  <p:notesSz cx="6858000" cy="9144000"/>
  <p:embeddedFontLst>
    <p:embeddedFont>
      <p:font typeface="Play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168552-CA3C-4F99-8B44-4ED2B7404D46}">
  <a:tblStyle styleId="{59168552-CA3C-4F99-8B44-4ED2B7404D4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5630C56-F81C-4C96-97B6-DF5E8345F63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font" Target="fonts/Play-regular.fntdata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54" Type="http://schemas.openxmlformats.org/officeDocument/2006/relationships/font" Target="fonts/Play-bold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3e082e33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d3e082e33c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3e082e33c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d3e082e33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lezione è organizzata in cinque parti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parte riguarda i sistemi di numerazione. Vedremo cosa sono, come funzionano e qual è la differenza tra sistemi additivi e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studieremo come convertire un numero scritto in una base qualsiasi nel sistema decimale utilizzando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terza parte vedremo il procedimento inverso: come convertire un numero decimale in una base qualsiasi utilizzando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analizzeremo un caso particolare molto importante: le basi che sono potenze l'una dell'altra, come base 2, base 8 e base 16. Queste conversioni sono particolarmente semplici e molto usate in informatica.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che consente di rilevare e correggere errori nei dati trasmessi o memorizzati.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3e082e33c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d3e082e33c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codice di Hamming funziona introducendo dei bit aggiuntivi chiamati bit di parità o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bit non contengono dati, ma servono esclusivamente per verificare la correttezza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parità vengono inseriti in posizioni specifiche della sequenza, precisamente nelle posizioni che corrispondono a potenze di due.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le posizioni 1, 2, 4, 8, 16 e così via.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altre posizioni contengono invece i bit di dati reali.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controlla un certo gruppo di bit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durante la trasmissione un bit cambia valore, i controlli di parità non risulteranno più corretti.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Analizzando quali controlli risultano errati è possibile individuare la posizione del bit corrotto.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formula mostrata nella slide serve per determinare quanti bit di parità sono necessari.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condizione è: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2^n ≥ m + n + 1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dove m è il numero di bit di dati e n è il numero di bit di parità.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3e082e33c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d3e082e33c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d3e082e33c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3e082e33c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d3e082e33c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d3e082e33c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3e082e33c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d3e082e33c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d3e082e33c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3e082e33c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d3e082e33c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d3e082e33c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3e082e33c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d3e082e33c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d3e082e33c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3e082e33c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d3e082e33c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d3e082e33c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652e5cf02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d652e5cf02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652e5cf02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d652e5cf02_2_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652e5cf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d652e5cf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652e5cf02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d652e5cf02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652e5cf02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d652e5cf02_2_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652e5cf02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d652e5cf02_2_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652e5cf02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652e5cf02_2_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652e5cf02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d652e5cf02_2_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652e5cf02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d652e5cf02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652e5cf02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d652e5cf02_2_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652e5cf02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d652e5cf02_2_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652e5cf02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652e5cf02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652e5cf02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d652e5cf02_2_10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652e5cf02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d652e5cf02_2_1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652e5cf02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d652e5cf02_2_1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652e5cf02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d652e5cf02_2_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652e5cf02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d652e5cf02_2_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9752553e5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9752553e5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752553e5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9752553e5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752553e59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9752553e59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752553e59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9752553e59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9752553e5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9752553e5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752553e5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9752553e59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752553e59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9752553e59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752553e59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9752553e59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752553e59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9752553e59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9752553e59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9752553e59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752553e5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9752553e5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9752553e5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9752553e59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9752553e59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9752553e59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9752553e59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9752553e59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752553e59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9752553e59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9752553e59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9752553e59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752553e59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9752553e59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8" name="Google Shape;208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9" name="Google Shape;20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2" name="Google Shape;21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0" name="Google Shape;220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1" name="Google Shape;22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1" name="Google Shape;23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5" name="Google Shape;235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6" name="Google Shape;236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40" name="Google Shape;24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3" name="Google Shape;243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gif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6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9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0"/>
          <p:cNvSpPr txBox="1"/>
          <p:nvPr>
            <p:ph type="title"/>
          </p:nvPr>
        </p:nvSpPr>
        <p:spPr>
          <a:xfrm>
            <a:off x="628650" y="273849"/>
            <a:ext cx="7886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258" name="Google Shape;258;p50"/>
          <p:cNvSpPr txBox="1"/>
          <p:nvPr>
            <p:ph idx="1" type="body"/>
          </p:nvPr>
        </p:nvSpPr>
        <p:spPr>
          <a:xfrm>
            <a:off x="628650" y="1056251"/>
            <a:ext cx="78867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Esercizio n.11: Sintesi di Funzioni Logiche con Multiplexer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Analisi della Funzione Booleana e Semplificazione.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Implementazione 1: Collegamento in Parallelo (2 Mux).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Implementazione 2: Sintesi Ottimizzata (1 Mux</a:t>
            </a:r>
            <a:r>
              <a:rPr lang="it" sz="1800"/>
              <a:t>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Esercizio n.15: Progetto di Decodifica degli Indirizzi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Specifiche dell'Architettura (CPU, ROM, RAM, I/O).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Analisi dello Spazio di Indirizzamento e Memory Map.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Circuiti di Abilitazione (Chip Select).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Confronto tra Memory-Mapped e Port-Mapped I/O.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Esercizi</a:t>
            </a:r>
            <a:endParaRPr sz="1800"/>
          </a:p>
        </p:txBody>
      </p:sp>
      <p:sp>
        <p:nvSpPr>
          <p:cNvPr id="259" name="Google Shape;259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 txBox="1"/>
          <p:nvPr>
            <p:ph type="title"/>
          </p:nvPr>
        </p:nvSpPr>
        <p:spPr>
          <a:xfrm>
            <a:off x="628650" y="273850"/>
            <a:ext cx="7714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/>
              <a:t>Sintesi di Funzioni Logiche con Multiplexer</a:t>
            </a:r>
            <a:endParaRPr sz="2700"/>
          </a:p>
        </p:txBody>
      </p:sp>
      <p:sp>
        <p:nvSpPr>
          <p:cNvPr id="265" name="Google Shape;265;p51"/>
          <p:cNvSpPr txBox="1"/>
          <p:nvPr>
            <p:ph idx="1" type="body"/>
          </p:nvPr>
        </p:nvSpPr>
        <p:spPr>
          <a:xfrm>
            <a:off x="628650" y="1140550"/>
            <a:ext cx="7886700" cy="3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/>
              <a:t>Supponendo di disporre esclusivamente di mux 2x4 (due ingressi di selezione e 4 vie di ingresso) che abbiano un ingresso di Output Enable (      ) per il collegamento in parallelo di più componenti, in che modo è possibile realizzare la funzione logica F?</a:t>
            </a:r>
            <a:endParaRPr sz="17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</p:txBody>
      </p:sp>
      <p:sp>
        <p:nvSpPr>
          <p:cNvPr id="266" name="Google Shape;266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67" name="Google Shape;267;p51" title="{&quot;red&quot;:0,&quot;green&quot;:0,&quot;blue&quot;:0,&quot;origURL&quot;:&quot;https://www.codecogs.com/eqnedit.php?latex=%5Coverline%7BOE%7D#0&quot;,&quot;size&quot;:17,&quot;width&quot;:621,&quot;height&quot;:274.960629921259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1225" y="1514100"/>
            <a:ext cx="377285" cy="208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51" title="{&quot;red&quot;:0,&quot;green&quot;:0,&quot;blue&quot;:0,&quot;origURL&quot;:&quot;https://www.codecogs.com/eqnedit.php?latex=F%20%3D%20%5Coverline%7BA%7D%20%5Ccdot%20(B%20%2B%20C)%20%2B%20A%20%5Ccdot%20(%5Coverline%7BB%7D%20%2B%20%5Coverline%7BC%7D)#0&quot;,&quot;size&quot;:17,&quot;width&quot;:621,&quot;height&quot;:274.9606299212598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2671325"/>
            <a:ext cx="3278436" cy="2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Svolgimento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2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76" name="Google Shape;276;p52"/>
          <p:cNvSpPr txBox="1"/>
          <p:nvPr/>
        </p:nvSpPr>
        <p:spPr>
          <a:xfrm>
            <a:off x="137150" y="599100"/>
            <a:ext cx="83781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L'espressione è molto semplice e si potrebbe partire subito con la tavola di verità, tuttavia si può tentare di semplificarla per ottenere una forma disgiuntiva e poi rappresentarla su una mappa di Karnaugh: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77" name="Google Shape;277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8" name="Google Shape;278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79" name="Google Shape;279;p52" title="{&quot;red&quot;:0,&quot;green&quot;:0,&quot;blue&quot;:0,&quot;origURL&quot;:&quot;http://www.texrendr.com/?eqn=F%20%3D%20%5Coverline%7BA%7D%20%5Ccdot%20(B%20%2B%20C)%20%2B%20A%20%5Ccdot%20(%5Coverline%7BB%7D%20%2B%20%5Coverline%7BC%7D)%20%3D%20%5Cquad%20%5Ctext%7Bpropriet%5Cgrave%7Ba%7D%20distributiva%20dell'AND%20nell'OR%20(p13)%7D#0&quot;,&quot;size&quot;:17,&quot;width&quot;:659.6929133858267,&quot;height&quot;:220.58267716535434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00" y="1812325"/>
            <a:ext cx="7712628" cy="25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2" title="{&quot;red&quot;:0,&quot;green&quot;:0,&quot;blue&quot;:0,&quot;origURL&quot;:&quot;https://www.codecogs.com/eqnedit.php?latex=%3D%20%5Coverline%7BA%7D%20%5Ccdot%20B%20%2B%20%5Coverline%7BA%7D%20%5Ccdot%20C%20%2B%20A%20%5Ccdot%20%5Coverline%7BB%7D%20%2B%20A%20%5Ccdot%20%5Coverline%7BC%7D#0&quot;,&quot;size&quot;:17,&quot;width&quot;:659.6929133858267,&quot;height&quot;:220.58267716535434}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300" y="2571750"/>
            <a:ext cx="2977501" cy="20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Svolgimento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3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88" name="Google Shape;288;p53"/>
          <p:cNvSpPr txBox="1"/>
          <p:nvPr/>
        </p:nvSpPr>
        <p:spPr>
          <a:xfrm>
            <a:off x="137150" y="599100"/>
            <a:ext cx="83781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A questo punto è possibile scrivere la mappa k: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89" name="Google Shape;289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0" name="Google Shape;290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91" name="Google Shape;291;p53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1723849" y="1127000"/>
            <a:ext cx="2848150" cy="2813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Svolgimento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4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99" name="Google Shape;299;p54"/>
          <p:cNvSpPr txBox="1"/>
          <p:nvPr/>
        </p:nvSpPr>
        <p:spPr>
          <a:xfrm>
            <a:off x="137150" y="599100"/>
            <a:ext cx="83781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Il segnale di non abilitazione (       ) del componente mux può funzionare in due differenti modalità: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il mux restituisce il livello basso indipendentemente dagli altri ingressi;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il mux mette l'uscita in uno stato di alta impedenza e si comporta come un circuito aperto.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Supponendo di essere nel primo caso e che quindi il comportamento del circuito sia: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00" name="Google Shape;300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1" name="Google Shape;301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02" name="Google Shape;302;p54" title="{&quot;red&quot;:0,&quot;green&quot;:0,&quot;blue&quot;:0,&quot;origURL&quot;:&quot;https://www.codecogs.com/eqnedit.php?latex=%5Coverline%7BOE%7D#0&quot;,&quot;size&quot;:17,&quot;width&quot;:621,&quot;height&quot;:274.9606299212598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2225" y="733400"/>
            <a:ext cx="377285" cy="208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54"/>
          <p:cNvPicPr preferRelativeResize="0"/>
          <p:nvPr/>
        </p:nvPicPr>
        <p:blipFill rotWithShape="1">
          <a:blip r:embed="rId4">
            <a:alphaModFix/>
          </a:blip>
          <a:srcRect b="47753" l="0" r="0" t="0"/>
          <a:stretch/>
        </p:blipFill>
        <p:spPr>
          <a:xfrm>
            <a:off x="1792825" y="2888200"/>
            <a:ext cx="5553651" cy="19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Svolgimento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5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11" name="Google Shape;311;p55"/>
          <p:cNvSpPr txBox="1"/>
          <p:nvPr/>
        </p:nvSpPr>
        <p:spPr>
          <a:xfrm>
            <a:off x="137150" y="599100"/>
            <a:ext cx="83781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La soluzione sarebbe quindi: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12" name="Google Shape;312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3" name="Google Shape;313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14" name="Google Shape;3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885" y="989063"/>
            <a:ext cx="3507374" cy="39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5"/>
          <p:cNvSpPr txBox="1"/>
          <p:nvPr/>
        </p:nvSpPr>
        <p:spPr>
          <a:xfrm>
            <a:off x="241425" y="989075"/>
            <a:ext cx="4534800" cy="3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>
                <a:solidFill>
                  <a:schemeClr val="dk1"/>
                </a:solidFill>
              </a:rPr>
              <a:t>Quando la variabile A è al valore logico 0, seleziona il multiplexer </a:t>
            </a:r>
            <a:r>
              <a:rPr i="1" lang="it" sz="1700">
                <a:solidFill>
                  <a:schemeClr val="dk1"/>
                </a:solidFill>
              </a:rPr>
              <a:t>mux0</a:t>
            </a:r>
            <a:r>
              <a:rPr lang="it" sz="1700">
                <a:solidFill>
                  <a:schemeClr val="dk1"/>
                </a:solidFill>
              </a:rPr>
              <a:t>, che realizza la funzione </a:t>
            </a:r>
            <a:r>
              <a:rPr i="1" lang="it" sz="1700">
                <a:solidFill>
                  <a:schemeClr val="dk1"/>
                </a:solidFill>
              </a:rPr>
              <a:t>B+C</a:t>
            </a:r>
            <a:r>
              <a:rPr lang="it" sz="1700">
                <a:solidFill>
                  <a:schemeClr val="dk1"/>
                </a:solidFill>
              </a:rPr>
              <a:t>, attraverso il segnale di        che è attivo basso, mentre quando </a:t>
            </a:r>
            <a:r>
              <a:rPr i="1" lang="it" sz="1700">
                <a:solidFill>
                  <a:schemeClr val="dk1"/>
                </a:solidFill>
              </a:rPr>
              <a:t>A=1</a:t>
            </a:r>
            <a:r>
              <a:rPr lang="it" sz="1700">
                <a:solidFill>
                  <a:schemeClr val="dk1"/>
                </a:solidFill>
              </a:rPr>
              <a:t> sarà attivato multiplexer </a:t>
            </a:r>
            <a:r>
              <a:rPr i="1" lang="it" sz="1700">
                <a:solidFill>
                  <a:schemeClr val="dk1"/>
                </a:solidFill>
              </a:rPr>
              <a:t>mux1</a:t>
            </a:r>
            <a:r>
              <a:rPr lang="it" sz="1700">
                <a:solidFill>
                  <a:schemeClr val="dk1"/>
                </a:solidFill>
              </a:rPr>
              <a:t>, che realizza la funzione </a:t>
            </a:r>
            <a:r>
              <a:rPr i="1" lang="it" sz="1700">
                <a:solidFill>
                  <a:schemeClr val="dk1"/>
                </a:solidFill>
              </a:rPr>
              <a:t>BC</a:t>
            </a:r>
            <a:r>
              <a:rPr lang="it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316" name="Google Shape;316;p55" title="{&quot;red&quot;:0,&quot;green&quot;:0,&quot;blue&quot;:0,&quot;origURL&quot;:&quot;https://www.codecogs.com/eqnedit.php?latex=%5Coverline%7BOE%7D#0&quot;,&quot;size&quot;:17,&quot;width&quot;:621,&quot;height&quot;:274.9606299212598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375" y="1651875"/>
            <a:ext cx="334325" cy="1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Svolgimento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6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24" name="Google Shape;324;p56"/>
          <p:cNvSpPr txBox="1"/>
          <p:nvPr/>
        </p:nvSpPr>
        <p:spPr>
          <a:xfrm>
            <a:off x="137150" y="599100"/>
            <a:ext cx="8378100" cy="4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Tuttavia esiste la possibilità di utilizzare un solo mux se si riesce a descrivere il comportamento di F, al variare di due sole variabili (per esempio A e B), in termini dell'altra (quindi C).</a:t>
            </a:r>
            <a:br>
              <a:rPr lang="it" sz="1700">
                <a:solidFill>
                  <a:schemeClr val="dk1"/>
                </a:solidFill>
              </a:rPr>
            </a:br>
            <a:r>
              <a:rPr lang="it" sz="1700">
                <a:solidFill>
                  <a:schemeClr val="dk1"/>
                </a:solidFill>
              </a:rPr>
              <a:t>Trattandosi di due variabili gli stati possibili degli ingressi si riducono a 4, occorre quindi descrivere F in ciascuno di essi. Nella tavola di verità che segue gli stati di A e B sono stati raggruppati attraverso una linea orizzontale, in ciascuno di essi la funzione F potrà dipendere da C oppure assumere un valore costante (indipendente da C).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25" name="Google Shape;325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6" name="Google Shape;326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27" name="Google Shape;3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62" y="2640625"/>
            <a:ext cx="4188874" cy="22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Svolgimento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7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35" name="Google Shape;335;p57"/>
          <p:cNvSpPr txBox="1"/>
          <p:nvPr/>
        </p:nvSpPr>
        <p:spPr>
          <a:xfrm>
            <a:off x="137150" y="599100"/>
            <a:ext cx="8378100" cy="4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In particolare, quando </a:t>
            </a:r>
            <a:r>
              <a:rPr i="1" lang="it" sz="1700">
                <a:solidFill>
                  <a:schemeClr val="dk1"/>
                </a:solidFill>
              </a:rPr>
              <a:t>A=0</a:t>
            </a:r>
            <a:r>
              <a:rPr lang="it" sz="1700">
                <a:solidFill>
                  <a:schemeClr val="dk1"/>
                </a:solidFill>
              </a:rPr>
              <a:t> e </a:t>
            </a:r>
            <a:r>
              <a:rPr i="1" lang="it" sz="1700">
                <a:solidFill>
                  <a:schemeClr val="dk1"/>
                </a:solidFill>
              </a:rPr>
              <a:t>B=0</a:t>
            </a:r>
            <a:r>
              <a:rPr lang="it" sz="1700">
                <a:solidFill>
                  <a:schemeClr val="dk1"/>
                </a:solidFill>
              </a:rPr>
              <a:t>, </a:t>
            </a:r>
            <a:r>
              <a:rPr i="1" lang="it" sz="1700">
                <a:solidFill>
                  <a:schemeClr val="dk1"/>
                </a:solidFill>
              </a:rPr>
              <a:t>F=C</a:t>
            </a:r>
            <a:r>
              <a:rPr lang="it" sz="1700">
                <a:solidFill>
                  <a:schemeClr val="dk1"/>
                </a:solidFill>
              </a:rPr>
              <a:t>, mentre sia quando </a:t>
            </a:r>
            <a:r>
              <a:rPr i="1" lang="it" sz="1700">
                <a:solidFill>
                  <a:schemeClr val="dk1"/>
                </a:solidFill>
              </a:rPr>
              <a:t>A=0</a:t>
            </a:r>
            <a:r>
              <a:rPr lang="it" sz="1700">
                <a:solidFill>
                  <a:schemeClr val="dk1"/>
                </a:solidFill>
              </a:rPr>
              <a:t> e </a:t>
            </a:r>
            <a:r>
              <a:rPr i="1" lang="it" sz="1700">
                <a:solidFill>
                  <a:schemeClr val="dk1"/>
                </a:solidFill>
              </a:rPr>
              <a:t>B=1</a:t>
            </a:r>
            <a:r>
              <a:rPr lang="it" sz="1700">
                <a:solidFill>
                  <a:schemeClr val="dk1"/>
                </a:solidFill>
              </a:rPr>
              <a:t>, sia se </a:t>
            </a:r>
            <a:r>
              <a:rPr i="1" lang="it" sz="1700">
                <a:solidFill>
                  <a:schemeClr val="dk1"/>
                </a:solidFill>
              </a:rPr>
              <a:t>A=1</a:t>
            </a:r>
            <a:r>
              <a:rPr lang="it" sz="1700">
                <a:solidFill>
                  <a:schemeClr val="dk1"/>
                </a:solidFill>
              </a:rPr>
              <a:t> e </a:t>
            </a:r>
            <a:r>
              <a:rPr i="1" lang="it" sz="1700">
                <a:solidFill>
                  <a:schemeClr val="dk1"/>
                </a:solidFill>
              </a:rPr>
              <a:t>B=0</a:t>
            </a:r>
            <a:r>
              <a:rPr lang="it" sz="1700">
                <a:solidFill>
                  <a:schemeClr val="dk1"/>
                </a:solidFill>
              </a:rPr>
              <a:t> </a:t>
            </a:r>
            <a:r>
              <a:rPr i="1" lang="it" sz="1700">
                <a:solidFill>
                  <a:schemeClr val="dk1"/>
                </a:solidFill>
              </a:rPr>
              <a:t>F</a:t>
            </a:r>
            <a:r>
              <a:rPr lang="it" sz="1700">
                <a:solidFill>
                  <a:schemeClr val="dk1"/>
                </a:solidFill>
              </a:rPr>
              <a:t> è vale sempre 1. Se invece </a:t>
            </a:r>
            <a:r>
              <a:rPr i="1" lang="it" sz="1700">
                <a:solidFill>
                  <a:schemeClr val="dk1"/>
                </a:solidFill>
              </a:rPr>
              <a:t>A=1</a:t>
            </a:r>
            <a:r>
              <a:rPr lang="it" sz="1700">
                <a:solidFill>
                  <a:schemeClr val="dk1"/>
                </a:solidFill>
              </a:rPr>
              <a:t> e </a:t>
            </a:r>
            <a:r>
              <a:rPr i="1" lang="it" sz="1700">
                <a:solidFill>
                  <a:schemeClr val="dk1"/>
                </a:solidFill>
              </a:rPr>
              <a:t>B=1</a:t>
            </a:r>
            <a:r>
              <a:rPr lang="it" sz="1700">
                <a:solidFill>
                  <a:schemeClr val="dk1"/>
                </a:solidFill>
              </a:rPr>
              <a:t> allora            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36" name="Google Shape;336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7" name="Google Shape;337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38" name="Google Shape;33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408" y="1722388"/>
            <a:ext cx="4043569" cy="219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7" title="{&quot;red&quot;:0,&quot;green&quot;:0,&quot;blue&quot;:0,&quot;origURL&quot;:&quot;https://www.codecogs.com/eqnedit.php?latex=F%3D%5Coverline%7BC%7D#0&quot;,&quot;size&quot;:17,&quot;width&quot;:659.6929133858267,&quot;height&quot;:349.7716535433071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547" y="973650"/>
            <a:ext cx="681704" cy="208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Esercizio n.15: Circuiti di Decodifica degli Indirizzi</a:t>
            </a:r>
            <a:endParaRPr/>
          </a:p>
        </p:txBody>
      </p:sp>
      <p:sp>
        <p:nvSpPr>
          <p:cNvPr id="345" name="Google Shape;345;p58"/>
          <p:cNvSpPr txBox="1"/>
          <p:nvPr/>
        </p:nvSpPr>
        <p:spPr>
          <a:xfrm>
            <a:off x="137150" y="599100"/>
            <a:ext cx="8865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Disponendo di un calcolatore che presenta la seguente architettura: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Una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dotata dei seguenti segnali: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(a) 16 bit di indirizzamento (A₀ ÷ A₁₅),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(b) 8 bit di bus dati (D₀ ÷ D₇),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(c) un bit di controllo, rispettivamente, per l'accesso in memoria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(MREQ), per l'accesso su I/O (IOREQ), per le operazioni di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lettura (RD) e per le operazioni di scrittura (WR),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Una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ROM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 16 KB che memorizza parole di un byte per il programma;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Una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 8 KB che memorizza parole di un byte per i dati;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4. L'interfaccia programmabile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Intel 8255A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(Parallel I/O).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9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Esercizio n.15: Testo</a:t>
            </a:r>
            <a:endParaRPr/>
          </a:p>
        </p:txBody>
      </p:sp>
      <p:sp>
        <p:nvSpPr>
          <p:cNvPr id="351" name="Google Shape;351;p59"/>
          <p:cNvSpPr txBox="1"/>
          <p:nvPr/>
        </p:nvSpPr>
        <p:spPr>
          <a:xfrm>
            <a:off x="137150" y="599100"/>
            <a:ext cx="8865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Nell'ipotesi di posizionare: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-"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ROM a partire dall'indirizzo 8000₁₆,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RAM nella successiva locazione libera </a:t>
            </a:r>
            <a:endParaRPr sz="1700"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t" sz="1700">
                <a:solidFill>
                  <a:srgbClr val="333333"/>
                </a:solidFill>
              </a:rPr>
              <a:t>l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'8255A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 modalità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memory-mapped I/O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partire dall'indirizzo FF00₁₆,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realizzare il circuito di decodifica per l'abilitazione delle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singole componenti.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0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" sz="2700">
                <a:solidFill>
                  <a:srgbClr val="333333"/>
                </a:solidFill>
              </a:rPr>
              <a:t>Svolgimento</a:t>
            </a:r>
            <a:endParaRPr sz="2700">
              <a:solidFill>
                <a:srgbClr val="333333"/>
              </a:solidFill>
            </a:endParaRPr>
          </a:p>
        </p:txBody>
      </p:sp>
      <p:sp>
        <p:nvSpPr>
          <p:cNvPr id="357" name="Google Shape;357;p60"/>
          <p:cNvSpPr txBox="1"/>
          <p:nvPr/>
        </p:nvSpPr>
        <p:spPr>
          <a:xfrm>
            <a:off x="137150" y="599100"/>
            <a:ext cx="88650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 consideri inizialmente l'architettura generale di funzionamento,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costituita dal processore, dalla memoria (RAM e ROM) e dalla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interfaccia parallela 8255A per il colloquio con il mondo esterno.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L'architettura prevede l'uso di un bus indirizzi a 16 linee, un bus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dati ad 8 bit e un bus di controllo costituito dall'insieme di segnali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 l'accesso alla memoria (MREQ), all'I/O (IOREQ), per il tipo di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operazione (RD o WR), oltre i segnali di alimentazione (Vcc e GND),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 interruzione (INT e NMI), RESET. Questi ultimi non trattati.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Schema a Blocchi dell'Architettura</a:t>
            </a:r>
            <a:endParaRPr/>
          </a:p>
        </p:txBody>
      </p:sp>
      <p:sp>
        <p:nvSpPr>
          <p:cNvPr id="363" name="Google Shape;363;p61"/>
          <p:cNvSpPr txBox="1"/>
          <p:nvPr/>
        </p:nvSpPr>
        <p:spPr>
          <a:xfrm>
            <a:off x="137150" y="599100"/>
            <a:ext cx="886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Schema a blocchi dell'architettura del calcolatore richiesto.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sistema è composto da CPU, RAM, ROM e Intel 8255A collegati tramite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bus dati (D₀÷D₇), bus indirizzi (A₀÷A₁₅) e segnali di controllo.</a:t>
            </a:r>
            <a:endParaRPr/>
          </a:p>
        </p:txBody>
      </p:sp>
      <p:pic>
        <p:nvPicPr>
          <p:cNvPr id="364" name="Google Shape;36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375" y="1476300"/>
            <a:ext cx="4954097" cy="33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ROM</a:t>
            </a:r>
            <a:endParaRPr/>
          </a:p>
        </p:txBody>
      </p:sp>
      <p:sp>
        <p:nvSpPr>
          <p:cNvPr id="370" name="Google Shape;370;p62"/>
          <p:cNvSpPr txBox="1"/>
          <p:nvPr/>
        </p:nvSpPr>
        <p:spPr>
          <a:xfrm>
            <a:off x="137150" y="599100"/>
            <a:ext cx="88650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memoria ROM è di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16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quindi ricordando che la dimensione è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dalla formula </a:t>
            </a:r>
            <a:b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p, dove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sono le linee di indirizzamento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è la lunghezza della parola memorizzata, si ha che: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16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2⁴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aseline="30000" lang="it" sz="1700">
                <a:solidFill>
                  <a:srgbClr val="333333"/>
                </a:solidFill>
              </a:rPr>
              <a:t>14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2¹⁴ = 2ⁿ  ⟹  n = 14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Poiché la ROM va inserita a partire dall'indirizzo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8000</a:t>
            </a:r>
            <a:r>
              <a:rPr b="1"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lo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spazio di indirizzamento della ROM sarà: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8000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÷ BFFF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endParaRPr/>
          </a:p>
        </p:txBody>
      </p:sp>
      <p:graphicFrame>
        <p:nvGraphicFramePr>
          <p:cNvPr id="371" name="Google Shape;371;p62"/>
          <p:cNvGraphicFramePr/>
          <p:nvPr/>
        </p:nvGraphicFramePr>
        <p:xfrm>
          <a:off x="318124" y="30976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2" name="Google Shape;372;p62"/>
          <p:cNvGraphicFramePr/>
          <p:nvPr/>
        </p:nvGraphicFramePr>
        <p:xfrm>
          <a:off x="318124" y="35478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62"/>
          <p:cNvSpPr txBox="1"/>
          <p:nvPr/>
        </p:nvSpPr>
        <p:spPr>
          <a:xfrm>
            <a:off x="5962400" y="3011653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8000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r>
              <a:rPr lang="it" sz="1800">
                <a:solidFill>
                  <a:schemeClr val="dk2"/>
                </a:solidFill>
              </a:rPr>
              <a:t>BFFF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RAM</a:t>
            </a:r>
            <a:endParaRPr/>
          </a:p>
        </p:txBody>
      </p:sp>
      <p:sp>
        <p:nvSpPr>
          <p:cNvPr id="379" name="Google Shape;379;p63"/>
          <p:cNvSpPr txBox="1"/>
          <p:nvPr/>
        </p:nvSpPr>
        <p:spPr>
          <a:xfrm>
            <a:off x="137150" y="599100"/>
            <a:ext cx="8865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dimensione della memoria RAM è di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8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quindi per calcolare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numero di linee di indirizzamento si utilizza la formula che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consente di esprimere la dimensione di una memoria in funzione delle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locazioni e del contenuto: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  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 = 2¹³, quindi n = 13.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Poiché la RAM va inserita a partire dall'indirizzo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C000</a:t>
            </a:r>
            <a:r>
              <a:rPr b="1"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lo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spazio di indirizzamento sarà: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C000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÷ DFFF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endParaRPr baseline="-25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0" name="Google Shape;380;p63"/>
          <p:cNvGraphicFramePr/>
          <p:nvPr/>
        </p:nvGraphicFramePr>
        <p:xfrm>
          <a:off x="311349" y="27592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1" name="Google Shape;381;p63"/>
          <p:cNvGraphicFramePr/>
          <p:nvPr/>
        </p:nvGraphicFramePr>
        <p:xfrm>
          <a:off x="311349" y="32094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2" name="Google Shape;382;p63"/>
          <p:cNvSpPr txBox="1"/>
          <p:nvPr/>
        </p:nvSpPr>
        <p:spPr>
          <a:xfrm>
            <a:off x="5955625" y="2673253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C</a:t>
            </a:r>
            <a:r>
              <a:rPr lang="it" sz="1800">
                <a:solidFill>
                  <a:schemeClr val="dk2"/>
                </a:solidFill>
              </a:rPr>
              <a:t>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r>
              <a:rPr lang="it" sz="1800">
                <a:solidFill>
                  <a:schemeClr val="dk2"/>
                </a:solidFill>
              </a:rPr>
              <a:t>DFFF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Intel 8255A - Interfaccia Parallela</a:t>
            </a:r>
            <a:endParaRPr/>
          </a:p>
        </p:txBody>
      </p:sp>
      <p:sp>
        <p:nvSpPr>
          <p:cNvPr id="388" name="Google Shape;388;p64"/>
          <p:cNvSpPr txBox="1"/>
          <p:nvPr/>
        </p:nvSpPr>
        <p:spPr>
          <a:xfrm>
            <a:off x="137150" y="599100"/>
            <a:ext cx="88650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L'Intel 8255A è una interfaccia parallela di I/O programmabile (PIO)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 dispone di 24 pin di I/O, organizzati in 3 porte da 8 bit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(A, B e C), che possono essere programmati in 3 differenti modalità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operative:</a:t>
            </a:r>
            <a:endParaRPr b="0" i="0" sz="14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modo 0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le porte A e B possono essere interamente programmate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 modalità di ingresso o di uscita, la porta C invece può essere suddivisa in due sottoporte da 4 bit e programmata in ingresso o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uscita. Le porte non hanno capacità di interruzione, i valori delle</a:t>
            </a:r>
            <a:r>
              <a:rPr lang="it">
                <a:solidFill>
                  <a:srgbClr val="333333"/>
                </a:solidFill>
              </a:rPr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uscite sono bloccati (o latched) mentre non lo sono gli ingressi.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modo 1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le porte A e B possono essere interamente programmate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 modalità di ingresso o 3 bit di uscita, la porta C è sacrificata per fornire a ciascuna porta di controllo degli interrupt. 3 bit per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l'handshaking e un segnale di controllo degli ingressi sono bloccati.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modo 2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la porta A può essere configurata come porta bidirezionale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 la porta B sia in modo 0 che in modo 1. La porta C è sacrificata</a:t>
            </a:r>
            <a:r>
              <a:rPr lang="it">
                <a:solidFill>
                  <a:srgbClr val="333333"/>
                </a:solidFill>
              </a:rPr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 fornire alla porta B 3 segnali di handshake per il trasferimento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dei dati, mentre i restanti 5 segnali possono essere utilizzati come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linee I/O diretto o per l'handshake della porta B.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Intel 8255A - Schema Segnali</a:t>
            </a:r>
            <a:endParaRPr/>
          </a:p>
        </p:txBody>
      </p:sp>
      <p:sp>
        <p:nvSpPr>
          <p:cNvPr id="394" name="Google Shape;394;p65"/>
          <p:cNvSpPr txBox="1"/>
          <p:nvPr/>
        </p:nvSpPr>
        <p:spPr>
          <a:xfrm>
            <a:off x="137150" y="599100"/>
            <a:ext cx="886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Figura 2.5: Schema segnali Intel 8255A con le porte A, B, C 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 segnali di controllo CS, WR, RD, A₀, A₁.</a:t>
            </a:r>
            <a:endParaRPr/>
          </a:p>
        </p:txBody>
      </p:sp>
      <p:pic>
        <p:nvPicPr>
          <p:cNvPr id="395" name="Google Shape;39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675" y="1398375"/>
            <a:ext cx="3514176" cy="18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Intel 8255A - Tabella Operazioni</a:t>
            </a:r>
            <a:endParaRPr/>
          </a:p>
        </p:txBody>
      </p:sp>
      <p:graphicFrame>
        <p:nvGraphicFramePr>
          <p:cNvPr id="401" name="Google Shape;401;p66"/>
          <p:cNvGraphicFramePr/>
          <p:nvPr/>
        </p:nvGraphicFramePr>
        <p:xfrm>
          <a:off x="4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1383325"/>
                <a:gridCol w="1383325"/>
                <a:gridCol w="1383325"/>
                <a:gridCol w="1383325"/>
                <a:gridCol w="1383325"/>
                <a:gridCol w="1383325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A₁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A₀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RD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WR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Operazione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Porta A → D₀÷D₇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Porta B → D₀÷D₇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Porta C → D₀÷D₇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D₀÷D₇ → Porta A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D₀÷D₇ → Porta 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D₀÷D₇ → Porta 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D₀÷D₇ → registro di controllo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permessa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D₀÷D₇ → Hi-Z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2" name="Google Shape;402;p66"/>
          <p:cNvSpPr txBox="1"/>
          <p:nvPr/>
        </p:nvSpPr>
        <p:spPr>
          <a:xfrm>
            <a:off x="137150" y="4415052"/>
            <a:ext cx="886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Tabella 2.1: Quando la CPU vuole "leggere" i dati contenuti nelle</a:t>
            </a:r>
            <a:r>
              <a:rPr lang="it"/>
              <a:t> </a:t>
            </a:r>
            <a:r>
              <a:rPr b="0" i="0" lang="it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porte dell'interfaccia o conoscere le informazioni di stato 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componente, attiva il segnale di lettura (RD = 0). Viceversa se</a:t>
            </a:r>
            <a:r>
              <a:rPr lang="it"/>
              <a:t> </a:t>
            </a:r>
            <a:r>
              <a:rPr b="0" i="0" lang="it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vuole scrivere dei dati oppure impostare il registro di controllo.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7"/>
          <p:cNvSpPr txBox="1"/>
          <p:nvPr/>
        </p:nvSpPr>
        <p:spPr>
          <a:xfrm>
            <a:off x="137150" y="599100"/>
            <a:ext cx="8865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segnale CS è normalmente collegato ad un circuito di indirizzo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 codifica dell'indirizzo che proviene dall'address bus della CPU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ed al suo segnale di richiesta di accesso alla</a:t>
            </a:r>
            <a:r>
              <a:rPr lang="it" sz="1700">
                <a:solidFill>
                  <a:srgbClr val="333333"/>
                </a:solidFill>
              </a:rPr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memoria (MREQ)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all'I/O (IOREQ) a seconda se si tratti di un memory-mapped I/O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 un I/O isolato.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In modalità memory-mapped I/O, l'interfaccia occupa lo stesso spazio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di indirizzamento della memoria. Le 4 locazioni corrispondono a un byte ciascuna, se ad ogni indirizzo corrisponde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un byte, saranno necessarie 4 locazioni.</a:t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FF00₁₆ ÷ FF03₁₆</a:t>
            </a:r>
            <a:endParaRPr b="1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6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Abilitazione 8255A in Memory-Mapped I/O</a:t>
            </a:r>
            <a:endParaRPr/>
          </a:p>
        </p:txBody>
      </p:sp>
      <p:graphicFrame>
        <p:nvGraphicFramePr>
          <p:cNvPr id="409" name="Google Shape;409;p67"/>
          <p:cNvGraphicFramePr/>
          <p:nvPr/>
        </p:nvGraphicFramePr>
        <p:xfrm>
          <a:off x="230124" y="29352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" name="Google Shape;410;p67"/>
          <p:cNvGraphicFramePr/>
          <p:nvPr/>
        </p:nvGraphicFramePr>
        <p:xfrm>
          <a:off x="230124" y="3385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p67"/>
          <p:cNvSpPr txBox="1"/>
          <p:nvPr/>
        </p:nvSpPr>
        <p:spPr>
          <a:xfrm>
            <a:off x="5874400" y="2849228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FF</a:t>
            </a:r>
            <a:r>
              <a:rPr lang="it" sz="1800">
                <a:solidFill>
                  <a:schemeClr val="dk2"/>
                </a:solidFill>
              </a:rPr>
              <a:t>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r>
              <a:rPr lang="it" sz="1800">
                <a:solidFill>
                  <a:schemeClr val="dk2"/>
                </a:solidFill>
              </a:rPr>
              <a:t>FF03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Memory-Mapped I/O</a:t>
            </a:r>
            <a:endParaRPr/>
          </a:p>
        </p:txBody>
      </p:sp>
      <p:graphicFrame>
        <p:nvGraphicFramePr>
          <p:cNvPr id="417" name="Google Shape;417;p68"/>
          <p:cNvGraphicFramePr/>
          <p:nvPr/>
        </p:nvGraphicFramePr>
        <p:xfrm>
          <a:off x="15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- 7FFF₁₆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8000₁₆ - BFFF₁₆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ROM (16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C000₁₆ - DFFF₁₆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RAM (8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E000₁₆ - FEFF₁₆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FF00₁₆ - FF03₁₆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I/O (Intel 8255A)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FF04₁₆ - FFFF₁₆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8" name="Google Shape;418;p68"/>
          <p:cNvSpPr txBox="1"/>
          <p:nvPr/>
        </p:nvSpPr>
        <p:spPr>
          <a:xfrm>
            <a:off x="137150" y="3700000"/>
            <a:ext cx="8865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Tabella 2.1: Le periferiche di I/O occupano spazi di memoria.</a:t>
            </a:r>
            <a:r>
              <a:rPr lang="it"/>
              <a:t> </a:t>
            </a:r>
            <a:br>
              <a:rPr lang="it"/>
            </a:b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ROM occupa 16 KB (8000₁₆-BFFF₁₆), </a:t>
            </a:r>
            <a:b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">
                <a:solidFill>
                  <a:srgbClr val="333333"/>
                </a:solidFill>
              </a:rPr>
              <a:t>L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RAM 8 KB (C000₁₆-DFFF₁₆)</a:t>
            </a:r>
            <a:r>
              <a:rPr lang="it"/>
              <a:t>,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">
                <a:solidFill>
                  <a:srgbClr val="333333"/>
                </a:solidFill>
              </a:rPr>
              <a:t>L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'interfaccia I/O 4 byte (FF00₁₆-FF03₁₆).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Circuito di Decodifica - Memory-Mapped I/O</a:t>
            </a:r>
            <a:endParaRPr/>
          </a:p>
        </p:txBody>
      </p:sp>
      <p:sp>
        <p:nvSpPr>
          <p:cNvPr id="424" name="Google Shape;424;p69"/>
          <p:cNvSpPr txBox="1"/>
          <p:nvPr/>
        </p:nvSpPr>
        <p:spPr>
          <a:xfrm>
            <a:off x="137150" y="599100"/>
            <a:ext cx="886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Figura 2.6: Circuito di decodifica in modalità memory-mapped I/O.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CPU utilizza il segnale MREQ per accedere sia alla memoria che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alle periferiche, che condividono lo stesso spazio di indirizzamento.</a:t>
            </a:r>
            <a:endParaRPr/>
          </a:p>
        </p:txBody>
      </p:sp>
      <p:pic>
        <p:nvPicPr>
          <p:cNvPr id="425" name="Google Shape;42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400" y="1569925"/>
            <a:ext cx="4419894" cy="33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Modalità Port-Mapped I/O</a:t>
            </a:r>
            <a:endParaRPr/>
          </a:p>
        </p:txBody>
      </p:sp>
      <p:sp>
        <p:nvSpPr>
          <p:cNvPr id="431" name="Google Shape;431;p70"/>
          <p:cNvSpPr txBox="1"/>
          <p:nvPr/>
        </p:nvSpPr>
        <p:spPr>
          <a:xfrm>
            <a:off x="137150" y="599100"/>
            <a:ext cx="88650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Quando la CPU lavora in modalità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port-mapped I/O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utilizza istruzioni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assembly specifiche (IN e OUT) e non quelle di accesso alla memoria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(MOV o LOAD). In questo caso il circuito di decodifica che abilita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l'input/output sfrutta il segnale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IOREQ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congiuntamente al bus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indirizzi.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Nel caso in cui la modalità di accesso alle periferiche sia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port-mapped I/O, invece che memory-mapped I/O, la CPU ha spazi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 indirizzamento distinti per memoria e I/O, ed utilizza segnali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distinti (MREQ e IOREQ) per accedere all'uno o all'altro dispositivo.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Supponendo di avere 4 KB per lo spazio di indirizzamento dei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dispositivi di I/O e di aver assegnato le porte da F00₁₆ a F03₁₆</a:t>
            </a:r>
            <a:r>
              <a:rPr lang="it" sz="1700">
                <a:solidFill>
                  <a:srgbClr val="333333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Port-Mapped I/O</a:t>
            </a:r>
            <a:endParaRPr/>
          </a:p>
        </p:txBody>
      </p:sp>
      <p:graphicFrame>
        <p:nvGraphicFramePr>
          <p:cNvPr id="437" name="Google Shape;437;p71"/>
          <p:cNvGraphicFramePr/>
          <p:nvPr/>
        </p:nvGraphicFramePr>
        <p:xfrm>
          <a:off x="10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2366675"/>
                <a:gridCol w="2366675"/>
                <a:gridCol w="2366675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Spazio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- 7FFF₁₆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8000₁₆ - BFFF₁₆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ROM (16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C000₁₆ - DFFF₁₆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RAM (8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E000₁₆ - FFFF₁₆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In/Out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EFF₁₆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In/Out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F00₁₆ - F03₁₆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Intel 8255A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In/Out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F04₁₆ - 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38" name="Google Shape;438;p71"/>
          <p:cNvSpPr txBox="1"/>
          <p:nvPr/>
        </p:nvSpPr>
        <p:spPr>
          <a:xfrm>
            <a:off x="137150" y="4269175"/>
            <a:ext cx="886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Tabella 2.2: Le periferiche di I/O occupano spazi distinti dalla memoria.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333333"/>
                </a:solidFill>
              </a:rPr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CPU usa MREQ per la memoria e IOREQ per le periferiche I/O.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Dettagliata - Port-Mapped con Porte</a:t>
            </a:r>
            <a:endParaRPr/>
          </a:p>
        </p:txBody>
      </p:sp>
      <p:sp>
        <p:nvSpPr>
          <p:cNvPr id="444" name="Google Shape;444;p72"/>
          <p:cNvSpPr txBox="1"/>
          <p:nvPr/>
        </p:nvSpPr>
        <p:spPr>
          <a:xfrm>
            <a:off x="137150" y="4540625"/>
            <a:ext cx="886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Tabella 2.3: Le periferiche di I/O occupano spazi distinti dalla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memoria con dettaglio delle singole porte dell'Intel 8255A.</a:t>
            </a:r>
            <a:endParaRPr/>
          </a:p>
        </p:txBody>
      </p:sp>
      <p:graphicFrame>
        <p:nvGraphicFramePr>
          <p:cNvPr id="445" name="Google Shape;445;p72"/>
          <p:cNvGraphicFramePr/>
          <p:nvPr/>
        </p:nvGraphicFramePr>
        <p:xfrm>
          <a:off x="10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2366675"/>
                <a:gridCol w="2366675"/>
                <a:gridCol w="2366675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Spazio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- 7FFF₁₆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8000₁₆ - BFFF₁₆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ROM (16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C000₁₆ - DFFF₁₆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RAM (8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E000₁₆ - F</a:t>
                      </a:r>
                      <a:r>
                        <a:rPr lang="it" sz="1100"/>
                        <a:t>EFF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</a:t>
                      </a:r>
                      <a:r>
                        <a:rPr lang="it" sz="1100"/>
                        <a:t>00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₁₆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Porta 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</a:t>
                      </a:r>
                      <a:r>
                        <a:rPr lang="it" sz="1100"/>
                        <a:t>01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₁₆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Porta 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Memoria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</a:t>
                      </a:r>
                      <a:r>
                        <a:rPr lang="it" sz="1100"/>
                        <a:t>02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₁₆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Porta 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In/Out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F03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Controllo</a:t>
                      </a:r>
                      <a:endParaRPr sz="1100"/>
                    </a:p>
                  </a:txBody>
                  <a:tcPr marT="45725" marB="45725" marR="91450" marL="91450"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Circuito di Decodifica - Port-Mapped I/O</a:t>
            </a:r>
            <a:endParaRPr/>
          </a:p>
        </p:txBody>
      </p:sp>
      <p:sp>
        <p:nvSpPr>
          <p:cNvPr id="451" name="Google Shape;451;p73"/>
          <p:cNvSpPr txBox="1"/>
          <p:nvPr/>
        </p:nvSpPr>
        <p:spPr>
          <a:xfrm>
            <a:off x="137150" y="599100"/>
            <a:ext cx="886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Figura 2.7: Circuito di decodifica in modalità port-mapped I/O.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CPU utilizza il segnale IOREQ per abilitare le periferiche, con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istruzioni assembly specifiche (IN e OUT), separando lo spazio di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indirizzamento della memoria da quello dell'I/O.</a:t>
            </a:r>
            <a:endParaRPr/>
          </a:p>
        </p:txBody>
      </p:sp>
      <p:pic>
        <p:nvPicPr>
          <p:cNvPr id="452" name="Google Shape;45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625" y="1476300"/>
            <a:ext cx="4419894" cy="33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4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Circuito di Decodifica - Modalità </a:t>
            </a:r>
            <a:r>
              <a:rPr b="1" lang="it" sz="2700">
                <a:solidFill>
                  <a:srgbClr val="424242"/>
                </a:solidFill>
              </a:rPr>
              <a:t>Ibrida</a:t>
            </a:r>
            <a:endParaRPr/>
          </a:p>
        </p:txBody>
      </p:sp>
      <p:sp>
        <p:nvSpPr>
          <p:cNvPr id="458" name="Google Shape;458;p74"/>
          <p:cNvSpPr txBox="1"/>
          <p:nvPr/>
        </p:nvSpPr>
        <p:spPr>
          <a:xfrm>
            <a:off x="137150" y="599100"/>
            <a:ext cx="886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Figura 2.8: Circuito di decodifica in modalità memory-mapped I/O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 gestione dei segnali MREQ e IOREQ per l'accesso ibrido.</a:t>
            </a:r>
            <a:endParaRPr/>
          </a:p>
        </p:txBody>
      </p:sp>
      <p:pic>
        <p:nvPicPr>
          <p:cNvPr id="459" name="Google Shape;45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975" y="1214700"/>
            <a:ext cx="4832000" cy="3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Esercizio</a:t>
            </a:r>
            <a:endParaRPr/>
          </a:p>
        </p:txBody>
      </p:sp>
      <p:sp>
        <p:nvSpPr>
          <p:cNvPr id="465" name="Google Shape;465;p75"/>
          <p:cNvSpPr txBox="1"/>
          <p:nvPr/>
        </p:nvSpPr>
        <p:spPr>
          <a:xfrm>
            <a:off x="137150" y="599100"/>
            <a:ext cx="88650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Disponendo di un calcolatore che presenta la seguente architettura: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Una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dotata dei seguenti segnali: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(a) 16 bit di indirizzamento (A₀ ÷ A₁₅),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(b) 8 bit di bus dati (D₀ ÷ D₇),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(c) un bit di controllo, rispettivamente, per l'accesso in memoria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(MREQ), per l'accesso su I/O (IOREQ), per le operazioni di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lettura (RD) e per le operazioni di scrittura (WR),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Una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ROM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it" sz="1700">
                <a:solidFill>
                  <a:srgbClr val="333333"/>
                </a:solidFill>
              </a:rPr>
              <a:t>4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 che memorizza parole di un byte per il programma;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Una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it" sz="1700">
                <a:solidFill>
                  <a:srgbClr val="333333"/>
                </a:solidFill>
              </a:rPr>
              <a:t>4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 che memorizza parole di un byte per i dati;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4. L'interfaccia programmabile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Intel 8255A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(Parallel I/O).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6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Esercizio</a:t>
            </a:r>
            <a:endParaRPr/>
          </a:p>
        </p:txBody>
      </p:sp>
      <p:sp>
        <p:nvSpPr>
          <p:cNvPr id="471" name="Google Shape;471;p76"/>
          <p:cNvSpPr txBox="1"/>
          <p:nvPr/>
        </p:nvSpPr>
        <p:spPr>
          <a:xfrm>
            <a:off x="137150" y="599100"/>
            <a:ext cx="8865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Nell'ipotesi di posizionare: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-"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ROM a partire dall'indirizzo </a:t>
            </a:r>
            <a:r>
              <a:rPr lang="it" sz="1700">
                <a:solidFill>
                  <a:srgbClr val="333333"/>
                </a:solidFill>
              </a:rPr>
              <a:t>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000₁₆,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RAM </a:t>
            </a:r>
            <a:r>
              <a:rPr lang="it" sz="1700">
                <a:solidFill>
                  <a:srgbClr val="333333"/>
                </a:solidFill>
              </a:rPr>
              <a:t>a partire dall'indirizzo E000₁₆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700"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t" sz="1700">
                <a:solidFill>
                  <a:srgbClr val="333333"/>
                </a:solidFill>
              </a:rPr>
              <a:t>l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'8255A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 modalità 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memory-mapped I/O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partire </a:t>
            </a:r>
            <a:r>
              <a:rPr lang="it" sz="1700">
                <a:solidFill>
                  <a:srgbClr val="333333"/>
                </a:solidFill>
              </a:rPr>
              <a:t>dalla RAM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realizzare il circuito di decodifica per l'abilitazione delle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singole componenti.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7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ROM</a:t>
            </a:r>
            <a:endParaRPr/>
          </a:p>
        </p:txBody>
      </p:sp>
      <p:sp>
        <p:nvSpPr>
          <p:cNvPr id="477" name="Google Shape;477;p77"/>
          <p:cNvSpPr txBox="1"/>
          <p:nvPr/>
        </p:nvSpPr>
        <p:spPr>
          <a:xfrm>
            <a:off x="137150" y="599100"/>
            <a:ext cx="88650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memoria ROM è di </a:t>
            </a:r>
            <a:r>
              <a:rPr b="1" lang="it" sz="1700">
                <a:solidFill>
                  <a:srgbClr val="333333"/>
                </a:solidFill>
              </a:rPr>
              <a:t>4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quindi ricordando che la dimensione è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dalla formula </a:t>
            </a:r>
            <a:b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p, dove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sono le linee di indirizzamento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è la lunghezza della parola memorizzata, si ha che: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it" sz="1700">
                <a:solidFill>
                  <a:srgbClr val="333333"/>
                </a:solidFill>
              </a:rPr>
              <a:t>4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aseline="30000" lang="it" sz="1700">
                <a:solidFill>
                  <a:srgbClr val="333333"/>
                </a:solidFill>
              </a:rPr>
              <a:t>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aseline="30000" lang="it" sz="1700">
                <a:solidFill>
                  <a:srgbClr val="333333"/>
                </a:solidFill>
              </a:rPr>
              <a:t>12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2</a:t>
            </a:r>
            <a:r>
              <a:rPr baseline="30000" lang="it" sz="1700">
                <a:solidFill>
                  <a:srgbClr val="333333"/>
                </a:solidFill>
              </a:rPr>
              <a:t>12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2ⁿ  ⟹  n = 1</a:t>
            </a:r>
            <a:r>
              <a:rPr lang="it" sz="1700">
                <a:solidFill>
                  <a:srgbClr val="333333"/>
                </a:solidFill>
              </a:rPr>
              <a:t>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8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ROM</a:t>
            </a:r>
            <a:endParaRPr/>
          </a:p>
        </p:txBody>
      </p:sp>
      <p:sp>
        <p:nvSpPr>
          <p:cNvPr id="483" name="Google Shape;483;p78"/>
          <p:cNvSpPr txBox="1"/>
          <p:nvPr/>
        </p:nvSpPr>
        <p:spPr>
          <a:xfrm>
            <a:off x="137150" y="599100"/>
            <a:ext cx="88650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memoria ROM è di </a:t>
            </a:r>
            <a:r>
              <a:rPr b="1" lang="it" sz="1700">
                <a:solidFill>
                  <a:srgbClr val="333333"/>
                </a:solidFill>
              </a:rPr>
              <a:t>4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quindi ricordando che la dimensione è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dalla formula </a:t>
            </a:r>
            <a:b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p, dove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sono le linee di indirizzamento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è la lunghezza della parola memorizzata, si ha che: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it" sz="1700">
                <a:solidFill>
                  <a:srgbClr val="333333"/>
                </a:solidFill>
              </a:rPr>
              <a:t>4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aseline="30000" lang="it" sz="1700">
                <a:solidFill>
                  <a:srgbClr val="333333"/>
                </a:solidFill>
              </a:rPr>
              <a:t>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aseline="30000" lang="it" sz="1700">
                <a:solidFill>
                  <a:srgbClr val="333333"/>
                </a:solidFill>
              </a:rPr>
              <a:t>12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2</a:t>
            </a:r>
            <a:r>
              <a:rPr baseline="30000" lang="it" sz="1700">
                <a:solidFill>
                  <a:srgbClr val="333333"/>
                </a:solidFill>
              </a:rPr>
              <a:t>12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2ⁿ  ⟹  n = 1</a:t>
            </a:r>
            <a:r>
              <a:rPr lang="it" sz="1700">
                <a:solidFill>
                  <a:srgbClr val="333333"/>
                </a:solidFill>
              </a:rPr>
              <a:t>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Poiché la ROM va inserita a partire dall'indirizzo </a:t>
            </a:r>
            <a:r>
              <a:rPr b="1" lang="it" sz="1700">
                <a:solidFill>
                  <a:srgbClr val="333333"/>
                </a:solidFill>
              </a:rPr>
              <a:t>0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="1"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lo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spazio di indirizzamento della ROM sarà: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84" name="Google Shape;484;p78"/>
          <p:cNvGraphicFramePr/>
          <p:nvPr/>
        </p:nvGraphicFramePr>
        <p:xfrm>
          <a:off x="318124" y="30976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85" name="Google Shape;485;p78"/>
          <p:cNvSpPr txBox="1"/>
          <p:nvPr/>
        </p:nvSpPr>
        <p:spPr>
          <a:xfrm>
            <a:off x="5962400" y="3011653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0000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9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ROM</a:t>
            </a:r>
            <a:endParaRPr/>
          </a:p>
        </p:txBody>
      </p:sp>
      <p:sp>
        <p:nvSpPr>
          <p:cNvPr id="491" name="Google Shape;491;p79"/>
          <p:cNvSpPr txBox="1"/>
          <p:nvPr/>
        </p:nvSpPr>
        <p:spPr>
          <a:xfrm>
            <a:off x="137150" y="599100"/>
            <a:ext cx="88650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memoria ROM è di </a:t>
            </a:r>
            <a:r>
              <a:rPr b="1" lang="it" sz="1700">
                <a:solidFill>
                  <a:srgbClr val="333333"/>
                </a:solidFill>
              </a:rPr>
              <a:t>4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quindi ricordando che la dimensione è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dalla formula </a:t>
            </a:r>
            <a:b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p, dove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sono le linee di indirizzamento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1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è la lunghezza della parola memorizzata, si ha che: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it" sz="1700">
                <a:solidFill>
                  <a:srgbClr val="333333"/>
                </a:solidFill>
              </a:rPr>
              <a:t>4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aseline="30000" lang="it" sz="1700">
                <a:solidFill>
                  <a:srgbClr val="333333"/>
                </a:solidFill>
              </a:rPr>
              <a:t>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2</a:t>
            </a:r>
            <a:r>
              <a:rPr baseline="30000" lang="it" sz="1700">
                <a:solidFill>
                  <a:srgbClr val="333333"/>
                </a:solidFill>
              </a:rPr>
              <a:t>10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aseline="30000" lang="it" sz="1700">
                <a:solidFill>
                  <a:srgbClr val="333333"/>
                </a:solidFill>
              </a:rPr>
              <a:t>12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·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2</a:t>
            </a:r>
            <a:r>
              <a:rPr baseline="30000" lang="it" sz="1700">
                <a:solidFill>
                  <a:srgbClr val="333333"/>
                </a:solidFill>
              </a:rPr>
              <a:t>12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= 2ⁿ  ⟹  n = 1</a:t>
            </a:r>
            <a:r>
              <a:rPr lang="it" sz="1700">
                <a:solidFill>
                  <a:srgbClr val="333333"/>
                </a:solidFill>
              </a:rPr>
              <a:t>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Poiché la ROM va inserita a partire dall'indirizzo </a:t>
            </a:r>
            <a:r>
              <a:rPr b="1" lang="it" sz="1700">
                <a:solidFill>
                  <a:srgbClr val="333333"/>
                </a:solidFill>
              </a:rPr>
              <a:t>0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="1"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lo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spazio di indirizzamento della ROM sarà: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700">
                <a:solidFill>
                  <a:srgbClr val="333333"/>
                </a:solidFill>
              </a:rPr>
              <a:t>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÷ </a:t>
            </a:r>
            <a:r>
              <a:rPr lang="it" sz="1700">
                <a:solidFill>
                  <a:srgbClr val="333333"/>
                </a:solidFill>
              </a:rPr>
              <a:t>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FFF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endParaRPr/>
          </a:p>
        </p:txBody>
      </p:sp>
      <p:graphicFrame>
        <p:nvGraphicFramePr>
          <p:cNvPr id="492" name="Google Shape;492;p79"/>
          <p:cNvGraphicFramePr/>
          <p:nvPr/>
        </p:nvGraphicFramePr>
        <p:xfrm>
          <a:off x="318124" y="30976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" name="Google Shape;493;p79"/>
          <p:cNvGraphicFramePr/>
          <p:nvPr/>
        </p:nvGraphicFramePr>
        <p:xfrm>
          <a:off x="318124" y="35478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94" name="Google Shape;494;p79"/>
          <p:cNvSpPr txBox="1"/>
          <p:nvPr/>
        </p:nvSpPr>
        <p:spPr>
          <a:xfrm>
            <a:off x="5962400" y="3011653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0</a:t>
            </a:r>
            <a:r>
              <a:rPr lang="it" sz="1800">
                <a:solidFill>
                  <a:schemeClr val="dk2"/>
                </a:solidFill>
              </a:rPr>
              <a:t>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r>
              <a:rPr lang="it" sz="1800">
                <a:solidFill>
                  <a:schemeClr val="dk2"/>
                </a:solidFill>
              </a:rPr>
              <a:t>0FFF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0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RAM</a:t>
            </a:r>
            <a:endParaRPr/>
          </a:p>
        </p:txBody>
      </p:sp>
      <p:sp>
        <p:nvSpPr>
          <p:cNvPr id="500" name="Google Shape;500;p80"/>
          <p:cNvSpPr txBox="1"/>
          <p:nvPr/>
        </p:nvSpPr>
        <p:spPr>
          <a:xfrm>
            <a:off x="137150" y="599100"/>
            <a:ext cx="8865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dimensione della memoria RAM è di </a:t>
            </a:r>
            <a:r>
              <a:rPr b="1" lang="it" sz="1700">
                <a:solidFill>
                  <a:srgbClr val="333333"/>
                </a:solidFill>
              </a:rPr>
              <a:t>4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quindi per calcolare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numero di linee di indirizzamento si utilizza la formula che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consente di esprimere la dimensione di una memoria in funzione delle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locazioni e del contenuto: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  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 = 2</a:t>
            </a:r>
            <a:r>
              <a:rPr b="0" baseline="3000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it" sz="1700">
                <a:solidFill>
                  <a:srgbClr val="333333"/>
                </a:solidFill>
              </a:rPr>
              <a:t>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quindi n = 1</a:t>
            </a:r>
            <a:r>
              <a:rPr lang="it" sz="1700">
                <a:solidFill>
                  <a:srgbClr val="333333"/>
                </a:solidFill>
              </a:rPr>
              <a:t>2,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1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RAM</a:t>
            </a:r>
            <a:endParaRPr/>
          </a:p>
        </p:txBody>
      </p:sp>
      <p:sp>
        <p:nvSpPr>
          <p:cNvPr id="506" name="Google Shape;506;p81"/>
          <p:cNvSpPr txBox="1"/>
          <p:nvPr/>
        </p:nvSpPr>
        <p:spPr>
          <a:xfrm>
            <a:off x="137150" y="599100"/>
            <a:ext cx="8865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dimensione della memoria RAM è di </a:t>
            </a:r>
            <a:r>
              <a:rPr b="1" lang="it" sz="1700">
                <a:solidFill>
                  <a:srgbClr val="333333"/>
                </a:solidFill>
              </a:rPr>
              <a:t>4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quindi per calcolare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numero di linee di indirizzamento si utilizza la formula che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consente di esprimere la dimensione di una memoria in funzione delle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locazioni e del contenuto: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  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 = 2</a:t>
            </a:r>
            <a:r>
              <a:rPr b="0" baseline="3000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it" sz="1700">
                <a:solidFill>
                  <a:srgbClr val="333333"/>
                </a:solidFill>
              </a:rPr>
              <a:t>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quindi n = 1</a:t>
            </a:r>
            <a:r>
              <a:rPr lang="it" sz="1700">
                <a:solidFill>
                  <a:srgbClr val="333333"/>
                </a:solidFill>
              </a:rPr>
              <a:t>2,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Poiché la RAM va inserita a partire dall'indirizzo </a:t>
            </a:r>
            <a:r>
              <a:rPr b="1" lang="it" sz="1700">
                <a:solidFill>
                  <a:srgbClr val="333333"/>
                </a:solidFill>
              </a:rPr>
              <a:t>E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="1"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lo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spazio di indirizzamento sarà: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07" name="Google Shape;507;p81"/>
          <p:cNvGraphicFramePr/>
          <p:nvPr/>
        </p:nvGraphicFramePr>
        <p:xfrm>
          <a:off x="311349" y="27592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81"/>
          <p:cNvSpPr txBox="1"/>
          <p:nvPr/>
        </p:nvSpPr>
        <p:spPr>
          <a:xfrm>
            <a:off x="5955625" y="2673253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E000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2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Dimensionamento della RAM</a:t>
            </a:r>
            <a:endParaRPr/>
          </a:p>
        </p:txBody>
      </p:sp>
      <p:sp>
        <p:nvSpPr>
          <p:cNvPr id="514" name="Google Shape;514;p82"/>
          <p:cNvSpPr txBox="1"/>
          <p:nvPr/>
        </p:nvSpPr>
        <p:spPr>
          <a:xfrm>
            <a:off x="137150" y="599100"/>
            <a:ext cx="8865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dimensione della memoria RAM è di </a:t>
            </a:r>
            <a:r>
              <a:rPr b="1" lang="it" sz="1700">
                <a:solidFill>
                  <a:srgbClr val="333333"/>
                </a:solidFill>
              </a:rPr>
              <a:t>4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quindi per calcolare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numero di linee di indirizzamento si utilizza la formula che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consente di esprimere la dimensione di una memoria in funzione delle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locazioni e del contenuto: 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  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2ⁿ · p = 2</a:t>
            </a:r>
            <a:r>
              <a:rPr b="0" baseline="3000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it" sz="1700">
                <a:solidFill>
                  <a:srgbClr val="333333"/>
                </a:solidFill>
              </a:rPr>
              <a:t>2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quindi n = 1</a:t>
            </a:r>
            <a:r>
              <a:rPr lang="it" sz="1700">
                <a:solidFill>
                  <a:srgbClr val="333333"/>
                </a:solidFill>
              </a:rPr>
              <a:t>2,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Poiché la RAM va inserita a partire dall'indirizzo </a:t>
            </a:r>
            <a:r>
              <a:rPr b="1" lang="it" sz="1700">
                <a:solidFill>
                  <a:srgbClr val="333333"/>
                </a:solidFill>
              </a:rPr>
              <a:t>E</a:t>
            </a:r>
            <a:r>
              <a:rPr b="1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="1"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lo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spazio di indirizzamento sarà: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it" sz="1700">
                <a:solidFill>
                  <a:srgbClr val="333333"/>
                </a:solidFill>
              </a:rPr>
              <a:t>E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÷ </a:t>
            </a:r>
            <a:r>
              <a:rPr lang="it" sz="1700">
                <a:solidFill>
                  <a:srgbClr val="333333"/>
                </a:solidFill>
              </a:rPr>
              <a:t>E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FFF</a:t>
            </a:r>
            <a:r>
              <a:rPr baseline="-25000" lang="it" sz="1700">
                <a:solidFill>
                  <a:srgbClr val="333333"/>
                </a:solidFill>
              </a:rPr>
              <a:t>H</a:t>
            </a:r>
            <a:endParaRPr baseline="-25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15" name="Google Shape;515;p82"/>
          <p:cNvGraphicFramePr/>
          <p:nvPr/>
        </p:nvGraphicFramePr>
        <p:xfrm>
          <a:off x="311349" y="27592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6" name="Google Shape;516;p82"/>
          <p:cNvGraphicFramePr/>
          <p:nvPr/>
        </p:nvGraphicFramePr>
        <p:xfrm>
          <a:off x="311349" y="32094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17" name="Google Shape;517;p82"/>
          <p:cNvSpPr txBox="1"/>
          <p:nvPr/>
        </p:nvSpPr>
        <p:spPr>
          <a:xfrm>
            <a:off x="5955625" y="2673253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E000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r>
              <a:rPr lang="it" sz="1800">
                <a:solidFill>
                  <a:schemeClr val="dk2"/>
                </a:solidFill>
              </a:rPr>
              <a:t>EFFF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3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Abilitazione 8255A in Memory-Mapped I/O</a:t>
            </a:r>
            <a:endParaRPr/>
          </a:p>
        </p:txBody>
      </p:sp>
      <p:sp>
        <p:nvSpPr>
          <p:cNvPr id="523" name="Google Shape;523;p83"/>
          <p:cNvSpPr txBox="1"/>
          <p:nvPr/>
        </p:nvSpPr>
        <p:spPr>
          <a:xfrm>
            <a:off x="137150" y="599100"/>
            <a:ext cx="88650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segnale CS è normalmente collegato ad un circuito di indirizzo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 codifica dell'indirizzo che proviene dall'address bus della CPU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ed al suo segnale di richiesta di accesso alla</a:t>
            </a:r>
            <a:r>
              <a:rPr lang="it" sz="1700">
                <a:solidFill>
                  <a:srgbClr val="333333"/>
                </a:solidFill>
              </a:rPr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memoria (MREQ)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all'I/O (IOREQ) a seconda se si tratti di un memory-mapped I/O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 un I/O isolato.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In modalità memory-mapped I/O, l'interfaccia occupa lo stesso spazio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di indirizzamento della memoria. Le 4 locazioni corrispondono a un byte ciascuna, se ad ogni indirizzo corrisponde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un byte, saranno necessarie 4 locazioni.</a:t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4"/>
          <p:cNvSpPr txBox="1"/>
          <p:nvPr/>
        </p:nvSpPr>
        <p:spPr>
          <a:xfrm>
            <a:off x="137150" y="599100"/>
            <a:ext cx="88650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segnale CS è normalmente collegato ad un circuito di indirizzo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 codifica dell'indirizzo che proviene dall'address bus della CPU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ed al suo segnale di richiesta di accesso alla</a:t>
            </a:r>
            <a:r>
              <a:rPr lang="it" sz="1700">
                <a:solidFill>
                  <a:srgbClr val="333333"/>
                </a:solidFill>
              </a:rPr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memoria (MREQ)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all'I/O (IOREQ) a seconda se si tratti di un memory-mapped I/O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 un I/O isolato.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In modalità memory-mapped I/O, l'interfaccia occupa lo stesso spazio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di indirizzamento della memoria. Le 4 locazioni corrispondono a un byte ciascuna, se ad ogni indirizzo corrisponde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un byte, saranno necessarie 4 locazioni.</a:t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4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Abilitazione 8255A in Memory-Mapped I/O</a:t>
            </a:r>
            <a:endParaRPr/>
          </a:p>
        </p:txBody>
      </p:sp>
      <p:graphicFrame>
        <p:nvGraphicFramePr>
          <p:cNvPr id="530" name="Google Shape;530;p84"/>
          <p:cNvGraphicFramePr/>
          <p:nvPr/>
        </p:nvGraphicFramePr>
        <p:xfrm>
          <a:off x="230124" y="29352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1" name="Google Shape;531;p84"/>
          <p:cNvSpPr txBox="1"/>
          <p:nvPr/>
        </p:nvSpPr>
        <p:spPr>
          <a:xfrm>
            <a:off x="5874400" y="2849228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F000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5"/>
          <p:cNvSpPr txBox="1"/>
          <p:nvPr/>
        </p:nvSpPr>
        <p:spPr>
          <a:xfrm>
            <a:off x="137150" y="599100"/>
            <a:ext cx="8865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 segnale CS è normalmente collegato ad un circuito di indirizzo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 codifica dell'indirizzo che proviene dall'address bus della CPU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ed al suo segnale di richiesta di accesso alla</a:t>
            </a:r>
            <a:r>
              <a:rPr lang="it" sz="1700">
                <a:solidFill>
                  <a:srgbClr val="333333"/>
                </a:solidFill>
              </a:rPr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memoria (MREQ)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all'I/O (IOREQ) a seconda se si tratti di un memory-mapped I/O o</a:t>
            </a:r>
            <a:r>
              <a:rPr lang="it"/>
              <a:t> 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 un I/O isolato.</a:t>
            </a:r>
            <a:endParaRPr b="0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333333"/>
                </a:solidFill>
              </a:rPr>
              <a:t>In modalità memory-mapped I/O, l'interfaccia occupa lo stesso spazio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di indirizzamento della memoria. Le 4 locazioni corrispondono a un byte ciascuna, se ad ogni indirizzo corrisponde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lang="it" sz="1700">
                <a:solidFill>
                  <a:srgbClr val="333333"/>
                </a:solidFill>
              </a:rPr>
              <a:t>un byte, saranno necessarie 4 locazioni.</a:t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it" sz="1700">
                <a:solidFill>
                  <a:srgbClr val="333333"/>
                </a:solidFill>
              </a:rPr>
              <a:t>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00₁₆ ÷ F</a:t>
            </a:r>
            <a:r>
              <a:rPr lang="it" sz="1700">
                <a:solidFill>
                  <a:srgbClr val="333333"/>
                </a:solidFill>
              </a:rPr>
              <a:t>0</a:t>
            </a:r>
            <a:r>
              <a:rPr b="0" i="0" lang="it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03₁₆</a:t>
            </a:r>
            <a:endParaRPr b="1" i="0" sz="17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5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Abilitazione 8255A in Memory-Mapped I/O</a:t>
            </a:r>
            <a:endParaRPr/>
          </a:p>
        </p:txBody>
      </p:sp>
      <p:graphicFrame>
        <p:nvGraphicFramePr>
          <p:cNvPr id="538" name="Google Shape;538;p85"/>
          <p:cNvGraphicFramePr/>
          <p:nvPr/>
        </p:nvGraphicFramePr>
        <p:xfrm>
          <a:off x="230124" y="29352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9" name="Google Shape;539;p85"/>
          <p:cNvGraphicFramePr/>
          <p:nvPr/>
        </p:nvGraphicFramePr>
        <p:xfrm>
          <a:off x="230124" y="3385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{59168552-CA3C-4F99-8B44-4ED2B7404D46}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0" name="Google Shape;540;p85"/>
          <p:cNvSpPr txBox="1"/>
          <p:nvPr/>
        </p:nvSpPr>
        <p:spPr>
          <a:xfrm>
            <a:off x="5874400" y="2849228"/>
            <a:ext cx="15228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F000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r>
              <a:rPr lang="it" sz="1800">
                <a:solidFill>
                  <a:schemeClr val="dk2"/>
                </a:solidFill>
              </a:rPr>
              <a:t>F003</a:t>
            </a:r>
            <a:r>
              <a:rPr baseline="-25000" lang="it" sz="1800">
                <a:solidFill>
                  <a:schemeClr val="dk2"/>
                </a:solidFill>
              </a:rPr>
              <a:t>H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6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Memory-Mapped I/O</a:t>
            </a:r>
            <a:endParaRPr/>
          </a:p>
        </p:txBody>
      </p:sp>
      <p:graphicFrame>
        <p:nvGraphicFramePr>
          <p:cNvPr id="546" name="Google Shape;546;p86"/>
          <p:cNvGraphicFramePr/>
          <p:nvPr/>
        </p:nvGraphicFramePr>
        <p:xfrm>
          <a:off x="15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7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Memory-Mapped I/O</a:t>
            </a:r>
            <a:endParaRPr/>
          </a:p>
        </p:txBody>
      </p:sp>
      <p:graphicFrame>
        <p:nvGraphicFramePr>
          <p:cNvPr id="552" name="Google Shape;552;p87"/>
          <p:cNvGraphicFramePr/>
          <p:nvPr/>
        </p:nvGraphicFramePr>
        <p:xfrm>
          <a:off x="15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ROM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8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Memory-Mapped I/O</a:t>
            </a:r>
            <a:endParaRPr/>
          </a:p>
        </p:txBody>
      </p:sp>
      <p:graphicFrame>
        <p:nvGraphicFramePr>
          <p:cNvPr id="558" name="Google Shape;558;p88"/>
          <p:cNvGraphicFramePr/>
          <p:nvPr/>
        </p:nvGraphicFramePr>
        <p:xfrm>
          <a:off x="15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ROM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1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</a:t>
                      </a:r>
                      <a:r>
                        <a:rPr lang="it" sz="1100"/>
                        <a:t>D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59" name="Google Shape;559;p88"/>
          <p:cNvSpPr txBox="1"/>
          <p:nvPr/>
        </p:nvSpPr>
        <p:spPr>
          <a:xfrm>
            <a:off x="137150" y="3700000"/>
            <a:ext cx="8865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Tabella 2.1: Le periferiche di I/O occupano spazi di memoria.</a:t>
            </a:r>
            <a:r>
              <a:rPr lang="it"/>
              <a:t> </a:t>
            </a:r>
            <a:br>
              <a:rPr lang="it"/>
            </a:b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ROM occupa </a:t>
            </a:r>
            <a:r>
              <a:rPr lang="it">
                <a:solidFill>
                  <a:srgbClr val="333333"/>
                </a:solidFill>
              </a:rPr>
              <a:t>4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 (</a:t>
            </a:r>
            <a:r>
              <a:rPr lang="it">
                <a:solidFill>
                  <a:srgbClr val="333333"/>
                </a:solidFill>
              </a:rPr>
              <a:t>0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000₁₆-</a:t>
            </a:r>
            <a:r>
              <a:rPr lang="it">
                <a:solidFill>
                  <a:srgbClr val="333333"/>
                </a:solidFill>
              </a:rPr>
              <a:t>0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FFF₁₆), </a:t>
            </a:r>
            <a:b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">
                <a:solidFill>
                  <a:srgbClr val="333333"/>
                </a:solidFill>
              </a:rPr>
              <a:t>L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RAM </a:t>
            </a:r>
            <a:r>
              <a:rPr lang="it">
                <a:solidFill>
                  <a:srgbClr val="333333"/>
                </a:solidFill>
              </a:rPr>
              <a:t>4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 (</a:t>
            </a:r>
            <a:r>
              <a:rPr lang="it">
                <a:solidFill>
                  <a:srgbClr val="333333"/>
                </a:solidFill>
              </a:rPr>
              <a:t>E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000₁₆-</a:t>
            </a:r>
            <a:r>
              <a:rPr lang="it">
                <a:solidFill>
                  <a:srgbClr val="333333"/>
                </a:solidFill>
              </a:rPr>
              <a:t>E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FFF₁₆)</a:t>
            </a:r>
            <a:r>
              <a:rPr lang="it"/>
              <a:t>,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">
                <a:solidFill>
                  <a:srgbClr val="333333"/>
                </a:solidFill>
              </a:rPr>
              <a:t>L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'interfaccia I/O 4 byte (F</a:t>
            </a:r>
            <a:r>
              <a:rPr lang="it">
                <a:solidFill>
                  <a:srgbClr val="333333"/>
                </a:solidFill>
              </a:rPr>
              <a:t>0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00₁₆-F003₁₆).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9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Memory-Mapped I/O</a:t>
            </a:r>
            <a:endParaRPr/>
          </a:p>
        </p:txBody>
      </p:sp>
      <p:graphicFrame>
        <p:nvGraphicFramePr>
          <p:cNvPr id="565" name="Google Shape;565;p89"/>
          <p:cNvGraphicFramePr/>
          <p:nvPr/>
        </p:nvGraphicFramePr>
        <p:xfrm>
          <a:off x="15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ROM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1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</a:t>
                      </a:r>
                      <a:r>
                        <a:rPr lang="it" sz="1100"/>
                        <a:t>D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E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</a:t>
                      </a:r>
                      <a:r>
                        <a:rPr lang="it" sz="1100"/>
                        <a:t>E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RAM (</a:t>
                      </a:r>
                      <a:r>
                        <a:rPr lang="it" sz="1100"/>
                        <a:t>4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KB)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0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Memory-Mapped I/O</a:t>
            </a:r>
            <a:endParaRPr/>
          </a:p>
        </p:txBody>
      </p:sp>
      <p:graphicFrame>
        <p:nvGraphicFramePr>
          <p:cNvPr id="571" name="Google Shape;571;p90"/>
          <p:cNvGraphicFramePr/>
          <p:nvPr/>
        </p:nvGraphicFramePr>
        <p:xfrm>
          <a:off x="15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ROM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1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</a:t>
                      </a:r>
                      <a:r>
                        <a:rPr lang="it" sz="1100"/>
                        <a:t>D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E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</a:t>
                      </a:r>
                      <a:r>
                        <a:rPr lang="it" sz="1100"/>
                        <a:t>E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RAM (</a:t>
                      </a:r>
                      <a:r>
                        <a:rPr lang="it" sz="1100"/>
                        <a:t>4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00₁₆ - F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03₁₆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I/O (Intel 8255A)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1"/>
          <p:cNvSpPr txBox="1"/>
          <p:nvPr/>
        </p:nvSpPr>
        <p:spPr>
          <a:xfrm>
            <a:off x="137159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Mappa di Memoria - Memory-Mapped I/O</a:t>
            </a:r>
            <a:endParaRPr/>
          </a:p>
        </p:txBody>
      </p:sp>
      <p:graphicFrame>
        <p:nvGraphicFramePr>
          <p:cNvPr id="577" name="Google Shape;577;p91"/>
          <p:cNvGraphicFramePr/>
          <p:nvPr/>
        </p:nvGraphicFramePr>
        <p:xfrm>
          <a:off x="1500000" y="7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{15630C56-F81C-4C96-97B6-DF5E8345F631}</a:tableStyleId>
              </a:tblPr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Indirizzo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sng" cap="none" strike="noStrike"/>
                        <a:t>Componente</a:t>
                      </a:r>
                      <a:endParaRPr b="1" sz="1600" u="sng"/>
                    </a:p>
                  </a:txBody>
                  <a:tcPr marT="45725" marB="45725" marR="91450" marL="91450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0000₁₆ - 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ROM</a:t>
                      </a:r>
                      <a:endParaRPr/>
                    </a:p>
                  </a:txBody>
                  <a:tcPr marT="45725" marB="45725" marR="91450" marL="91450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1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</a:t>
                      </a:r>
                      <a:r>
                        <a:rPr lang="it" sz="1100"/>
                        <a:t>D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/>
                        <a:t>E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000₁₆ - </a:t>
                      </a:r>
                      <a:r>
                        <a:rPr lang="it" sz="1100"/>
                        <a:t>E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RAM (</a:t>
                      </a:r>
                      <a:r>
                        <a:rPr lang="it" sz="1100"/>
                        <a:t>4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KB)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00₁₆ - F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03₁₆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I/O (Intel 8255A)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it" sz="1100"/>
                        <a:t>0</a:t>
                      </a: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04₁₆ - FFFF₁₆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Non utilizzato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78" name="Google Shape;578;p91"/>
          <p:cNvSpPr txBox="1"/>
          <p:nvPr/>
        </p:nvSpPr>
        <p:spPr>
          <a:xfrm>
            <a:off x="137150" y="3700000"/>
            <a:ext cx="8865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Tabella 2.1: Le periferiche di I/O occupano spazi di memoria.</a:t>
            </a:r>
            <a:r>
              <a:rPr lang="it"/>
              <a:t> </a:t>
            </a:r>
            <a:br>
              <a:rPr lang="it"/>
            </a:b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ROM occupa </a:t>
            </a:r>
            <a:r>
              <a:rPr lang="it">
                <a:solidFill>
                  <a:srgbClr val="333333"/>
                </a:solidFill>
              </a:rPr>
              <a:t>4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 (</a:t>
            </a:r>
            <a:r>
              <a:rPr lang="it">
                <a:solidFill>
                  <a:srgbClr val="333333"/>
                </a:solidFill>
              </a:rPr>
              <a:t>0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000₁₆-</a:t>
            </a:r>
            <a:r>
              <a:rPr lang="it">
                <a:solidFill>
                  <a:srgbClr val="333333"/>
                </a:solidFill>
              </a:rPr>
              <a:t>0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FFF₁₆), </a:t>
            </a:r>
            <a:b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">
                <a:solidFill>
                  <a:srgbClr val="333333"/>
                </a:solidFill>
              </a:rPr>
              <a:t>L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RAM </a:t>
            </a:r>
            <a:r>
              <a:rPr lang="it">
                <a:solidFill>
                  <a:srgbClr val="333333"/>
                </a:solidFill>
              </a:rPr>
              <a:t>4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KB (</a:t>
            </a:r>
            <a:r>
              <a:rPr lang="it">
                <a:solidFill>
                  <a:srgbClr val="333333"/>
                </a:solidFill>
              </a:rPr>
              <a:t>E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000₁₆-</a:t>
            </a:r>
            <a:r>
              <a:rPr lang="it">
                <a:solidFill>
                  <a:srgbClr val="333333"/>
                </a:solidFill>
              </a:rPr>
              <a:t>E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FFF₁₆)</a:t>
            </a:r>
            <a:r>
              <a:rPr lang="it"/>
              <a:t>,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">
                <a:solidFill>
                  <a:srgbClr val="333333"/>
                </a:solidFill>
              </a:rPr>
              <a:t>L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'interfaccia I/O 4 byte (F</a:t>
            </a:r>
            <a:r>
              <a:rPr lang="it">
                <a:solidFill>
                  <a:srgbClr val="333333"/>
                </a:solidFill>
              </a:rPr>
              <a:t>0</a:t>
            </a:r>
            <a:r>
              <a:rPr b="0" i="0" lang="it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00₁₆-F003₁₆).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