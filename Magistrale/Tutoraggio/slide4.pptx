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  <p:sldMasterId id="2147483704" r:id="rId6"/>
    <p:sldMasterId id="2147483705" r:id="rId7"/>
    <p:sldMasterId id="2147483706" r:id="rId8"/>
    <p:sldMasterId id="2147483707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</p:sldIdLst>
  <p:sldSz cy="5143500" cx="9144000"/>
  <p:notesSz cx="6858000" cy="9144000"/>
  <p:embeddedFontLst>
    <p:embeddedFont>
      <p:font typeface="Play"/>
      <p:regular r:id="rId71"/>
      <p:bold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1F93D9-BF3B-409D-A662-100C3838F0D7}">
  <a:tblStyle styleId="{571F93D9-BF3B-409D-A662-100C3838F0D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C11A2B7-DEC9-44C4-B82C-DA4226336E03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2" Type="http://schemas.openxmlformats.org/officeDocument/2006/relationships/font" Target="fonts/Play-bold.fntdata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71" Type="http://schemas.openxmlformats.org/officeDocument/2006/relationships/font" Target="fonts/Play-regular.fntdata"/><Relationship Id="rId70" Type="http://schemas.openxmlformats.org/officeDocument/2006/relationships/slide" Target="slides/slide60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20" Type="http://schemas.openxmlformats.org/officeDocument/2006/relationships/slide" Target="slides/slide10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22" Type="http://schemas.openxmlformats.org/officeDocument/2006/relationships/slide" Target="slides/slide12.xml"/><Relationship Id="rId66" Type="http://schemas.openxmlformats.org/officeDocument/2006/relationships/slide" Target="slides/slide56.xml"/><Relationship Id="rId21" Type="http://schemas.openxmlformats.org/officeDocument/2006/relationships/slide" Target="slides/slide11.xml"/><Relationship Id="rId65" Type="http://schemas.openxmlformats.org/officeDocument/2006/relationships/slide" Target="slides/slide55.xml"/><Relationship Id="rId24" Type="http://schemas.openxmlformats.org/officeDocument/2006/relationships/slide" Target="slides/slide14.xml"/><Relationship Id="rId68" Type="http://schemas.openxmlformats.org/officeDocument/2006/relationships/slide" Target="slides/slide58.xml"/><Relationship Id="rId23" Type="http://schemas.openxmlformats.org/officeDocument/2006/relationships/slide" Target="slides/slide13.xml"/><Relationship Id="rId67" Type="http://schemas.openxmlformats.org/officeDocument/2006/relationships/slide" Target="slides/slide57.xml"/><Relationship Id="rId60" Type="http://schemas.openxmlformats.org/officeDocument/2006/relationships/slide" Target="slides/slide50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69" Type="http://schemas.openxmlformats.org/officeDocument/2006/relationships/slide" Target="slides/slide5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11" Type="http://schemas.openxmlformats.org/officeDocument/2006/relationships/slide" Target="slides/slide1.xml"/><Relationship Id="rId55" Type="http://schemas.openxmlformats.org/officeDocument/2006/relationships/slide" Target="slides/slide45.xml"/><Relationship Id="rId10" Type="http://schemas.openxmlformats.org/officeDocument/2006/relationships/notesMaster" Target="notesMasters/notesMaster1.xml"/><Relationship Id="rId54" Type="http://schemas.openxmlformats.org/officeDocument/2006/relationships/slide" Target="slides/slide44.xml"/><Relationship Id="rId13" Type="http://schemas.openxmlformats.org/officeDocument/2006/relationships/slide" Target="slides/slide3.xml"/><Relationship Id="rId57" Type="http://schemas.openxmlformats.org/officeDocument/2006/relationships/slide" Target="slides/slide47.xml"/><Relationship Id="rId12" Type="http://schemas.openxmlformats.org/officeDocument/2006/relationships/slide" Target="slides/slide2.xml"/><Relationship Id="rId56" Type="http://schemas.openxmlformats.org/officeDocument/2006/relationships/slide" Target="slides/slide46.xml"/><Relationship Id="rId15" Type="http://schemas.openxmlformats.org/officeDocument/2006/relationships/slide" Target="slides/slide5.xml"/><Relationship Id="rId59" Type="http://schemas.openxmlformats.org/officeDocument/2006/relationships/slide" Target="slides/slide49.xml"/><Relationship Id="rId14" Type="http://schemas.openxmlformats.org/officeDocument/2006/relationships/slide" Target="slides/slide4.xml"/><Relationship Id="rId58" Type="http://schemas.openxmlformats.org/officeDocument/2006/relationships/slide" Target="slides/slide4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1107352d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lezione introduciamo alcuni concetti fondamentali dell'architettura dei sistemi di elaborazione. In particolare ci concentreremo su tre aspetti principali: i sistemi di numerazione, le conversioni tra basi numeriche e un primo esempio di controllo degli errori nei dati tramite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concetti sono fondamentali perché tutti i computer rappresentano e manipolano informazioni utilizzando numeri binari. Comprendere come funzionano le basi numeriche e come avvengono le conversioni permette di capire come i dati vengono memorizzati, trasmessi e processati all’interno dei sistemi digitali.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della lezione vedremo anche come i segnali elettrici reali, che sono analogici, vengono interpretati dai circuiti digitali come valori logici discreti, cioè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un metodo utilizzato nei sistemi di comunicazione e memorizzazione per rilevare e correggere errori nei dati trasmessi.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d1107352d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1107352d0_8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d1107352d0_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1107352d0_4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d1107352d0_4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1107352d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1107352d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1107352d0_4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1107352d0_4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1107352d0_4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d1107352d0_4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1107352d0_4_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1107352d0_4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1107352d0_4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1107352d0_4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1107352d0_4_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1107352d0_4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1107352d0_4_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d1107352d0_4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1107352d0_4_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d1107352d0_4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1107352d0_4_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d1107352d0_4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1107352d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1107352d0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1107352d0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d1107352d0_6_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1107352d0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1107352d0_6_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1107352d0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1107352d0_6_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1107352d0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d1107352d0_6_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1107352d0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d1107352d0_6_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1107352d0_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d1107352d0_6_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1107352d0_6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d1107352d0_6_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1107352d0_6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d1107352d0_6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1107352d0_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d1107352d0_6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1107352d0_6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d1107352d0_6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1107352d0_6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d1107352d0_6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1107352d0_6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d1107352d0_6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1107352d0_6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d1107352d0_6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1107352d0_6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d1107352d0_6_1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1107352d0_6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d1107352d0_6_1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1107352d0_6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d1107352d0_6_2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1107352d0_6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d1107352d0_6_2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d1107352d0_6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d1107352d0_6_2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1107352d0_6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d1107352d0_6_2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d1107352d0_6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d1107352d0_6_2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d1107352d0_6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d1107352d0_6_2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d1107352d0_6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d1107352d0_6_3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1107352d0_6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d1107352d0_6_3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d1107352d0_6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d1107352d0_6_3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d1107352d0_6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d1107352d0_6_3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d1107352d0_6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d1107352d0_6_3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d1107352d0_6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d1107352d0_6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1107352d0_6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d1107352d0_6_3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d1107352d0_6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d1107352d0_6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d1107352d0_6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d1107352d0_6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d1107352d0_6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d1107352d0_6_4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d1107352d0_6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d1107352d0_6_4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15422c9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d15422c93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d15422c93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d15422c930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d15422c93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d15422c930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d15422c93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3d15422c930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2ebad466c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d2ebad466c_4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d2ebad466c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d2ebad466c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2ebad466c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d2ebad466c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d2ebad466c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d2ebad466c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d2ebad466c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3d2ebad466c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d2ebad466c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d2ebad466c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d2ebad466c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3d2ebad466c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d2ebad466c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d2ebad466c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d2ebad466c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g3d2ebad466c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d2ebad466c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g3d2ebad466c_4_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d2ebad466c_4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g3d2ebad466c_4_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25" name="Google Shape;225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4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8" name="Google Shape;238;p4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9" name="Google Shape;239;p4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0" name="Google Shape;240;p4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6" name="Google Shape;246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8" name="Google Shape;248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52" name="Google Shape;252;p4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53" name="Google Shape;253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4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1" name="Google Shape;261;p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4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7" name="Google Shape;267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8" name="Google Shape;268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1" name="Google Shape;271;p48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2" name="Google Shape;272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3" name="Google Shape;283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4" name="Google Shape;28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7" name="Google Shape;28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" name="Google Shape;29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9" name="Google Shape;29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2" name="Google Shape;302;p5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" name="Google Shape;30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6" name="Google Shape;30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0" name="Google Shape;310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1" name="Google Shape;311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2" name="Google Shape;31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15" name="Google Shape;31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8" name="Google Shape;318;p6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13" Type="http://schemas.openxmlformats.org/officeDocument/2006/relationships/image" Target="../media/image15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Relationship Id="rId8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Relationship Id="rId8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59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59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2" Type="http://schemas.openxmlformats.org/officeDocument/2006/relationships/image" Target="../media/image77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3" Type="http://schemas.openxmlformats.org/officeDocument/2006/relationships/image" Target="../media/image80.png"/><Relationship Id="rId12" Type="http://schemas.openxmlformats.org/officeDocument/2006/relationships/image" Target="../media/image77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3" Type="http://schemas.openxmlformats.org/officeDocument/2006/relationships/image" Target="../media/image80.png"/><Relationship Id="rId12" Type="http://schemas.openxmlformats.org/officeDocument/2006/relationships/image" Target="../media/image8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6.png"/><Relationship Id="rId13" Type="http://schemas.openxmlformats.org/officeDocument/2006/relationships/image" Target="../media/image80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Relationship Id="rId4" Type="http://schemas.openxmlformats.org/officeDocument/2006/relationships/image" Target="../media/image82.png"/><Relationship Id="rId5" Type="http://schemas.openxmlformats.org/officeDocument/2006/relationships/image" Target="../media/image7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Relationship Id="rId8" Type="http://schemas.openxmlformats.org/officeDocument/2006/relationships/image" Target="../media/image8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96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Relationship Id="rId8" Type="http://schemas.openxmlformats.org/officeDocument/2006/relationships/image" Target="../media/image86.png"/></Relationships>
</file>

<file path=ppt/slides/_rels/slide56.xml.rels><?xml version="1.0" encoding="UTF-8" standalone="yes"?><Relationships xmlns="http://schemas.openxmlformats.org/package/2006/relationships"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96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Relationship Id="rId8" Type="http://schemas.openxmlformats.org/officeDocument/2006/relationships/image" Target="../media/image86.png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96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Relationship Id="rId8" Type="http://schemas.openxmlformats.org/officeDocument/2006/relationships/image" Target="../media/image86.png"/></Relationships>
</file>

<file path=ppt/slides/_rels/slide5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91.png"/><Relationship Id="rId13" Type="http://schemas.openxmlformats.org/officeDocument/2006/relationships/image" Target="../media/image95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96.png"/><Relationship Id="rId5" Type="http://schemas.openxmlformats.org/officeDocument/2006/relationships/image" Target="../media/image72.png"/><Relationship Id="rId6" Type="http://schemas.openxmlformats.org/officeDocument/2006/relationships/image" Target="../media/image81.png"/><Relationship Id="rId7" Type="http://schemas.openxmlformats.org/officeDocument/2006/relationships/image" Target="../media/image74.png"/><Relationship Id="rId8" Type="http://schemas.openxmlformats.org/officeDocument/2006/relationships/image" Target="../media/image8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0.png"/><Relationship Id="rId4" Type="http://schemas.openxmlformats.org/officeDocument/2006/relationships/image" Target="../media/image93.png"/><Relationship Id="rId5" Type="http://schemas.openxmlformats.org/officeDocument/2006/relationships/image" Target="../media/image97.png"/><Relationship Id="rId6" Type="http://schemas.openxmlformats.org/officeDocument/2006/relationships/image" Target="../media/image94.png"/><Relationship Id="rId7" Type="http://schemas.openxmlformats.org/officeDocument/2006/relationships/image" Target="../media/image9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1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4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1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2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333" name="Google Shape;333;p62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Regole </a:t>
            </a:r>
            <a:r>
              <a:rPr lang="it" sz="1800"/>
              <a:t>semplificazioni</a:t>
            </a:r>
            <a:r>
              <a:rPr lang="it" sz="1800"/>
              <a:t> algebra booleana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Espressioni booleane minime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Esercizi Espressioni booleane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Mappe di Karnaugh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Esercizi Mappe di </a:t>
            </a:r>
            <a:r>
              <a:rPr lang="it" sz="1800"/>
              <a:t>Karnaugh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Esercizio semplificazione</a:t>
            </a:r>
            <a:endParaRPr sz="1800"/>
          </a:p>
        </p:txBody>
      </p:sp>
      <p:sp>
        <p:nvSpPr>
          <p:cNvPr id="334" name="Google Shape;334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3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Regole semplificazioni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3"/>
          <p:cNvSpPr txBox="1"/>
          <p:nvPr/>
        </p:nvSpPr>
        <p:spPr>
          <a:xfrm>
            <a:off x="137158" y="683255"/>
            <a:ext cx="87858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>
                <a:solidFill>
                  <a:schemeClr val="dk1"/>
                </a:solidFill>
              </a:rPr>
              <a:t>Ecco le regole principali da applicare per la semplificazione: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Identità:</a:t>
            </a:r>
            <a:r>
              <a:rPr lang="it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Annullamento:</a:t>
            </a:r>
            <a:r>
              <a:rPr lang="it" sz="1700">
                <a:solidFill>
                  <a:schemeClr val="dk1"/>
                </a:solidFill>
              </a:rPr>
              <a:t>  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Idempotenza:</a:t>
            </a:r>
            <a:r>
              <a:rPr lang="it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Complemento:</a:t>
            </a:r>
            <a:r>
              <a:rPr lang="it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Leggi di De Morgan:</a:t>
            </a:r>
            <a:r>
              <a:rPr lang="it" sz="1700">
                <a:solidFill>
                  <a:schemeClr val="dk1"/>
                </a:solidFill>
              </a:rPr>
              <a:t>  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it" sz="1700">
                <a:solidFill>
                  <a:schemeClr val="dk1"/>
                </a:solidFill>
              </a:rPr>
              <a:t>Distribuzione:</a:t>
            </a:r>
            <a:r>
              <a:rPr lang="it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341" name="Google Shape;341;p63" title="{&quot;red&quot;:0,&quot;green&quot;:0,&quot;blue&quot;:0,&quot;origURL&quot;:&quot;https://www.codecogs.com/eqnedit.php?latex=%20A%20%2B%200%20%3D%20A%20#0&quot;,&quot;size&quot;:17,&quot;width&quot;:691.7952755905512,&quot;height&quot;:207.070866141732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518" y="1264480"/>
            <a:ext cx="1068705" cy="192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63" title="{&quot;red&quot;:0,&quot;green&quot;:0,&quot;blue&quot;:0,&quot;origURL&quot;:&quot;https://www.codecogs.com/eqnedit.php?latex=%20A%20%5Ccdot%201%20%3D%20A%20#0&quot;,&quot;size&quot;:17,&quot;width&quot;:691.7952755905512,&quot;height&quot;:207.070866141732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376" y="1277830"/>
            <a:ext cx="952119" cy="173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63" title="{&quot;red&quot;:0,&quot;green&quot;:0,&quot;blue&quot;:0,&quot;origURL&quot;:&quot;https://www.codecogs.com/eqnedit.php?latex=A%20%2B%201%20%3D%201#0&quot;,&quot;size&quot;:17,&quot;width&quot;:691.7952755905512,&quot;height&quot;:207.0708661417323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0518" y="1545068"/>
            <a:ext cx="999077" cy="192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63" title="{&quot;red&quot;:0,&quot;green&quot;:0,&quot;blue&quot;:0,&quot;origURL&quot;:&quot;https://www.codecogs.com/eqnedit.php?latex=A%20%5Ccdot%200%20%3D%200#0&quot;,&quot;size&quot;:17,&quot;width&quot;:691.7952755905512,&quot;height&quot;:207.070866141732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6671" y="1535980"/>
            <a:ext cx="888968" cy="17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3" title="{&quot;red&quot;:0,&quot;green&quot;:0,&quot;blue&quot;:0,&quot;origURL&quot;:&quot;https://www.codecogs.com/eqnedit.php?latex=A%20%2B%20A%20%3D%20A#0&quot;,&quot;size&quot;:17,&quot;width&quot;:691.7952755905512,&quot;height&quot;:207.0708661417323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0531" y="1825643"/>
            <a:ext cx="1130236" cy="192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63" title="{&quot;red&quot;:0,&quot;green&quot;:0,&quot;blue&quot;:0,&quot;origURL&quot;:&quot;https://www.codecogs.com/eqnedit.php?latex=A%20%5Ccdot%20A%20%3D%20A#0&quot;,&quot;size&quot;:17,&quot;width&quot;:691.7952755905512,&quot;height&quot;:207.0708661417323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46684" y="1835355"/>
            <a:ext cx="1012031" cy="173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63" title="{&quot;red&quot;:0,&quot;green&quot;:0,&quot;blue&quot;:0,&quot;origURL&quot;:&quot;https://www.codecogs.com/eqnedit.php?latex=A%20%2B%20%5Cbar%7BA%7D%20%3D%201#0&quot;,&quot;size&quot;:17,&quot;width&quot;:691.7952755905512,&quot;height&quot;:207.0708661417323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6181" y="2127455"/>
            <a:ext cx="1057370" cy="223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63" title="{&quot;red&quot;:0,&quot;green&quot;:0,&quot;blue&quot;:0,&quot;origURL&quot;:&quot;https://www.codecogs.com/eqnedit.php?latex=A%20%5Ccdot%20%5Cbar%7BA%7D%20%3D%200#0&quot;,&quot;size&quot;:17,&quot;width&quot;:691.7952755905512,&quot;height&quot;:207.0708661417323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46684" y="2129880"/>
            <a:ext cx="948881" cy="20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63" title="{&quot;red&quot;:0,&quot;green&quot;:0,&quot;blue&quot;:0,&quot;origURL&quot;:&quot;https://www.codecogs.com/eqnedit.php?latex=%5Coverline%7BA%20%5Ccdot%20B%7D%20%3D%20%5Cbar%7BA%7D%20%2B%20%5Cbar%7BB%7D#0&quot;,&quot;size&quot;:17,&quot;width&quot;:691.7952755905512,&quot;height&quot;:207.0708661417323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60514" y="2437618"/>
            <a:ext cx="1512380" cy="223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63" title="{&quot;red&quot;:0,&quot;green&quot;:0,&quot;blue&quot;:0,&quot;origURL&quot;:&quot;https://www.codecogs.com/eqnedit.php?latex=%5Coverline%7BA%20%2B%20B%7D%20%3D%20%5Cbar%7BA%7D%20%5Ccdot%20%5Cbar%7BB%7D#0&quot;,&quot;size&quot;:17,&quot;width&quot;:691.7952755905512,&quot;height&quot;:207.0708661417323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46684" y="2460030"/>
            <a:ext cx="1512379" cy="223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63" title="{&quot;red&quot;:0,&quot;green&quot;:0,&quot;blue&quot;:0,&quot;origURL&quot;:&quot;https://www.codecogs.com/eqnedit.php?latex=A%20%5Ccdot%20(B%20%2B%20C)%20%3D%20(A%20%5Ccdot%20B)%20%2B%20(A%20%5Ccdot%20C)#0&quot;,&quot;size&quot;:17,&quot;width&quot;:691.7952755905512,&quot;height&quot;:207.0708661417323}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34349" y="2747777"/>
            <a:ext cx="2979245" cy="22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4"/>
          <p:cNvSpPr txBox="1"/>
          <p:nvPr/>
        </p:nvSpPr>
        <p:spPr>
          <a:xfrm>
            <a:off x="409576" y="1181100"/>
            <a:ext cx="1612200" cy="314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60" name="Google Shape;360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5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66" name="Google Shape;366;p65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67" name="Google Shape;367;p65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65"/>
          <p:cNvCxnSpPr>
            <a:stCxn id="367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9" name="Google Shape;369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6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77" name="Google Shape;377;p66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49" l="0" r="0" t="-289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78" name="Google Shape;378;p66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66"/>
          <p:cNvCxnSpPr>
            <a:stCxn id="378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0" name="Google Shape;380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88" name="Google Shape;388;p67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49" l="0" r="0" t="-289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89" name="Google Shape;389;p67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67"/>
          <p:cNvCxnSpPr>
            <a:stCxn id="389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1" name="Google Shape;391;p67"/>
          <p:cNvSpPr txBox="1"/>
          <p:nvPr/>
        </p:nvSpPr>
        <p:spPr>
          <a:xfrm>
            <a:off x="2818086" y="1948379"/>
            <a:ext cx="2502059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229" l="-1460" r="-2007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392" name="Google Shape;392;p6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8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00" name="Google Shape;400;p68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49" l="0" r="0" t="-289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01" name="Google Shape;401;p68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68"/>
          <p:cNvCxnSpPr>
            <a:stCxn id="401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3" name="Google Shape;403;p68"/>
          <p:cNvSpPr txBox="1"/>
          <p:nvPr/>
        </p:nvSpPr>
        <p:spPr>
          <a:xfrm>
            <a:off x="2818086" y="1948379"/>
            <a:ext cx="2502059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229" l="-1460" r="-2007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04" name="Google Shape;404;p68"/>
          <p:cNvSpPr txBox="1"/>
          <p:nvPr/>
        </p:nvSpPr>
        <p:spPr>
          <a:xfrm>
            <a:off x="409576" y="2345405"/>
            <a:ext cx="1336904" cy="2539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571" l="-3425" r="-1438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05" name="Google Shape;405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9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13" name="Google Shape;413;p69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14" name="Google Shape;414;p69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69"/>
          <p:cNvCxnSpPr>
            <a:stCxn id="414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6" name="Google Shape;416;p69"/>
          <p:cNvSpPr txBox="1"/>
          <p:nvPr/>
        </p:nvSpPr>
        <p:spPr>
          <a:xfrm>
            <a:off x="2818086" y="1948379"/>
            <a:ext cx="2626750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229" l="-139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17" name="Google Shape;417;p69"/>
          <p:cNvSpPr txBox="1"/>
          <p:nvPr/>
        </p:nvSpPr>
        <p:spPr>
          <a:xfrm>
            <a:off x="409576" y="2345405"/>
            <a:ext cx="1336904" cy="2539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571" l="-3425" r="-1438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18" name="Google Shape;418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6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0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26" name="Google Shape;426;p70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27" name="Google Shape;427;p70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70"/>
          <p:cNvCxnSpPr>
            <a:stCxn id="427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9" name="Google Shape;429;p70"/>
          <p:cNvSpPr txBox="1"/>
          <p:nvPr/>
        </p:nvSpPr>
        <p:spPr>
          <a:xfrm>
            <a:off x="2818086" y="1948379"/>
            <a:ext cx="2647532" cy="4847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382" r="0" t="-377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30" name="Google Shape;430;p70"/>
          <p:cNvSpPr txBox="1"/>
          <p:nvPr/>
        </p:nvSpPr>
        <p:spPr>
          <a:xfrm>
            <a:off x="409576" y="2345405"/>
            <a:ext cx="1336904" cy="2539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570" l="-3425" r="-14385" t="-357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31" name="Google Shape;431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39" name="Google Shape;439;p71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40" name="Google Shape;440;p71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71"/>
          <p:cNvCxnSpPr>
            <a:stCxn id="440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2" name="Google Shape;442;p71"/>
          <p:cNvSpPr txBox="1"/>
          <p:nvPr/>
        </p:nvSpPr>
        <p:spPr>
          <a:xfrm>
            <a:off x="2818086" y="1948379"/>
            <a:ext cx="2495132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229" l="-1465" r="-2381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43" name="Google Shape;443;p71"/>
          <p:cNvSpPr txBox="1"/>
          <p:nvPr/>
        </p:nvSpPr>
        <p:spPr>
          <a:xfrm>
            <a:off x="409576" y="2345405"/>
            <a:ext cx="1336904" cy="2539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570" l="-3425" r="-14385" t="-357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44" name="Google Shape;444;p71"/>
          <p:cNvSpPr txBox="1"/>
          <p:nvPr/>
        </p:nvSpPr>
        <p:spPr>
          <a:xfrm>
            <a:off x="2818085" y="2322321"/>
            <a:ext cx="2578260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229" l="-1418" r="0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45" name="Google Shape;445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2"/>
          <p:cNvSpPr txBox="1"/>
          <p:nvPr/>
        </p:nvSpPr>
        <p:spPr>
          <a:xfrm>
            <a:off x="409576" y="1181100"/>
            <a:ext cx="1612220" cy="314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53" name="Google Shape;453;p72"/>
          <p:cNvSpPr txBox="1"/>
          <p:nvPr/>
        </p:nvSpPr>
        <p:spPr>
          <a:xfrm>
            <a:off x="409576" y="1911350"/>
            <a:ext cx="1116893" cy="314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54" name="Google Shape;454;p72"/>
          <p:cNvSpPr/>
          <p:nvPr/>
        </p:nvSpPr>
        <p:spPr>
          <a:xfrm rot="-5400000">
            <a:off x="823765" y="1084113"/>
            <a:ext cx="108248" cy="936626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72"/>
          <p:cNvCxnSpPr>
            <a:stCxn id="454" idx="1"/>
          </p:cNvCxnSpPr>
          <p:nvPr/>
        </p:nvCxnSpPr>
        <p:spPr>
          <a:xfrm flipH="1">
            <a:off x="876389" y="1606550"/>
            <a:ext cx="15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6" name="Google Shape;456;p72"/>
          <p:cNvSpPr txBox="1"/>
          <p:nvPr/>
        </p:nvSpPr>
        <p:spPr>
          <a:xfrm>
            <a:off x="2818086" y="1948379"/>
            <a:ext cx="3070096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229" l="-1190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57" name="Google Shape;457;p72"/>
          <p:cNvSpPr txBox="1"/>
          <p:nvPr/>
        </p:nvSpPr>
        <p:spPr>
          <a:xfrm>
            <a:off x="409576" y="2345405"/>
            <a:ext cx="1336904" cy="2539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570" l="-3425" r="-14385" t="-357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58" name="Google Shape;458;p72"/>
          <p:cNvSpPr txBox="1"/>
          <p:nvPr/>
        </p:nvSpPr>
        <p:spPr>
          <a:xfrm>
            <a:off x="2818085" y="2322321"/>
            <a:ext cx="274451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229" l="-1331" r="0" t="-819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59" name="Google Shape;459;p72"/>
          <p:cNvSpPr txBox="1"/>
          <p:nvPr/>
        </p:nvSpPr>
        <p:spPr>
          <a:xfrm>
            <a:off x="409576" y="2719346"/>
            <a:ext cx="538609" cy="25391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5455" l="-9401" r="-5812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60" name="Google Shape;460;p7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3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68" name="Google Shape;468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4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76" name="Google Shape;476;p74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77" name="Google Shape;477;p74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74"/>
          <p:cNvCxnSpPr>
            <a:stCxn id="477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9" name="Google Shape;479;p7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5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87" name="Google Shape;487;p75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88" name="Google Shape;488;p75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75"/>
          <p:cNvCxnSpPr>
            <a:stCxn id="488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0" name="Google Shape;490;p7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6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98" name="Google Shape;498;p76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499" name="Google Shape;499;p76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76"/>
          <p:cNvCxnSpPr>
            <a:stCxn id="499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1" name="Google Shape;501;p76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02" name="Google Shape;502;p7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7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10" name="Google Shape;510;p77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11" name="Google Shape;511;p77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77"/>
          <p:cNvCxnSpPr>
            <a:stCxn id="511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3" name="Google Shape;513;p77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14" name="Google Shape;514;p7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8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22" name="Google Shape;522;p78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23" name="Google Shape;523;p78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78"/>
          <p:cNvCxnSpPr>
            <a:stCxn id="523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5" name="Google Shape;525;p78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2" l="-1855" r="-46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26" name="Google Shape;526;p7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9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34" name="Google Shape;534;p79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35" name="Google Shape;535;p79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79"/>
          <p:cNvCxnSpPr>
            <a:stCxn id="535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7" name="Google Shape;537;p79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2" l="-1855" r="-46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38" name="Google Shape;538;p79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39" name="Google Shape;539;p7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7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0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47" name="Google Shape;547;p80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48" name="Google Shape;548;p80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80"/>
          <p:cNvCxnSpPr>
            <a:stCxn id="548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0" name="Google Shape;550;p80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2" l="-1855" r="-46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51" name="Google Shape;551;p80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52" name="Google Shape;552;p80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53" name="Google Shape;553;p8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8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1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61" name="Google Shape;561;p81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62" name="Google Shape;562;p81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81"/>
          <p:cNvCxnSpPr>
            <a:stCxn id="562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4" name="Google Shape;564;p81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65" name="Google Shape;565;p81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66" name="Google Shape;566;p81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67" name="Google Shape;567;p8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2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75" name="Google Shape;575;p82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76" name="Google Shape;576;p82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82"/>
          <p:cNvCxnSpPr>
            <a:stCxn id="576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8" name="Google Shape;578;p82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79" name="Google Shape;579;p82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80" name="Google Shape;580;p82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-363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81" name="Google Shape;581;p8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8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3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89" name="Google Shape;589;p83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90" name="Google Shape;590;p83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83"/>
          <p:cNvCxnSpPr>
            <a:stCxn id="590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2" name="Google Shape;592;p83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93" name="Google Shape;593;p83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94" name="Google Shape;594;p83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-363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95" name="Google Shape;595;p83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596" name="Google Shape;596;p8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4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04" name="Google Shape;604;p84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05" name="Google Shape;605;p84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84"/>
          <p:cNvCxnSpPr>
            <a:stCxn id="605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7" name="Google Shape;607;p84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08" name="Google Shape;608;p84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09" name="Google Shape;609;p84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-363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10" name="Google Shape;610;p84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11" name="Google Shape;611;p84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12" name="Google Shape;612;p8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8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8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5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0" name="Google Shape;620;p85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1" name="Google Shape;621;p85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85"/>
          <p:cNvCxnSpPr>
            <a:stCxn id="621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3" name="Google Shape;623;p85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4" name="Google Shape;624;p85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5" name="Google Shape;625;p85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6" name="Google Shape;626;p85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7" name="Google Shape;627;p85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28" name="Google Shape;628;p8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8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8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6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36" name="Google Shape;636;p86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37" name="Google Shape;637;p86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p86"/>
          <p:cNvCxnSpPr>
            <a:stCxn id="637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9" name="Google Shape;639;p86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40" name="Google Shape;640;p86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41" name="Google Shape;641;p86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42" name="Google Shape;642;p86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43" name="Google Shape;643;p86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-363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44" name="Google Shape;644;p8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2" name="Google Shape;652;p87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3" name="Google Shape;653;p87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p87"/>
          <p:cNvCxnSpPr>
            <a:stCxn id="653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5" name="Google Shape;655;p87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6" name="Google Shape;656;p87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7" name="Google Shape;657;p87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8" name="Google Shape;658;p87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59" name="Google Shape;659;p87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-363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60" name="Google Shape;660;p87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2" l="-2359" r="-54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61" name="Google Shape;661;p8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8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8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69" name="Google Shape;669;p88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0" name="Google Shape;670;p88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88"/>
          <p:cNvCxnSpPr>
            <a:stCxn id="670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2" name="Google Shape;672;p88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3" name="Google Shape;673;p88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4" name="Google Shape;674;p88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5" name="Google Shape;675;p88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6" name="Google Shape;676;p88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7" name="Google Shape;677;p88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2" l="-2359" r="-54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78" name="Google Shape;678;p8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9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86" name="Google Shape;686;p89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87" name="Google Shape;687;p89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89"/>
          <p:cNvCxnSpPr>
            <a:stCxn id="687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9" name="Google Shape;689;p89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0" name="Google Shape;690;p89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1" name="Google Shape;691;p89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2" name="Google Shape;692;p89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3" name="Google Shape;693;p89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4" name="Google Shape;694;p89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2" l="-2359" r="-544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5" name="Google Shape;695;p89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2" l="-3390" r="-1695" t="-178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696" name="Google Shape;696;p8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8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90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04" name="Google Shape;704;p90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05" name="Google Shape;705;p90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90"/>
          <p:cNvCxnSpPr>
            <a:stCxn id="705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7" name="Google Shape;707;p90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08" name="Google Shape;708;p90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09" name="Google Shape;709;p90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10" name="Google Shape;710;p90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11" name="Google Shape;711;p90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12" name="Google Shape;712;p90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13" name="Google Shape;713;p90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14" name="Google Shape;714;p9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9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1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2" name="Google Shape;722;p91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3" name="Google Shape;723;p91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91"/>
          <p:cNvCxnSpPr>
            <a:stCxn id="723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5" name="Google Shape;725;p91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6" name="Google Shape;726;p91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7" name="Google Shape;727;p91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8" name="Google Shape;728;p91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29" name="Google Shape;729;p91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30" name="Google Shape;730;p91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31" name="Google Shape;731;p91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32" name="Google Shape;732;p91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2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1" name="Google Shape;741;p92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2" name="Google Shape;742;p92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92"/>
          <p:cNvCxnSpPr>
            <a:stCxn id="742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4" name="Google Shape;744;p92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5" name="Google Shape;745;p92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6" name="Google Shape;746;p92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7" name="Google Shape;747;p92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8" name="Google Shape;748;p92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49" name="Google Shape;749;p92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50" name="Google Shape;750;p92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51" name="Google Shape;751;p92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92"/>
          <p:cNvSpPr txBox="1"/>
          <p:nvPr/>
        </p:nvSpPr>
        <p:spPr>
          <a:xfrm>
            <a:off x="445041" y="4551590"/>
            <a:ext cx="1328489" cy="25391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52728" l="-5155" r="-8591" t="-254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53" name="Google Shape;753;p9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9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3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1" name="Google Shape;761;p93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2" name="Google Shape;762;p93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93"/>
          <p:cNvCxnSpPr>
            <a:stCxn id="762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93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5" name="Google Shape;765;p93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6" name="Google Shape;766;p93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7" name="Google Shape;767;p93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8" name="Google Shape;768;p93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69" name="Google Shape;769;p93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70" name="Google Shape;770;p93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71" name="Google Shape;771;p93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93"/>
          <p:cNvSpPr txBox="1"/>
          <p:nvPr/>
        </p:nvSpPr>
        <p:spPr>
          <a:xfrm>
            <a:off x="445041" y="4551590"/>
            <a:ext cx="1328489" cy="25391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52728" l="-5155" r="-8591" t="-254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73" name="Google Shape;773;p9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9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9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4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1" name="Google Shape;781;p94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2" name="Google Shape;782;p94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94"/>
          <p:cNvCxnSpPr>
            <a:stCxn id="782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4" name="Google Shape;784;p94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5" name="Google Shape;785;p94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6" name="Google Shape;786;p94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7" name="Google Shape;787;p94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8" name="Google Shape;788;p94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89" name="Google Shape;789;p94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90" name="Google Shape;790;p94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91" name="Google Shape;791;p94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4"/>
          <p:cNvSpPr txBox="1"/>
          <p:nvPr/>
        </p:nvSpPr>
        <p:spPr>
          <a:xfrm>
            <a:off x="445041" y="4551590"/>
            <a:ext cx="1328489" cy="25391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52728" l="-5155" r="-8591" t="-254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93" name="Google Shape;793;p94"/>
          <p:cNvSpPr txBox="1"/>
          <p:nvPr/>
        </p:nvSpPr>
        <p:spPr>
          <a:xfrm>
            <a:off x="3954156" y="4536162"/>
            <a:ext cx="3070096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794" name="Google Shape;794;p9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5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2" name="Google Shape;802;p95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3" name="Google Shape;803;p95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4" name="Google Shape;804;p95"/>
          <p:cNvCxnSpPr>
            <a:stCxn id="803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5" name="Google Shape;805;p95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6" name="Google Shape;806;p95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7" name="Google Shape;807;p95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8" name="Google Shape;808;p95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09" name="Google Shape;809;p95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10" name="Google Shape;810;p95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11" name="Google Shape;811;p95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12" name="Google Shape;812;p95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95"/>
          <p:cNvSpPr txBox="1"/>
          <p:nvPr/>
        </p:nvSpPr>
        <p:spPr>
          <a:xfrm>
            <a:off x="445041" y="4551590"/>
            <a:ext cx="2133998" cy="25391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52728" l="-3212" r="-428" t="-254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14" name="Google Shape;814;p95"/>
          <p:cNvSpPr txBox="1"/>
          <p:nvPr/>
        </p:nvSpPr>
        <p:spPr>
          <a:xfrm>
            <a:off x="3954156" y="4536162"/>
            <a:ext cx="3070096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15" name="Google Shape;815;p9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9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9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6"/>
          <p:cNvSpPr txBox="1"/>
          <p:nvPr/>
        </p:nvSpPr>
        <p:spPr>
          <a:xfrm>
            <a:off x="409576" y="1181100"/>
            <a:ext cx="3468498" cy="2544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7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23" name="Google Shape;823;p96"/>
          <p:cNvSpPr txBox="1"/>
          <p:nvPr/>
        </p:nvSpPr>
        <p:spPr>
          <a:xfrm>
            <a:off x="409576" y="1911350"/>
            <a:ext cx="2486258" cy="253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0000" l="-3683" r="-2578" t="-23214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24" name="Google Shape;824;p96"/>
          <p:cNvSpPr/>
          <p:nvPr/>
        </p:nvSpPr>
        <p:spPr>
          <a:xfrm rot="-5400000">
            <a:off x="1577978" y="339594"/>
            <a:ext cx="107628" cy="2324423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96"/>
          <p:cNvCxnSpPr>
            <a:stCxn id="824" idx="1"/>
          </p:cNvCxnSpPr>
          <p:nvPr/>
        </p:nvCxnSpPr>
        <p:spPr>
          <a:xfrm>
            <a:off x="1631792" y="1555620"/>
            <a:ext cx="0" cy="21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6" name="Google Shape;826;p96"/>
          <p:cNvSpPr txBox="1"/>
          <p:nvPr/>
        </p:nvSpPr>
        <p:spPr>
          <a:xfrm>
            <a:off x="409576" y="2351390"/>
            <a:ext cx="2961148" cy="253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71" l="-1855" r="-46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27" name="Google Shape;827;p96"/>
          <p:cNvSpPr txBox="1"/>
          <p:nvPr/>
        </p:nvSpPr>
        <p:spPr>
          <a:xfrm>
            <a:off x="3954158" y="2328307"/>
            <a:ext cx="3070096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28" name="Google Shape;828;p96"/>
          <p:cNvSpPr txBox="1"/>
          <p:nvPr/>
        </p:nvSpPr>
        <p:spPr>
          <a:xfrm>
            <a:off x="409576" y="2791430"/>
            <a:ext cx="2549977" cy="2539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909" l="-143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29" name="Google Shape;829;p96"/>
          <p:cNvSpPr txBox="1"/>
          <p:nvPr/>
        </p:nvSpPr>
        <p:spPr>
          <a:xfrm>
            <a:off x="3954157" y="2771291"/>
            <a:ext cx="3070096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0" name="Google Shape;830;p96"/>
          <p:cNvSpPr txBox="1"/>
          <p:nvPr/>
        </p:nvSpPr>
        <p:spPr>
          <a:xfrm>
            <a:off x="409576" y="3231470"/>
            <a:ext cx="2381662" cy="2539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909" l="-2495" r="-576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1" name="Google Shape;831;p96"/>
          <p:cNvSpPr txBox="1"/>
          <p:nvPr/>
        </p:nvSpPr>
        <p:spPr>
          <a:xfrm>
            <a:off x="409575" y="3671510"/>
            <a:ext cx="2519921" cy="25391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571" l="-2359" r="-544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2" name="Google Shape;832;p96"/>
          <p:cNvSpPr txBox="1"/>
          <p:nvPr/>
        </p:nvSpPr>
        <p:spPr>
          <a:xfrm>
            <a:off x="409575" y="4111550"/>
            <a:ext cx="1352534" cy="25391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571" l="-3390" r="-1695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3" name="Google Shape;833;p96"/>
          <p:cNvSpPr txBox="1"/>
          <p:nvPr/>
        </p:nvSpPr>
        <p:spPr>
          <a:xfrm>
            <a:off x="3954157" y="4088467"/>
            <a:ext cx="30700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b="1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96"/>
          <p:cNvSpPr txBox="1"/>
          <p:nvPr/>
        </p:nvSpPr>
        <p:spPr>
          <a:xfrm>
            <a:off x="445041" y="4551590"/>
            <a:ext cx="2133998" cy="25391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52728" l="-3212" r="-428" t="-254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5" name="Google Shape;835;p96"/>
          <p:cNvSpPr txBox="1"/>
          <p:nvPr/>
        </p:nvSpPr>
        <p:spPr>
          <a:xfrm>
            <a:off x="3954156" y="4536162"/>
            <a:ext cx="3070096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229" l="-1341" r="0" t="-655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836" name="Google Shape;836;p9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Uguaglianze tra espressioni booleane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9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Verifica la seguente disuguaglianza utilizzando le proprietà dell'algebra di Boole</a:t>
            </a:r>
            <a:endParaRPr baseline="-2500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9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7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4" name="Google Shape;844;p97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45" name="Google Shape;845;p9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8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1" name="Google Shape;851;p98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" name="Google Shape;852;p98"/>
          <p:cNvGraphicFramePr/>
          <p:nvPr/>
        </p:nvGraphicFramePr>
        <p:xfrm>
          <a:off x="4255336" y="1351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3" name="Google Shape;853;p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9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9" name="Google Shape;859;p9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0" name="Google Shape;860;p99"/>
          <p:cNvGraphicFramePr/>
          <p:nvPr/>
        </p:nvGraphicFramePr>
        <p:xfrm>
          <a:off x="4255336" y="1351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9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7" name="Google Shape;867;p100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8" name="Google Shape;868;p100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9" name="Google Shape;869;p1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5" name="Google Shape;875;p101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6" name="Google Shape;876;p101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77" name="Google Shape;877;p10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0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3" name="Google Shape;883;p102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4" name="Google Shape;884;p102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85" name="Google Shape;885;p10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1" name="Google Shape;891;p103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6CC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2" name="Google Shape;892;p103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93" name="Google Shape;893;p10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04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9" name="Google Shape;899;p104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0" name="Google Shape;900;p104"/>
          <p:cNvGraphicFramePr/>
          <p:nvPr/>
        </p:nvGraphicFramePr>
        <p:xfrm>
          <a:off x="4255336" y="1351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</a:tr>
            </a:tbl>
          </a:graphicData>
        </a:graphic>
      </p:graphicFrame>
      <p:sp>
        <p:nvSpPr>
          <p:cNvPr id="901" name="Google Shape;901;p10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05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7" name="Google Shape;907;p105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8" name="Google Shape;908;p105"/>
          <p:cNvGraphicFramePr/>
          <p:nvPr/>
        </p:nvGraphicFramePr>
        <p:xfrm>
          <a:off x="4255336" y="1351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</a:tr>
            </a:tbl>
          </a:graphicData>
        </a:graphic>
      </p:graphicFrame>
      <p:sp>
        <p:nvSpPr>
          <p:cNvPr id="909" name="Google Shape;909;p105"/>
          <p:cNvSpPr txBox="1"/>
          <p:nvPr/>
        </p:nvSpPr>
        <p:spPr>
          <a:xfrm>
            <a:off x="6671061" y="2161094"/>
            <a:ext cx="1257300" cy="3462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cxnSp>
        <p:nvCxnSpPr>
          <p:cNvPr id="910" name="Google Shape;910;p105"/>
          <p:cNvCxnSpPr/>
          <p:nvPr/>
        </p:nvCxnSpPr>
        <p:spPr>
          <a:xfrm>
            <a:off x="6609136" y="2331720"/>
            <a:ext cx="43174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1" name="Google Shape;911;p105"/>
          <p:cNvCxnSpPr/>
          <p:nvPr/>
        </p:nvCxnSpPr>
        <p:spPr>
          <a:xfrm>
            <a:off x="6586276" y="2887980"/>
            <a:ext cx="325064" cy="31242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2" name="Google Shape;912;p105"/>
          <p:cNvSpPr txBox="1"/>
          <p:nvPr/>
        </p:nvSpPr>
        <p:spPr>
          <a:xfrm>
            <a:off x="6586276" y="3051449"/>
            <a:ext cx="1257300" cy="346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913" name="Google Shape;913;p105"/>
          <p:cNvSpPr txBox="1"/>
          <p:nvPr/>
        </p:nvSpPr>
        <p:spPr>
          <a:xfrm>
            <a:off x="5021580" y="3739120"/>
            <a:ext cx="1257300" cy="346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1491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914" name="Google Shape;914;p1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0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Esercizio: </a:t>
            </a: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0" name="Google Shape;920;p106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1" name="Google Shape;921;p10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0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7" name="Google Shape;927;p107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/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/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8" name="Google Shape;928;p107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pic>
        <p:nvPicPr>
          <p:cNvPr id="929" name="Google Shape;929;p107" title="{&quot;red&quot;:0,&quot;green&quot;:0,&quot;blue&quot;:0,&quot;origURL&quot;:&quot;https://www.codecogs.com/eqnedit.php?latex=%20A%20%2B%20B%20#0&quot;,&quot;size&quot;:21,&quot;width&quot;:244.08661417322836,&quot;height&quot;:39.9921259842519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325" y="3400150"/>
            <a:ext cx="794099" cy="23803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1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0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</a:rPr>
              <a:t>Esercizio: </a:t>
            </a: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6" name="Google Shape;936;p108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7" name="Google Shape;937;p10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3" name="Google Shape;943;p109"/>
          <p:cNvGraphicFramePr/>
          <p:nvPr/>
        </p:nvGraphicFramePr>
        <p:xfrm>
          <a:off x="4255336" y="135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405000"/>
                <a:gridCol w="405000"/>
                <a:gridCol w="405000"/>
                <a:gridCol w="405000"/>
                <a:gridCol w="405000"/>
                <a:gridCol w="405000"/>
              </a:tblGrid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BC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/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C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/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E49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4" name="Google Shape;944;p10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{571F93D9-BF3B-409D-A662-100C3838F0D7}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pic>
        <p:nvPicPr>
          <p:cNvPr id="945" name="Google Shape;945;p109" title="{&quot;red&quot;:0,&quot;green&quot;:0,&quot;blue&quot;:0,&quot;origURL&quot;:&quot;https://www.codecogs.com/eqnedit.php?latex=%20AB%20%2B%20AC%20#0&quot;,&quot;size&quot;:21,&quot;width&quot;:244.08661417322836,&quot;height&quot;:39.9921259842519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325" y="3400150"/>
            <a:ext cx="1252157" cy="23803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0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0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sp>
        <p:nvSpPr>
          <p:cNvPr id="952" name="Google Shape;952;p110"/>
          <p:cNvSpPr txBox="1"/>
          <p:nvPr/>
        </p:nvSpPr>
        <p:spPr>
          <a:xfrm>
            <a:off x="137150" y="676647"/>
            <a:ext cx="8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Verificare se è possibile esprimere la funzione F in una forma semplificata che utilizzi il minor numero di termini ed operazioni</a:t>
            </a:r>
            <a:r>
              <a:rPr lang="it" sz="1500"/>
              <a:t> e verificare successivamente con la tavola di verità</a:t>
            </a:r>
            <a:endParaRPr/>
          </a:p>
        </p:txBody>
      </p:sp>
      <p:pic>
        <p:nvPicPr>
          <p:cNvPr descr="F_question.png" id="953" name="Google Shape;95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1427201"/>
            <a:ext cx="5427925" cy="2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11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959" name="Google Shape;95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11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111"/>
          <p:cNvCxnSpPr>
            <a:stCxn id="960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962" name="Google Shape;962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111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12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969" name="Google Shape;969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112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112"/>
          <p:cNvCxnSpPr>
            <a:stCxn id="970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972" name="Google Shape;972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112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974" name="Google Shape;974;p112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12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pic>
        <p:nvPicPr>
          <p:cNvPr id="976" name="Google Shape;976;p112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13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982" name="Google Shape;98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113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p113"/>
          <p:cNvCxnSpPr>
            <a:stCxn id="983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985" name="Google Shape;985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13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987" name="Google Shape;987;p113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13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989" name="Google Shape;989;p113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990" name="Google Shape;990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113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14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997" name="Google Shape;997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114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9" name="Google Shape;999;p114"/>
          <p:cNvCxnSpPr>
            <a:stCxn id="998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1000" name="Google Shape;1000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114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1002" name="Google Shape;1002;p114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14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1004" name="Google Shape;1004;p114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1005" name="Google Shape;1005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114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114"/>
          <p:cNvSpPr txBox="1"/>
          <p:nvPr/>
        </p:nvSpPr>
        <p:spPr>
          <a:xfrm>
            <a:off x="5996934" y="2156775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4.png" id="1008" name="Google Shape;1008;p1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923" y="2611054"/>
            <a:ext cx="3360994" cy="28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15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1014" name="Google Shape;1014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115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115"/>
          <p:cNvCxnSpPr>
            <a:stCxn id="1015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1017" name="Google Shape;1017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115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1019" name="Google Shape;1019;p115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115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1021" name="Google Shape;1021;p115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1022" name="Google Shape;1022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115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115"/>
          <p:cNvSpPr txBox="1"/>
          <p:nvPr/>
        </p:nvSpPr>
        <p:spPr>
          <a:xfrm>
            <a:off x="5996934" y="2156775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4.png" id="1025" name="Google Shape;1025;p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923" y="2611054"/>
            <a:ext cx="336099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5.png" id="1026" name="Google Shape;1026;p1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7923" y="3065353"/>
            <a:ext cx="3539173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15"/>
          <p:cNvSpPr txBox="1"/>
          <p:nvPr/>
        </p:nvSpPr>
        <p:spPr>
          <a:xfrm>
            <a:off x="5991350" y="2629225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proprietà distributiva AND nell'OR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16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1033" name="Google Shape;1033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116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116"/>
          <p:cNvCxnSpPr>
            <a:stCxn id="1034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1036" name="Google Shape;1036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16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1038" name="Google Shape;1038;p116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116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1040" name="Google Shape;1040;p116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1041" name="Google Shape;1041;p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116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16"/>
          <p:cNvSpPr txBox="1"/>
          <p:nvPr/>
        </p:nvSpPr>
        <p:spPr>
          <a:xfrm>
            <a:off x="5996934" y="2156775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4.png" id="1044" name="Google Shape;1044;p1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923" y="2611054"/>
            <a:ext cx="336099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5.png" id="1045" name="Google Shape;1045;p1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7923" y="3065353"/>
            <a:ext cx="3539173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6.png" id="1046" name="Google Shape;1046;p1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923" y="3519651"/>
            <a:ext cx="3938568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16"/>
          <p:cNvSpPr txBox="1"/>
          <p:nvPr/>
        </p:nvSpPr>
        <p:spPr>
          <a:xfrm>
            <a:off x="5991350" y="2629225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proprietà distributiva AND nell'OR</a:t>
            </a:r>
            <a:endParaRPr/>
          </a:p>
        </p:txBody>
      </p:sp>
      <p:sp>
        <p:nvSpPr>
          <p:cNvPr id="1048" name="Google Shape;1048;p116"/>
          <p:cNvSpPr txBox="1"/>
          <p:nvPr/>
        </p:nvSpPr>
        <p:spPr>
          <a:xfrm>
            <a:off x="5991351" y="3031713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associativa dell'OR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17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1054" name="Google Shape;105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17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6" name="Google Shape;1056;p117"/>
          <p:cNvCxnSpPr>
            <a:stCxn id="1055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1057" name="Google Shape;1057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17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1059" name="Google Shape;1059;p117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17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1061" name="Google Shape;1061;p117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1062" name="Google Shape;1062;p1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117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117"/>
          <p:cNvSpPr txBox="1"/>
          <p:nvPr/>
        </p:nvSpPr>
        <p:spPr>
          <a:xfrm>
            <a:off x="5996934" y="2156775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4.png" id="1065" name="Google Shape;1065;p1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923" y="2611054"/>
            <a:ext cx="336099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5.png" id="1066" name="Google Shape;1066;p1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7923" y="3065353"/>
            <a:ext cx="3539173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6.png" id="1067" name="Google Shape;1067;p1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923" y="3519651"/>
            <a:ext cx="3938568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7.png" id="1068" name="Google Shape;1068;p1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7925" y="3937600"/>
            <a:ext cx="2783576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17"/>
          <p:cNvSpPr txBox="1"/>
          <p:nvPr/>
        </p:nvSpPr>
        <p:spPr>
          <a:xfrm>
            <a:off x="5991350" y="2629225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proprietà distributiva AND nell'OR</a:t>
            </a:r>
            <a:endParaRPr/>
          </a:p>
        </p:txBody>
      </p:sp>
      <p:sp>
        <p:nvSpPr>
          <p:cNvPr id="1070" name="Google Shape;1070;p117"/>
          <p:cNvSpPr txBox="1"/>
          <p:nvPr/>
        </p:nvSpPr>
        <p:spPr>
          <a:xfrm>
            <a:off x="5991351" y="3031713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associativa dell'OR</a:t>
            </a:r>
            <a:endParaRPr/>
          </a:p>
        </p:txBody>
      </p:sp>
      <p:sp>
        <p:nvSpPr>
          <p:cNvPr id="1071" name="Google Shape;1071;p117"/>
          <p:cNvSpPr txBox="1"/>
          <p:nvPr/>
        </p:nvSpPr>
        <p:spPr>
          <a:xfrm>
            <a:off x="5996934" y="3469200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18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</a:t>
            </a:r>
            <a:endParaRPr sz="2700"/>
          </a:p>
        </p:txBody>
      </p:sp>
      <p:pic>
        <p:nvPicPr>
          <p:cNvPr descr="F_question.png" id="1077" name="Google Shape;1077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638838"/>
            <a:ext cx="5427925" cy="2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18"/>
          <p:cNvSpPr/>
          <p:nvPr/>
        </p:nvSpPr>
        <p:spPr>
          <a:xfrm rot="-5400000">
            <a:off x="3201997" y="-1510864"/>
            <a:ext cx="108300" cy="48921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18"/>
          <p:cNvCxnSpPr>
            <a:stCxn id="1078" idx="1"/>
          </p:cNvCxnSpPr>
          <p:nvPr/>
        </p:nvCxnSpPr>
        <p:spPr>
          <a:xfrm flipH="1">
            <a:off x="3248347" y="989336"/>
            <a:ext cx="78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step1.png" id="1080" name="Google Shape;1080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95" y="1248150"/>
            <a:ext cx="4325900" cy="2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18"/>
          <p:cNvSpPr txBox="1"/>
          <p:nvPr/>
        </p:nvSpPr>
        <p:spPr>
          <a:xfrm>
            <a:off x="6305700" y="63680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(B)</a:t>
            </a:r>
            <a:endParaRPr/>
          </a:p>
        </p:txBody>
      </p:sp>
      <p:pic>
        <p:nvPicPr>
          <p:cNvPr descr="step2.png" id="1082" name="Google Shape;1082;p118"/>
          <p:cNvPicPr preferRelativeResize="0"/>
          <p:nvPr/>
        </p:nvPicPr>
        <p:blipFill rotWithShape="1">
          <a:blip r:embed="rId5">
            <a:alphaModFix/>
          </a:blip>
          <a:srcRect b="-68237" l="0" r="-68209" t="0"/>
          <a:stretch/>
        </p:blipFill>
        <p:spPr>
          <a:xfrm>
            <a:off x="580495" y="1682017"/>
            <a:ext cx="698760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18"/>
          <p:cNvSpPr txBox="1"/>
          <p:nvPr/>
        </p:nvSpPr>
        <p:spPr>
          <a:xfrm>
            <a:off x="5991347" y="1281825"/>
            <a:ext cx="30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raccoglimento a fattor comune (   )</a:t>
            </a:r>
            <a:endParaRPr/>
          </a:p>
        </p:txBody>
      </p:sp>
      <p:sp>
        <p:nvSpPr>
          <p:cNvPr id="1084" name="Google Shape;1084;p118"/>
          <p:cNvSpPr txBox="1"/>
          <p:nvPr/>
        </p:nvSpPr>
        <p:spPr>
          <a:xfrm>
            <a:off x="5991351" y="1719288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3.png" id="1085" name="Google Shape;1085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923" y="2156746"/>
            <a:ext cx="376672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118" title="{&quot;red&quot;:0,&quot;green&quot;:112,&quot;blue&quot;:192,&quot;origURL&quot;:&quot;https://www.codecogs.com/eqnedit.php?latex=%5Cbar%7BA%7D#0&quot;,&quot;size&quot;:10,&quot;width&quot;:162.82677165354326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120" y="1344963"/>
            <a:ext cx="96202" cy="12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118"/>
          <p:cNvSpPr txBox="1"/>
          <p:nvPr/>
        </p:nvSpPr>
        <p:spPr>
          <a:xfrm>
            <a:off x="5996934" y="2156775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pic>
        <p:nvPicPr>
          <p:cNvPr descr="step4.png" id="1088" name="Google Shape;1088;p1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923" y="2611054"/>
            <a:ext cx="3360994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5.png" id="1089" name="Google Shape;1089;p1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7923" y="3065353"/>
            <a:ext cx="3539173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6.png" id="1090" name="Google Shape;1090;p1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923" y="3519651"/>
            <a:ext cx="3938568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7.png" id="1091" name="Google Shape;1091;p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7925" y="3937600"/>
            <a:ext cx="2783576" cy="28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8.png" id="1092" name="Google Shape;1092;p1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925" y="4355550"/>
            <a:ext cx="815775" cy="18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p9.png" id="1093" name="Google Shape;1093;p1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7924" y="4685799"/>
            <a:ext cx="486825" cy="1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18"/>
          <p:cNvSpPr txBox="1"/>
          <p:nvPr/>
        </p:nvSpPr>
        <p:spPr>
          <a:xfrm>
            <a:off x="5991350" y="2629225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proprietà distributiva AND nell'OR</a:t>
            </a:r>
            <a:endParaRPr/>
          </a:p>
        </p:txBody>
      </p:sp>
      <p:sp>
        <p:nvSpPr>
          <p:cNvPr id="1095" name="Google Shape;1095;p118"/>
          <p:cNvSpPr txBox="1"/>
          <p:nvPr/>
        </p:nvSpPr>
        <p:spPr>
          <a:xfrm>
            <a:off x="5991351" y="3031713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associativa dell'OR</a:t>
            </a:r>
            <a:endParaRPr/>
          </a:p>
        </p:txBody>
      </p:sp>
      <p:sp>
        <p:nvSpPr>
          <p:cNvPr id="1096" name="Google Shape;1096;p118"/>
          <p:cNvSpPr txBox="1"/>
          <p:nvPr/>
        </p:nvSpPr>
        <p:spPr>
          <a:xfrm>
            <a:off x="5996934" y="3469200"/>
            <a:ext cx="2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teorema dell'assorbimento</a:t>
            </a:r>
            <a:endParaRPr/>
          </a:p>
        </p:txBody>
      </p:sp>
      <p:sp>
        <p:nvSpPr>
          <p:cNvPr id="1097" name="Google Shape;1097;p118"/>
          <p:cNvSpPr txBox="1"/>
          <p:nvPr/>
        </p:nvSpPr>
        <p:spPr>
          <a:xfrm>
            <a:off x="5991350" y="3941650"/>
            <a:ext cx="22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0070C0"/>
                </a:solidFill>
              </a:rPr>
              <a:t>complementi OR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9"/>
          <p:cNvSpPr txBox="1"/>
          <p:nvPr/>
        </p:nvSpPr>
        <p:spPr>
          <a:xfrm>
            <a:off x="137160" y="114300"/>
            <a:ext cx="886510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Esercizio n. 4 – Verifica con tavola di verità</a:t>
            </a:r>
            <a:endParaRPr/>
          </a:p>
        </p:txBody>
      </p:sp>
      <p:sp>
        <p:nvSpPr>
          <p:cNvPr id="1103" name="Google Shape;1103;p119"/>
          <p:cNvSpPr txBox="1"/>
          <p:nvPr/>
        </p:nvSpPr>
        <p:spPr>
          <a:xfrm>
            <a:off x="137160" y="658368"/>
            <a:ext cx="878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controllare che tutti i passaggi siano stati svolti correttamente si può utilizzare, con molta attenzione, il metodo esaustivo della tavola di verità. </a:t>
            </a:r>
            <a:br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Quattro variabili in ingresso danno luogo a 2⁴ = 16 combinazioni. </a:t>
            </a:r>
            <a:br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Procedendo in modo incrementale e seguendo il corretto ordine di valutazione dei termini nell'espressione Y, si può verificare il buon esito del risultato finale.</a:t>
            </a:r>
            <a:endParaRPr/>
          </a:p>
        </p:txBody>
      </p:sp>
      <p:sp>
        <p:nvSpPr>
          <p:cNvPr id="1104" name="Google Shape;1104;p119"/>
          <p:cNvSpPr txBox="1"/>
          <p:nvPr/>
        </p:nvSpPr>
        <p:spPr>
          <a:xfrm>
            <a:off x="137160" y="1938281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Assegnando le variabili:</a:t>
            </a:r>
            <a:endParaRPr/>
          </a:p>
        </p:txBody>
      </p:sp>
      <p:sp>
        <p:nvSpPr>
          <p:cNvPr id="1105" name="Google Shape;1105;p119"/>
          <p:cNvSpPr txBox="1"/>
          <p:nvPr/>
        </p:nvSpPr>
        <p:spPr>
          <a:xfrm>
            <a:off x="137150" y="2350000"/>
            <a:ext cx="15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725" lIns="77500" spcFirstLastPara="1" rIns="77500" wrap="square" tIns="38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1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186"/>
          </a:p>
        </p:txBody>
      </p:sp>
      <p:pic>
        <p:nvPicPr>
          <p:cNvPr descr="X_def.png" id="1106" name="Google Shape;1106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235" y="2350008"/>
            <a:ext cx="1353252" cy="219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119"/>
          <p:cNvSpPr txBox="1"/>
          <p:nvPr/>
        </p:nvSpPr>
        <p:spPr>
          <a:xfrm>
            <a:off x="137150" y="2608181"/>
            <a:ext cx="1293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50" lIns="64525" spcFirstLastPara="1" rIns="64525" wrap="square" tIns="32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988"/>
          </a:p>
        </p:txBody>
      </p:sp>
      <p:pic>
        <p:nvPicPr>
          <p:cNvPr descr="Y_def.png" id="1108" name="Google Shape;1108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35" y="2608181"/>
            <a:ext cx="1172469" cy="219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119"/>
          <p:cNvSpPr txBox="1"/>
          <p:nvPr/>
        </p:nvSpPr>
        <p:spPr>
          <a:xfrm>
            <a:off x="137150" y="2866355"/>
            <a:ext cx="1293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50" lIns="64525" spcFirstLastPara="1" rIns="64525" wrap="square" tIns="32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988"/>
          </a:p>
        </p:txBody>
      </p:sp>
      <p:pic>
        <p:nvPicPr>
          <p:cNvPr descr="V_def.png" id="1110" name="Google Shape;1110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235" y="2866355"/>
            <a:ext cx="1931126" cy="219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119"/>
          <p:cNvSpPr txBox="1"/>
          <p:nvPr/>
        </p:nvSpPr>
        <p:spPr>
          <a:xfrm>
            <a:off x="137150" y="3124528"/>
            <a:ext cx="1293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50" lIns="64525" spcFirstLastPara="1" rIns="64525" wrap="square" tIns="32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988"/>
          </a:p>
        </p:txBody>
      </p:sp>
      <p:pic>
        <p:nvPicPr>
          <p:cNvPr descr="W_def.png" id="1112" name="Google Shape;1112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235" y="3124528"/>
            <a:ext cx="1611362" cy="219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9"/>
          <p:cNvSpPr txBox="1"/>
          <p:nvPr/>
        </p:nvSpPr>
        <p:spPr>
          <a:xfrm>
            <a:off x="137160" y="3713773"/>
            <a:ext cx="878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L'uguaglianza da verificare diventa:</a:t>
            </a:r>
            <a:endParaRPr/>
          </a:p>
        </p:txBody>
      </p:sp>
      <p:pic>
        <p:nvPicPr>
          <p:cNvPr descr="F_check.png" id="1114" name="Google Shape;1114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175" y="4053275"/>
            <a:ext cx="3662083" cy="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20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/>
              <a:t>Verifica con la t</a:t>
            </a: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avola di verità</a:t>
            </a:r>
            <a:endParaRPr sz="2700"/>
          </a:p>
        </p:txBody>
      </p:sp>
      <p:graphicFrame>
        <p:nvGraphicFramePr>
          <p:cNvPr id="1120" name="Google Shape;1120;p120"/>
          <p:cNvGraphicFramePr/>
          <p:nvPr/>
        </p:nvGraphicFramePr>
        <p:xfrm>
          <a:off x="137160" y="7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{6C11A2B7-DEC9-44C4-B82C-DA4226336E03}</a:tableStyleId>
              </a:tblPr>
              <a:tblGrid>
                <a:gridCol w="420800"/>
                <a:gridCol w="420800"/>
                <a:gridCol w="420800"/>
                <a:gridCol w="420800"/>
                <a:gridCol w="554700"/>
                <a:gridCol w="554700"/>
                <a:gridCol w="459050"/>
                <a:gridCol w="459050"/>
                <a:gridCol w="459050"/>
                <a:gridCol w="812950"/>
                <a:gridCol w="420800"/>
              </a:tblGrid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X=AB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Y=XC̄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BC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 u="none" cap="none" strike="noStrike">
                          <a:solidFill>
                            <a:srgbClr val="FFFFFF"/>
                          </a:solidFill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