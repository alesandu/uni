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Play"/>
      <p:regular r:id="rId45"/>
      <p:bold r:id="rId46"/>
    </p:embeddedFont>
    <p:embeddedFont>
      <p:font typeface="Tahoma"/>
      <p:regular r:id="rId47"/>
      <p:bold r:id="rId48"/>
    </p:embeddedFont>
    <p:embeddedFont>
      <p:font typeface="Cutive"/>
      <p:regular r:id="rId49"/>
    </p:embeddedFont>
    <p:embeddedFont>
      <p:font typeface="Lemon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Play-bold.fntdata"/><Relationship Id="rId45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Tahoma-bold.fntdata"/><Relationship Id="rId47" Type="http://schemas.openxmlformats.org/officeDocument/2006/relationships/font" Target="fonts/Tahoma-regular.fntdata"/><Relationship Id="rId49" Type="http://schemas.openxmlformats.org/officeDocument/2006/relationships/font" Target="fonts/Cutiv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Lemon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14fd389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d114fd389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4e37c3b5_1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14e37c3b5_1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14e37c3b5_1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14fd389f_0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114fd389f_0_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114fd389f_0_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14fd389f_0_4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114fd389f_0_4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114fd389f_0_4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114fd389f_0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114fd389f_0_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114fd389f_0_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14fd389f_0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114fd389f_0_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114fd389f_0_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14fd389f_0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114fd389f_0_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114fd389f_0_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114fd389f_0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114fd389f_0_1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114fd389f_0_1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1516949bd_1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1516949bd_1_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1516949bd_1_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114fd389f_0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114fd389f_0_1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114fd389f_0_1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114fd389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114fd389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114fd389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114fd389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114fd38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d114fd38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1516949bd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1516949bd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1516949bd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1516949b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1516949bd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1516949bd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1516949bd_5_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1516949bd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d1516949bd_5_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114fd389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d114fd389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26b1867f7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26b1867f7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26b1867f7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114fd389f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d114fd389f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114fd389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d114fd389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114fd389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d114fd389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1516949bd_5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d1516949bd_5_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26b1867f7_1_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d26b1867f7_1_1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26b1867f7_1_1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26b1867f7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d26b1867f7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26b1867f7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26b1867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d26b1867f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d26b1867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d26b1867f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26b1867f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26b1867f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26b1867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d26b1867f7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26b1867f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26b1867f7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26b1867f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d26b1867f7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d26b1867f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d26b1867f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26b1867f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26b1867f7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26b1867f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d26b1867f7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26b1867f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d26b1867f7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26b1867f7_0_2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d26b1867f7_0_2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d26b1867f7_0_2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d26b1867f7_1_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d26b1867f7_1_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d26b1867f7_1_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26b1867f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d26b1867f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26b1867f7_0_2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d26b1867f7_0_28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d26b1867f7_0_28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3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Introduzione al CPUlator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Design-time e Compile-time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Registri ARM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R0–R12, SP, LR, PC, CPSR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Istruzioni ba</a:t>
            </a:r>
            <a:r>
              <a:rPr lang="it" sz="1800">
                <a:solidFill>
                  <a:srgbClr val="1A1A1A"/>
                </a:solidFill>
              </a:rPr>
              <a:t>se ARM</a:t>
            </a:r>
            <a:endParaRPr sz="1800">
              <a:solidFill>
                <a:srgbClr val="1A1A1A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Caricamento di costanti nei registri (MOV) </a:t>
            </a:r>
            <a:r>
              <a:rPr lang="it" sz="1800">
                <a:solidFill>
                  <a:srgbClr val="1A1A1A"/>
                </a:solidFill>
              </a:rPr>
              <a:t>e limiti</a:t>
            </a:r>
            <a:endParaRPr sz="1800">
              <a:solidFill>
                <a:schemeClr val="dk1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Istruzione di shift (LSL, LSR, ASR)</a:t>
            </a:r>
            <a:endParaRPr sz="1800">
              <a:solidFill>
                <a:srgbClr val="1A1A1A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lang="it" sz="1800">
                <a:solidFill>
                  <a:srgbClr val="1A1A1A"/>
                </a:solidFill>
              </a:rPr>
              <a:t>Istruzioni di storage (LDR, STR)</a:t>
            </a:r>
            <a:endParaRPr sz="1800">
              <a:solidFill>
                <a:srgbClr val="1A1A1A"/>
              </a:solidFill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lang="it" sz="1800">
                <a:solidFill>
                  <a:srgbClr val="1A1A1A"/>
                </a:solidFill>
              </a:rPr>
              <a:t>Istruzioni aritmetiche e logiche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it" sz="1800">
                <a:solidFill>
                  <a:srgbClr val="1A1A1A"/>
                </a:solidFill>
              </a:rPr>
              <a:t>DNS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Esercizi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400" u="none" cap="none" strike="noStrike">
                <a:solidFill>
                  <a:srgbClr val="1A1A1A"/>
                </a:solidFill>
              </a:rPr>
              <a:t>Indice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CPUlator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2000"/>
              <a:buFont typeface="Calibri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Cos'è il CPUlator?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48640" y="1645920"/>
            <a:ext cx="8046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Simulatore online di processore ARM (e altri), accessibile da browser.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Permette di scrivere, compilare ed eseguire programmi Assembly ARM passo-passo.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Fornisce visibilità su: registri, memoria, stack e flag di stato (CPSR).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CPUlator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7200" y="1097349"/>
            <a:ext cx="8046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2000"/>
              <a:buFont typeface="Calibri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Come accedere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57200" y="2021412"/>
            <a:ext cx="80466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i="1" lang="it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https://cpulator.01xz.net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" y="3392192"/>
            <a:ext cx="80466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Selezionare: ARMv7 → Language: ARM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Design-time e Compile-time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65760" y="1143000"/>
            <a:ext cx="3931800" cy="4389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65760" y="1143000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57200" y="1645920"/>
            <a:ext cx="374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Fase in cui si scrive il codice sorgente.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programmatore definisce istruzioni, etichette e costanti (.equ).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processore non ha ancora eseguito nulla.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Errori tipici: sintassi sbagliata, nomi di registro errati.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846320" y="1143000"/>
            <a:ext cx="3931800" cy="4389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846320" y="1143000"/>
            <a:ext cx="3931800" cy="4389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937760" y="1645920"/>
            <a:ext cx="374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L'assembler traduce il sorgente in linguaggio macchina (opcode).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Risolve etichette, costanti e indirizzi simbolici.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Controlla la correttezza delle istruzioni.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Errori tipici: costante non codificabile, istruzione non valida.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Registri ARM (ARMv7)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365760" y="118872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R0 – R3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560320" y="1234440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Argomenti di funzione / risultati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5760" y="1664208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57200" y="170992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R4 – R11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560320" y="1709928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Registri general purpose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65760" y="2139696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57200" y="2185416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R12 (IP)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560320" y="2185416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Intra-procedure scratch register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65760" y="2615184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57200" y="2660904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R13 (SP)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2560320" y="2660904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Stack Pointer – punta alla cima dello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65760" y="3090672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57200" y="3136392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R14 (LR)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560320" y="3136392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Link Register – indirizzo di ritorno da subroutine (BL)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65760" y="356616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457200" y="361188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R15 (PC)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560320" y="3611880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Program Counter – indirizzo della prossima istruzione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65760" y="4041648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457200" y="40873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CPSR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560320" y="4087368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Program Status Register – flag N, Z, C, 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Caricare costanti: istruzione MOV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Sintassi: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8640" y="1627632"/>
            <a:ext cx="8046600" cy="822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685800" y="1719072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Rd, #imm8        ; Rd &lt;- imm8  (costante immediata)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Rd, Rn           ; Rd &lt;- Rn   (copia da registro)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48640" y="25603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 pratici: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48640" y="2944368"/>
            <a:ext cx="8046600" cy="1828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85800" y="3035808"/>
            <a:ext cx="7772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10     </a:t>
            </a:r>
            <a:r>
              <a:rPr lang="it" sz="1300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varX come simbolo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30     </a:t>
            </a:r>
            <a:r>
              <a:rPr lang="it" sz="1300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varY come simbolo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20     </a:t>
            </a:r>
            <a:r>
              <a:rPr b="0" i="0" lang="it" sz="130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varZ come simbolo 20</a:t>
            </a:r>
            <a:endParaRPr b="0" i="0" sz="1300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R0, #varX    ; R0 &lt;- 10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#varY    ; R1 &lt;- 30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R2, #varZ    ; R2 &lt;- 20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Operazioni di Shift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48640" y="118872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 istruzioni di shift spostano i bit di un registro a sinistra o destra: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48640" y="1627632"/>
            <a:ext cx="8046600" cy="1097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85800" y="171907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LSL #1   ; R1 = R0 &lt;&lt; 1  (moltiplicazione per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LSR #1   ; R1 = R0 &gt;&gt; 1  (divisione per 2, senza segno)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ASR #1   ; R1 = R0 &gt;&gt; 1  (divisione per 2, con segno</a:t>
            </a:r>
            <a:r>
              <a:rPr lang="it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negativi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48640" y="2816352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48640" y="3172968"/>
            <a:ext cx="8046600" cy="12345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685800" y="3264408"/>
            <a:ext cx="7772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R0, #5           ; R0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00000101  (5)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LSL #2   ; R1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00010100  (20 = 5×4)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R2, R0, LSR #1   ; R2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00000010  (2 = 5÷2, troncato)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Operazioni di Load and Store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Concetto fondamentale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ARM usa architettura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load/store</a:t>
            </a:r>
            <a:r>
              <a:rPr i="0" lang="it" sz="1400" u="none" cap="none" strike="noStrike">
                <a:solidFill>
                  <a:srgbClr val="1A1A1A"/>
                </a:solidFill>
              </a:rPr>
              <a:t>: solo LDR e STR accedono alla memoria; le altre istruzioni operano solo su registri.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LDR – Load Register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Carica un valore dalla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memoria</a:t>
            </a:r>
            <a:r>
              <a:rPr i="0" lang="it" sz="1400" u="none" cap="none" strike="noStrike">
                <a:solidFill>
                  <a:srgbClr val="1A1A1A"/>
                </a:solidFill>
              </a:rPr>
              <a:t> in un registro.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STR – Store Register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Salva il valore di un registro in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memoria</a:t>
            </a:r>
            <a:r>
              <a:rPr i="0" lang="it" sz="1400" u="none" cap="none" strike="noStrike">
                <a:solidFill>
                  <a:srgbClr val="1A1A1A"/>
                </a:solidFill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Modalità di indirizzamento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indirizzo base dal registro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[Rn, #offset]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base + offset immediato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[Rn, Rm]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base + offset da registro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Sintassi LDR / STR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Rd, [Rn]         ; Rd = Mem[Rn]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Rd, [Rn, #4]     ; Rd = Mem[Rn+4]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Rs, [Rn]         ; Mem[Rn] = 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Rs, [Rn, #8]     ; Mem[Rn+8] = 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Esempio pratico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  R0, #100         ; R0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R0, [SP]         ; salva 100 in stack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R1, [SP]         ; R1 = 100</a:t>
            </a:r>
            <a:endParaRPr/>
          </a:p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Limiti del MOV: costanti non codificabili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Come ARM codifica le costanti immediate: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48640" y="1600200"/>
            <a:ext cx="8046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MOV accetta solo costanti codificabili come imm8r: 8 bit ruotati di un multiplo pari.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 tutte le costanti a 32 bit sono rappresentabili direttamente.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compilatore non segnala errore a compile-time bensì sostituisce l istruzione con MOVW.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48640" y="288036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Prova nel CPUlator: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8640" y="3273552"/>
            <a:ext cx="8046600" cy="141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85800" y="3364992"/>
            <a:ext cx="7772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#0xFF        ; ✓ OK  (255 - codificabile)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#0x100       ; ✓ OK  (256 = 1 ruotato di 24)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4747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#0x101       ; ✗ ERRORE – non codificabile come imm8r (MO</a:t>
            </a:r>
            <a:r>
              <a:rPr lang="it" sz="1300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VW</a:t>
            </a: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4747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#0xFFFF      ; ✗ ERRORE – troppi bit attivi (MOV</a:t>
            </a:r>
            <a:r>
              <a:rPr lang="it" sz="1300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48640" y="473659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None/>
            </a:pPr>
            <a:r>
              <a:t/>
            </a:r>
            <a:endParaRPr b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Istruzioni ARM Base: Aritmetiche e Logiche</a:t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Aritmetiche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  R0, R1, R2    ; R0 = R1 +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  R0, R1, #5    ; R0 = R1 + 5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SUB  R0, R1, R2    ; R0 = R1 -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MUL  R0, R1, R2    ; R0 = R1 *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Logiche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AND  R0, R1, #0xFF ; maschera basso byte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ORR  R0, R0, #0x80 ; setta bit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EOR  R0, R1, R2    ; XOR: toggle bit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MVN  R0, R1        ; R0 = NOT 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Istruzioni Aritmetiche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somma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sottrazione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Rm, Rs    - moltiplicazione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Istruzioni Logiche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AND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ORR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OR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EOR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XOR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MVN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Op2       - NOT bit a bit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Formato Op2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Op2 puo essere: #imm8, Rm, o Rm con shift (LSL/LSR/ASR)</a:t>
            </a:r>
            <a:endParaRPr/>
          </a:p>
        </p:txBody>
      </p:sp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Istruzioni ARM: CMP, Suffissi</a:t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CMP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CMP Rn, Op2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Rn - Op2, aggiorna N,Z,C,V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Non scriv</a:t>
            </a:r>
            <a:r>
              <a:rPr lang="it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it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il risultato, aggiorna solo i flag CPSR.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Suffissi condizionali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EQ / NE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uguale / diverso (Z=1 / Z=0)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GT / LT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maggiore / minore (con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 / LE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magg/ug. / min/ug. (con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 / LO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maggiore / minore (senza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  sempre (default, omissibile)</a:t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Confronto e istr. condizionali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CMP  R0, R1          ; flag da R0-R1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MOVEQ R2, R0         ; R2=R0 se Z=1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MOVGT R2, R0         ; R2=R0 se R0&gt;R1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MOVLT R2, R1         ; R2=R1 se R0&lt;R1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Istr. condizionali con ADD/SUB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CMP  R0, #0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ADDGT R1, R1, #1     ; R1++ se R0&gt;0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SUBEQ R1, R1, #1     ; R1-- se R0=0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Diagramma Nassi-Shneiderman (DNS)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Cos'e il DNS?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Diagramma Nassi-Shneiderman e uno strumento grafico per rappresentare algoritmi strutturati in modo visuale, senza frecce o goto.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Strutture di controllo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Sequenza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blocchi impilati dall alto in basso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Selezione (if/else)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blocco diviso in + e - dalla condizione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Iterazione (while/for)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barra laterale con condizione in cima</a:t>
            </a:r>
            <a:endParaRPr/>
          </a:p>
        </p:txBody>
      </p:sp>
      <p:pic>
        <p:nvPicPr>
          <p:cNvPr id="230" name="Google Shape;2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249740"/>
            <a:ext cx="4495800" cy="215560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 da svolgere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960120" y="1782345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somma di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960120" y="249557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30, 15 e moltiplicare il risultato per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365750" y="1097275"/>
            <a:ext cx="7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 il diagramma DNS e il codice ARM dei seguenti </a:t>
            </a:r>
            <a:r>
              <a:rPr lang="it"/>
              <a:t>esercizi</a:t>
            </a:r>
            <a:r>
              <a:rPr lang="it"/>
              <a:t>:</a:t>
            </a:r>
            <a:endParaRPr/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960120" y="320880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Memorizzare</a:t>
            </a: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il massimo tra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960099" y="394945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Dato X = 36, calcola X / 4 e salva il risultato.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1: Somma di tre numeri interi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la somma di tre numeri interi X, Y, Z ∈ 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somma(X, Y, Z)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X, Y, Z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somma(X,Y,Z) restituisce la somma di X, Y e 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Calcola la somma temporanea di X e Y → Somma = X + 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Calcola la somma definitiva aggiungendo Z → Somma = Somma + Z.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/>
        </p:nvSpPr>
        <p:spPr>
          <a:xfrm>
            <a:off x="505177" y="990025"/>
            <a:ext cx="7109400" cy="29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calcolare la somma di tre numeri il metodo più semplice è sommare i valori in sequenza: prima sommiamo due numeri e poi aggiungiamo il terzo al risultato parziale.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Formalizzando l’algoritmo i passaggi sono: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Calcola la somma parziale di X e Y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Somma = X + Y;</a:t>
            </a:r>
            <a:endParaRPr sz="1700">
              <a:solidFill>
                <a:schemeClr val="dk1"/>
              </a:solidFill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Aggiungi Z alla somma parziale per ottenere la somma definitiva → Somma = Somma + Z.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Esercizio 1: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Somma di tre numeri interi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/>
          <p:nvPr/>
        </p:nvSpPr>
        <p:spPr>
          <a:xfrm>
            <a:off x="457200" y="18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457200" y="900000"/>
            <a:ext cx="20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corrispondente diagramma DNS e:</a:t>
            </a:r>
            <a:endParaRPr/>
          </a:p>
        </p:txBody>
      </p:sp>
      <p:sp>
        <p:nvSpPr>
          <p:cNvPr id="277" name="Google Shape;277;p30"/>
          <p:cNvSpPr/>
          <p:nvPr/>
        </p:nvSpPr>
        <p:spPr>
          <a:xfrm>
            <a:off x="2600000" y="13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Somma = X + Y</a:t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2600000" y="18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Somma = Somma + Z</a:t>
            </a:r>
            <a:endParaRPr/>
          </a:p>
        </p:txBody>
      </p:sp>
      <p:sp>
        <p:nvSpPr>
          <p:cNvPr id="279" name="Google Shape;279;p30"/>
          <p:cNvSpPr/>
          <p:nvPr/>
        </p:nvSpPr>
        <p:spPr>
          <a:xfrm>
            <a:off x="2600000" y="23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Somma</a:t>
            </a:r>
            <a:endParaRPr/>
          </a:p>
        </p:txBody>
      </p:sp>
      <p:sp>
        <p:nvSpPr>
          <p:cNvPr id="280" name="Google Shape;280;p30"/>
          <p:cNvSpPr txBox="1"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Nota: la somma e un algoritmo puramente sequenziale - nessuna struttura di selezione nel DNS.</a:t>
            </a:r>
            <a:endParaRPr/>
          </a:p>
        </p:txBody>
      </p:sp>
      <p:sp>
        <p:nvSpPr>
          <p:cNvPr id="281" name="Google Shape;28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– Es. 1: Somma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#varX       ; leggo X (10)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#varY       ; leggo Y (20)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#varZ       ; leggo Z (30)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   R3, R0, R1      ; Somma = X +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   R3, R3, R2      ; Somma = Somma +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Somma (10+20+30=60)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 da svolgere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960120" y="1782345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somma di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2"/>
          <p:cNvSpPr/>
          <p:nvPr/>
        </p:nvSpPr>
        <p:spPr>
          <a:xfrm>
            <a:off x="960120" y="249557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30, 15 e moltiplicare il risultato per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 txBox="1"/>
          <p:nvPr/>
        </p:nvSpPr>
        <p:spPr>
          <a:xfrm>
            <a:off x="365750" y="1097275"/>
            <a:ext cx="7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 il diagramma DNS e il codice ARM dei seguenti esercizi:</a:t>
            </a:r>
            <a:endParaRPr/>
          </a:p>
        </p:txBody>
      </p:sp>
      <p:sp>
        <p:nvSpPr>
          <p:cNvPr id="303" name="Google Shape;30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2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960120" y="320880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Memorizzare il massimo tra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960099" y="394945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Dato X = 36, calcola X / 4 e salva il risultato.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2: Differenza e moltiplicazione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3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A=30, B=15 e moltiplicare il risultato per C=10.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diffMul(A, B, 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A, B, C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diffMul(A,B,C) restituisce (A-B)*C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Calcola la differenza tra A e B → Diff = A - 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Moltiplica il risultato per C → Risultato = Diff × 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/>
        </p:nvSpPr>
        <p:spPr>
          <a:xfrm>
            <a:off x="505177" y="990025"/>
            <a:ext cx="7109400" cy="29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calcolare prima la differenza di due numeri e poi moltiplicare il risultato per un terzo valore, eseguiamo le operazioni in sequenza: prima la sottrazione, poi la moltiplicazione.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Formalizzando l’algoritmo i passaggi sono: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Calcola la differenza tra A e B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Diff = A - B;</a:t>
            </a:r>
            <a:endParaRPr sz="1700">
              <a:solidFill>
                <a:schemeClr val="dk1"/>
              </a:solidFill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Moltiplica il risultato Diff per C per ottenere il risultato definitivo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Risultato = Diff × 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4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Esercizio 2: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Differenza e moltiplicazione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5"/>
          <p:cNvSpPr txBox="1"/>
          <p:nvPr/>
        </p:nvSpPr>
        <p:spPr>
          <a:xfrm>
            <a:off x="457200" y="18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sp>
        <p:nvSpPr>
          <p:cNvPr id="334" name="Google Shape;334;p35"/>
          <p:cNvSpPr txBox="1"/>
          <p:nvPr/>
        </p:nvSpPr>
        <p:spPr>
          <a:xfrm>
            <a:off x="457200" y="900000"/>
            <a:ext cx="20499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corrispondente diagramma DNS e:</a:t>
            </a:r>
            <a:endParaRPr/>
          </a:p>
        </p:txBody>
      </p:sp>
      <p:sp>
        <p:nvSpPr>
          <p:cNvPr id="335" name="Google Shape;335;p35"/>
          <p:cNvSpPr/>
          <p:nvPr/>
        </p:nvSpPr>
        <p:spPr>
          <a:xfrm>
            <a:off x="2600000" y="13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 = A - B</a:t>
            </a:r>
            <a:endParaRPr/>
          </a:p>
        </p:txBody>
      </p:sp>
      <p:sp>
        <p:nvSpPr>
          <p:cNvPr id="336" name="Google Shape;336;p35"/>
          <p:cNvSpPr/>
          <p:nvPr/>
        </p:nvSpPr>
        <p:spPr>
          <a:xfrm>
            <a:off x="2600000" y="18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Risultato = Diff * C</a:t>
            </a:r>
            <a:endParaRPr/>
          </a:p>
        </p:txBody>
      </p:sp>
      <p:sp>
        <p:nvSpPr>
          <p:cNvPr id="337" name="Google Shape;337;p35"/>
          <p:cNvSpPr/>
          <p:nvPr/>
        </p:nvSpPr>
        <p:spPr>
          <a:xfrm>
            <a:off x="2600000" y="23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Risultato</a:t>
            </a:r>
            <a:endParaRPr/>
          </a:p>
        </p:txBody>
      </p:sp>
      <p:sp>
        <p:nvSpPr>
          <p:cNvPr id="338" name="Google Shape;338;p35"/>
          <p:cNvSpPr txBox="1"/>
          <p:nvPr/>
        </p:nvSpPr>
        <p:spPr>
          <a:xfrm>
            <a:off x="457200" y="3050000"/>
            <a:ext cx="822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Nota: anche questo e un algoritmo puramente sequenziale - i valori costanti sono A=30, B=15, C=10 → (30-15)*10 = 150.</a:t>
            </a:r>
            <a:endParaRPr/>
          </a:p>
        </p:txBody>
      </p:sp>
      <p:sp>
        <p:nvSpPr>
          <p:cNvPr id="339" name="Google Shape;33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– Es. 2: DiffMul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6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varA,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varB,  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varC,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#varA       ; leggo A (30)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#varB       ; leggo B (15)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#varC       ; leggo C (10)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SUB   R3, R0, R1      ; Diff = A - B  (30-15=15)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MUL   R3, R3, R2      ; Risultato = Diff * C  (15*10=150)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Risultato (150)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 da svolgere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960120" y="1782345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somma di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960120" y="249557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30, 15 e moltiplicare il risultato per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365750" y="1097275"/>
            <a:ext cx="7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 il diagramma DNS e il codice ARM dei seguenti esercizi:</a:t>
            </a:r>
            <a:endParaRPr/>
          </a:p>
        </p:txBody>
      </p:sp>
      <p:sp>
        <p:nvSpPr>
          <p:cNvPr id="361" name="Google Shape;361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2" name="Google Shape;362;p37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7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960120" y="320880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Memorizzare il massimo tra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960099" y="394945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Dato X = 36, calcola X / 4 e salva il risultato.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Esercizio: Massimo tra tre numeri interi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il massimo tra tre numeri interi X, Y, Z ∈ 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max(X, Y, Z)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X, Y, Z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max(X,Y,Z) restituisce il massimo tra X, Y e 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Confronta X e Y → calcola massimo temporaneo (Max).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Confronta Max con Z → calcola il massimo definitivo.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/>
          <p:nvPr/>
        </p:nvSpPr>
        <p:spPr>
          <a:xfrm>
            <a:off x="505177" y="990025"/>
            <a:ext cx="7109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Ora proviamo a scrivere in linguaggio naturale l’algoritmo: un modo per trovare il massimo è quello di confrontare i valori a due a due fino a trovare il più grande.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Formalizzando l’algoritmo i passaggi sono: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22225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i="0" lang="it" sz="1700" u="none" cap="none" strike="noStrike">
                <a:solidFill>
                  <a:schemeClr val="dk1"/>
                </a:solidFill>
              </a:rPr>
              <a:t>Confronta X e Y e calcola il massimo temporaneo;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11430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22225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i="0" lang="it" sz="1700" u="none" cap="none" strike="noStrike">
                <a:solidFill>
                  <a:schemeClr val="dk1"/>
                </a:solidFill>
              </a:rPr>
              <a:t>Confronta il massimo temporaneo precedentemente calcolato con Z per e calcola il massimo definitivo.</a:t>
            </a:r>
            <a:endParaRPr sz="1100"/>
          </a:p>
        </p:txBody>
      </p:sp>
      <p:sp>
        <p:nvSpPr>
          <p:cNvPr id="386" name="Google Shape;386;p39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Esericizo: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Massimo tra tre numeri interi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0"/>
          <p:cNvGrpSpPr/>
          <p:nvPr/>
        </p:nvGrpSpPr>
        <p:grpSpPr>
          <a:xfrm>
            <a:off x="3362942" y="1859113"/>
            <a:ext cx="2414531" cy="426094"/>
            <a:chOff x="0" y="-1"/>
            <a:chExt cx="2575500" cy="454500"/>
          </a:xfrm>
        </p:grpSpPr>
        <p:sp>
          <p:nvSpPr>
            <p:cNvPr id="393" name="Google Shape;393;p40"/>
            <p:cNvSpPr/>
            <p:nvPr/>
          </p:nvSpPr>
          <p:spPr>
            <a:xfrm>
              <a:off x="0" y="-1"/>
              <a:ext cx="2575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0"/>
            <p:cNvSpPr txBox="1"/>
            <p:nvPr/>
          </p:nvSpPr>
          <p:spPr>
            <a:xfrm>
              <a:off x="0" y="0"/>
              <a:ext cx="2575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395" name="Google Shape;395;p40"/>
          <p:cNvCxnSpPr/>
          <p:nvPr/>
        </p:nvCxnSpPr>
        <p:spPr>
          <a:xfrm flipH="1" rot="10800000">
            <a:off x="4573586" y="1866588"/>
            <a:ext cx="12006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40"/>
          <p:cNvCxnSpPr/>
          <p:nvPr/>
        </p:nvCxnSpPr>
        <p:spPr>
          <a:xfrm rot="10800000">
            <a:off x="3367795" y="1866588"/>
            <a:ext cx="12177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40"/>
          <p:cNvSpPr txBox="1"/>
          <p:nvPr/>
        </p:nvSpPr>
        <p:spPr>
          <a:xfrm>
            <a:off x="3363807" y="1985656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398" name="Google Shape;398;p40"/>
          <p:cNvSpPr txBox="1"/>
          <p:nvPr/>
        </p:nvSpPr>
        <p:spPr>
          <a:xfrm>
            <a:off x="5589923" y="1985656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399" name="Google Shape;399;p40"/>
          <p:cNvGrpSpPr/>
          <p:nvPr/>
        </p:nvGrpSpPr>
        <p:grpSpPr>
          <a:xfrm>
            <a:off x="3362941" y="2288231"/>
            <a:ext cx="1215563" cy="426094"/>
            <a:chOff x="-1" y="-1"/>
            <a:chExt cx="1296600" cy="454500"/>
          </a:xfrm>
        </p:grpSpPr>
        <p:sp>
          <p:nvSpPr>
            <p:cNvPr id="400" name="Google Shape;400;p40"/>
            <p:cNvSpPr/>
            <p:nvPr/>
          </p:nvSpPr>
          <p:spPr>
            <a:xfrm>
              <a:off x="-1" y="-1"/>
              <a:ext cx="12966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0"/>
            <p:cNvSpPr txBox="1"/>
            <p:nvPr/>
          </p:nvSpPr>
          <p:spPr>
            <a:xfrm>
              <a:off x="-1" y="0"/>
              <a:ext cx="12966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X</a:t>
              </a:r>
              <a:endParaRPr sz="1100"/>
            </a:p>
          </p:txBody>
        </p:sp>
      </p:grpSp>
      <p:grpSp>
        <p:nvGrpSpPr>
          <p:cNvPr id="402" name="Google Shape;402;p40"/>
          <p:cNvGrpSpPr/>
          <p:nvPr/>
        </p:nvGrpSpPr>
        <p:grpSpPr>
          <a:xfrm>
            <a:off x="4568449" y="2288231"/>
            <a:ext cx="1210781" cy="426094"/>
            <a:chOff x="0" y="-1"/>
            <a:chExt cx="1291500" cy="454500"/>
          </a:xfrm>
        </p:grpSpPr>
        <p:sp>
          <p:nvSpPr>
            <p:cNvPr id="403" name="Google Shape;403;p40"/>
            <p:cNvSpPr/>
            <p:nvPr/>
          </p:nvSpPr>
          <p:spPr>
            <a:xfrm>
              <a:off x="0" y="-1"/>
              <a:ext cx="1291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0"/>
            <p:cNvSpPr txBox="1"/>
            <p:nvPr/>
          </p:nvSpPr>
          <p:spPr>
            <a:xfrm>
              <a:off x="0" y="0"/>
              <a:ext cx="1291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Y</a:t>
              </a:r>
              <a:endParaRPr sz="1100"/>
            </a:p>
          </p:txBody>
        </p:sp>
      </p:grpSp>
      <p:grpSp>
        <p:nvGrpSpPr>
          <p:cNvPr id="405" name="Google Shape;405;p40"/>
          <p:cNvGrpSpPr/>
          <p:nvPr/>
        </p:nvGrpSpPr>
        <p:grpSpPr>
          <a:xfrm>
            <a:off x="3359479" y="2716858"/>
            <a:ext cx="2414531" cy="426094"/>
            <a:chOff x="0" y="-1"/>
            <a:chExt cx="2575500" cy="454500"/>
          </a:xfrm>
        </p:grpSpPr>
        <p:sp>
          <p:nvSpPr>
            <p:cNvPr id="406" name="Google Shape;406;p40"/>
            <p:cNvSpPr/>
            <p:nvPr/>
          </p:nvSpPr>
          <p:spPr>
            <a:xfrm>
              <a:off x="0" y="-1"/>
              <a:ext cx="2575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0"/>
            <p:cNvSpPr txBox="1"/>
            <p:nvPr/>
          </p:nvSpPr>
          <p:spPr>
            <a:xfrm>
              <a:off x="0" y="0"/>
              <a:ext cx="2575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Z &gt; Max</a:t>
              </a:r>
              <a:endParaRPr sz="1100"/>
            </a:p>
          </p:txBody>
        </p:sp>
      </p:grpSp>
      <p:cxnSp>
        <p:nvCxnSpPr>
          <p:cNvPr id="408" name="Google Shape;408;p40"/>
          <p:cNvCxnSpPr/>
          <p:nvPr/>
        </p:nvCxnSpPr>
        <p:spPr>
          <a:xfrm flipH="1" rot="10800000">
            <a:off x="4570124" y="2724333"/>
            <a:ext cx="12006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40"/>
          <p:cNvCxnSpPr/>
          <p:nvPr/>
        </p:nvCxnSpPr>
        <p:spPr>
          <a:xfrm rot="10800000">
            <a:off x="3364331" y="2724333"/>
            <a:ext cx="12177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40"/>
          <p:cNvSpPr txBox="1"/>
          <p:nvPr/>
        </p:nvSpPr>
        <p:spPr>
          <a:xfrm>
            <a:off x="3360342" y="2843402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411" name="Google Shape;411;p40"/>
          <p:cNvSpPr txBox="1"/>
          <p:nvPr/>
        </p:nvSpPr>
        <p:spPr>
          <a:xfrm>
            <a:off x="5589923" y="2840760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412" name="Google Shape;412;p40"/>
          <p:cNvSpPr txBox="1"/>
          <p:nvPr/>
        </p:nvSpPr>
        <p:spPr>
          <a:xfrm>
            <a:off x="1572050" y="898000"/>
            <a:ext cx="5500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Il corrispondente diagramma DNS è:</a:t>
            </a: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max( X , Y , Z 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13" name="Google Shape;413;p40"/>
          <p:cNvGrpSpPr/>
          <p:nvPr/>
        </p:nvGrpSpPr>
        <p:grpSpPr>
          <a:xfrm>
            <a:off x="3360833" y="3145259"/>
            <a:ext cx="1215563" cy="426094"/>
            <a:chOff x="-1" y="-1"/>
            <a:chExt cx="1296600" cy="454500"/>
          </a:xfrm>
        </p:grpSpPr>
        <p:sp>
          <p:nvSpPr>
            <p:cNvPr id="414" name="Google Shape;414;p40"/>
            <p:cNvSpPr/>
            <p:nvPr/>
          </p:nvSpPr>
          <p:spPr>
            <a:xfrm>
              <a:off x="-1" y="-1"/>
              <a:ext cx="12966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0"/>
            <p:cNvSpPr txBox="1"/>
            <p:nvPr/>
          </p:nvSpPr>
          <p:spPr>
            <a:xfrm>
              <a:off x="-1" y="0"/>
              <a:ext cx="12966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Z</a:t>
              </a:r>
              <a:endParaRPr sz="1100"/>
            </a:p>
          </p:txBody>
        </p:sp>
      </p:grpSp>
      <p:grpSp>
        <p:nvGrpSpPr>
          <p:cNvPr id="416" name="Google Shape;416;p40"/>
          <p:cNvGrpSpPr/>
          <p:nvPr/>
        </p:nvGrpSpPr>
        <p:grpSpPr>
          <a:xfrm>
            <a:off x="3364673" y="3571962"/>
            <a:ext cx="2414531" cy="426094"/>
            <a:chOff x="0" y="-1"/>
            <a:chExt cx="2575500" cy="454500"/>
          </a:xfrm>
        </p:grpSpPr>
        <p:sp>
          <p:nvSpPr>
            <p:cNvPr id="417" name="Google Shape;417;p40"/>
            <p:cNvSpPr/>
            <p:nvPr/>
          </p:nvSpPr>
          <p:spPr>
            <a:xfrm>
              <a:off x="0" y="-1"/>
              <a:ext cx="2575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0"/>
            <p:cNvSpPr txBox="1"/>
            <p:nvPr/>
          </p:nvSpPr>
          <p:spPr>
            <a:xfrm>
              <a:off x="0" y="0"/>
              <a:ext cx="2575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Max</a:t>
              </a:r>
              <a:endParaRPr sz="1100"/>
            </a:p>
          </p:txBody>
        </p:sp>
      </p:grpSp>
      <p:sp>
        <p:nvSpPr>
          <p:cNvPr id="419" name="Google Shape;419;p40"/>
          <p:cNvSpPr txBox="1"/>
          <p:nvPr/>
        </p:nvSpPr>
        <p:spPr>
          <a:xfrm>
            <a:off x="1993254" y="294680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DNS</a:t>
            </a:r>
            <a:endParaRPr sz="1100"/>
          </a:p>
        </p:txBody>
      </p:sp>
      <p:sp>
        <p:nvSpPr>
          <p:cNvPr id="420" name="Google Shape;420;p40"/>
          <p:cNvSpPr/>
          <p:nvPr/>
        </p:nvSpPr>
        <p:spPr>
          <a:xfrm>
            <a:off x="4594961" y="3160874"/>
            <a:ext cx="1178700" cy="4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0"/>
          <p:cNvSpPr/>
          <p:nvPr/>
        </p:nvSpPr>
        <p:spPr>
          <a:xfrm>
            <a:off x="3364581" y="1859927"/>
            <a:ext cx="2414700" cy="213540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"/>
          <p:cNvSpPr txBox="1"/>
          <p:nvPr/>
        </p:nvSpPr>
        <p:spPr>
          <a:xfrm>
            <a:off x="1634133" y="793635"/>
            <a:ext cx="59472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Tuttavia per ogni problema si possono trovare più soluzioni con diverse caratteristiche in termini di efficienza, complessità, riusabilità, ...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int max( X , Y , Z )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" name="Google Shape;428;p41"/>
          <p:cNvGrpSpPr/>
          <p:nvPr/>
        </p:nvGrpSpPr>
        <p:grpSpPr>
          <a:xfrm>
            <a:off x="2664851" y="2346703"/>
            <a:ext cx="4004156" cy="426094"/>
            <a:chOff x="0" y="-1"/>
            <a:chExt cx="4271100" cy="454500"/>
          </a:xfrm>
        </p:grpSpPr>
        <p:sp>
          <p:nvSpPr>
            <p:cNvPr id="429" name="Google Shape;429;p41"/>
            <p:cNvSpPr/>
            <p:nvPr/>
          </p:nvSpPr>
          <p:spPr>
            <a:xfrm>
              <a:off x="0" y="-1"/>
              <a:ext cx="42711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1"/>
            <p:cNvSpPr txBox="1"/>
            <p:nvPr/>
          </p:nvSpPr>
          <p:spPr>
            <a:xfrm>
              <a:off x="0" y="0"/>
              <a:ext cx="4271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431" name="Google Shape;431;p41"/>
          <p:cNvCxnSpPr/>
          <p:nvPr/>
        </p:nvCxnSpPr>
        <p:spPr>
          <a:xfrm flipH="1" rot="10800000">
            <a:off x="4658673" y="2348224"/>
            <a:ext cx="20028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2657752" y="2354205"/>
            <a:ext cx="2010900" cy="414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41"/>
          <p:cNvSpPr txBox="1"/>
          <p:nvPr/>
        </p:nvSpPr>
        <p:spPr>
          <a:xfrm>
            <a:off x="2665715" y="2473247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434" name="Google Shape;434;p41"/>
          <p:cNvSpPr txBox="1"/>
          <p:nvPr/>
        </p:nvSpPr>
        <p:spPr>
          <a:xfrm>
            <a:off x="6457872" y="2449531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435" name="Google Shape;435;p41"/>
          <p:cNvGrpSpPr/>
          <p:nvPr/>
        </p:nvGrpSpPr>
        <p:grpSpPr>
          <a:xfrm>
            <a:off x="2662827" y="2775328"/>
            <a:ext cx="2000813" cy="426094"/>
            <a:chOff x="0" y="-1"/>
            <a:chExt cx="2134200" cy="454500"/>
          </a:xfrm>
        </p:grpSpPr>
        <p:sp>
          <p:nvSpPr>
            <p:cNvPr id="436" name="Google Shape;436;p41"/>
            <p:cNvSpPr/>
            <p:nvPr/>
          </p:nvSpPr>
          <p:spPr>
            <a:xfrm>
              <a:off x="0" y="-1"/>
              <a:ext cx="21342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1"/>
            <p:cNvSpPr txBox="1"/>
            <p:nvPr/>
          </p:nvSpPr>
          <p:spPr>
            <a:xfrm>
              <a:off x="0" y="0"/>
              <a:ext cx="2134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Z</a:t>
              </a:r>
              <a:endParaRPr sz="1100"/>
            </a:p>
          </p:txBody>
        </p:sp>
      </p:grpSp>
      <p:cxnSp>
        <p:nvCxnSpPr>
          <p:cNvPr id="438" name="Google Shape;438;p41"/>
          <p:cNvCxnSpPr/>
          <p:nvPr/>
        </p:nvCxnSpPr>
        <p:spPr>
          <a:xfrm rot="10800000">
            <a:off x="2667744" y="2782895"/>
            <a:ext cx="994200" cy="411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41"/>
          <p:cNvSpPr txBox="1"/>
          <p:nvPr/>
        </p:nvSpPr>
        <p:spPr>
          <a:xfrm>
            <a:off x="2663693" y="2901872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440" name="Google Shape;440;p41"/>
          <p:cNvCxnSpPr/>
          <p:nvPr/>
        </p:nvCxnSpPr>
        <p:spPr>
          <a:xfrm flipH="1">
            <a:off x="3659860" y="2772483"/>
            <a:ext cx="1011000" cy="41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41"/>
          <p:cNvSpPr txBox="1"/>
          <p:nvPr/>
        </p:nvSpPr>
        <p:spPr>
          <a:xfrm>
            <a:off x="4416365" y="2900242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442" name="Google Shape;442;p41"/>
          <p:cNvGrpSpPr/>
          <p:nvPr/>
        </p:nvGrpSpPr>
        <p:grpSpPr>
          <a:xfrm>
            <a:off x="4663078" y="2775328"/>
            <a:ext cx="2000813" cy="426094"/>
            <a:chOff x="0" y="-1"/>
            <a:chExt cx="2134200" cy="454500"/>
          </a:xfrm>
        </p:grpSpPr>
        <p:sp>
          <p:nvSpPr>
            <p:cNvPr id="443" name="Google Shape;443;p41"/>
            <p:cNvSpPr/>
            <p:nvPr/>
          </p:nvSpPr>
          <p:spPr>
            <a:xfrm>
              <a:off x="0" y="-1"/>
              <a:ext cx="21342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1"/>
            <p:cNvSpPr txBox="1"/>
            <p:nvPr/>
          </p:nvSpPr>
          <p:spPr>
            <a:xfrm>
              <a:off x="0" y="0"/>
              <a:ext cx="2134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 &gt; Z</a:t>
              </a:r>
              <a:endParaRPr sz="1100"/>
            </a:p>
          </p:txBody>
        </p:sp>
      </p:grpSp>
      <p:cxnSp>
        <p:nvCxnSpPr>
          <p:cNvPr id="445" name="Google Shape;445;p41"/>
          <p:cNvCxnSpPr/>
          <p:nvPr/>
        </p:nvCxnSpPr>
        <p:spPr>
          <a:xfrm rot="10800000">
            <a:off x="4667993" y="2782895"/>
            <a:ext cx="994200" cy="411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41"/>
          <p:cNvSpPr txBox="1"/>
          <p:nvPr/>
        </p:nvSpPr>
        <p:spPr>
          <a:xfrm>
            <a:off x="4663942" y="2901872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447" name="Google Shape;447;p41"/>
          <p:cNvCxnSpPr/>
          <p:nvPr/>
        </p:nvCxnSpPr>
        <p:spPr>
          <a:xfrm flipH="1">
            <a:off x="5660111" y="2772483"/>
            <a:ext cx="1011000" cy="41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41"/>
          <p:cNvSpPr txBox="1"/>
          <p:nvPr/>
        </p:nvSpPr>
        <p:spPr>
          <a:xfrm>
            <a:off x="6457872" y="2900242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449" name="Google Shape;449;p41"/>
          <p:cNvSpPr/>
          <p:nvPr/>
        </p:nvSpPr>
        <p:spPr>
          <a:xfrm>
            <a:off x="2662825" y="3203952"/>
            <a:ext cx="1003800" cy="86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1"/>
          <p:cNvSpPr txBox="1"/>
          <p:nvPr/>
        </p:nvSpPr>
        <p:spPr>
          <a:xfrm>
            <a:off x="2662825" y="3418264"/>
            <a:ext cx="1003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X</a:t>
            </a:r>
            <a:endParaRPr sz="1100"/>
          </a:p>
        </p:txBody>
      </p:sp>
      <p:sp>
        <p:nvSpPr>
          <p:cNvPr id="451" name="Google Shape;451;p41"/>
          <p:cNvSpPr/>
          <p:nvPr/>
        </p:nvSpPr>
        <p:spPr>
          <a:xfrm>
            <a:off x="3663449" y="3200849"/>
            <a:ext cx="1003800" cy="86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1"/>
          <p:cNvSpPr txBox="1"/>
          <p:nvPr/>
        </p:nvSpPr>
        <p:spPr>
          <a:xfrm>
            <a:off x="3663449" y="3415160"/>
            <a:ext cx="1003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Z</a:t>
            </a:r>
            <a:endParaRPr sz="1100"/>
          </a:p>
        </p:txBody>
      </p:sp>
      <p:sp>
        <p:nvSpPr>
          <p:cNvPr id="453" name="Google Shape;453;p41"/>
          <p:cNvSpPr/>
          <p:nvPr/>
        </p:nvSpPr>
        <p:spPr>
          <a:xfrm>
            <a:off x="4663163" y="3203952"/>
            <a:ext cx="1003800" cy="86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1"/>
          <p:cNvSpPr txBox="1"/>
          <p:nvPr/>
        </p:nvSpPr>
        <p:spPr>
          <a:xfrm>
            <a:off x="4663163" y="3418264"/>
            <a:ext cx="1003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Y</a:t>
            </a:r>
            <a:endParaRPr sz="1100"/>
          </a:p>
        </p:txBody>
      </p:sp>
      <p:sp>
        <p:nvSpPr>
          <p:cNvPr id="455" name="Google Shape;455;p41"/>
          <p:cNvSpPr/>
          <p:nvPr/>
        </p:nvSpPr>
        <p:spPr>
          <a:xfrm>
            <a:off x="5663697" y="3212440"/>
            <a:ext cx="1003800" cy="866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1"/>
          <p:cNvSpPr txBox="1"/>
          <p:nvPr/>
        </p:nvSpPr>
        <p:spPr>
          <a:xfrm>
            <a:off x="5663697" y="3418264"/>
            <a:ext cx="1003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Z</a:t>
            </a:r>
            <a:endParaRPr sz="1100"/>
          </a:p>
        </p:txBody>
      </p:sp>
      <p:sp>
        <p:nvSpPr>
          <p:cNvPr id="457" name="Google Shape;457;p41"/>
          <p:cNvSpPr txBox="1"/>
          <p:nvPr/>
        </p:nvSpPr>
        <p:spPr>
          <a:xfrm>
            <a:off x="1993254" y="294680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Una soluzione alternativa</a:t>
            </a:r>
            <a:endParaRPr sz="1100"/>
          </a:p>
        </p:txBody>
      </p:sp>
      <p:sp>
        <p:nvSpPr>
          <p:cNvPr id="458" name="Google Shape;458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42"/>
          <p:cNvGrpSpPr/>
          <p:nvPr/>
        </p:nvGrpSpPr>
        <p:grpSpPr>
          <a:xfrm>
            <a:off x="2577685" y="1547973"/>
            <a:ext cx="4004156" cy="600750"/>
            <a:chOff x="-1" y="-1"/>
            <a:chExt cx="4271100" cy="640800"/>
          </a:xfrm>
        </p:grpSpPr>
        <p:sp>
          <p:nvSpPr>
            <p:cNvPr id="464" name="Google Shape;464;p42"/>
            <p:cNvSpPr/>
            <p:nvPr/>
          </p:nvSpPr>
          <p:spPr>
            <a:xfrm>
              <a:off x="-1" y="-1"/>
              <a:ext cx="4271100" cy="6408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2"/>
            <p:cNvSpPr txBox="1"/>
            <p:nvPr/>
          </p:nvSpPr>
          <p:spPr>
            <a:xfrm>
              <a:off x="-1" y="0"/>
              <a:ext cx="42711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(X&gt;Y) </a:t>
              </a:r>
              <a:r>
                <a:rPr lang="it" sz="1700">
                  <a:solidFill>
                    <a:schemeClr val="dk1"/>
                  </a:solidFill>
                  <a:latin typeface="Cutive"/>
                  <a:ea typeface="Cutive"/>
                  <a:cs typeface="Cutive"/>
                  <a:sym typeface="Cutive"/>
                </a:rPr>
                <a:t>AND</a:t>
              </a: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(X&gt;Z)</a:t>
              </a:r>
              <a:endParaRPr sz="1100"/>
            </a:p>
          </p:txBody>
        </p:sp>
      </p:grpSp>
      <p:cxnSp>
        <p:nvCxnSpPr>
          <p:cNvPr id="466" name="Google Shape;466;p42"/>
          <p:cNvCxnSpPr/>
          <p:nvPr/>
        </p:nvCxnSpPr>
        <p:spPr>
          <a:xfrm flipH="1" rot="10800000">
            <a:off x="4571510" y="1549381"/>
            <a:ext cx="2002800" cy="589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42"/>
          <p:cNvCxnSpPr/>
          <p:nvPr/>
        </p:nvCxnSpPr>
        <p:spPr>
          <a:xfrm rot="10800000">
            <a:off x="2570589" y="1555363"/>
            <a:ext cx="2010900" cy="581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42"/>
          <p:cNvSpPr txBox="1"/>
          <p:nvPr/>
        </p:nvSpPr>
        <p:spPr>
          <a:xfrm>
            <a:off x="2578551" y="1780826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469" name="Google Shape;469;p42"/>
          <p:cNvSpPr txBox="1"/>
          <p:nvPr/>
        </p:nvSpPr>
        <p:spPr>
          <a:xfrm>
            <a:off x="6377417" y="1780935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470" name="Google Shape;470;p42"/>
          <p:cNvGrpSpPr/>
          <p:nvPr/>
        </p:nvGrpSpPr>
        <p:grpSpPr>
          <a:xfrm>
            <a:off x="4582622" y="2141055"/>
            <a:ext cx="2000813" cy="426094"/>
            <a:chOff x="0" y="-1"/>
            <a:chExt cx="2134200" cy="454500"/>
          </a:xfrm>
        </p:grpSpPr>
        <p:sp>
          <p:nvSpPr>
            <p:cNvPr id="471" name="Google Shape;471;p42"/>
            <p:cNvSpPr/>
            <p:nvPr/>
          </p:nvSpPr>
          <p:spPr>
            <a:xfrm>
              <a:off x="0" y="-1"/>
              <a:ext cx="21342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2"/>
            <p:cNvSpPr txBox="1"/>
            <p:nvPr/>
          </p:nvSpPr>
          <p:spPr>
            <a:xfrm>
              <a:off x="0" y="0"/>
              <a:ext cx="2134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 &gt; Z</a:t>
              </a:r>
              <a:endParaRPr sz="1100"/>
            </a:p>
          </p:txBody>
        </p:sp>
      </p:grpSp>
      <p:cxnSp>
        <p:nvCxnSpPr>
          <p:cNvPr id="473" name="Google Shape;473;p42"/>
          <p:cNvCxnSpPr/>
          <p:nvPr/>
        </p:nvCxnSpPr>
        <p:spPr>
          <a:xfrm rot="10800000">
            <a:off x="4587539" y="2148624"/>
            <a:ext cx="994200" cy="411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42"/>
          <p:cNvSpPr txBox="1"/>
          <p:nvPr/>
        </p:nvSpPr>
        <p:spPr>
          <a:xfrm>
            <a:off x="4583488" y="2267599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475" name="Google Shape;475;p42"/>
          <p:cNvCxnSpPr/>
          <p:nvPr/>
        </p:nvCxnSpPr>
        <p:spPr>
          <a:xfrm flipH="1">
            <a:off x="5579655" y="2138212"/>
            <a:ext cx="1011000" cy="41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42"/>
          <p:cNvSpPr txBox="1"/>
          <p:nvPr/>
        </p:nvSpPr>
        <p:spPr>
          <a:xfrm>
            <a:off x="6377417" y="2267599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477" name="Google Shape;477;p42"/>
          <p:cNvGrpSpPr/>
          <p:nvPr/>
        </p:nvGrpSpPr>
        <p:grpSpPr>
          <a:xfrm>
            <a:off x="4582706" y="2569681"/>
            <a:ext cx="1003781" cy="407709"/>
            <a:chOff x="-1" y="-1"/>
            <a:chExt cx="1070700" cy="924300"/>
          </a:xfrm>
        </p:grpSpPr>
        <p:sp>
          <p:nvSpPr>
            <p:cNvPr id="478" name="Google Shape;478;p42"/>
            <p:cNvSpPr/>
            <p:nvPr/>
          </p:nvSpPr>
          <p:spPr>
            <a:xfrm>
              <a:off x="-1" y="-1"/>
              <a:ext cx="1070700" cy="9243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2"/>
            <p:cNvSpPr txBox="1"/>
            <p:nvPr/>
          </p:nvSpPr>
          <p:spPr>
            <a:xfrm>
              <a:off x="-1" y="1"/>
              <a:ext cx="10707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Y</a:t>
              </a:r>
              <a:endParaRPr sz="1100"/>
            </a:p>
          </p:txBody>
        </p:sp>
      </p:grpSp>
      <p:grpSp>
        <p:nvGrpSpPr>
          <p:cNvPr id="480" name="Google Shape;480;p42"/>
          <p:cNvGrpSpPr/>
          <p:nvPr/>
        </p:nvGrpSpPr>
        <p:grpSpPr>
          <a:xfrm>
            <a:off x="5583241" y="2569681"/>
            <a:ext cx="1003781" cy="407709"/>
            <a:chOff x="-1" y="-1"/>
            <a:chExt cx="1070700" cy="924300"/>
          </a:xfrm>
        </p:grpSpPr>
        <p:sp>
          <p:nvSpPr>
            <p:cNvPr id="481" name="Google Shape;481;p42"/>
            <p:cNvSpPr/>
            <p:nvPr/>
          </p:nvSpPr>
          <p:spPr>
            <a:xfrm>
              <a:off x="-1" y="-1"/>
              <a:ext cx="1070700" cy="9243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2"/>
            <p:cNvSpPr txBox="1"/>
            <p:nvPr/>
          </p:nvSpPr>
          <p:spPr>
            <a:xfrm>
              <a:off x="-1" y="1"/>
              <a:ext cx="1070700" cy="78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Z</a:t>
              </a:r>
              <a:endParaRPr sz="1100"/>
            </a:p>
          </p:txBody>
        </p:sp>
      </p:grpSp>
      <p:grpSp>
        <p:nvGrpSpPr>
          <p:cNvPr id="483" name="Google Shape;483;p42"/>
          <p:cNvGrpSpPr/>
          <p:nvPr/>
        </p:nvGrpSpPr>
        <p:grpSpPr>
          <a:xfrm>
            <a:off x="2506673" y="2138666"/>
            <a:ext cx="2069698" cy="838759"/>
            <a:chOff x="-73479" y="0"/>
            <a:chExt cx="2207678" cy="1380900"/>
          </a:xfrm>
        </p:grpSpPr>
        <p:sp>
          <p:nvSpPr>
            <p:cNvPr id="484" name="Google Shape;484;p42"/>
            <p:cNvSpPr/>
            <p:nvPr/>
          </p:nvSpPr>
          <p:spPr>
            <a:xfrm>
              <a:off x="-1" y="0"/>
              <a:ext cx="2134200" cy="13809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2"/>
            <p:cNvSpPr txBox="1"/>
            <p:nvPr/>
          </p:nvSpPr>
          <p:spPr>
            <a:xfrm>
              <a:off x="-73479" y="681648"/>
              <a:ext cx="2134200" cy="57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X</a:t>
              </a:r>
              <a:endParaRPr sz="1100"/>
            </a:p>
          </p:txBody>
        </p:sp>
      </p:grpSp>
      <p:sp>
        <p:nvSpPr>
          <p:cNvPr id="486" name="Google Shape;486;p42"/>
          <p:cNvSpPr txBox="1"/>
          <p:nvPr/>
        </p:nvSpPr>
        <p:spPr>
          <a:xfrm>
            <a:off x="1993254" y="294680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Terza soluzione</a:t>
            </a:r>
            <a:endParaRPr sz="1100"/>
          </a:p>
        </p:txBody>
      </p:sp>
      <p:sp>
        <p:nvSpPr>
          <p:cNvPr id="487" name="Google Shape;487;p42"/>
          <p:cNvSpPr/>
          <p:nvPr/>
        </p:nvSpPr>
        <p:spPr>
          <a:xfrm>
            <a:off x="2501447" y="1128058"/>
            <a:ext cx="19215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max( X , Y , Z )</a:t>
            </a:r>
            <a:endParaRPr sz="1100"/>
          </a:p>
        </p:txBody>
      </p:sp>
      <p:sp>
        <p:nvSpPr>
          <p:cNvPr id="488" name="Google Shape;488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3"/>
          <p:cNvSpPr txBox="1"/>
          <p:nvPr/>
        </p:nvSpPr>
        <p:spPr>
          <a:xfrm>
            <a:off x="1525924" y="608081"/>
            <a:ext cx="60921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il metodo che abbiamo visto, trasformiamo il primo diagramma DNS nel corrispondente codice Assembly ARM.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Inizialmente per studiare se la soluzione è corretta assegniamo ad X, Y e Z dei valori costanti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3550975" y="2136935"/>
            <a:ext cx="21075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varX, 10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varY, 30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varZ, 20</a:t>
            </a:r>
            <a:endParaRPr sz="1100"/>
          </a:p>
        </p:txBody>
      </p:sp>
      <p:sp>
        <p:nvSpPr>
          <p:cNvPr id="495" name="Google Shape;495;p43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6" name="Google Shape;496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4"/>
          <p:cNvSpPr txBox="1"/>
          <p:nvPr/>
        </p:nvSpPr>
        <p:spPr>
          <a:xfrm>
            <a:off x="1525924" y="766411"/>
            <a:ext cx="6092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Carichiamo convenzionalmente le costanti corrispondenti registri: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 txBox="1"/>
          <p:nvPr/>
        </p:nvSpPr>
        <p:spPr>
          <a:xfrm>
            <a:off x="3582158" y="1695338"/>
            <a:ext cx="2359200" cy="21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varX, 10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varY, 30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varZ, 20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R0, #varX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R1, #varY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R2, #varZ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4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4" name="Google Shape;504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45"/>
          <p:cNvGrpSpPr/>
          <p:nvPr/>
        </p:nvGrpSpPr>
        <p:grpSpPr>
          <a:xfrm>
            <a:off x="1642184" y="3118896"/>
            <a:ext cx="983813" cy="1442531"/>
            <a:chOff x="-1" y="0"/>
            <a:chExt cx="1049400" cy="1538700"/>
          </a:xfrm>
        </p:grpSpPr>
        <p:sp>
          <p:nvSpPr>
            <p:cNvPr id="510" name="Google Shape;510;p45"/>
            <p:cNvSpPr/>
            <p:nvPr/>
          </p:nvSpPr>
          <p:spPr>
            <a:xfrm>
              <a:off x="-1" y="0"/>
              <a:ext cx="1049400" cy="1538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5"/>
            <p:cNvSpPr txBox="1"/>
            <p:nvPr/>
          </p:nvSpPr>
          <p:spPr>
            <a:xfrm>
              <a:off x="-1" y="1"/>
              <a:ext cx="1049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512" name="Google Shape;512;p45"/>
          <p:cNvCxnSpPr/>
          <p:nvPr/>
        </p:nvCxnSpPr>
        <p:spPr>
          <a:xfrm rot="10800000">
            <a:off x="1633071" y="3117749"/>
            <a:ext cx="1002000" cy="722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45"/>
          <p:cNvCxnSpPr/>
          <p:nvPr/>
        </p:nvCxnSpPr>
        <p:spPr>
          <a:xfrm flipH="1">
            <a:off x="1644865" y="3844224"/>
            <a:ext cx="978300" cy="71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45"/>
          <p:cNvSpPr txBox="1"/>
          <p:nvPr/>
        </p:nvSpPr>
        <p:spPr>
          <a:xfrm>
            <a:off x="2338178" y="3131349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515" name="Google Shape;515;p45"/>
          <p:cNvSpPr txBox="1"/>
          <p:nvPr/>
        </p:nvSpPr>
        <p:spPr>
          <a:xfrm>
            <a:off x="2377211" y="4213880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516" name="Google Shape;516;p45"/>
          <p:cNvSpPr/>
          <p:nvPr/>
        </p:nvSpPr>
        <p:spPr>
          <a:xfrm>
            <a:off x="2622353" y="3115186"/>
            <a:ext cx="1215300" cy="73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5"/>
          <p:cNvSpPr/>
          <p:nvPr/>
        </p:nvSpPr>
        <p:spPr>
          <a:xfrm>
            <a:off x="2625328" y="3847420"/>
            <a:ext cx="1209300" cy="714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Y</a:t>
            </a:r>
            <a:endParaRPr sz="1100"/>
          </a:p>
        </p:txBody>
      </p:sp>
      <p:grpSp>
        <p:nvGrpSpPr>
          <p:cNvPr id="518" name="Google Shape;518;p45"/>
          <p:cNvGrpSpPr/>
          <p:nvPr/>
        </p:nvGrpSpPr>
        <p:grpSpPr>
          <a:xfrm>
            <a:off x="1594005" y="1087137"/>
            <a:ext cx="2414531" cy="426094"/>
            <a:chOff x="0" y="-1"/>
            <a:chExt cx="2575500" cy="454500"/>
          </a:xfrm>
        </p:grpSpPr>
        <p:sp>
          <p:nvSpPr>
            <p:cNvPr id="519" name="Google Shape;519;p45"/>
            <p:cNvSpPr/>
            <p:nvPr/>
          </p:nvSpPr>
          <p:spPr>
            <a:xfrm>
              <a:off x="0" y="-1"/>
              <a:ext cx="2575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5"/>
            <p:cNvSpPr txBox="1"/>
            <p:nvPr/>
          </p:nvSpPr>
          <p:spPr>
            <a:xfrm>
              <a:off x="0" y="0"/>
              <a:ext cx="2575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521" name="Google Shape;521;p45"/>
          <p:cNvCxnSpPr/>
          <p:nvPr/>
        </p:nvCxnSpPr>
        <p:spPr>
          <a:xfrm flipH="1" rot="10800000">
            <a:off x="2804651" y="1094612"/>
            <a:ext cx="12006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45"/>
          <p:cNvCxnSpPr/>
          <p:nvPr/>
        </p:nvCxnSpPr>
        <p:spPr>
          <a:xfrm rot="10800000">
            <a:off x="1598858" y="1094612"/>
            <a:ext cx="12177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3" name="Google Shape;523;p45"/>
          <p:cNvSpPr txBox="1"/>
          <p:nvPr/>
        </p:nvSpPr>
        <p:spPr>
          <a:xfrm>
            <a:off x="1594870" y="1213680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524" name="Google Shape;524;p45"/>
          <p:cNvSpPr txBox="1"/>
          <p:nvPr/>
        </p:nvSpPr>
        <p:spPr>
          <a:xfrm>
            <a:off x="3825791" y="1198814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525" name="Google Shape;525;p45"/>
          <p:cNvGrpSpPr/>
          <p:nvPr/>
        </p:nvGrpSpPr>
        <p:grpSpPr>
          <a:xfrm>
            <a:off x="1594004" y="1516254"/>
            <a:ext cx="1215563" cy="426094"/>
            <a:chOff x="-1" y="-1"/>
            <a:chExt cx="1296600" cy="454500"/>
          </a:xfrm>
        </p:grpSpPr>
        <p:sp>
          <p:nvSpPr>
            <p:cNvPr id="526" name="Google Shape;526;p45"/>
            <p:cNvSpPr/>
            <p:nvPr/>
          </p:nvSpPr>
          <p:spPr>
            <a:xfrm>
              <a:off x="-1" y="-1"/>
              <a:ext cx="12966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5"/>
            <p:cNvSpPr txBox="1"/>
            <p:nvPr/>
          </p:nvSpPr>
          <p:spPr>
            <a:xfrm>
              <a:off x="-1" y="0"/>
              <a:ext cx="12966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X</a:t>
              </a:r>
              <a:endParaRPr sz="1100"/>
            </a:p>
          </p:txBody>
        </p:sp>
      </p:grpSp>
      <p:grpSp>
        <p:nvGrpSpPr>
          <p:cNvPr id="528" name="Google Shape;528;p45"/>
          <p:cNvGrpSpPr/>
          <p:nvPr/>
        </p:nvGrpSpPr>
        <p:grpSpPr>
          <a:xfrm>
            <a:off x="2799512" y="1516254"/>
            <a:ext cx="1210781" cy="426094"/>
            <a:chOff x="0" y="-1"/>
            <a:chExt cx="1291500" cy="454500"/>
          </a:xfrm>
        </p:grpSpPr>
        <p:sp>
          <p:nvSpPr>
            <p:cNvPr id="529" name="Google Shape;529;p45"/>
            <p:cNvSpPr/>
            <p:nvPr/>
          </p:nvSpPr>
          <p:spPr>
            <a:xfrm>
              <a:off x="0" y="-1"/>
              <a:ext cx="1291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5"/>
            <p:cNvSpPr txBox="1"/>
            <p:nvPr/>
          </p:nvSpPr>
          <p:spPr>
            <a:xfrm>
              <a:off x="0" y="0"/>
              <a:ext cx="1291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Y</a:t>
              </a:r>
              <a:endParaRPr sz="1100"/>
            </a:p>
          </p:txBody>
        </p:sp>
      </p:grpSp>
      <p:grpSp>
        <p:nvGrpSpPr>
          <p:cNvPr id="531" name="Google Shape;531;p45"/>
          <p:cNvGrpSpPr/>
          <p:nvPr/>
        </p:nvGrpSpPr>
        <p:grpSpPr>
          <a:xfrm>
            <a:off x="5372242" y="825242"/>
            <a:ext cx="983813" cy="1442531"/>
            <a:chOff x="-1" y="0"/>
            <a:chExt cx="1049400" cy="1538700"/>
          </a:xfrm>
        </p:grpSpPr>
        <p:sp>
          <p:nvSpPr>
            <p:cNvPr id="532" name="Google Shape;532;p45"/>
            <p:cNvSpPr/>
            <p:nvPr/>
          </p:nvSpPr>
          <p:spPr>
            <a:xfrm>
              <a:off x="-1" y="0"/>
              <a:ext cx="1049400" cy="1538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5"/>
            <p:cNvSpPr txBox="1"/>
            <p:nvPr/>
          </p:nvSpPr>
          <p:spPr>
            <a:xfrm>
              <a:off x="-1" y="1"/>
              <a:ext cx="1049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534" name="Google Shape;534;p45"/>
          <p:cNvCxnSpPr/>
          <p:nvPr/>
        </p:nvCxnSpPr>
        <p:spPr>
          <a:xfrm rot="10800000">
            <a:off x="5363129" y="824096"/>
            <a:ext cx="1002000" cy="722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45"/>
          <p:cNvCxnSpPr/>
          <p:nvPr/>
        </p:nvCxnSpPr>
        <p:spPr>
          <a:xfrm flipH="1">
            <a:off x="5374925" y="1550570"/>
            <a:ext cx="978300" cy="71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45"/>
          <p:cNvSpPr txBox="1"/>
          <p:nvPr/>
        </p:nvSpPr>
        <p:spPr>
          <a:xfrm>
            <a:off x="6068237" y="837695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537" name="Google Shape;537;p45"/>
          <p:cNvSpPr txBox="1"/>
          <p:nvPr/>
        </p:nvSpPr>
        <p:spPr>
          <a:xfrm>
            <a:off x="6107270" y="1920227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538" name="Google Shape;538;p45"/>
          <p:cNvSpPr/>
          <p:nvPr/>
        </p:nvSpPr>
        <p:spPr>
          <a:xfrm>
            <a:off x="6352411" y="826635"/>
            <a:ext cx="1215300" cy="72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X</a:t>
            </a:r>
            <a:endParaRPr sz="1100"/>
          </a:p>
        </p:txBody>
      </p:sp>
      <p:sp>
        <p:nvSpPr>
          <p:cNvPr id="539" name="Google Shape;539;p45"/>
          <p:cNvSpPr/>
          <p:nvPr/>
        </p:nvSpPr>
        <p:spPr>
          <a:xfrm>
            <a:off x="1542332" y="3566383"/>
            <a:ext cx="971700" cy="494400"/>
          </a:xfrm>
          <a:prstGeom prst="ellipse">
            <a:avLst/>
          </a:prstGeom>
          <a:noFill/>
          <a:ln cap="flat" cmpd="sng" w="25400">
            <a:solidFill>
              <a:srgbClr val="FF2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5"/>
          <p:cNvSpPr/>
          <p:nvPr/>
        </p:nvSpPr>
        <p:spPr>
          <a:xfrm>
            <a:off x="1862336" y="2643136"/>
            <a:ext cx="3627342" cy="949514"/>
          </a:xfrm>
          <a:custGeom>
            <a:rect b="b" l="l" r="r" t="t"/>
            <a:pathLst>
              <a:path extrusionOk="0" h="16231" w="21600">
                <a:moveTo>
                  <a:pt x="0" y="16231"/>
                </a:moveTo>
                <a:cubicBezTo>
                  <a:pt x="3560" y="-4472"/>
                  <a:pt x="10760" y="-5369"/>
                  <a:pt x="21600" y="13539"/>
                </a:cubicBezTo>
              </a:path>
            </a:pathLst>
          </a:custGeom>
          <a:noFill/>
          <a:ln cap="flat" cmpd="sng" w="25400">
            <a:solidFill>
              <a:srgbClr val="FF2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5"/>
          <p:cNvSpPr txBox="1"/>
          <p:nvPr/>
        </p:nvSpPr>
        <p:spPr>
          <a:xfrm>
            <a:off x="5476537" y="3350420"/>
            <a:ext cx="20967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CMP   R0, R1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MOVGT R3, R0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MOVLT R3, R1</a:t>
            </a:r>
            <a:endParaRPr sz="1100"/>
          </a:p>
        </p:txBody>
      </p:sp>
      <p:cxnSp>
        <p:nvCxnSpPr>
          <p:cNvPr id="542" name="Google Shape;542;p45"/>
          <p:cNvCxnSpPr/>
          <p:nvPr/>
        </p:nvCxnSpPr>
        <p:spPr>
          <a:xfrm>
            <a:off x="3737713" y="3490232"/>
            <a:ext cx="1660800" cy="283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3" name="Google Shape;543;p45"/>
          <p:cNvCxnSpPr/>
          <p:nvPr/>
        </p:nvCxnSpPr>
        <p:spPr>
          <a:xfrm flipH="1" rot="10800000">
            <a:off x="3699040" y="4025909"/>
            <a:ext cx="1714800" cy="194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4" name="Google Shape;544;p45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5" name="Google Shape;545;p45"/>
          <p:cNvSpPr/>
          <p:nvPr/>
        </p:nvSpPr>
        <p:spPr>
          <a:xfrm>
            <a:off x="6355388" y="1553766"/>
            <a:ext cx="1209300" cy="709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Y</a:t>
            </a:r>
            <a:endParaRPr sz="1100"/>
          </a:p>
        </p:txBody>
      </p:sp>
      <p:sp>
        <p:nvSpPr>
          <p:cNvPr id="546" name="Google Shape;546;p45"/>
          <p:cNvSpPr/>
          <p:nvPr/>
        </p:nvSpPr>
        <p:spPr>
          <a:xfrm>
            <a:off x="4204608" y="1171760"/>
            <a:ext cx="1085100" cy="603900"/>
          </a:xfrm>
          <a:prstGeom prst="rightArrow">
            <a:avLst>
              <a:gd fmla="val 44374" name="adj1"/>
              <a:gd fmla="val 73087" name="adj2"/>
            </a:avLst>
          </a:prstGeom>
          <a:solidFill>
            <a:srgbClr val="92D050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5"/>
          <p:cNvSpPr txBox="1"/>
          <p:nvPr/>
        </p:nvSpPr>
        <p:spPr>
          <a:xfrm>
            <a:off x="4271783" y="1307825"/>
            <a:ext cx="7686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rotazione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8" name="Google Shape;548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46"/>
          <p:cNvGrpSpPr/>
          <p:nvPr/>
        </p:nvGrpSpPr>
        <p:grpSpPr>
          <a:xfrm>
            <a:off x="1668272" y="3093044"/>
            <a:ext cx="2207915" cy="1461776"/>
            <a:chOff x="4498196" y="1007804"/>
            <a:chExt cx="2355109" cy="1559228"/>
          </a:xfrm>
        </p:grpSpPr>
        <p:grpSp>
          <p:nvGrpSpPr>
            <p:cNvPr id="554" name="Google Shape;554;p46"/>
            <p:cNvGrpSpPr/>
            <p:nvPr/>
          </p:nvGrpSpPr>
          <p:grpSpPr>
            <a:xfrm>
              <a:off x="4508016" y="1019904"/>
              <a:ext cx="1049400" cy="1538700"/>
              <a:chOff x="-1" y="0"/>
              <a:chExt cx="1049400" cy="1538700"/>
            </a:xfrm>
          </p:grpSpPr>
          <p:sp>
            <p:nvSpPr>
              <p:cNvPr id="555" name="Google Shape;555;p46"/>
              <p:cNvSpPr/>
              <p:nvPr/>
            </p:nvSpPr>
            <p:spPr>
              <a:xfrm>
                <a:off x="-1" y="0"/>
                <a:ext cx="1049400" cy="15387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2850" lIns="42850" spcFirstLastPara="1" rIns="42850" wrap="square" tIns="42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46"/>
              <p:cNvSpPr txBox="1"/>
              <p:nvPr/>
            </p:nvSpPr>
            <p:spPr>
              <a:xfrm>
                <a:off x="-1" y="1"/>
                <a:ext cx="1049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2850" lIns="42850" spcFirstLastPara="1" rIns="42850" wrap="square" tIns="4285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70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Z &gt; Max</a:t>
                </a:r>
                <a:endParaRPr sz="1100"/>
              </a:p>
            </p:txBody>
          </p:sp>
        </p:grpSp>
        <p:cxnSp>
          <p:nvCxnSpPr>
            <p:cNvPr id="557" name="Google Shape;557;p46"/>
            <p:cNvCxnSpPr/>
            <p:nvPr/>
          </p:nvCxnSpPr>
          <p:spPr>
            <a:xfrm rot="10800000">
              <a:off x="4498196" y="1018842"/>
              <a:ext cx="1068900" cy="770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8" name="Google Shape;558;p46"/>
            <p:cNvCxnSpPr/>
            <p:nvPr/>
          </p:nvCxnSpPr>
          <p:spPr>
            <a:xfrm flipH="1">
              <a:off x="4510997" y="1793587"/>
              <a:ext cx="1043400" cy="7677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9" name="Google Shape;559;p46"/>
            <p:cNvSpPr txBox="1"/>
            <p:nvPr/>
          </p:nvSpPr>
          <p:spPr>
            <a:xfrm>
              <a:off x="5281892" y="1007804"/>
              <a:ext cx="2604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+</a:t>
              </a:r>
              <a:endParaRPr sz="1100"/>
            </a:p>
          </p:txBody>
        </p:sp>
        <p:sp>
          <p:nvSpPr>
            <p:cNvPr id="560" name="Google Shape;560;p46"/>
            <p:cNvSpPr txBox="1"/>
            <p:nvPr/>
          </p:nvSpPr>
          <p:spPr>
            <a:xfrm>
              <a:off x="5323526" y="2195632"/>
              <a:ext cx="17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-</a:t>
              </a:r>
              <a:endParaRPr sz="1100"/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5551715" y="1779563"/>
              <a:ext cx="1298100" cy="7758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5556705" y="1020536"/>
              <a:ext cx="1296600" cy="7761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= Z</a:t>
              </a:r>
              <a:endParaRPr sz="1100"/>
            </a:p>
          </p:txBody>
        </p:sp>
      </p:grpSp>
      <p:grpSp>
        <p:nvGrpSpPr>
          <p:cNvPr id="563" name="Google Shape;563;p46"/>
          <p:cNvGrpSpPr/>
          <p:nvPr/>
        </p:nvGrpSpPr>
        <p:grpSpPr>
          <a:xfrm>
            <a:off x="1591028" y="1218055"/>
            <a:ext cx="2414531" cy="426094"/>
            <a:chOff x="0" y="-1"/>
            <a:chExt cx="2575500" cy="454500"/>
          </a:xfrm>
        </p:grpSpPr>
        <p:sp>
          <p:nvSpPr>
            <p:cNvPr id="564" name="Google Shape;564;p46"/>
            <p:cNvSpPr/>
            <p:nvPr/>
          </p:nvSpPr>
          <p:spPr>
            <a:xfrm>
              <a:off x="0" y="-1"/>
              <a:ext cx="25755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6"/>
            <p:cNvSpPr txBox="1"/>
            <p:nvPr/>
          </p:nvSpPr>
          <p:spPr>
            <a:xfrm>
              <a:off x="0" y="0"/>
              <a:ext cx="25755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Z &gt; Max</a:t>
              </a:r>
              <a:endParaRPr sz="1100"/>
            </a:p>
          </p:txBody>
        </p:sp>
      </p:grpSp>
      <p:cxnSp>
        <p:nvCxnSpPr>
          <p:cNvPr id="566" name="Google Shape;566;p46"/>
          <p:cNvCxnSpPr/>
          <p:nvPr/>
        </p:nvCxnSpPr>
        <p:spPr>
          <a:xfrm flipH="1" rot="10800000">
            <a:off x="2801674" y="1225529"/>
            <a:ext cx="12006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46"/>
          <p:cNvCxnSpPr/>
          <p:nvPr/>
        </p:nvCxnSpPr>
        <p:spPr>
          <a:xfrm rot="10800000">
            <a:off x="1595881" y="1225529"/>
            <a:ext cx="1217700" cy="4230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46"/>
          <p:cNvSpPr txBox="1"/>
          <p:nvPr/>
        </p:nvSpPr>
        <p:spPr>
          <a:xfrm>
            <a:off x="1591893" y="1344598"/>
            <a:ext cx="2442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569" name="Google Shape;569;p46"/>
          <p:cNvSpPr txBox="1"/>
          <p:nvPr/>
        </p:nvSpPr>
        <p:spPr>
          <a:xfrm>
            <a:off x="3825189" y="1329733"/>
            <a:ext cx="1647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570" name="Google Shape;570;p46"/>
          <p:cNvGrpSpPr/>
          <p:nvPr/>
        </p:nvGrpSpPr>
        <p:grpSpPr>
          <a:xfrm>
            <a:off x="1591027" y="1647172"/>
            <a:ext cx="1215563" cy="426094"/>
            <a:chOff x="-1" y="-1"/>
            <a:chExt cx="1296600" cy="454500"/>
          </a:xfrm>
        </p:grpSpPr>
        <p:sp>
          <p:nvSpPr>
            <p:cNvPr id="571" name="Google Shape;571;p46"/>
            <p:cNvSpPr/>
            <p:nvPr/>
          </p:nvSpPr>
          <p:spPr>
            <a:xfrm>
              <a:off x="-1" y="-1"/>
              <a:ext cx="12966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6"/>
            <p:cNvSpPr txBox="1"/>
            <p:nvPr/>
          </p:nvSpPr>
          <p:spPr>
            <a:xfrm>
              <a:off x="-1" y="0"/>
              <a:ext cx="12966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Z</a:t>
              </a:r>
              <a:endParaRPr sz="1100"/>
            </a:p>
          </p:txBody>
        </p:sp>
      </p:grpSp>
      <p:sp>
        <p:nvSpPr>
          <p:cNvPr id="573" name="Google Shape;573;p46"/>
          <p:cNvSpPr/>
          <p:nvPr/>
        </p:nvSpPr>
        <p:spPr>
          <a:xfrm>
            <a:off x="1542331" y="3566383"/>
            <a:ext cx="1086600" cy="494400"/>
          </a:xfrm>
          <a:prstGeom prst="ellipse">
            <a:avLst/>
          </a:prstGeom>
          <a:noFill/>
          <a:ln cap="flat" cmpd="sng" w="25400">
            <a:solidFill>
              <a:srgbClr val="FF2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1862336" y="2643136"/>
            <a:ext cx="3627342" cy="949514"/>
          </a:xfrm>
          <a:custGeom>
            <a:rect b="b" l="l" r="r" t="t"/>
            <a:pathLst>
              <a:path extrusionOk="0" h="16231" w="21600">
                <a:moveTo>
                  <a:pt x="0" y="16231"/>
                </a:moveTo>
                <a:cubicBezTo>
                  <a:pt x="3560" y="-4472"/>
                  <a:pt x="10760" y="-5369"/>
                  <a:pt x="21600" y="13539"/>
                </a:cubicBezTo>
              </a:path>
            </a:pathLst>
          </a:custGeom>
          <a:noFill/>
          <a:ln cap="flat" cmpd="sng" w="25400">
            <a:solidFill>
              <a:srgbClr val="FF2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>
            <a:off x="5476537" y="3350419"/>
            <a:ext cx="20967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CMP   R2, R3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MOVGT R3, R2</a:t>
            </a:r>
            <a:endParaRPr sz="1100"/>
          </a:p>
        </p:txBody>
      </p:sp>
      <p:cxnSp>
        <p:nvCxnSpPr>
          <p:cNvPr id="576" name="Google Shape;576;p46"/>
          <p:cNvCxnSpPr/>
          <p:nvPr/>
        </p:nvCxnSpPr>
        <p:spPr>
          <a:xfrm>
            <a:off x="3791291" y="3482578"/>
            <a:ext cx="1660800" cy="275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7" name="Google Shape;577;p46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46"/>
          <p:cNvSpPr/>
          <p:nvPr/>
        </p:nvSpPr>
        <p:spPr>
          <a:xfrm>
            <a:off x="4204607" y="1355456"/>
            <a:ext cx="933900" cy="603900"/>
          </a:xfrm>
          <a:prstGeom prst="rightArrow">
            <a:avLst>
              <a:gd fmla="val 44374" name="adj1"/>
              <a:gd fmla="val 73087" name="adj2"/>
            </a:avLst>
          </a:prstGeom>
          <a:solidFill>
            <a:srgbClr val="92D050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46"/>
          <p:cNvGrpSpPr/>
          <p:nvPr/>
        </p:nvGrpSpPr>
        <p:grpSpPr>
          <a:xfrm>
            <a:off x="5360060" y="944816"/>
            <a:ext cx="2207915" cy="1461776"/>
            <a:chOff x="4498196" y="1007804"/>
            <a:chExt cx="2355109" cy="1559228"/>
          </a:xfrm>
        </p:grpSpPr>
        <p:grpSp>
          <p:nvGrpSpPr>
            <p:cNvPr id="580" name="Google Shape;580;p46"/>
            <p:cNvGrpSpPr/>
            <p:nvPr/>
          </p:nvGrpSpPr>
          <p:grpSpPr>
            <a:xfrm>
              <a:off x="4508016" y="1019904"/>
              <a:ext cx="1049400" cy="1538700"/>
              <a:chOff x="-1" y="0"/>
              <a:chExt cx="1049400" cy="1538700"/>
            </a:xfrm>
          </p:grpSpPr>
          <p:sp>
            <p:nvSpPr>
              <p:cNvPr id="581" name="Google Shape;581;p46"/>
              <p:cNvSpPr/>
              <p:nvPr/>
            </p:nvSpPr>
            <p:spPr>
              <a:xfrm>
                <a:off x="-1" y="0"/>
                <a:ext cx="1049400" cy="1538700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2850" lIns="42850" spcFirstLastPara="1" rIns="42850" wrap="square" tIns="42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46"/>
              <p:cNvSpPr txBox="1"/>
              <p:nvPr/>
            </p:nvSpPr>
            <p:spPr>
              <a:xfrm>
                <a:off x="-1" y="1"/>
                <a:ext cx="1049400" cy="92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2850" lIns="42850" spcFirstLastPara="1" rIns="42850" wrap="square" tIns="4285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70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Z &gt; Max</a:t>
                </a:r>
                <a:endParaRPr sz="1100"/>
              </a:p>
            </p:txBody>
          </p:sp>
        </p:grpSp>
        <p:cxnSp>
          <p:nvCxnSpPr>
            <p:cNvPr id="583" name="Google Shape;583;p46"/>
            <p:cNvCxnSpPr/>
            <p:nvPr/>
          </p:nvCxnSpPr>
          <p:spPr>
            <a:xfrm rot="10800000">
              <a:off x="4498196" y="1018842"/>
              <a:ext cx="1068900" cy="7704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4" name="Google Shape;584;p46"/>
            <p:cNvCxnSpPr/>
            <p:nvPr/>
          </p:nvCxnSpPr>
          <p:spPr>
            <a:xfrm flipH="1">
              <a:off x="4510997" y="1793587"/>
              <a:ext cx="1043400" cy="7677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5" name="Google Shape;585;p46"/>
            <p:cNvSpPr txBox="1"/>
            <p:nvPr/>
          </p:nvSpPr>
          <p:spPr>
            <a:xfrm>
              <a:off x="5281892" y="1007804"/>
              <a:ext cx="2604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+</a:t>
              </a:r>
              <a:endParaRPr sz="1100"/>
            </a:p>
          </p:txBody>
        </p:sp>
        <p:sp>
          <p:nvSpPr>
            <p:cNvPr id="586" name="Google Shape;586;p46"/>
            <p:cNvSpPr txBox="1"/>
            <p:nvPr/>
          </p:nvSpPr>
          <p:spPr>
            <a:xfrm>
              <a:off x="5323526" y="2195632"/>
              <a:ext cx="17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-</a:t>
              </a:r>
              <a:endParaRPr sz="1100"/>
            </a:p>
          </p:txBody>
        </p:sp>
        <p:sp>
          <p:nvSpPr>
            <p:cNvPr id="587" name="Google Shape;587;p46"/>
            <p:cNvSpPr/>
            <p:nvPr/>
          </p:nvSpPr>
          <p:spPr>
            <a:xfrm>
              <a:off x="5551715" y="1779563"/>
              <a:ext cx="1298100" cy="7758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6"/>
            <p:cNvSpPr/>
            <p:nvPr/>
          </p:nvSpPr>
          <p:spPr>
            <a:xfrm>
              <a:off x="5556705" y="1020536"/>
              <a:ext cx="1296600" cy="7761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= Z</a:t>
              </a:r>
              <a:endParaRPr sz="1100"/>
            </a:p>
          </p:txBody>
        </p:sp>
      </p:grpSp>
      <p:sp>
        <p:nvSpPr>
          <p:cNvPr id="589" name="Google Shape;589;p46"/>
          <p:cNvSpPr/>
          <p:nvPr/>
        </p:nvSpPr>
        <p:spPr>
          <a:xfrm>
            <a:off x="2809024" y="1645613"/>
            <a:ext cx="1196700" cy="428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7"/>
          <p:cNvSpPr/>
          <p:nvPr/>
        </p:nvSpPr>
        <p:spPr>
          <a:xfrm>
            <a:off x="5801350" y="791274"/>
            <a:ext cx="1549500" cy="1135800"/>
          </a:xfrm>
          <a:prstGeom prst="roundRect">
            <a:avLst>
              <a:gd fmla="val 9421" name="adj"/>
            </a:avLst>
          </a:prstGeom>
          <a:solidFill>
            <a:srgbClr val="92D050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96" name="Google Shape;596;p47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Codice assembly ARM finale</a:t>
            </a:r>
            <a:endParaRPr sz="1100"/>
          </a:p>
        </p:txBody>
      </p:sp>
      <p:sp>
        <p:nvSpPr>
          <p:cNvPr id="597" name="Google Shape;597;p47"/>
          <p:cNvSpPr/>
          <p:nvPr/>
        </p:nvSpPr>
        <p:spPr>
          <a:xfrm>
            <a:off x="2857500" y="840507"/>
            <a:ext cx="3429000" cy="3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X,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Y, 30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Z, 20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R0, #X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R1, #Y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R2, #Z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   R0, R1   // X&gt;Y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MOVGT R3, R0   // MAX=X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MOVLT R3, R1   // MAX=Y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   R2, R3   // Z&gt;MAX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MOVGT R3, R2   // MAX=Z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// R3=MAX</a:t>
            </a:r>
            <a:endParaRPr sz="1100"/>
          </a:p>
        </p:txBody>
      </p:sp>
      <p:sp>
        <p:nvSpPr>
          <p:cNvPr id="598" name="Google Shape;598;p47"/>
          <p:cNvSpPr/>
          <p:nvPr/>
        </p:nvSpPr>
        <p:spPr>
          <a:xfrm>
            <a:off x="5966210" y="1078563"/>
            <a:ext cx="1328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EQU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EQU 30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 EQU 20</a:t>
            </a:r>
            <a:endParaRPr sz="1100"/>
          </a:p>
        </p:txBody>
      </p:sp>
      <p:sp>
        <p:nvSpPr>
          <p:cNvPr id="599" name="Google Shape;599;p47"/>
          <p:cNvSpPr/>
          <p:nvPr/>
        </p:nvSpPr>
        <p:spPr>
          <a:xfrm>
            <a:off x="1526095" y="625669"/>
            <a:ext cx="1581000" cy="383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Sintassi GNU</a:t>
            </a:r>
            <a:endParaRPr sz="1100"/>
          </a:p>
        </p:txBody>
      </p:sp>
      <p:sp>
        <p:nvSpPr>
          <p:cNvPr id="600" name="Google Shape;600;p47"/>
          <p:cNvSpPr/>
          <p:nvPr/>
        </p:nvSpPr>
        <p:spPr>
          <a:xfrm>
            <a:off x="5762102" y="671397"/>
            <a:ext cx="1631400" cy="383100"/>
          </a:xfrm>
          <a:prstGeom prst="roundRect">
            <a:avLst>
              <a:gd fmla="val 16667" name="adj"/>
            </a:avLst>
          </a:prstGeom>
          <a:solidFill>
            <a:srgbClr val="33996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Sintassi KEIL</a:t>
            </a:r>
            <a:endParaRPr sz="1100"/>
          </a:p>
        </p:txBody>
      </p:sp>
      <p:sp>
        <p:nvSpPr>
          <p:cNvPr id="601" name="Google Shape;601;p47"/>
          <p:cNvSpPr/>
          <p:nvPr/>
        </p:nvSpPr>
        <p:spPr>
          <a:xfrm>
            <a:off x="4854609" y="1134562"/>
            <a:ext cx="791400" cy="68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02" name="Google Shape;602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8"/>
          <p:cNvSpPr txBox="1"/>
          <p:nvPr/>
        </p:nvSpPr>
        <p:spPr>
          <a:xfrm>
            <a:off x="1502067" y="922205"/>
            <a:ext cx="61398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fine supponendo di voler salvare il risultato della computazione nello Stack basterà eseguire una istruzione di Store Register all’indirizzo puntato dallo Stack Pointer.</a:t>
            </a:r>
            <a:endParaRPr sz="1100"/>
          </a:p>
        </p:txBody>
      </p:sp>
      <p:grpSp>
        <p:nvGrpSpPr>
          <p:cNvPr id="608" name="Google Shape;608;p48"/>
          <p:cNvGrpSpPr/>
          <p:nvPr/>
        </p:nvGrpSpPr>
        <p:grpSpPr>
          <a:xfrm>
            <a:off x="1858192" y="2774243"/>
            <a:ext cx="1471219" cy="426094"/>
            <a:chOff x="0" y="-1"/>
            <a:chExt cx="1569300" cy="454500"/>
          </a:xfrm>
        </p:grpSpPr>
        <p:sp>
          <p:nvSpPr>
            <p:cNvPr id="609" name="Google Shape;609;p48"/>
            <p:cNvSpPr/>
            <p:nvPr/>
          </p:nvSpPr>
          <p:spPr>
            <a:xfrm>
              <a:off x="0" y="-1"/>
              <a:ext cx="1569300" cy="4545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8"/>
            <p:cNvSpPr txBox="1"/>
            <p:nvPr/>
          </p:nvSpPr>
          <p:spPr>
            <a:xfrm>
              <a:off x="0" y="0"/>
              <a:ext cx="15693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Max</a:t>
              </a:r>
              <a:endParaRPr sz="1100"/>
            </a:p>
          </p:txBody>
        </p:sp>
      </p:grpSp>
      <p:sp>
        <p:nvSpPr>
          <p:cNvPr id="611" name="Google Shape;611;p48"/>
          <p:cNvSpPr/>
          <p:nvPr/>
        </p:nvSpPr>
        <p:spPr>
          <a:xfrm>
            <a:off x="3722505" y="2692291"/>
            <a:ext cx="976800" cy="590100"/>
          </a:xfrm>
          <a:prstGeom prst="rightArrow">
            <a:avLst>
              <a:gd fmla="val 44374" name="adj1"/>
              <a:gd fmla="val 95898" name="adj2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8"/>
          <p:cNvSpPr txBox="1"/>
          <p:nvPr/>
        </p:nvSpPr>
        <p:spPr>
          <a:xfrm>
            <a:off x="5093328" y="2801536"/>
            <a:ext cx="22164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STR   R3, [SP]</a:t>
            </a:r>
            <a:endParaRPr sz="1100"/>
          </a:p>
        </p:txBody>
      </p:sp>
      <p:sp>
        <p:nvSpPr>
          <p:cNvPr id="613" name="Google Shape;613;p48"/>
          <p:cNvSpPr txBox="1"/>
          <p:nvPr/>
        </p:nvSpPr>
        <p:spPr>
          <a:xfrm>
            <a:off x="1957535" y="189125"/>
            <a:ext cx="52467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4" name="Google Shape;614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9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(DNS → Codice)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9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#varX       ; leggo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#varY       ; leggo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#varZ       ; leggo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   R0, R1          ; X &gt; Y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MOVGT R3, R0          ; TRUE  --&gt; Max =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MOVLT R3, R1          ; FALSE --&gt; Max =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   R2, R3          ; Z &gt; Max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MOVGT R3, R2          ; TRUE  --&gt; Max =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 da svolgere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0"/>
          <p:cNvSpPr/>
          <p:nvPr/>
        </p:nvSpPr>
        <p:spPr>
          <a:xfrm>
            <a:off x="365760" y="175491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960120" y="1782345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somma di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0"/>
          <p:cNvSpPr/>
          <p:nvPr/>
        </p:nvSpPr>
        <p:spPr>
          <a:xfrm>
            <a:off x="365760" y="246814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960120" y="2495577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30, 15 e moltiplicare il risultato per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0"/>
          <p:cNvSpPr txBox="1"/>
          <p:nvPr/>
        </p:nvSpPr>
        <p:spPr>
          <a:xfrm>
            <a:off x="365750" y="1097275"/>
            <a:ext cx="7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 il diagramma DNS e il codice ARM dei seguenti esercizi:</a:t>
            </a:r>
            <a:endParaRPr/>
          </a:p>
        </p:txBody>
      </p:sp>
      <p:sp>
        <p:nvSpPr>
          <p:cNvPr id="637" name="Google Shape;637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38" name="Google Shape;638;p50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0"/>
          <p:cNvSpPr/>
          <p:nvPr/>
        </p:nvSpPr>
        <p:spPr>
          <a:xfrm>
            <a:off x="365760" y="318137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50"/>
          <p:cNvSpPr/>
          <p:nvPr/>
        </p:nvSpPr>
        <p:spPr>
          <a:xfrm>
            <a:off x="960120" y="320880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Memorizzare il massimo tra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0"/>
          <p:cNvSpPr/>
          <p:nvPr/>
        </p:nvSpPr>
        <p:spPr>
          <a:xfrm>
            <a:off x="365739" y="39220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it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0"/>
          <p:cNvSpPr/>
          <p:nvPr/>
        </p:nvSpPr>
        <p:spPr>
          <a:xfrm>
            <a:off x="960099" y="394945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Dato X = 36, calcola X / 4 e salva il risultato.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</a:t>
            </a:r>
            <a:r>
              <a:rPr b="1" lang="it" sz="3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it" sz="3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Divisione di un intero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1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lang="it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la divisione di un numero intero X per 4 e salvare il risultato, dove X = 36.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51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51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int divisione_per_quattro(X)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X è un numero intero 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divisione_per_quattro(X) restituisce il quoziente di X / 4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1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1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Identifica l'esponente della potenza di 2: Poiché 4 = 2</a:t>
            </a:r>
            <a:r>
              <a:rPr baseline="30000"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la divisione per 4 corrisponde a uno scorrimento a destra di 2 posizioni.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 il risultato tramite shift e salva il valore ottenuto.</a:t>
            </a:r>
            <a:endParaRPr sz="16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(DNS → Codice)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2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64" name="Google Shape;664;p52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t/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lang="it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36 			; valore iniziale di X</a:t>
            </a:r>
            <a:endParaRPr sz="13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 R0, #varX       	; leggo 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t/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lang="it" sz="13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LSR R1, R0, #2 		; R1 = R0 &gt;&gt; 2 --&gt; R1 = 36 / 4 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STR   R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, [SP]        	; Return </a:t>
            </a:r>
            <a:r>
              <a:rPr lang="it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Risultato</a:t>
            </a:r>
            <a:endParaRPr sz="13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