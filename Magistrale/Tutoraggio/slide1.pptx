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y="5143500" cx="9144000"/>
  <p:notesSz cx="6858000" cy="9144000"/>
  <p:embeddedFontLst>
    <p:embeddedFont>
      <p:font typeface="Play"/>
      <p:regular r:id="rId68"/>
      <p:bold r:id="rId69"/>
    </p:embeddedFont>
    <p:embeddedFont>
      <p:font typeface="Tahoma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AFEED1-5C3F-4462-8BA4-06E874B7598D}">
  <a:tblStyle styleId="{22AFEED1-5C3F-4462-8BA4-06E874B7598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940B6B2-0D69-4834-88B2-C9788672F01C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D133D51-0698-4178-AC93-D7313E08438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8873ABA-15EE-4EB2-9065-1DD6A7041EC3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Tahoma-bold.fntdata"/><Relationship Id="rId70" Type="http://schemas.openxmlformats.org/officeDocument/2006/relationships/font" Target="fonts/Tahoma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Play-regular.fntdata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Play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lezione introduciamo alcuni concetti fondamentali dell'architettura dei sistemi di elaborazione. In particolare ci concentreremo su tre aspetti principali: i sistemi di numerazione, le conversioni tra basi numeriche e un primo esempio di controllo degli errori nei dati tramite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concetti sono fondamentali perché tutti i computer rappresentano e manipolano informazioni utilizzando numeri binari. Comprendere come funzionano le basi numeriche e come avvengono le conversioni permette di capire come i dati vengono memorizzati, trasmessi e processati all’interno dei sistemi digitali.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della lezione vedremo anche come i segnali elettrici reali, che sono analogici, vengono interpretati dai circuiti digitali come valori logici discreti, cioè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un metodo utilizzato nei sistemi di comunicazione e memorizzazione per rilevare e correggere errori nei dati trasmessi.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 sistema di numerazione è un metodo per rappresentare i numeri utilizzando simboli.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Possiamo considerarlo come un vero e proprio linguaggio, con due componenti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componente è l’alfabeto, cioè l’insieme dei simboli che possiamo utilizzare per scrivere i numeri. Ad esempio nel sistema decimale utilizziamo i simboli da 0 a 9.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componente è la grammatica, cioè l’insieme delle regole che stabiliscono come questi simboli possono essere combinati per rappresentare un numero e come interpretarne il significato numerico.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Queste regole definiscono sia la sintassi, cioè come si costruiscono le sequenze valide di simboli, sia la semantica, cioè il valore numerico che tali sequenze rappresentano.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Comprendere questi due elementi è fondamentale per capire come funzionano i diversi sistemi di numerazione.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sistema di numerazione romano è un esempio di sistema additivo.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tipo di sistema ogni simbolo ha un valore fisso e il numero totale si ottiene sommando i valori dei simboli presenti.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il simbolo I rappresenta 1, V rappresenta 5, X rappresenta 10 e così via fino a M che rappresenta 1000.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scriviamo un numero come XVII stiamo semplicemente sommando i valori dei simboli: 10 più 5 più 1 più 1, ottenendo quindi 17.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sistema però ha diversi limiti. Il principale è che non è posizionale, quindi non sfrutta la posizione delle cifre per rappresentare valori diversi.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Inoltre non esiste una rappresentazione per lo zero, cosa che rende molto più complicato effettuare calcoli matematici rispetto ai sistemi moderni.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sistemi di numerazione moderni, come il sistema decimale o binario, sono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un sistema posizionale il valore di una cifra dipende non solo dal simbolo ma anche dalla posizione che occupa all’interno del numero.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di simboli disponibili definisce la base del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nel sistema decimale la base è 10 perché abbiamo 10 simboli: da 0 a 9.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posizione rappresenta una potenza della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numero 321 in base 10 il 3 rappresenta 3 per 10 alla seconda, il 2 rappresenta 2 per 10 alla prima e l’1 rappresenta 1 per 10 alla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totale del numero è quindi la somma di questi contributi.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slide riassume il concetto di sistema posizionale.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L’idea chiave è che ogni posizione del numero corrisponde a una potenza della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la base è b, allora le posizioni rappresentano b elevato a 0, b elevato a 1, b elevato a 2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schema vale per qualsiasi sistema numerico: decimale, binario, ottale o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principio è quello che rende possibili le conversioni tra basi, perché ci permette di esprimere qualsiasi numero come una combinazione di potenze della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vediamo due esempi concreti.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è un numero decimale, in cui ogni cifra viene moltiplicata per la potenza di 10 corrispondente alla sua posizione.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secondo esempio è un numero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sistema binario abbiamo solo due cifre: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posizione rappresenta una potenza di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per convertire un numero binario in decimale basta sommare le potenze di 2 corrispondenti ai bit che valgono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è il principio base utilizzato dai computer per rappresentare i numeri.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e59194fb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e59194fb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comprendere meglio i concetti di tensione, corrente e resistenza possiamo utilizzare un’analogia con l’acqua che scorre in un tubo.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tensione può essere paragonata alla pressione dell’acqua. Rappresenta la differenza di potenziale che spinge le cariche elettriche a muoversi.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corrente invece è il flusso di carica elettrica, cioè la quantità di carica che passa in un punto del circuito in un determinato intervallo di tempo. Nell’analogia è la quantità di acqua che scorre nel tubo.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resistenza rappresenta invece un ostacolo al passaggio della corrente, proprio come una strozzatura nel tubo rende più difficile il passaggio dell’acqua.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relazione tra queste tre grandezze è descritta dalla legge di Ohm.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In questa slide vediamo la differenza tra circuito aperto e circuito chiuso.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Un circuito chiuso è un circuito completo in cui la corrente può scorrere senza interruzioni.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Quando il circuito è chiuso esiste un percorso continuo che permette alle cariche elettriche di muoversi dalla sorgente, attraversare i componenti e tornare alla sorgente.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Un circuito aperto invece è interrotto in almeno un punto. In questo caso la corrente non può scorrere.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Questo concetto è fondamentale per comprendere il funzionamento dei circuiti digitali, dove i transistor funzionano essenzialmente come interruttori che aprono o chiudono il circuito.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La legge di Ohm descrive la relazione tra tensione, corrente e resistenza.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La formula fondamentale è V uguale R per I, dove V è la tensione, I è la corrente e R è la resistenza.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Nel grafico mostrato nella slide, sull’asse orizzontale troviamo la tensione mentre sull’asse verticale troviamo la corrente.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Le linee rappresentano diverse resistenze.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Più la resistenza è alta, minore sarà la corrente che scorre a parità di tensione.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Questo comportamento è alla base del funzionamento di molti circuiti elettronici.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Linea Blu ($100\ \Omega$):</a:t>
            </a:r>
            <a:r>
              <a:rPr lang="it">
                <a:solidFill>
                  <a:schemeClr val="dk1"/>
                </a:solidFill>
              </a:rPr>
              <a:t> È una resistenza "piccola". Nota come la linea sia molto ripida: basta una piccola tensione per far scorrere molta corrente. Il tubo è largo.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Linea Verde ($1\ K\Omega$ ovvero $1000\ \Omega$):</a:t>
            </a:r>
            <a:r>
              <a:rPr lang="it">
                <a:solidFill>
                  <a:schemeClr val="dk1"/>
                </a:solidFill>
              </a:rPr>
              <a:t> È una resistenza "grande". La linea è molto piatta: anche se aumenti molto la tensione, la corrente che passa è pochissima. Il tubo è molto stretto.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In sintesi:</a:t>
            </a:r>
            <a:r>
              <a:rPr lang="it">
                <a:solidFill>
                  <a:schemeClr val="dk1"/>
                </a:solidFill>
              </a:rPr>
              <a:t> Più la resistenza è alta, più la pendenza diminuisce. La resistenza è letteralmente il "freno" del tuo circuito.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700">
                <a:solidFill>
                  <a:schemeClr val="dk1"/>
                </a:solidFill>
              </a:rPr>
              <a:t>2. Il Codice Colori: Leggere il Componente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Nella realtà, le resistenze sono piccoli cilindri con delle strisce colorate. Poiché sono troppo piccole per scriverci sopra i numeri, usiamo un codice universale.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Ecco come si legge quella nell'immagine (da sinistra a destra):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Prima Cifra (Rosso):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2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Seconda Cifra (Viola):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7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Terza Cifra (Giallo):</a:t>
            </a:r>
            <a:r>
              <a:rPr lang="it">
                <a:solidFill>
                  <a:schemeClr val="dk1"/>
                </a:solidFill>
              </a:rPr>
              <a:t> Vale </a:t>
            </a:r>
            <a:r>
              <a:rPr b="1" lang="it">
                <a:solidFill>
                  <a:schemeClr val="dk1"/>
                </a:solidFill>
              </a:rPr>
              <a:t>4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Moltiplicatore (Arancio):</a:t>
            </a:r>
            <a:r>
              <a:rPr lang="it">
                <a:solidFill>
                  <a:schemeClr val="dk1"/>
                </a:solidFill>
              </a:rPr>
              <a:t> Indica quanti zeri aggiungere (in questo caso $\times 1000$ o $1\ K$).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>
                <a:solidFill>
                  <a:schemeClr val="dk1"/>
                </a:solidFill>
              </a:rPr>
              <a:t>Tolleranza (Oro/Argento):</a:t>
            </a:r>
            <a:r>
              <a:rPr lang="it">
                <a:solidFill>
                  <a:schemeClr val="dk1"/>
                </a:solidFill>
              </a:rPr>
              <a:t> Indica quanto è precisa la resistenza (es. $\pm 5\%$).</a:t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segnali elettrici reali sono segnali analogici, cioè possono assumere un numero continuo di valori.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Nei sistemi digitali però questi valori vengono interpretati come livelli logici discreti: 0 oppure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processo avviene grazie ai transistor, che funzionano come interruttori elettronici.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logica TTL non esiste un singolo valore di tensione per rappresentare lo zero o l’uno.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Esistono invece intervalli di tensione.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tensioni tra 0 e 0.8 volt vengono interpretate come zero logico.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Tensioni tra 2 e 5 volt vengono interpretate come uno logico.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L’intervallo intermedio è una zona di indeterminazione che i circuiti cercano di evitare.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iniziamo con le conversioni tra basi numeriche.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caso è la conversione da una base generica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metodo che utilizziamo si basa sulla rappresentazione polinomiale dei numeri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Supponiamo di avere un numero scritto in una base b con cifre ck, ck-1, fino a c0.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del numero si ottiene moltiplicando ogni cifra per la potenza della base corrispondente alla sua posizione e poi sommando tutti i risultati.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Formalmente il numero vale: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ck * b^k + ck-1 * b^(k-1) + … + c1 * b¹ + c0 * b⁰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funziona per qualsiasi base: binaria, ottale, esadecimale o qualsiasi altra.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il numero è in base 2 possiamo semplificare il procedimento.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sistema binario le cifre possibili sono solo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le potenze di 2 associate agli 0 non contribuiscono alla somma.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Possiamo quindi ignorare tutte le posizioni dove troviamo uno zero e sommare soltanto le potenze di due corrispondenti ai bit che valgono 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rende il calcolo molto più veloce e intuitivo.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se abbiamo un numero binario con 1 nelle posizioni corrispondenti alle potenze 2^2, 2^1 e 2^0, il valore sarà semplicemente 4 + 2 + 1.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1F4 dalla base 16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Prima ricordiamo che nel sistema esadecimale le cifre vanno da 0 a 15.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cifre da 10 a 15 sono rappresentate dalle lettere A, B, C, D, E, F.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particolare la lettera F rappresenta il valore 15.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applichiamo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è composto da tre cifre.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vale 1 ed è associata alla potenza 16².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vale F, cioè 15, ed è associata alla potenza 16¹.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terza vale 4 ed è associata alla potenza 16⁰.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 * 256 + 15 * 16 + 4 *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risultato finale è 500 in base 10.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314 dalla base 5 al sistema 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Applichiamo lo stesso metodo.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cifra è 3 e corrisponde alla potenza 5².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seconda cifra è 1 e corrisponde alla potenza 5¹.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terza cifra è 4 e corrisponde alla potenza 5⁰.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3 * 25 + 1 * 5 + 4 *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produce: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75 + 5 + 4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risultato finale è 84 in base 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mostra che lo stesso procedimento funziona per qualsiasi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e1a7bf13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proponiamo un esercizio.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da convertire è DA4 in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Ricordiamo i valori delle cifre: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 rappresenta 13</a:t>
            </a:r>
            <a:br>
              <a:rPr lang="it"/>
            </a:br>
            <a:r>
              <a:rPr lang="it"/>
              <a:t>A rappresenta 10</a:t>
            </a:r>
            <a:br>
              <a:rPr lang="it"/>
            </a:br>
            <a:r>
              <a:rPr lang="it"/>
              <a:t>4 rappresenta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applichiamo la formula della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 è nella posizione 16².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 è nella posizione 16¹.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4 è nella posizione 16⁰.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Gli studenti dovrebbero quindi calcolare: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13 * 256 + 10 * 16 + 4 *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ce1a7bf13b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e1a7bf13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la soluzione dell'esercizio precedente.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Calcoliamo i singoli contributi.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13 * 256 = 3328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10 * 16 = 160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4 * 1 =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Sommiamo i risultati: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3328 + 160 + 4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valore finale è 3492 in base 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serve per far prendere dimestichezza con le conversioni esadecimali.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ce1a7bf13b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Passiamo ora al procedimento inverso.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Vogliamo convertire un numero decimale in una base qualsiasi.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metodo utilizzato è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L’idea è dividere ripetutamente il numero per la base desiderata.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ogni divisione si annota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ottenuti, letti dal basso verso l’alto, formano il numero nella nuova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è molto generale e funziona per qualsiasi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un caso molto importante: la conversione da base 10 a base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Dividere per 2 è equivalente a verificare se un numero è pari o dispari.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il resto è 0 il numero è 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il resto è 1 il numero è dispari.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Continuando a dividere per 2 e annotando i resti otteniamo la rappresentazione binaria.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caso mostrato nella slide il numero 50 viene convertito in 110010 in base 2.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500 in base 10 nella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ripetutamente per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volta annotiamo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 rappresentano le cifre del numero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Alla fine leggiamo i resti dal basso verso l’alto per ottenere la rappresentazione finale.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procedimento è lo stesso visto prima, ma applicato alla base 16.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convertiamo il numero 43 dalla base decimale alla base 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il numero per 5 e annotiamo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Poi dividiamo il quoziente nuovamente per 5 e continuiamo fino ad arrivare a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resti ottenuti rappresentano le cifre del numero nella nuova 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Anche qui il numero finale si ottiene leggendo i resti dal basso verso l’alto.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e1a7bf13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proponiamo un esercizio.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Dobbiamo convertire il numero 205 in base 10 nel sistema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Gli studenti devono applicare il metodo delle divisioni successive per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ogni divisione devono annotare il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Alla fine, leggendo i resti dal basso verso l’alto, si ottiene il numero binario corrispondente.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ce1a7bf13b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e1a7bf13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Vediamo ora la soluzione.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Dividiamo 205 per 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Continuiamo a dividere i quozienti per 2 annotando ogni resto.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il quoziente diventa zero ci fermiamo.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Leggendo i resti dal basso verso l’alto otteniamo il numero binario: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1001101"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è il valore di 205 nel sistema binario.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ce1a7bf13b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tabella riassume le conversioni tra i diversi sistemi di numerazione.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Serve come riferimento rapido per verificare le equivalenze tra binario, ottale, decimale ed esadecimale.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informatica questa tabella è molto utile perché le conversioni tra base 2, 8 e 16 sono molto frequenti.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Imparare alcune corrispondenze a memoria può velocizzare molto i calcoli.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le basi sono potenze l’una dell’altra la conversione diventa molto più semplice.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Ad esempio 8 è uguale a 2³.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ogni cifra ottale corrisponde esattamente a 3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binario a ottale basta raggruppare i bit in gruppi di tre partendo da destra.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gruppo di tre bit viene poi convertito nella cifra ottale corrispondente.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procedimento inverso è altrettanto semplice: ogni cifra ottale viene sostituita con tre bit.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 caso analogo è quello della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base 16 è uguale a 2⁴.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significa che ogni cifra esadecimale corrisponde esattamente a 4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binario a esadecimale si raggruppano i bit in gruppi di quattro.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convertire da esadecimale a binario basta sostituire ogni cifra con il gruppo di quattro bit corrispondente.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metodo è estremamente usato nella programmazione e nell’analisi dei dati binari.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esempio mostra un caso meno comune ma concettualmente identico.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base 9 è uguale a 3².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ogni cifra in base 9 può essere rappresentata con due cifre in base 3.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conversione avviene quindi raggruppando le cifre in coppie.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dimostra che il principio delle basi potenza vale per qualsiasi sistema numerico.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e1a7bf1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100"/>
              <a:buNone/>
            </a:pPr>
            <a:r>
              <a:rPr lang="it"/>
              <a:t>Le slide successive contengono esercizi di conversione tra basi.</a:t>
            </a:r>
            <a:endParaRPr/>
          </a:p>
        </p:txBody>
      </p:sp>
      <p:sp>
        <p:nvSpPr>
          <p:cNvPr id="416" name="Google Shape;416;g3ce1a7bf13b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e1a7bf1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3ce1a7bf13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e1a7bf13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3ce1a7bf13b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e1a7bf13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3ce1a7bf13b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e1a7bf13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g3ce1a7bf13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e59194fb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e59194fb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ultime slide propongono esercizi sul codice di Hamming.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e59194fb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e59194fb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codice di Hamming funziona introducendo dei bit aggiuntivi chiamati bit di parità o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bit non contengono dati, ma servono esclusivamente per verificare la correttezza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vengono inseriti in posizioni specifiche della sequenza, precisamente nelle posizioni che corrispondono a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 1, 2, 4, 8, 16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contengono invece i bit di dati reali.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certo gruppo di bit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durante la trasmissione un bit cambia valore, i controlli di parità non risulteranno più corretti.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Analizzando quali controlli risultano errati è possibile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formula mostrata nella slide serve per determinare quanti bit di parità sono necessari.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condizione è: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2^n ≥ m + n + 1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dove m è il numero di bit di dati e n è il numero di bit di parità.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e59194fb8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ce59194fb8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esempio vogliamo applicare il codice di Hamming alla parola 1B in base 16.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passo è convertire il numero esadecimale in binario.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Ricordiamo che ogni cifra esadecimale corrisponde a quattro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numero 1B diventa quindi: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0001 1011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è la sequenza di bit di partenza su cui costruiremo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dovremo inserire i bit di parità nelle posizioni corrette.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ce59194fb8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e59194fb8_8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ce59194fb8_8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e59194fb8_8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dobbiamo inserire i bit di parità nella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Come detto prima, i bit di parità occupano le posizioni che sono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1</a:t>
            </a:r>
            <a:br>
              <a:rPr lang="it"/>
            </a:br>
            <a:r>
              <a:rPr lang="it"/>
              <a:t>2</a:t>
            </a:r>
            <a:br>
              <a:rPr lang="it"/>
            </a:br>
            <a:r>
              <a:rPr lang="it"/>
              <a:t>4</a:t>
            </a:r>
            <a:br>
              <a:rPr lang="it"/>
            </a:br>
            <a:r>
              <a:rPr lang="it"/>
              <a:t>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Queste posizioni non conterranno dati ma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conterranno i bit della sequenza originale.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distribuiamo i bit di dati negli spazi rimanenti.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questo modo otteniamo una sequenza con spazi riservati ai bit di parità.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e59194fb8_8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e59194fb8_8_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slide vediamo la struttura completa della parola codificata.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posizioni della sequenza sono numerate da destra verso sinistra.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sono indicati con b0, b1, b2 e b3.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dati occupano tutte le altre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disposizione è fondamentale perché ogni bit di parità controllerà un insieme specifico di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combinazione dei controlli permetterà poi di individuare l'eventuale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ce59194fb8_8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e59194fb8_8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dobbiamo determinare quali bit vengono controllati da ciascun bit di parità.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gruppo di posizioni specifiche.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gruppi si determinano osservando la rappresentazione binaria delle posizioni.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pratica ogni bit di parità controlla tutte le posizioni in cui il corrispondente bit della posizione binaria vale uno.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meccanismo permette di costruire gruppi di controllo sovrapposti.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È proprio questa sovrapposizione che rende possibile individuare la posizione esatta di un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ce59194fb8_8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e59194fb8_8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 si 2 no</a:t>
            </a:r>
            <a:endParaRPr/>
          </a:p>
        </p:txBody>
      </p:sp>
      <p:sp>
        <p:nvSpPr>
          <p:cNvPr id="567" name="Google Shape;567;g3ce59194fb8_8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e59194fb8_8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ce59194fb8_8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e59194fb8_8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8 si 8 no</a:t>
            </a:r>
            <a:endParaRPr/>
          </a:p>
        </p:txBody>
      </p:sp>
      <p:sp>
        <p:nvSpPr>
          <p:cNvPr id="583" name="Google Shape;583;g3ce59194fb8_8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e59194fb8_8_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Dopo aver calcolato tutti i bit di parità otteniamo la parola codificata completa.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sequenza contiene sia i bit di dati sia i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presenza dei bit di controllo permette al sistema ricevente di verificare se durante la trasmissione si è verificato un 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un singolo bit cambia valore, il sistema di controllo sarà in grado di individuare la posizione dell'errore.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ce59194fb8_8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e59194fb8_8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Ora supponiamo di ricevere una sequenza di bit.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primo passo è ricalcolare tutti i bit di parità utilizzando gli stessi gruppi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Confrontiamo poi i risultati ottenuti con i bit di parità presenti nella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tutti i controlli risultano corretti significa che la sequenza è stata trasmessa senza errori.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invece uno o più controlli risultano errati significa che durante la trasmissione si è verificato un errore.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ce59194fb8_8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ce59194fb8_8_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ce59194fb8_8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e59194fb8_8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ce59194fb8_8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e59194fb8_8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Quando alcuni controlli di parità risultano errati possiamo utilizzarli per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rappresenta un bit della posizione dell'errore.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Combinando i risultati dei controlli otteniamo un numero binario che indica esattamente la posizione del bit sbagliato.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Questo è il principio fondamentale che rende il codice di Hamming capace di correggere errori.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In questo esempio i risultati dei controlli di parità sono tutti zero.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Questo significa che la sequenza ricevuta è corretta.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Non è necessario effettuare alcuna correzione.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Il dato può quindi essere utilizzato direttamente dal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ce59194fb8_8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e59194fb8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ce59194fb8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ce59194fb8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ce59194fb8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ce59194fb8_0_2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ce59194fb8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ce59194fb8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ultime slide propongono esercizi sul codice di Hamming.</a:t>
            </a:r>
            <a:endParaRPr/>
          </a:p>
        </p:txBody>
      </p:sp>
      <p:sp>
        <p:nvSpPr>
          <p:cNvPr id="663" name="Google Shape;663;g3ce59194fb8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e59194fb8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ce59194fb8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e59194fb8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ce59194fb8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e59194fb8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ce59194fb8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e59194fb8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ce59194fb8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e59194fb8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ce59194fb8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gif"/><Relationship Id="rId4" Type="http://schemas.openxmlformats.org/officeDocument/2006/relationships/image" Target="../media/image6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it" sz="3500">
                <a:solidFill>
                  <a:schemeClr val="dk1"/>
                </a:solidFill>
              </a:rPr>
              <a:t>Architettura dei sistemi di elaborazione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Teoria 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Sistemi di numerazione e basi posizionali.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Relazione tra livelli logici e segnali analogici.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Conversione Base Generica -&gt; Base 10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Algoritmo della notazione polinomiale.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Conversione Base 10 -&gt; Base Generica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Metodo delle divisioni successive.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Basi potenza l'una dell'altra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Conversione Base 2 -&gt; Base 8 e Base 8 -&gt; Base 2.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Conversione Base 2 -&gt; Base 16 e Base 16 -&gt; Base 2.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 sz="1600"/>
              <a:t>Caso Diverso: Base 3 -&gt; Base 9.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Hamming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- Calcolo bit parità e controllo su sequenza ricevuta </a:t>
            </a:r>
            <a:endParaRPr sz="1600"/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1. I sistemi di numerazione 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I sistemi di numerazione nascono per rappresentare i numeri.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Un sistema numerico è quindi un linguaggio per scrivere i numeri e, come tale, si compone di: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Char char="•"/>
            </a:pPr>
            <a:r>
              <a:rPr b="1" lang="it">
                <a:solidFill>
                  <a:srgbClr val="336666"/>
                </a:solidFill>
              </a:rPr>
              <a:t>Alfabeto</a:t>
            </a:r>
            <a:r>
              <a:rPr lang="it"/>
              <a:t>: l'insieme di simboli.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Char char="•"/>
            </a:pPr>
            <a:r>
              <a:rPr b="1" lang="it">
                <a:solidFill>
                  <a:srgbClr val="336666"/>
                </a:solidFill>
              </a:rPr>
              <a:t>Grammatica</a:t>
            </a:r>
            <a:r>
              <a:rPr lang="it"/>
              <a:t>: le regole con le quali comporre sequenze valide  (</a:t>
            </a:r>
            <a:r>
              <a:rPr lang="it">
                <a:solidFill>
                  <a:srgbClr val="FF0000"/>
                </a:solidFill>
              </a:rPr>
              <a:t>sintassi</a:t>
            </a:r>
            <a:r>
              <a:rPr lang="it"/>
              <a:t>) e quelle per dedurne il significato numerico (</a:t>
            </a:r>
            <a:r>
              <a:rPr lang="it">
                <a:solidFill>
                  <a:srgbClr val="0070C0"/>
                </a:solidFill>
              </a:rPr>
              <a:t>semantica</a:t>
            </a:r>
            <a:r>
              <a:rPr lang="it"/>
              <a:t>).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Sistema di numerazione romano 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4144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È un sistema di </a:t>
            </a:r>
            <a:r>
              <a:rPr b="1" lang="it"/>
              <a:t>numerazione additivo</a:t>
            </a:r>
            <a:r>
              <a:rPr lang="it"/>
              <a:t>, ovvero a ogni simbolo è associato un valore e il numero rappresentato è dato dalla somma dei valori dei simboli:</a:t>
            </a:r>
            <a:endParaRPr/>
          </a:p>
          <a:p>
            <a:pPr indent="-152081" lvl="1" marL="520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 = 1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V = 5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X = 10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L = 50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C = 100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D = 500</a:t>
            </a:r>
            <a:endParaRPr/>
          </a:p>
          <a:p>
            <a:pPr indent="-152081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M = 1000</a:t>
            </a:r>
            <a:endParaRPr/>
          </a:p>
          <a:p>
            <a:pPr indent="-1414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Esempio: XVII (romano) = 17 (decimale) 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798" y="3891475"/>
            <a:ext cx="2398031" cy="8396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8"/>
          <p:cNvGrpSpPr/>
          <p:nvPr/>
        </p:nvGrpSpPr>
        <p:grpSpPr>
          <a:xfrm>
            <a:off x="5316385" y="1976057"/>
            <a:ext cx="1909553" cy="1100966"/>
            <a:chOff x="4451610" y="2107794"/>
            <a:chExt cx="2036857" cy="1174363"/>
          </a:xfrm>
        </p:grpSpPr>
        <p:pic>
          <p:nvPicPr>
            <p:cNvPr id="187" name="Google Shape;18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51610" y="2361340"/>
              <a:ext cx="2036857" cy="920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09030" y="2107794"/>
              <a:ext cx="315711" cy="3696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8"/>
            <p:cNvSpPr/>
            <p:nvPr/>
          </p:nvSpPr>
          <p:spPr>
            <a:xfrm>
              <a:off x="4475357" y="2508199"/>
              <a:ext cx="1989364" cy="504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it" sz="1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il numero zero non si può scrivere!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Sistema di numerazione posizionale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51446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Il numero di simboli utilizzati da un sistema di numerazione posizionale si chiama </a:t>
            </a:r>
            <a:r>
              <a:rPr b="1" lang="it"/>
              <a:t>base</a:t>
            </a:r>
            <a:r>
              <a:rPr lang="it"/>
              <a:t>.</a:t>
            </a:r>
            <a:endParaRPr/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14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Il valore di ogni simbolo (o cifra) dipende dalla posizione che occupa nel numero, ad ogni posizione corrisponde una potenza della base.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"/>
              <a:t>Esempio: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it">
                <a:solidFill>
                  <a:srgbClr val="FF0000"/>
                </a:solidFill>
              </a:rPr>
              <a:t>	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baseline="-25000" lang="it"/>
              <a:t>10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/>
              <a:t>·10</a:t>
            </a:r>
            <a:r>
              <a:rPr baseline="30000" lang="it"/>
              <a:t>2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·10</a:t>
            </a:r>
            <a:r>
              <a:rPr baseline="30000" lang="it"/>
              <a:t>1 </a:t>
            </a:r>
            <a:r>
              <a:rPr lang="it"/>
              <a:t>+ 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lang="it"/>
              <a:t>·10</a:t>
            </a:r>
            <a:r>
              <a:rPr baseline="30000" lang="it"/>
              <a:t>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3</a:t>
            </a:r>
            <a:r>
              <a:rPr lang="it"/>
              <a:t>·100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·10 + </a:t>
            </a:r>
            <a:r>
              <a:rPr lang="it">
                <a:solidFill>
                  <a:srgbClr val="0070C0"/>
                </a:solidFill>
              </a:rPr>
              <a:t>1</a:t>
            </a:r>
            <a:r>
              <a:rPr lang="it"/>
              <a:t>·1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3128" y="2992168"/>
            <a:ext cx="1748095" cy="6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Sistemi di numerazione posizionali</a:t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748" y="1476818"/>
            <a:ext cx="5350166" cy="25926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Esempi di rappresentazioni numeriche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Decimale (es. 2002</a:t>
            </a:r>
            <a:r>
              <a:rPr baseline="-25000" lang="it"/>
              <a:t>10</a:t>
            </a:r>
            <a:r>
              <a:rPr lang="it"/>
              <a:t>):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it"/>
              <a:t>Binario (es. 0111</a:t>
            </a:r>
            <a:r>
              <a:rPr baseline="-25000" lang="it"/>
              <a:t>2</a:t>
            </a:r>
            <a:r>
              <a:rPr lang="it"/>
              <a:t> = 7</a:t>
            </a:r>
            <a:r>
              <a:rPr baseline="-25000" lang="it"/>
              <a:t>10</a:t>
            </a:r>
            <a:r>
              <a:rPr lang="it"/>
              <a:t>): 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2493386" y="1931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1485900"/>
                <a:gridCol w="857250"/>
                <a:gridCol w="665550"/>
                <a:gridCol w="648900"/>
                <a:gridCol w="685800"/>
              </a:tblGrid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cifre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potenze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 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10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valori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2000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31"/>
          <p:cNvGraphicFramePr/>
          <p:nvPr/>
        </p:nvGraphicFramePr>
        <p:xfrm>
          <a:off x="2493386" y="3470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1485900"/>
                <a:gridCol w="857250"/>
                <a:gridCol w="665550"/>
                <a:gridCol w="648900"/>
                <a:gridCol w="685800"/>
              </a:tblGrid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cifre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potenze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 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r>
                        <a:rPr b="0" baseline="3000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1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valori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700"/>
                        <a:buFont typeface="Noto Sans Symbols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Analogia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Per capire l'elettricità, immaginiamo l'acqua che scorre in un tubo.</a:t>
            </a:r>
            <a:endParaRPr sz="1600"/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Tensione (Volt - V):</a:t>
            </a:r>
            <a:r>
              <a:rPr lang="it" sz="1600"/>
              <a:t> È come la </a:t>
            </a:r>
            <a:r>
              <a:rPr b="1" lang="it" sz="1600"/>
              <a:t>pressione</a:t>
            </a:r>
            <a:r>
              <a:rPr lang="it" sz="1600"/>
              <a:t> dell'acqua. Rappresenta la differenza di potenziale: se un serbatoio è in alto e l'altro è in basso, l'acqua "spinge" per scendere. Senza differenza di altezza (potenziale), l'acqua non si muove.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Corrente (Ampere - I):</a:t>
            </a:r>
            <a:r>
              <a:rPr lang="it" sz="1600"/>
              <a:t> È la </a:t>
            </a:r>
            <a:r>
              <a:rPr b="1" lang="it" sz="1600"/>
              <a:t>quantità</a:t>
            </a:r>
            <a:r>
              <a:rPr lang="it" sz="1600"/>
              <a:t> di acqua che scorre nel tubo in un secondo. È il flusso vero e proprio.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La Resistenza (Ohm - Omega):</a:t>
            </a:r>
            <a:r>
              <a:rPr lang="it" sz="1600"/>
              <a:t> È una </a:t>
            </a:r>
            <a:r>
              <a:rPr b="1" lang="it" sz="1600"/>
              <a:t>strizzatura</a:t>
            </a:r>
            <a:r>
              <a:rPr lang="it" sz="1600"/>
              <a:t> o un ostacolo nel tubo. Più il tubo è stretto, più è difficile per l'acqua passare.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it" sz="1600"/>
              <a:t>La legge di Ohm mette in relazione questi tre elementi.</a:t>
            </a:r>
            <a:endParaRPr sz="1600"/>
          </a:p>
        </p:txBody>
      </p:sp>
      <p:sp>
        <p:nvSpPr>
          <p:cNvPr id="225" name="Google Shape;225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"/>
              <a:t>Differenza tra Circuito Aperto e Chiuso</a:t>
            </a:r>
            <a:endParaRPr/>
          </a:p>
        </p:txBody>
      </p:sp>
      <p:pic>
        <p:nvPicPr>
          <p:cNvPr descr="Immagine che contiene chiave inglese&#10;&#10;Il contenuto generato dall'IA potrebbe non essere corretto."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634" y="3359508"/>
            <a:ext cx="5588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molla elicoidale, tipografia&#10;&#10;Il contenuto generato dall'IA potrebbe non essere corretto." id="232" name="Google Shape;2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581" y="1683384"/>
            <a:ext cx="965200" cy="1701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33"/>
          <p:cNvCxnSpPr/>
          <p:nvPr/>
        </p:nvCxnSpPr>
        <p:spPr>
          <a:xfrm>
            <a:off x="1768781" y="2188899"/>
            <a:ext cx="0" cy="14817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33"/>
          <p:cNvSpPr txBox="1"/>
          <p:nvPr/>
        </p:nvSpPr>
        <p:spPr>
          <a:xfrm>
            <a:off x="1873017" y="2641108"/>
            <a:ext cx="1791600" cy="403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626" l="-1408" r="0" t="-62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2733981" y="1954002"/>
            <a:ext cx="725100" cy="215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263" l="-5172" r="-34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1426434" y="1668528"/>
            <a:ext cx="135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Circuito chiuso</a:t>
            </a:r>
            <a:endParaRPr/>
          </a:p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6189652" y="2570197"/>
            <a:ext cx="1791600" cy="403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2121" l="-2110" r="-1410" t="-60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Immagine che contiene molla elicoidale, tipografia&#10;&#10;Il contenuto generato dall'IA potrebbe non essere corretto." id="239" name="Google Shape;2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9158" y="1519908"/>
            <a:ext cx="965200" cy="170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chiave inglese&#10;&#10;Il contenuto generato dall'IA potrebbe non essere corretto." id="240" name="Google Shape;2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008" y="3453621"/>
            <a:ext cx="5588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/>
        </p:nvSpPr>
        <p:spPr>
          <a:xfrm>
            <a:off x="6101430" y="2216919"/>
            <a:ext cx="134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Circuito aperto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"/>
              <a:t>Legge di Ohm</a:t>
            </a:r>
            <a:endParaRPr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8" name="Google Shape;248;p34"/>
          <p:cNvSpPr txBox="1"/>
          <p:nvPr/>
        </p:nvSpPr>
        <p:spPr>
          <a:xfrm>
            <a:off x="4572000" y="1443375"/>
            <a:ext cx="394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4776125" y="1951275"/>
            <a:ext cx="306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864" y="896441"/>
            <a:ext cx="3005482" cy="240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627" y="3091011"/>
            <a:ext cx="2446126" cy="205249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589375" y="1443375"/>
            <a:ext cx="4408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L'asse orizzontale (V):</a:t>
            </a:r>
            <a:r>
              <a:rPr lang="it" sz="1500">
                <a:solidFill>
                  <a:schemeClr val="dk1"/>
                </a:solidFill>
              </a:rPr>
              <a:t> Rappresenta la tensione (la "pressione" dell'acqua).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L'asse verticale (I):</a:t>
            </a:r>
            <a:r>
              <a:rPr lang="it" sz="1500">
                <a:solidFill>
                  <a:schemeClr val="dk1"/>
                </a:solidFill>
              </a:rPr>
              <a:t> Rappresenta la corrente (quanta acqua scorre).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Le linee colorate:</a:t>
            </a:r>
            <a:r>
              <a:rPr lang="it" sz="1500">
                <a:solidFill>
                  <a:schemeClr val="dk1"/>
                </a:solidFill>
              </a:rPr>
              <a:t> Rappresentano tre resistenze diverse.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Segnali digitali e Legge di Ohm</a:t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567425" y="1268025"/>
            <a:ext cx="42054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300"/>
              <a:t>I segnali elettrici analogici vengono interpretati come </a:t>
            </a:r>
            <a:r>
              <a:rPr b="1" lang="it" sz="1300"/>
              <a:t>livelli logici discreti</a:t>
            </a:r>
            <a:r>
              <a:rPr lang="it" sz="1300"/>
              <a:t> (0 e 1).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Il Transistor come Interruttore:</a:t>
            </a:r>
            <a:r>
              <a:rPr lang="it" sz="1300"/>
              <a:t> Il circuito a sinistra mostra un transistor in configurazione </a:t>
            </a:r>
            <a:r>
              <a:rPr i="1" lang="it" sz="1300"/>
              <a:t>Inverter</a:t>
            </a:r>
            <a:r>
              <a:rPr lang="it" sz="1300"/>
              <a:t>.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it" sz="1300"/>
              <a:t>Logica TTL (Transistor-Transistor Logic):</a:t>
            </a:r>
            <a:r>
              <a:rPr lang="it" sz="1300"/>
              <a:t> Non esiste un singolo valore di tensione, ma degli </a:t>
            </a:r>
            <a:r>
              <a:rPr b="1" lang="it" sz="1300"/>
              <a:t>intervalli</a:t>
            </a:r>
            <a:r>
              <a:rPr lang="it" sz="1300"/>
              <a:t>: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LOW (0):</a:t>
            </a:r>
            <a:r>
              <a:rPr lang="it" sz="1300"/>
              <a:t> Tensioni tra 0V e 0.8V.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HIGH (1):</a:t>
            </a:r>
            <a:r>
              <a:rPr lang="it" sz="1300"/>
              <a:t> Tensioni tra 2V e 5V.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it" sz="1300"/>
              <a:t>Zona di indeterminazione: </a:t>
            </a:r>
            <a:r>
              <a:rPr lang="it" sz="1300"/>
              <a:t>L'intervallo 0.8V - 2.0V è non interpretato.</a:t>
            </a:r>
            <a:endParaRPr sz="1300"/>
          </a:p>
        </p:txBody>
      </p:sp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4044" y="1468934"/>
            <a:ext cx="4310062" cy="220563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2. Conversioni Base generica -&gt; Base 10</a:t>
            </a:r>
            <a:endParaRPr/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Da qualsiasi base (b) a decimale:</a:t>
            </a:r>
            <a:endParaRPr/>
          </a:p>
        </p:txBody>
      </p:sp>
      <p:pic>
        <p:nvPicPr>
          <p:cNvPr id="268" name="Google Shape;2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518" y="2637653"/>
            <a:ext cx="1858344" cy="7348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" name="Google Shape;269;p36"/>
          <p:cNvGraphicFramePr/>
          <p:nvPr/>
        </p:nvGraphicFramePr>
        <p:xfrm>
          <a:off x="4008789" y="2616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651275"/>
                <a:gridCol w="650075"/>
                <a:gridCol w="650075"/>
                <a:gridCol w="650075"/>
                <a:gridCol w="651275"/>
              </a:tblGrid>
              <a:tr h="35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k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k-1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…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1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c</a:t>
                      </a:r>
                      <a:r>
                        <a:rPr baseline="-25000" lang="it" sz="1400" u="none" cap="none" strike="noStrike"/>
                        <a:t>0</a:t>
                      </a:r>
                      <a:endParaRPr b="0" baseline="-25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graphicFrame>
        <p:nvGraphicFramePr>
          <p:cNvPr id="270" name="Google Shape;270;p36"/>
          <p:cNvGraphicFramePr/>
          <p:nvPr/>
        </p:nvGraphicFramePr>
        <p:xfrm>
          <a:off x="4008789" y="3063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651275"/>
                <a:gridCol w="650075"/>
                <a:gridCol w="650075"/>
                <a:gridCol w="650075"/>
                <a:gridCol w="651275"/>
              </a:tblGrid>
              <a:tr h="32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k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k-1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…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1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/>
                        <a:t>b</a:t>
                      </a:r>
                      <a:r>
                        <a:rPr baseline="30000" lang="it" sz="1400" u="none" cap="none" strike="noStrike"/>
                        <a:t>0</a:t>
                      </a:r>
                      <a:endParaRPr b="0" baseline="3000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Metodo semplificato: Base 2 -&gt; Base 10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In una somma i bit a zero possono essere esclusi, possiamo sommare le sole potenze di due dove troviamo un uno:</a:t>
            </a:r>
            <a:endParaRPr b="1"/>
          </a:p>
        </p:txBody>
      </p:sp>
      <p:pic>
        <p:nvPicPr>
          <p:cNvPr id="279" name="Google Shape;2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917" y="2222446"/>
            <a:ext cx="1997702" cy="182768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3549675" y="2105075"/>
            <a:ext cx="774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5 4 3 2 1 0</a:t>
            </a:r>
            <a:endParaRPr b="0" i="0" sz="1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generica -&gt; Base 10</a:t>
            </a:r>
            <a:endParaRPr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-136842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"/>
              <a:t>Trasformare 1F4</a:t>
            </a:r>
            <a:r>
              <a:rPr baseline="-25000" lang="it"/>
              <a:t>16</a:t>
            </a:r>
            <a:r>
              <a:rPr lang="it"/>
              <a:t> in base 10.</a:t>
            </a:r>
            <a:endParaRPr/>
          </a:p>
          <a:p>
            <a:pPr indent="-635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lang="it">
                <a:solidFill>
                  <a:srgbClr val="00B050"/>
                </a:solidFill>
              </a:rPr>
              <a:t>1</a:t>
            </a:r>
            <a:r>
              <a:rPr lang="it">
                <a:solidFill>
                  <a:srgbClr val="FF0000"/>
                </a:solidFill>
              </a:rPr>
              <a:t>F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baseline="-25000" lang="it"/>
              <a:t>16</a:t>
            </a:r>
            <a:r>
              <a:rPr lang="it"/>
              <a:t> =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·16</a:t>
            </a:r>
            <a:r>
              <a:rPr baseline="30000" lang="it"/>
              <a:t>2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F</a:t>
            </a:r>
            <a:r>
              <a:rPr lang="it"/>
              <a:t>·16</a:t>
            </a:r>
            <a:r>
              <a:rPr baseline="30000" lang="it"/>
              <a:t>1 </a:t>
            </a:r>
            <a:r>
              <a:rPr lang="it"/>
              <a:t>+ 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lang="it"/>
              <a:t>·16</a:t>
            </a:r>
            <a:r>
              <a:rPr baseline="30000" lang="it"/>
              <a:t>0 </a:t>
            </a:r>
            <a:r>
              <a:rPr lang="it"/>
              <a:t>=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·256+ </a:t>
            </a:r>
            <a:r>
              <a:rPr lang="it">
                <a:solidFill>
                  <a:srgbClr val="FF0000"/>
                </a:solidFill>
              </a:rPr>
              <a:t>15</a:t>
            </a:r>
            <a:r>
              <a:rPr lang="it"/>
              <a:t>·16 + </a:t>
            </a:r>
            <a:r>
              <a:rPr lang="it">
                <a:solidFill>
                  <a:srgbClr val="0070C0"/>
                </a:solidFill>
              </a:rPr>
              <a:t>4</a:t>
            </a:r>
            <a:r>
              <a:rPr lang="it"/>
              <a:t>·1 = 500</a:t>
            </a:r>
            <a:r>
              <a:rPr baseline="-25000" lang="it"/>
              <a:t>10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graphicFrame>
        <p:nvGraphicFramePr>
          <p:cNvPr id="289" name="Google Shape;289;p38"/>
          <p:cNvGraphicFramePr/>
          <p:nvPr/>
        </p:nvGraphicFramePr>
        <p:xfrm>
          <a:off x="2207515" y="1916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742950"/>
                <a:gridCol w="685800"/>
                <a:gridCol w="685800"/>
                <a:gridCol w="571500"/>
              </a:tblGrid>
              <a:tr h="38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cifre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pesi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valori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240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0" name="Google Shape;2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561" y="2388629"/>
            <a:ext cx="1689439" cy="66756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generica -&gt; Base 10</a:t>
            </a:r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462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lang="it" sz="1750"/>
              <a:t>Trasformare 314</a:t>
            </a:r>
            <a:r>
              <a:rPr baseline="-25000" lang="it" sz="1750"/>
              <a:t>5</a:t>
            </a:r>
            <a:r>
              <a:rPr lang="it" sz="1750"/>
              <a:t> in base 10.</a:t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5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050"/>
              </a:buClr>
              <a:buSzPts val="2100"/>
              <a:buNone/>
            </a:pP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baseline="-25000" lang="it" sz="1750"/>
              <a:t>16</a:t>
            </a:r>
            <a:r>
              <a:rPr lang="it" sz="1750"/>
              <a:t> = </a:t>
            </a: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/>
              <a:t>·5</a:t>
            </a:r>
            <a:r>
              <a:rPr baseline="30000" lang="it" sz="1750"/>
              <a:t>2</a:t>
            </a:r>
            <a:r>
              <a:rPr lang="it" sz="1750"/>
              <a:t> + 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/>
              <a:t>·5</a:t>
            </a:r>
            <a:r>
              <a:rPr baseline="30000" lang="it" sz="1750"/>
              <a:t>1 </a:t>
            </a:r>
            <a:r>
              <a:rPr lang="it" sz="1750"/>
              <a:t>+ 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lang="it" sz="1750"/>
              <a:t>·5</a:t>
            </a:r>
            <a:r>
              <a:rPr baseline="30000" lang="it" sz="1750"/>
              <a:t>0 </a:t>
            </a:r>
            <a:r>
              <a:rPr lang="it" sz="1750"/>
              <a:t>= </a:t>
            </a:r>
            <a:r>
              <a:rPr lang="it" sz="1750">
                <a:solidFill>
                  <a:srgbClr val="00B050"/>
                </a:solidFill>
              </a:rPr>
              <a:t>3</a:t>
            </a:r>
            <a:r>
              <a:rPr lang="it" sz="1750"/>
              <a:t>·25+ </a:t>
            </a:r>
            <a:r>
              <a:rPr lang="it" sz="1750">
                <a:solidFill>
                  <a:srgbClr val="FF0000"/>
                </a:solidFill>
              </a:rPr>
              <a:t>1</a:t>
            </a:r>
            <a:r>
              <a:rPr lang="it" sz="1750"/>
              <a:t>·5 + </a:t>
            </a:r>
            <a:r>
              <a:rPr lang="it" sz="1750">
                <a:solidFill>
                  <a:srgbClr val="0070C0"/>
                </a:solidFill>
              </a:rPr>
              <a:t>4</a:t>
            </a:r>
            <a:r>
              <a:rPr lang="it" sz="1750"/>
              <a:t>·1 = 84</a:t>
            </a:r>
            <a:r>
              <a:rPr baseline="-25000" lang="it" sz="1750"/>
              <a:t>10</a:t>
            </a:r>
            <a:endParaRPr sz="175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 sz="1750"/>
          </a:p>
        </p:txBody>
      </p:sp>
      <p:graphicFrame>
        <p:nvGraphicFramePr>
          <p:cNvPr id="299" name="Google Shape;299;p39"/>
          <p:cNvGraphicFramePr/>
          <p:nvPr/>
        </p:nvGraphicFramePr>
        <p:xfrm>
          <a:off x="2207515" y="1916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742950"/>
                <a:gridCol w="685800"/>
                <a:gridCol w="685800"/>
                <a:gridCol w="571500"/>
              </a:tblGrid>
              <a:tr h="38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cifre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it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pesi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r>
                        <a:rPr b="0" baseline="3000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valori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it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40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  <a:gridCol w="972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40"/>
          <p:cNvSpPr txBox="1"/>
          <p:nvPr/>
        </p:nvSpPr>
        <p:spPr>
          <a:xfrm>
            <a:off x="4021901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4021901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16 -&gt; Base 10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Google Shape;315;p41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1239900"/>
                <a:gridCol w="1239900"/>
                <a:gridCol w="12399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+ 10*16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+ 13*16</a:t>
                      </a:r>
                      <a:r>
                        <a:rPr b="0" baseline="3000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 = 3492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4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16 -&gt; Base 10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3. Conversioni Base 10 -&gt; Base generica</a:t>
            </a:r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Da decimale a qualsiasi base: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6666"/>
              </a:buClr>
              <a:buSzPts val="2100"/>
              <a:buNone/>
            </a:pPr>
            <a:r>
              <a:rPr b="1" lang="it">
                <a:solidFill>
                  <a:srgbClr val="336666"/>
                </a:solidFill>
              </a:rPr>
              <a:t>Metodo delle divisioni successive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Metodo semplificato: Base 10 -&gt; Base 2</a:t>
            </a:r>
            <a:endParaRPr/>
          </a:p>
        </p:txBody>
      </p:sp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Dividere per 2 corrisponde a stabilire se un numero è pari o dispari…</a:t>
            </a:r>
            <a:endParaRPr/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34" name="Google Shape;334;p43"/>
          <p:cNvGraphicFramePr/>
          <p:nvPr/>
        </p:nvGraphicFramePr>
        <p:xfrm>
          <a:off x="3756266" y="1912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894200"/>
                <a:gridCol w="7156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CC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500" u="none" cap="none" strike="noStrike">
                        <a:solidFill>
                          <a:srgbClr val="CC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3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5" name="Google Shape;335;p43"/>
          <p:cNvCxnSpPr/>
          <p:nvPr/>
        </p:nvCxnSpPr>
        <p:spPr>
          <a:xfrm rot="10800000">
            <a:off x="5117011" y="1981314"/>
            <a:ext cx="18595" cy="166485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43"/>
          <p:cNvSpPr/>
          <p:nvPr/>
        </p:nvSpPr>
        <p:spPr>
          <a:xfrm>
            <a:off x="3890471" y="4230236"/>
            <a:ext cx="1444145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50</a:t>
            </a:r>
            <a:r>
              <a:rPr b="0" baseline="-2500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r>
              <a:rPr b="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110010</a:t>
            </a:r>
            <a:r>
              <a:rPr b="0" baseline="-25000" i="0" lang="it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10 -&gt; Base generica</a:t>
            </a:r>
            <a:endParaRPr/>
          </a:p>
        </p:txBody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Trasformare 500</a:t>
            </a:r>
            <a:r>
              <a:rPr baseline="-25000" lang="it"/>
              <a:t>10</a:t>
            </a:r>
            <a:r>
              <a:rPr lang="it"/>
              <a:t> in base 16.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45" name="Google Shape;345;p44"/>
          <p:cNvGraphicFramePr/>
          <p:nvPr/>
        </p:nvGraphicFramePr>
        <p:xfrm>
          <a:off x="3539617" y="1934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498250"/>
                <a:gridCol w="703075"/>
                <a:gridCol w="865950"/>
              </a:tblGrid>
              <a:tr h="4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496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it" sz="15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15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16</a:t>
                      </a:r>
                      <a:endParaRPr sz="15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6" name="Google Shape;346;p44"/>
          <p:cNvCxnSpPr/>
          <p:nvPr/>
        </p:nvCxnSpPr>
        <p:spPr>
          <a:xfrm rot="10800000">
            <a:off x="3787148" y="3600192"/>
            <a:ext cx="1363500" cy="742200"/>
          </a:xfrm>
          <a:prstGeom prst="straightConnector1">
            <a:avLst/>
          </a:prstGeom>
          <a:noFill/>
          <a:ln cap="flat" cmpd="sng" w="57150">
            <a:solidFill>
              <a:srgbClr val="CC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7" name="Google Shape;347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Conversione: Base 10 -&gt; Base generica</a:t>
            </a:r>
            <a:endParaRPr/>
          </a:p>
        </p:txBody>
      </p:sp>
      <p:sp>
        <p:nvSpPr>
          <p:cNvPr id="354" name="Google Shape;354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Trasformare 43</a:t>
            </a:r>
            <a:r>
              <a:rPr baseline="-25000" lang="it"/>
              <a:t>10</a:t>
            </a:r>
            <a:r>
              <a:rPr lang="it"/>
              <a:t> in base 5.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55" name="Google Shape;355;p45"/>
          <p:cNvGraphicFramePr/>
          <p:nvPr/>
        </p:nvGraphicFramePr>
        <p:xfrm>
          <a:off x="3531963" y="1834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{22AFEED1-5C3F-4462-8BA4-06E874B7598D}</a:tableStyleId>
              </a:tblPr>
              <a:tblGrid>
                <a:gridCol w="498250"/>
                <a:gridCol w="703075"/>
                <a:gridCol w="865950"/>
              </a:tblGrid>
              <a:tr h="4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43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40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3 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8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/>
                        <a:t>5</a:t>
                      </a:r>
                      <a:endParaRPr sz="15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1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lang="it" sz="15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5100" marB="35100" marR="67500" marL="675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56" name="Google Shape;356;p45"/>
          <p:cNvCxnSpPr/>
          <p:nvPr/>
        </p:nvCxnSpPr>
        <p:spPr>
          <a:xfrm rot="10800000">
            <a:off x="3787148" y="3500689"/>
            <a:ext cx="1363500" cy="742200"/>
          </a:xfrm>
          <a:prstGeom prst="straightConnector1">
            <a:avLst/>
          </a:prstGeom>
          <a:noFill/>
          <a:ln cap="flat" cmpd="sng" w="57150">
            <a:solidFill>
              <a:srgbClr val="CC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p46"/>
          <p:cNvGraphicFramePr/>
          <p:nvPr/>
        </p:nvGraphicFramePr>
        <p:xfrm>
          <a:off x="2831965" y="1377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r>
                        <a:rPr b="0" baseline="-25000" lang="it" sz="17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aseline="-25000"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p4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10 -&gt;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7"/>
          <p:cNvSpPr txBox="1"/>
          <p:nvPr/>
        </p:nvSpPr>
        <p:spPr>
          <a:xfrm>
            <a:off x="3562263" y="1460776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47"/>
          <p:cNvGraphicFramePr/>
          <p:nvPr/>
        </p:nvGraphicFramePr>
        <p:xfrm>
          <a:off x="2831965" y="1377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102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51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2" name="Google Shape;372;p47"/>
          <p:cNvCxnSpPr/>
          <p:nvPr/>
        </p:nvCxnSpPr>
        <p:spPr>
          <a:xfrm rot="10800000">
            <a:off x="5406147" y="1737648"/>
            <a:ext cx="0" cy="171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47"/>
          <p:cNvSpPr txBox="1"/>
          <p:nvPr/>
        </p:nvSpPr>
        <p:spPr>
          <a:xfrm>
            <a:off x="6036330" y="2334638"/>
            <a:ext cx="2094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11001101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6957520" y="2380804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10 -&gt;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332" y="1467633"/>
            <a:ext cx="4329335" cy="259093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4" name="Google Shape;384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Tabella riassuntiva</a:t>
            </a:r>
            <a:endParaRPr/>
          </a:p>
        </p:txBody>
      </p:sp>
      <p:sp>
        <p:nvSpPr>
          <p:cNvPr id="385" name="Google Shape;385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4. </a:t>
            </a:r>
            <a:r>
              <a:rPr lang="it" sz="3100"/>
              <a:t>Basi potenza l’una dell’altra </a:t>
            </a:r>
            <a:br>
              <a:rPr lang="it" sz="3100"/>
            </a:br>
            <a:r>
              <a:rPr lang="it" sz="3100"/>
              <a:t>Base 2 (2</a:t>
            </a:r>
            <a:r>
              <a:rPr baseline="30000" lang="it" sz="3100"/>
              <a:t>1</a:t>
            </a:r>
            <a:r>
              <a:rPr lang="it" sz="3100"/>
              <a:t>) &lt;-&gt; Base 8 (2</a:t>
            </a:r>
            <a:r>
              <a:rPr baseline="30000" lang="it" sz="3100"/>
              <a:t>3</a:t>
            </a:r>
            <a:r>
              <a:rPr lang="it" sz="3100"/>
              <a:t>)</a:t>
            </a:r>
            <a:endParaRPr sz="3100"/>
          </a:p>
        </p:txBody>
      </p:sp>
      <p:sp>
        <p:nvSpPr>
          <p:cNvPr id="392" name="Google Shape;392;p4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Essendo le basi 8 e 16 potenze di 2, esiste un procedimento semplice di trasformazione dall’una all’altra base: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2 -&gt; base 8: si suddivide il numero binario in gruppi di 3 bit (a partire dalla cifra meno significativa) e si trasforma ogni gruppo nella corrispondente cifra ottale: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6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100">
              <a:solidFill>
                <a:srgbClr val="FF0000"/>
              </a:solidFill>
            </a:endParaRPr>
          </a:p>
          <a:p>
            <a:pPr indent="177800" lvl="6" marL="33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2100">
                <a:solidFill>
                  <a:srgbClr val="FF0000"/>
                </a:solidFill>
              </a:rPr>
              <a:t> 							</a:t>
            </a:r>
            <a:r>
              <a:rPr lang="it" sz="2100">
                <a:solidFill>
                  <a:srgbClr val="00B050"/>
                </a:solidFill>
              </a:rPr>
              <a:t>5</a:t>
            </a:r>
            <a:r>
              <a:rPr lang="it" sz="2100">
                <a:solidFill>
                  <a:srgbClr val="3C78D8"/>
                </a:solidFill>
              </a:rPr>
              <a:t>6</a:t>
            </a:r>
            <a:r>
              <a:rPr lang="it" sz="2100">
                <a:solidFill>
                  <a:srgbClr val="FF00FF"/>
                </a:solidFill>
              </a:rPr>
              <a:t>4</a:t>
            </a:r>
            <a:r>
              <a:rPr lang="it" sz="2100">
                <a:solidFill>
                  <a:srgbClr val="0070C0"/>
                </a:solidFill>
              </a:rPr>
              <a:t> </a:t>
            </a:r>
            <a:r>
              <a:rPr baseline="-25000" lang="it" sz="2100"/>
              <a:t>8</a:t>
            </a:r>
            <a:endParaRPr sz="2100"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8 -&gt; base 2: ad ogni cifra ottale corrispondono 3 bit, si usano le potenze di due (4 2 1) per comporre la cifra in ottale.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393" name="Google Shape;393;p49"/>
          <p:cNvGraphicFramePr/>
          <p:nvPr/>
        </p:nvGraphicFramePr>
        <p:xfrm>
          <a:off x="3693378" y="3075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{22AFEED1-5C3F-4462-8BA4-06E874B7598D}</a:tableStyleId>
              </a:tblPr>
              <a:tblGrid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</a:tr>
              <a:tr h="2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4" name="Google Shape;394;p49"/>
          <p:cNvCxnSpPr/>
          <p:nvPr/>
        </p:nvCxnSpPr>
        <p:spPr>
          <a:xfrm rot="10800000">
            <a:off x="3897823" y="3037801"/>
            <a:ext cx="155280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Base 2 (2</a:t>
            </a:r>
            <a:r>
              <a:rPr baseline="30000" lang="it"/>
              <a:t>1</a:t>
            </a:r>
            <a:r>
              <a:rPr lang="it"/>
              <a:t>) &lt;-&gt; Base 16 (2</a:t>
            </a:r>
            <a:r>
              <a:rPr baseline="30000" lang="it"/>
              <a:t>4</a:t>
            </a:r>
            <a:r>
              <a:rPr lang="it"/>
              <a:t>)</a:t>
            </a:r>
            <a:endParaRPr/>
          </a:p>
        </p:txBody>
      </p:sp>
      <p:sp>
        <p:nvSpPr>
          <p:cNvPr id="402" name="Google Shape;402;p5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2 -&gt; base 16: si suddivide il numero binario in gruppi di 4 bit (a partire dalla cifra meno significativa) e si trasforma ogni gruppo nella corrispondente cifra esadecimale: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6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100">
              <a:solidFill>
                <a:srgbClr val="FF0000"/>
              </a:solidFill>
            </a:endParaRPr>
          </a:p>
          <a:p>
            <a:pPr indent="177800" lvl="6" marL="33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1500">
                <a:solidFill>
                  <a:srgbClr val="FF0000"/>
                </a:solidFill>
              </a:rPr>
              <a:t> 		     		</a:t>
            </a:r>
            <a:endParaRPr sz="400">
              <a:solidFill>
                <a:srgbClr val="FF0000"/>
              </a:solidFill>
            </a:endParaRPr>
          </a:p>
          <a:p>
            <a:pPr indent="0" lvl="6" marL="3530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it" sz="2100">
                <a:solidFill>
                  <a:srgbClr val="00B050"/>
                </a:solidFill>
              </a:rPr>
              <a:t>1</a:t>
            </a:r>
            <a:r>
              <a:rPr lang="it" sz="2100">
                <a:solidFill>
                  <a:srgbClr val="0070C0"/>
                </a:solidFill>
              </a:rPr>
              <a:t>F</a:t>
            </a:r>
            <a:r>
              <a:rPr lang="it" sz="2100">
                <a:solidFill>
                  <a:srgbClr val="FF00FF"/>
                </a:solidFill>
              </a:rPr>
              <a:t>4</a:t>
            </a:r>
            <a:r>
              <a:rPr lang="it" sz="2100">
                <a:solidFill>
                  <a:srgbClr val="0070C0"/>
                </a:solidFill>
              </a:rPr>
              <a:t> </a:t>
            </a:r>
            <a:r>
              <a:rPr baseline="-25000" lang="it" sz="2100"/>
              <a:t>16</a:t>
            </a:r>
            <a:endParaRPr sz="2100"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it"/>
              <a:t>Base 16 -&gt; base 2: ad ogni cifra esadecimale corrispondono 4 bit, si usano le potenze di due (8 4 2 1) per comporre la cifra in esadecimale.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graphicFrame>
        <p:nvGraphicFramePr>
          <p:cNvPr id="403" name="Google Shape;403;p50"/>
          <p:cNvGraphicFramePr/>
          <p:nvPr/>
        </p:nvGraphicFramePr>
        <p:xfrm>
          <a:off x="3343686" y="2458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{22AFEED1-5C3F-4462-8BA4-06E874B7598D}</a:tableStyleId>
              </a:tblPr>
              <a:tblGrid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  <a:gridCol w="1968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42875" marB="42875" marR="85725" marL="85725" anchor="ctr">
                    <a:solidFill>
                      <a:srgbClr val="E59DDC"/>
                    </a:solidFill>
                  </a:tcPr>
                </a:tc>
              </a:tr>
              <a:tr h="2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t" sz="10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2875" marB="42875" marR="85725" marL="8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it"/>
              <a:t>Base 3 &lt;-&gt; Base 9 (3</a:t>
            </a:r>
            <a:r>
              <a:rPr baseline="30000" lang="it"/>
              <a:t>2</a:t>
            </a:r>
            <a:r>
              <a:rPr lang="it"/>
              <a:t>)</a:t>
            </a:r>
            <a:endParaRPr/>
          </a:p>
        </p:txBody>
      </p:sp>
      <p:sp>
        <p:nvSpPr>
          <p:cNvPr id="411" name="Google Shape;411;p5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462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it" sz="1750"/>
              <a:t>Trasformare 2102</a:t>
            </a:r>
            <a:r>
              <a:rPr baseline="-25000" lang="it" sz="1750"/>
              <a:t>3</a:t>
            </a:r>
            <a:r>
              <a:rPr lang="it" sz="1750"/>
              <a:t> in base 9.</a:t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it">
                <a:solidFill>
                  <a:srgbClr val="00B050"/>
                </a:solidFill>
              </a:rPr>
              <a:t>21</a:t>
            </a:r>
            <a:r>
              <a:rPr lang="it">
                <a:solidFill>
                  <a:srgbClr val="FF0000"/>
                </a:solidFill>
              </a:rPr>
              <a:t>02</a:t>
            </a:r>
            <a:r>
              <a:rPr baseline="-25000" lang="it"/>
              <a:t>3</a:t>
            </a:r>
            <a:r>
              <a:rPr lang="it"/>
              <a:t> = (</a:t>
            </a:r>
            <a:r>
              <a:rPr lang="it">
                <a:solidFill>
                  <a:srgbClr val="00B050"/>
                </a:solidFill>
              </a:rPr>
              <a:t>2</a:t>
            </a:r>
            <a:r>
              <a:rPr lang="it"/>
              <a:t>·3</a:t>
            </a:r>
            <a:r>
              <a:rPr baseline="30000" lang="it"/>
              <a:t>1</a:t>
            </a:r>
            <a:r>
              <a:rPr lang="it"/>
              <a:t> + </a:t>
            </a:r>
            <a:r>
              <a:rPr lang="it">
                <a:solidFill>
                  <a:srgbClr val="00B050"/>
                </a:solidFill>
              </a:rPr>
              <a:t>1</a:t>
            </a:r>
            <a:r>
              <a:rPr lang="it"/>
              <a:t>·3</a:t>
            </a:r>
            <a:r>
              <a:rPr baseline="30000" lang="it"/>
              <a:t>0</a:t>
            </a:r>
            <a:r>
              <a:rPr lang="it"/>
              <a:t>) | (</a:t>
            </a:r>
            <a:r>
              <a:rPr lang="it">
                <a:solidFill>
                  <a:srgbClr val="FF0000"/>
                </a:solidFill>
              </a:rPr>
              <a:t>0</a:t>
            </a:r>
            <a:r>
              <a:rPr lang="it"/>
              <a:t>·3</a:t>
            </a:r>
            <a:r>
              <a:rPr baseline="30000" lang="it"/>
              <a:t>1</a:t>
            </a:r>
            <a:r>
              <a:rPr lang="it"/>
              <a:t> + </a:t>
            </a:r>
            <a:r>
              <a:rPr lang="it">
                <a:solidFill>
                  <a:srgbClr val="FF0000"/>
                </a:solidFill>
              </a:rPr>
              <a:t>2</a:t>
            </a:r>
            <a:r>
              <a:rPr lang="it"/>
              <a:t>·3</a:t>
            </a:r>
            <a:r>
              <a:rPr baseline="30000" lang="it"/>
              <a:t>0</a:t>
            </a:r>
            <a:r>
              <a:rPr lang="it"/>
              <a:t>) = 72</a:t>
            </a:r>
            <a:r>
              <a:rPr baseline="-25000" lang="it"/>
              <a:t>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50"/>
          </a:p>
        </p:txBody>
      </p:sp>
      <p:graphicFrame>
        <p:nvGraphicFramePr>
          <p:cNvPr id="412" name="Google Shape;412;p51"/>
          <p:cNvGraphicFramePr/>
          <p:nvPr/>
        </p:nvGraphicFramePr>
        <p:xfrm>
          <a:off x="2536875" y="2246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{2D133D51-0698-4178-AC93-D7313E084386}</a:tableStyleId>
              </a:tblPr>
              <a:tblGrid>
                <a:gridCol w="893175"/>
                <a:gridCol w="893175"/>
                <a:gridCol w="893175"/>
                <a:gridCol w="893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" name="Google Shape;418;p52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52"/>
          <p:cNvSpPr txBox="1"/>
          <p:nvPr/>
        </p:nvSpPr>
        <p:spPr>
          <a:xfrm>
            <a:off x="4021900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4021900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9 -&gt; Base 3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22" name="Google Shape;422;p5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base 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53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b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53"/>
          <p:cNvSpPr txBox="1"/>
          <p:nvPr/>
        </p:nvSpPr>
        <p:spPr>
          <a:xfrm>
            <a:off x="4021900" y="1590603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3"/>
          <p:cNvSpPr txBox="1"/>
          <p:nvPr/>
        </p:nvSpPr>
        <p:spPr>
          <a:xfrm>
            <a:off x="4021900" y="1918910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9 -&gt; Base 3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base 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923925" y="3067050"/>
            <a:ext cx="541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| 1*3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 |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+ 2*3</a:t>
            </a:r>
            <a:r>
              <a:rPr b="0" baseline="3000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it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8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2 -&gt; Base 8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ottale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1" name="Google Shape;441;p54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54"/>
          <p:cNvSpPr txBox="1"/>
          <p:nvPr/>
        </p:nvSpPr>
        <p:spPr>
          <a:xfrm>
            <a:off x="4082090" y="1921210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8" name="Google Shape;448;p55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55"/>
          <p:cNvSpPr txBox="1"/>
          <p:nvPr/>
        </p:nvSpPr>
        <p:spPr>
          <a:xfrm>
            <a:off x="4082090" y="1921210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5"/>
          <p:cNvSpPr txBox="1"/>
          <p:nvPr/>
        </p:nvSpPr>
        <p:spPr>
          <a:xfrm>
            <a:off x="4082090" y="1588091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2 -&gt; Base 8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52" name="Google Shape;452;p5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ottale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Google Shape;458;p56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459" name="Google Shape;459;p56"/>
          <p:cNvSpPr txBox="1"/>
          <p:nvPr/>
        </p:nvSpPr>
        <p:spPr>
          <a:xfrm>
            <a:off x="4082090" y="1588091"/>
            <a:ext cx="45707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61" name="Google Shape;461;p5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" name="Google Shape;467;p57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68" name="Google Shape;468;p57"/>
          <p:cNvSpPr txBox="1"/>
          <p:nvPr/>
        </p:nvSpPr>
        <p:spPr>
          <a:xfrm>
            <a:off x="4082090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7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</a:t>
            </a:r>
            <a:r>
              <a:rPr lang="it" sz="2700">
                <a:solidFill>
                  <a:schemeClr val="dk1"/>
                </a:solidFill>
              </a:rPr>
              <a:t>8</a:t>
            </a:r>
            <a:r>
              <a:rPr i="0" lang="it" sz="2700" u="none" cap="none" strike="noStrike">
                <a:solidFill>
                  <a:schemeClr val="dk1"/>
                </a:solidFill>
              </a:rPr>
              <a:t> -&gt; Base </a:t>
            </a:r>
            <a:r>
              <a:rPr lang="it" sz="2700">
                <a:solidFill>
                  <a:schemeClr val="dk1"/>
                </a:solidFill>
              </a:rPr>
              <a:t>2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71" name="Google Shape;471;p5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</a:t>
            </a:r>
            <a:r>
              <a:rPr lang="it" sz="1700"/>
              <a:t>binario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Google Shape;477;p58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972000"/>
                <a:gridCol w="972000"/>
                <a:gridCol w="972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478" name="Google Shape;478;p58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80" name="Google Shape;480;p58"/>
          <p:cNvSpPr txBox="1"/>
          <p:nvPr/>
        </p:nvSpPr>
        <p:spPr>
          <a:xfrm>
            <a:off x="4021901" y="191956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59"/>
          <p:cNvGraphicFramePr/>
          <p:nvPr/>
        </p:nvGraphicFramePr>
        <p:xfrm>
          <a:off x="1328960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  <a:tr h="324000"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88" name="Google Shape;488;p59"/>
          <p:cNvSpPr txBox="1"/>
          <p:nvPr/>
        </p:nvSpPr>
        <p:spPr>
          <a:xfrm>
            <a:off x="4082090" y="1921210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9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9"/>
          <p:cNvSpPr txBox="1"/>
          <p:nvPr/>
        </p:nvSpPr>
        <p:spPr>
          <a:xfrm>
            <a:off x="4021901" y="224722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492" name="Google Shape;492;p5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8" name="Google Shape;498;p60"/>
          <p:cNvGraphicFramePr/>
          <p:nvPr/>
        </p:nvGraphicFramePr>
        <p:xfrm>
          <a:off x="356648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{1940B6B2-0D69-4834-88B2-C9788672F01C}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</a:tr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C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499" name="Google Shape;499;p60"/>
          <p:cNvSpPr txBox="1"/>
          <p:nvPr/>
        </p:nvSpPr>
        <p:spPr>
          <a:xfrm>
            <a:off x="4082090" y="1921210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4082090" y="158809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0"/>
          <p:cNvSpPr txBox="1"/>
          <p:nvPr/>
        </p:nvSpPr>
        <p:spPr>
          <a:xfrm>
            <a:off x="4021901" y="224722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Esercizio Conversione Base 8 -&gt; Base 16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503" name="Google Shape;503;p6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 il seguente numero in esadecimale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Hamming</a:t>
            </a:r>
            <a:endParaRPr/>
          </a:p>
        </p:txBody>
      </p:sp>
      <p:sp>
        <p:nvSpPr>
          <p:cNvPr id="510" name="Google Shape;510;p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In ogni sistema di comunicazione (Wi-Fi, Hard Disk, RAM), i dati viaggiano come bit (0 e 1). Tuttavia, il "rumore" elettromagnetico può invertire un bit.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Senza controllo:</a:t>
            </a:r>
            <a:r>
              <a:rPr lang="it" sz="1600"/>
              <a:t> Riceviamo un dato errato senza saperlo.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Bit di Parità semplice:</a:t>
            </a:r>
            <a:r>
              <a:rPr lang="it" sz="1600"/>
              <a:t> Ci dice </a:t>
            </a:r>
            <a:r>
              <a:rPr i="1" lang="it" sz="1600"/>
              <a:t>se</a:t>
            </a:r>
            <a:r>
              <a:rPr lang="it" sz="1600"/>
              <a:t> c'è un errore, ma non </a:t>
            </a:r>
            <a:r>
              <a:rPr i="1" lang="it" sz="1600"/>
              <a:t>dove</a:t>
            </a:r>
            <a:r>
              <a:rPr lang="it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Codice di Hamming:</a:t>
            </a:r>
            <a:r>
              <a:rPr lang="it" sz="1600"/>
              <a:t> Non solo rileva l'errore, ma lo </a:t>
            </a:r>
            <a:r>
              <a:rPr b="1" lang="it" sz="1600"/>
              <a:t>corregge</a:t>
            </a:r>
            <a:r>
              <a:rPr lang="it" sz="1600"/>
              <a:t> individuando l'esatta posizione del bit corrotto.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1" name="Google Shape;511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Bit di parità</a:t>
            </a:r>
            <a:endParaRPr/>
          </a:p>
        </p:txBody>
      </p:sp>
      <p:sp>
        <p:nvSpPr>
          <p:cNvPr id="517" name="Google Shape;517;p6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Il Codice di Hamming inserisce dei </a:t>
            </a:r>
            <a:r>
              <a:rPr b="1" lang="it" sz="1600"/>
              <a:t>bit di parità</a:t>
            </a:r>
            <a:r>
              <a:rPr lang="it" sz="1600"/>
              <a:t> (o bit di controllo) in posizioni strategiche (le potenze di 2: posizioni 1, 2, 4, 8).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/>
              <a:t>Se un bit cambia durante la trasmissione, la combinazione dei risultati dei bit di controllo punterà verso il bit sbagliato.</a:t>
            </a:r>
            <a:endParaRPr sz="16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600"/>
              <a:t>2</a:t>
            </a:r>
            <a:r>
              <a:rPr baseline="30000" lang="it" sz="1600"/>
              <a:t>n</a:t>
            </a:r>
            <a:r>
              <a:rPr lang="it" sz="1600"/>
              <a:t> &gt;= </a:t>
            </a:r>
            <a:r>
              <a:rPr lang="it" sz="1600"/>
              <a:t>m</a:t>
            </a:r>
            <a:r>
              <a:rPr lang="it" sz="1600"/>
              <a:t> + n + 1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Se hai </a:t>
            </a:r>
            <a:r>
              <a:rPr b="1" lang="it" sz="1600"/>
              <a:t>4 bit</a:t>
            </a:r>
            <a:r>
              <a:rPr lang="it" sz="1600"/>
              <a:t> di dati (m=4): 2</a:t>
            </a:r>
            <a:r>
              <a:rPr baseline="30000" lang="it" sz="1600"/>
              <a:t>3</a:t>
            </a:r>
            <a:r>
              <a:rPr lang="it" sz="1600"/>
              <a:t> &gt;= 4+3+1 = 8. Servono </a:t>
            </a:r>
            <a:r>
              <a:rPr b="1" lang="it" sz="1600"/>
              <a:t>3 bit</a:t>
            </a:r>
            <a:r>
              <a:rPr lang="it" sz="1600"/>
              <a:t> di parità.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Se hai </a:t>
            </a:r>
            <a:r>
              <a:rPr b="1" lang="it" sz="1600"/>
              <a:t>11 bit</a:t>
            </a:r>
            <a:r>
              <a:rPr lang="it" sz="1600"/>
              <a:t> di dati (m=11): 2</a:t>
            </a:r>
            <a:r>
              <a:rPr baseline="30000" lang="it" sz="1600"/>
              <a:t>4</a:t>
            </a:r>
            <a:r>
              <a:rPr lang="it" sz="1600"/>
              <a:t> &gt;= 11+4+1 = 16. Servono </a:t>
            </a:r>
            <a:r>
              <a:rPr b="1" lang="it" sz="1600"/>
              <a:t>4 bit</a:t>
            </a:r>
            <a:r>
              <a:rPr lang="it" sz="1600"/>
              <a:t> di parità.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8" name="Google Shape;518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Hamming Code: </a:t>
            </a:r>
            <a:r>
              <a:rPr lang="it" sz="2700">
                <a:solidFill>
                  <a:schemeClr val="dk1"/>
                </a:solidFill>
              </a:rPr>
              <a:t>Bit di parità</a:t>
            </a:r>
            <a:endParaRPr sz="1100"/>
          </a:p>
        </p:txBody>
      </p:sp>
      <p:sp>
        <p:nvSpPr>
          <p:cNvPr id="525" name="Google Shape;525;p6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Calcolare i bit di parità da aggiungere ad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p63"/>
          <p:cNvGraphicFramePr/>
          <p:nvPr/>
        </p:nvGraphicFramePr>
        <p:xfrm>
          <a:off x="358622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7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63"/>
          <p:cNvSpPr txBox="1"/>
          <p:nvPr/>
        </p:nvSpPr>
        <p:spPr>
          <a:xfrm>
            <a:off x="2730551" y="158809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3"/>
          <p:cNvSpPr txBox="1"/>
          <p:nvPr/>
        </p:nvSpPr>
        <p:spPr>
          <a:xfrm>
            <a:off x="2790739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4"/>
          <p:cNvSpPr txBox="1"/>
          <p:nvPr/>
        </p:nvSpPr>
        <p:spPr>
          <a:xfrm>
            <a:off x="358139" y="2640365"/>
            <a:ext cx="8785862" cy="12541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569" l="-676" r="0" t="-2555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graphicFrame>
        <p:nvGraphicFramePr>
          <p:cNvPr id="535" name="Google Shape;535;p64"/>
          <p:cNvGraphicFramePr/>
          <p:nvPr/>
        </p:nvGraphicFramePr>
        <p:xfrm>
          <a:off x="358622" y="1531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 u="none" cap="none" strike="noStrike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6" name="Google Shape;536;p64"/>
          <p:cNvSpPr txBox="1"/>
          <p:nvPr/>
        </p:nvSpPr>
        <p:spPr>
          <a:xfrm>
            <a:off x="2730551" y="1588091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4"/>
          <p:cNvSpPr txBox="1"/>
          <p:nvPr/>
        </p:nvSpPr>
        <p:spPr>
          <a:xfrm>
            <a:off x="2790739" y="1921211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i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2700" u="none" cap="none" strike="noStrike">
                <a:solidFill>
                  <a:schemeClr val="dk1"/>
                </a:solidFill>
              </a:rPr>
              <a:t>Hamming Code</a:t>
            </a:r>
            <a:r>
              <a:rPr lang="it" sz="2700">
                <a:solidFill>
                  <a:schemeClr val="dk1"/>
                </a:solidFill>
              </a:rPr>
              <a:t>: Bit di parità</a:t>
            </a:r>
            <a:endParaRPr sz="1100"/>
          </a:p>
        </p:txBody>
      </p:sp>
      <p:sp>
        <p:nvSpPr>
          <p:cNvPr id="539" name="Google Shape;539;p6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Calcolare i bit di parità da aggiungere ad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" name="Google Shape;545;p6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47" name="Google Shape;547;p6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" name="Google Shape;553;p66"/>
          <p:cNvGraphicFramePr/>
          <p:nvPr/>
        </p:nvGraphicFramePr>
        <p:xfrm>
          <a:off x="147790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7200"/>
                <a:gridCol w="337200"/>
                <a:gridCol w="337200"/>
                <a:gridCol w="34715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554" name="Google Shape;554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55" name="Google Shape;555;p6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" name="Google Shape;561;p67"/>
          <p:cNvGraphicFramePr/>
          <p:nvPr/>
        </p:nvGraphicFramePr>
        <p:xfrm>
          <a:off x="13705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  <a:gridCol w="3469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62" name="Google Shape;562;p67"/>
          <p:cNvSpPr txBox="1"/>
          <p:nvPr/>
        </p:nvSpPr>
        <p:spPr>
          <a:xfrm>
            <a:off x="289559" y="2667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63" name="Google Shape;563;p67"/>
          <p:cNvSpPr txBox="1"/>
          <p:nvPr/>
        </p:nvSpPr>
        <p:spPr>
          <a:xfrm>
            <a:off x="289558" y="8356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9" name="Google Shape;569;p68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  <a:gridCol w="3425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71" name="Google Shape;571;p6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7" name="Google Shape;577;p69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8" name="Google Shape;578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79" name="Google Shape;579;p6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70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87" name="Google Shape;587;p7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" name="Google Shape;593;p71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Calcolo bit correzione d’errore</a:t>
            </a:r>
            <a:endParaRPr sz="1100"/>
          </a:p>
        </p:txBody>
      </p:sp>
      <p:sp>
        <p:nvSpPr>
          <p:cNvPr id="595" name="Google Shape;595;p7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Calcola i bit di correzione d’errore da aggiungere alla parola 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2"/>
          <p:cNvSpPr txBox="1"/>
          <p:nvPr/>
        </p:nvSpPr>
        <p:spPr>
          <a:xfrm>
            <a:off x="137159" y="114300"/>
            <a:ext cx="88650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03" name="Google Shape;603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" name="Google Shape;608;p73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CDED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7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11" name="Google Shape;611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" name="Google Shape;616;p74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</a:rPr>
                        <a:t>👮‍♀️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7" name="Google Shape;617;p74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sp>
        <p:nvSpPr>
          <p:cNvPr id="618" name="Google Shape;618;p7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20" name="Google Shape;620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" name="Google Shape;625;p7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6" name="Google Shape;626;p75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27" name="Google Shape;627;p75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8" name="Google Shape;628;p7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2B1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30" name="Google Shape;630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5" name="Google Shape;635;p76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6" name="Google Shape;636;p76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37" name="Google Shape;637;p76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8" name="Google Shape;638;p76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40" name="Google Shape;640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" name="Google Shape;645;p77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77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47" name="Google Shape;647;p77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48" name="Google Shape;648;p77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50" name="Google Shape;650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" name="Google Shape;655;p78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6" name="Google Shape;656;p78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57" name="Google Shape;657;p78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</a:tbl>
          </a:graphicData>
        </a:graphic>
      </p:graphicFrame>
      <p:sp>
        <p:nvSpPr>
          <p:cNvPr id="658" name="Google Shape;658;p78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2B1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2B5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Hamming Code: Controllo bit parità</a:t>
            </a:r>
            <a:endParaRPr sz="1100"/>
          </a:p>
        </p:txBody>
      </p:sp>
      <p:sp>
        <p:nvSpPr>
          <p:cNvPr id="660" name="Google Shape;660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9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B3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A95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67" name="Google Shape;667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Google Shape;672;p80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3" name="Google Shape;673;p80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74" name="Google Shape;674;p80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5" name="Google Shape;675;p8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chemeClr val="dk1"/>
                </a:solidFill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B3</a:t>
            </a:r>
            <a:r>
              <a:rPr lang="it" sz="1700">
                <a:solidFill>
                  <a:schemeClr val="dk1"/>
                </a:solidFill>
              </a:rPr>
              <a:t>A95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77" name="Google Shape;677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1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FF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E77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84" name="Google Shape;684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9" name="Google Shape;689;p82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0" name="Google Shape;690;p82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691" name="Google Shape;691;p82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2" name="Google Shape;692;p82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 </a:t>
            </a:r>
            <a:r>
              <a:rPr lang="it" sz="1700" strike="sngStrike">
                <a:solidFill>
                  <a:schemeClr val="dk1"/>
                </a:solidFill>
              </a:rPr>
              <a:t>FF</a:t>
            </a:r>
            <a:r>
              <a:rPr lang="it" sz="1700">
                <a:solidFill>
                  <a:schemeClr val="dk1"/>
                </a:solidFill>
              </a:rPr>
              <a:t>E77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8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694" name="Google Shape;694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 strike="sngStrike">
                <a:solidFill>
                  <a:schemeClr val="dk1"/>
                </a:solidFill>
              </a:rPr>
              <a:t>11</a:t>
            </a:r>
            <a:r>
              <a:rPr lang="it" sz="1700"/>
              <a:t>386</a:t>
            </a:r>
            <a:r>
              <a:rPr baseline="-25000"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8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701" name="Google Shape;701;p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" name="Google Shape;706;p84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  <a:gridCol w="33867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4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7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700"/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/>
                        <a:t>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>
                          <a:solidFill>
                            <a:schemeClr val="dk1"/>
                          </a:solidFill>
                        </a:rPr>
                        <a:t>📌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DC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7" name="Google Shape;707;p84"/>
          <p:cNvSpPr txBox="1"/>
          <p:nvPr/>
        </p:nvSpPr>
        <p:spPr>
          <a:xfrm>
            <a:off x="5989320" y="2280089"/>
            <a:ext cx="457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100"/>
          </a:p>
        </p:txBody>
      </p:sp>
      <p:graphicFrame>
        <p:nvGraphicFramePr>
          <p:cNvPr id="708" name="Google Shape;708;p84"/>
          <p:cNvGraphicFramePr/>
          <p:nvPr/>
        </p:nvGraphicFramePr>
        <p:xfrm>
          <a:off x="6849741" y="18925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{08873ABA-15EE-4EB2-9065-1DD6A7041EC3}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3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2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1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0" baseline="-25000" lang="it">
                          <a:solidFill>
                            <a:schemeClr val="dk1"/>
                          </a:solidFill>
                        </a:rPr>
                        <a:t>0</a:t>
                      </a:r>
                      <a:endParaRPr b="0" baseline="-25000" sz="14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600">
                          <a:solidFill>
                            <a:srgbClr val="000000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9" name="Google Shape;709;p84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Assumendo abbiamo ricevuto la sequenza </a:t>
            </a:r>
            <a:r>
              <a:rPr lang="it" sz="1700" strike="sngStrike">
                <a:solidFill>
                  <a:schemeClr val="dk1"/>
                </a:solidFill>
              </a:rPr>
              <a:t>11</a:t>
            </a:r>
            <a:r>
              <a:rPr lang="it" sz="1700">
                <a:solidFill>
                  <a:schemeClr val="dk1"/>
                </a:solidFill>
              </a:rPr>
              <a:t>386</a:t>
            </a:r>
            <a:r>
              <a:rPr baseline="-25000" lang="it" sz="1700">
                <a:solidFill>
                  <a:schemeClr val="dk1"/>
                </a:solidFill>
              </a:rPr>
              <a:t>16</a:t>
            </a:r>
            <a:r>
              <a:rPr lang="it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/>
              <a:t>calcola i bit di parità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chemeClr val="dk1"/>
                </a:solidFill>
              </a:rPr>
              <a:t>Esercizio Hamming</a:t>
            </a:r>
            <a:endParaRPr sz="1100"/>
          </a:p>
        </p:txBody>
      </p:sp>
      <p:sp>
        <p:nvSpPr>
          <p:cNvPr id="711" name="Google Shape;711;p8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