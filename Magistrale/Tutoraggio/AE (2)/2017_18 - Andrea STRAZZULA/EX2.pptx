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gif" ContentType="image/gif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autoCompressPictures="0">
  <p:sldMasterIdLst>
    <p:sldMasterId id="2147483648" r:id="rId1"/>
  </p:sldMasterIdLst>
  <p:notesMasterIdLst>
    <p:notesMasterId r:id="rId18"/>
  </p:notesMasterIdLst>
  <p:handoutMasterIdLst>
    <p:handoutMasterId r:id="rId19"/>
  </p:handoutMasterIdLst>
  <p:sldIdLst>
    <p:sldId id="256" r:id="rId2"/>
    <p:sldId id="257" r:id="rId3"/>
    <p:sldId id="258" r:id="rId4"/>
    <p:sldId id="259" r:id="rId5"/>
    <p:sldId id="261" r:id="rId6"/>
    <p:sldId id="264" r:id="rId7"/>
    <p:sldId id="265" r:id="rId8"/>
    <p:sldId id="270" r:id="rId9"/>
    <p:sldId id="271" r:id="rId10"/>
    <p:sldId id="275" r:id="rId11"/>
    <p:sldId id="276" r:id="rId12"/>
    <p:sldId id="272" r:id="rId13"/>
    <p:sldId id="277" r:id="rId14"/>
    <p:sldId id="278" r:id="rId15"/>
    <p:sldId id="273" r:id="rId16"/>
    <p:sldId id="279" r:id="rId17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/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Stile medio 2 - Colore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Stile medio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92" autoAdjust="0"/>
    <p:restoredTop sz="94660"/>
  </p:normalViewPr>
  <p:slideViewPr>
    <p:cSldViewPr snapToGrid="0">
      <p:cViewPr varScale="1">
        <p:scale>
          <a:sx n="122" d="100"/>
          <a:sy n="122" d="100"/>
        </p:scale>
        <p:origin x="96" y="28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microsoft.com/office/2015/10/relationships/revisionInfo" Target="revisionInfo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handoutMaster" Target="handoutMasters/handout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ntestazione 1">
            <a:extLst>
              <a:ext uri="{FF2B5EF4-FFF2-40B4-BE49-F238E27FC236}">
                <a16:creationId xmlns:a16="http://schemas.microsoft.com/office/drawing/2014/main" id="{96E8C878-CC3F-4927-AFE9-C441B2480FB0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r>
              <a:rPr lang="it-IT"/>
              <a:t>Architettura dei Sisitemi di Elaborazione - Tutorato</a:t>
            </a:r>
          </a:p>
        </p:txBody>
      </p:sp>
      <p:sp>
        <p:nvSpPr>
          <p:cNvPr id="3" name="Segnaposto data 2">
            <a:extLst>
              <a:ext uri="{FF2B5EF4-FFF2-40B4-BE49-F238E27FC236}">
                <a16:creationId xmlns:a16="http://schemas.microsoft.com/office/drawing/2014/main" id="{10718DCB-A11A-4624-ABA8-C419A4CDDC68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FA8CC87-0F5E-47E7-B396-6CCF82E3A043}" type="datetimeFigureOut">
              <a:rPr lang="it-IT" smtClean="0"/>
              <a:t>14/11/2017</a:t>
            </a:fld>
            <a:endParaRPr lang="it-IT"/>
          </a:p>
        </p:txBody>
      </p:sp>
      <p:sp>
        <p:nvSpPr>
          <p:cNvPr id="4" name="Segnaposto piè di pagina 3">
            <a:extLst>
              <a:ext uri="{FF2B5EF4-FFF2-40B4-BE49-F238E27FC236}">
                <a16:creationId xmlns:a16="http://schemas.microsoft.com/office/drawing/2014/main" id="{A749EA43-ADE6-479A-8BE5-D75DE4C111F4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it-IT"/>
              <a:t>Anno accademico 2017/2018</a:t>
            </a:r>
          </a:p>
        </p:txBody>
      </p:sp>
      <p:sp>
        <p:nvSpPr>
          <p:cNvPr id="5" name="Segnaposto numero diapositiva 4">
            <a:extLst>
              <a:ext uri="{FF2B5EF4-FFF2-40B4-BE49-F238E27FC236}">
                <a16:creationId xmlns:a16="http://schemas.microsoft.com/office/drawing/2014/main" id="{755A2FCA-B514-4A4F-A6BC-2224BAF0F2AE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2E1BA88-F7B6-42E3-9202-FF05D0F22EEB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678239442"/>
      </p:ext>
    </p:extLst>
  </p:cSld>
  <p:clrMap bg1="lt1" tx1="dk1" bg2="lt2" tx2="dk2" accent1="accent1" accent2="accent2" accent3="accent3" accent4="accent4" accent5="accent5" accent6="accent6" hlink="hlink" folHlink="folHlink"/>
  <p:hf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ntestazion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r>
              <a:rPr lang="it-IT"/>
              <a:t>Architettura dei Sisitemi di Elaborazione - Tutorato</a:t>
            </a:r>
          </a:p>
        </p:txBody>
      </p:sp>
      <p:sp>
        <p:nvSpPr>
          <p:cNvPr id="3" name="Segnaposto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62CE731-2F48-4289-9EB2-95BE0C54B00A}" type="datetimeFigureOut">
              <a:rPr lang="it-IT" smtClean="0"/>
              <a:t>14/11/2017</a:t>
            </a:fld>
            <a:endParaRPr lang="it-IT"/>
          </a:p>
        </p:txBody>
      </p:sp>
      <p:sp>
        <p:nvSpPr>
          <p:cNvPr id="4" name="Segnaposto immagin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it-IT"/>
          </a:p>
        </p:txBody>
      </p:sp>
      <p:sp>
        <p:nvSpPr>
          <p:cNvPr id="5" name="Segnaposto note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it-IT"/>
              <a:t>Modifica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6" name="Segnaposto piè di pa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it-IT"/>
              <a:t>Anno accademico 2017/2018</a:t>
            </a:r>
          </a:p>
        </p:txBody>
      </p:sp>
      <p:sp>
        <p:nvSpPr>
          <p:cNvPr id="7" name="Segnaposto numero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55EE089-6A9B-4B70-BE17-EEBAA80965DD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628548171"/>
      </p:ext>
    </p:extLst>
  </p:cSld>
  <p:clrMap bg1="lt1" tx1="dk1" bg2="lt2" tx2="dk2" accent1="accent1" accent2="accent2" accent3="accent3" accent4="accent4" accent5="accent5" accent6="accent6" hlink="hlink" folHlink="folHlink"/>
  <p:hf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589213" y="2514600"/>
            <a:ext cx="8915399" cy="2262781"/>
          </a:xfrm>
        </p:spPr>
        <p:txBody>
          <a:bodyPr anchor="b">
            <a:normAutofit/>
          </a:bodyPr>
          <a:lstStyle>
            <a:lvl1pPr>
              <a:defRPr sz="5400"/>
            </a:lvl1pPr>
          </a:lstStyle>
          <a:p>
            <a:r>
              <a:rPr lang="it-IT"/>
              <a:t>Fare clic per modificare lo stile del titolo dello schema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589213" y="4777379"/>
            <a:ext cx="8915399" cy="1126283"/>
          </a:xfrm>
        </p:spPr>
        <p:txBody>
          <a:bodyPr anchor="t"/>
          <a:lstStyle>
            <a:lvl1pPr marL="0" indent="0" algn="l">
              <a:buNone/>
              <a:defRPr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it-IT"/>
              <a:t>Fare clic per modificare lo stile del sottotitolo dello schema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10/31/2017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it-IT"/>
              <a:t>Architettura dei Sistemi di Elaborazione – Tutorato                                                     Anno accademico 2017/2018             Andrea Strazzulla</a:t>
            </a:r>
            <a:endParaRPr lang="en-US" dirty="0"/>
          </a:p>
        </p:txBody>
      </p:sp>
      <p:sp>
        <p:nvSpPr>
          <p:cNvPr id="7" name="Freeform 6"/>
          <p:cNvSpPr/>
          <p:nvPr/>
        </p:nvSpPr>
        <p:spPr bwMode="auto">
          <a:xfrm>
            <a:off x="0" y="4323810"/>
            <a:ext cx="1744652" cy="778589"/>
          </a:xfrm>
          <a:custGeom>
            <a:avLst/>
            <a:gdLst/>
            <a:ahLst/>
            <a:cxnLst/>
            <a:rect l="0" t="0" r="r" b="b"/>
            <a:pathLst>
              <a:path w="372" h="166">
                <a:moveTo>
                  <a:pt x="287" y="166"/>
                </a:moveTo>
                <a:cubicBezTo>
                  <a:pt x="290" y="166"/>
                  <a:pt x="292" y="165"/>
                  <a:pt x="293" y="164"/>
                </a:cubicBezTo>
                <a:cubicBezTo>
                  <a:pt x="293" y="163"/>
                  <a:pt x="294" y="163"/>
                  <a:pt x="294" y="163"/>
                </a:cubicBezTo>
                <a:cubicBezTo>
                  <a:pt x="370" y="87"/>
                  <a:pt x="370" y="87"/>
                  <a:pt x="370" y="87"/>
                </a:cubicBezTo>
                <a:cubicBezTo>
                  <a:pt x="372" y="85"/>
                  <a:pt x="372" y="81"/>
                  <a:pt x="370" y="78"/>
                </a:cubicBezTo>
                <a:cubicBezTo>
                  <a:pt x="294" y="3"/>
                  <a:pt x="294" y="3"/>
                  <a:pt x="294" y="3"/>
                </a:cubicBezTo>
                <a:cubicBezTo>
                  <a:pt x="294" y="2"/>
                  <a:pt x="293" y="2"/>
                  <a:pt x="293" y="2"/>
                </a:cubicBezTo>
                <a:cubicBezTo>
                  <a:pt x="292" y="1"/>
                  <a:pt x="290" y="0"/>
                  <a:pt x="287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166"/>
                  <a:pt x="0" y="166"/>
                  <a:pt x="0" y="166"/>
                </a:cubicBezTo>
                <a:lnTo>
                  <a:pt x="287" y="166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4529540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‹N›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olo e contenu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92925" y="624110"/>
            <a:ext cx="8911687" cy="1280890"/>
          </a:xfrm>
        </p:spPr>
        <p:txBody>
          <a:bodyPr/>
          <a:lstStyle/>
          <a:p>
            <a:r>
              <a:rPr lang="it-IT"/>
              <a:t>Fare clic per modificare lo stile del titolo dello schema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589212" y="2133600"/>
            <a:ext cx="8915400" cy="3777622"/>
          </a:xfrm>
        </p:spPr>
        <p:txBody>
          <a:bodyPr/>
          <a:lstStyle/>
          <a:p>
            <a:pPr lvl="0"/>
            <a:r>
              <a:rPr lang="it-IT"/>
              <a:t>Modifica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10/31/2017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it-IT"/>
              <a:t>Architettura dei Sistemi di Elaborazione – Tutorato                                                     Anno accademico 2017/2018             Andrea Strazzulla</a:t>
            </a:r>
            <a:endParaRPr lang="en-US" dirty="0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Intestazione sezio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2058750"/>
            <a:ext cx="8915399" cy="146880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it-IT"/>
              <a:t>Fare clic per modificare lo stile del titolo dello schema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3530129"/>
            <a:ext cx="8915399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it-IT"/>
              <a:t>Modifica gli stili del testo dello schema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10/31/2017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it-IT"/>
              <a:t>Architettura dei Sistemi di Elaborazione – Tutorato                                                     Anno accademico 2017/2018             Andrea Strazzulla</a:t>
            </a:r>
            <a:endParaRPr lang="en-US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‹N›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e contenut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589212" y="2133600"/>
            <a:ext cx="4313864" cy="3777622"/>
          </a:xfrm>
        </p:spPr>
        <p:txBody>
          <a:bodyPr>
            <a:normAutofit/>
          </a:bodyPr>
          <a:lstStyle/>
          <a:p>
            <a:pPr lvl="0"/>
            <a:r>
              <a:rPr lang="it-IT"/>
              <a:t>Modifica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190747" y="2126222"/>
            <a:ext cx="4313864" cy="3777622"/>
          </a:xfrm>
        </p:spPr>
        <p:txBody>
          <a:bodyPr>
            <a:normAutofit/>
          </a:bodyPr>
          <a:lstStyle/>
          <a:p>
            <a:pPr lvl="0"/>
            <a:r>
              <a:rPr lang="it-IT"/>
              <a:t>Modifica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10/31/2017</a:t>
            </a:r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it-IT"/>
              <a:t>Architettura dei Sistemi di Elaborazione – Tutorato                                                     Anno accademico 2017/2018             Andrea Strazzulla</a:t>
            </a:r>
            <a:endParaRPr lang="en-US" dirty="0"/>
          </a:p>
        </p:txBody>
      </p:sp>
      <p:sp>
        <p:nvSpPr>
          <p:cNvPr id="10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1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787782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‹N›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nfron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1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939373" y="1972703"/>
            <a:ext cx="3992732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it-IT"/>
              <a:t>Modifica gli stili del testo dello schema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589212" y="2548966"/>
            <a:ext cx="4342893" cy="3354060"/>
          </a:xfrm>
        </p:spPr>
        <p:txBody>
          <a:bodyPr>
            <a:normAutofit/>
          </a:bodyPr>
          <a:lstStyle/>
          <a:p>
            <a:pPr lvl="0"/>
            <a:r>
              <a:rPr lang="it-IT"/>
              <a:t>Modifica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7506629" y="1969475"/>
            <a:ext cx="3999001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it-IT"/>
              <a:t>Modifica gli stili del testo dello schema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7166957" y="2545738"/>
            <a:ext cx="4338674" cy="3354060"/>
          </a:xfrm>
        </p:spPr>
        <p:txBody>
          <a:bodyPr>
            <a:normAutofit/>
          </a:bodyPr>
          <a:lstStyle/>
          <a:p>
            <a:pPr lvl="0"/>
            <a:r>
              <a:rPr lang="it-IT"/>
              <a:t>Modifica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10/31/2017</a:t>
            </a:r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it-IT"/>
              <a:t>Architettura dei Sistemi di Elaborazione – Tutorato                                                     Anno accademico 2017/2018             Andrea Strazzulla</a:t>
            </a:r>
            <a:endParaRPr lang="en-US" dirty="0"/>
          </a:p>
        </p:txBody>
      </p:sp>
      <p:sp>
        <p:nvSpPr>
          <p:cNvPr id="12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3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787782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‹N›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10/31/2017</a:t>
            </a:r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it-IT"/>
              <a:t>Architettura dei Sistemi di Elaborazione – Tutorato                                                     Anno accademico 2017/2018             Andrea Strazzulla</a:t>
            </a:r>
            <a:endParaRPr lang="en-US" dirty="0"/>
          </a:p>
        </p:txBody>
      </p:sp>
      <p:sp>
        <p:nvSpPr>
          <p:cNvPr id="7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uot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10/31/2017</a:t>
            </a:r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it-IT"/>
              <a:t>Architettura dei Sistemi di Elaborazione – Tutorato                                                     Anno accademico 2017/2018             Andrea Strazzulla</a:t>
            </a:r>
            <a:endParaRPr lang="en-US" dirty="0"/>
          </a:p>
        </p:txBody>
      </p:sp>
      <p:sp>
        <p:nvSpPr>
          <p:cNvPr id="6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to con didascal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446088"/>
            <a:ext cx="3505199" cy="976312"/>
          </a:xfrm>
        </p:spPr>
        <p:txBody>
          <a:bodyPr anchor="b"/>
          <a:lstStyle>
            <a:lvl1pPr algn="l">
              <a:defRPr sz="2000" b="0"/>
            </a:lvl1pPr>
          </a:lstStyle>
          <a:p>
            <a:r>
              <a:rPr lang="it-IT"/>
              <a:t>Fare clic per modificare lo stile del titolo dello schema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323012" y="446088"/>
            <a:ext cx="5181600" cy="5414963"/>
          </a:xfrm>
        </p:spPr>
        <p:txBody>
          <a:bodyPr anchor="ctr">
            <a:normAutofit/>
          </a:bodyPr>
          <a:lstStyle/>
          <a:p>
            <a:pPr lvl="0"/>
            <a:r>
              <a:rPr lang="it-IT"/>
              <a:t>Modifica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2" y="1598613"/>
            <a:ext cx="3505199" cy="4262436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it-IT"/>
              <a:t>Modifica gli stili del testo dello schema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10/31/2017</a:t>
            </a:r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it-IT"/>
              <a:t>Architettura dei Sistemi di Elaborazione – Tutorato                                                     Anno accademico 2017/2018             Andrea Strazzulla</a:t>
            </a:r>
            <a:endParaRPr lang="en-US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magine con didascal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3" y="4800600"/>
            <a:ext cx="8915400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it-IT"/>
              <a:t>Fare clic per modificare lo stile del titolo dello schema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589212" y="634965"/>
            <a:ext cx="8915400" cy="3854970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it-IT"/>
              <a:t>Fare clic sull'icona per inserire un'immagine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367338"/>
            <a:ext cx="8915400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it-IT"/>
              <a:t>Modifica gli stili del testo dello schema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10/31/2017</a:t>
            </a:r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it-IT"/>
              <a:t>Architettura dei Sistemi di Elaborazione – Tutorato                                                     Anno accademico 2017/2018             Andrea Strazzulla</a:t>
            </a:r>
            <a:endParaRPr lang="en-US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‹N›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olo e sotto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609600"/>
            <a:ext cx="8915399" cy="311704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it-IT"/>
              <a:t>Fare clic per modificare lo stile del titolo dello schema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4354046"/>
            <a:ext cx="8915399" cy="1555864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it-IT"/>
              <a:t>Modifica gli stili del testo dello schema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10/31/2017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it-IT"/>
              <a:t>Architettura dei Sistemi di Elaborazione – Tutorato                                                     Anno accademico 2017/2018             Andrea Strazzulla</a:t>
            </a:r>
            <a:endParaRPr lang="en-US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‹N›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itazione con didascal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49949" y="609600"/>
            <a:ext cx="8393926" cy="289560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it-IT"/>
              <a:t>Fare clic per modificare lo stile del titolo dello schema</a:t>
            </a:r>
            <a:endParaRPr lang="en-US" dirty="0"/>
          </a:p>
        </p:txBody>
      </p:sp>
      <p:sp>
        <p:nvSpPr>
          <p:cNvPr id="1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3275012" y="3505200"/>
            <a:ext cx="753655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it-IT"/>
              <a:t>Modifica gli stili del testo dello schema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4354046"/>
            <a:ext cx="8915399" cy="1555864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it-IT"/>
              <a:t>Modifica gli stili del testo dello schema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10/31/2017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it-IT"/>
              <a:t>Architettura dei Sistemi di Elaborazione – Tutorato                                                     Anno accademico 2017/2018             Andrea Strazzulla</a:t>
            </a:r>
            <a:endParaRPr lang="en-US" dirty="0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‹N›</a:t>
            </a:fld>
            <a:endParaRPr lang="en-US" dirty="0"/>
          </a:p>
        </p:txBody>
      </p:sp>
      <p:sp>
        <p:nvSpPr>
          <p:cNvPr id="14" name="TextBox 13"/>
          <p:cNvSpPr txBox="1"/>
          <p:nvPr/>
        </p:nvSpPr>
        <p:spPr>
          <a:xfrm>
            <a:off x="2467652" y="648005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114852" y="290530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cheda nom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3" y="2438400"/>
            <a:ext cx="8915400" cy="2724845"/>
          </a:xfrm>
        </p:spPr>
        <p:txBody>
          <a:bodyPr anchor="b">
            <a:normAutofit/>
          </a:bodyPr>
          <a:lstStyle>
            <a:lvl1pPr algn="l">
              <a:defRPr sz="4800" b="0"/>
            </a:lvl1pPr>
          </a:lstStyle>
          <a:p>
            <a:r>
              <a:rPr lang="it-IT"/>
              <a:t>Fare clic per modificare lo stile del titolo dello schema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it-IT"/>
              <a:t>Modifica gli stili del testo dello schema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10/31/2017</a:t>
            </a:r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it-IT"/>
              <a:t>Architettura dei Sistemi di Elaborazione – Tutorato                                                     Anno accademico 2017/2018             Andrea Strazzulla</a:t>
            </a:r>
            <a:endParaRPr lang="en-US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‹N›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cheda nome citazio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"/>
          <p:cNvSpPr>
            <a:spLocks noGrp="1"/>
          </p:cNvSpPr>
          <p:nvPr>
            <p:ph type="title"/>
          </p:nvPr>
        </p:nvSpPr>
        <p:spPr>
          <a:xfrm>
            <a:off x="2849949" y="609600"/>
            <a:ext cx="8393926" cy="289560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it-IT"/>
              <a:t>Fare clic per modificare lo stile del titolo dello schema</a:t>
            </a:r>
            <a:endParaRPr lang="en-US" dirty="0"/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589212" y="4343400"/>
            <a:ext cx="8915400" cy="83820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it-IT"/>
              <a:t>Modifica gli stili del testo dello schema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it-IT"/>
              <a:t>Modifica gli stili del testo dello schema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10/31/2017</a:t>
            </a:r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it-IT"/>
              <a:t>Architettura dei Sistemi di Elaborazione – Tutorato                                                     Anno accademico 2017/2018             Andrea Strazzulla</a:t>
            </a:r>
            <a:endParaRPr lang="en-US" dirty="0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‹N›</a:t>
            </a:fld>
            <a:endParaRPr lang="en-US" dirty="0"/>
          </a:p>
        </p:txBody>
      </p:sp>
      <p:sp>
        <p:nvSpPr>
          <p:cNvPr id="17" name="TextBox 16"/>
          <p:cNvSpPr txBox="1"/>
          <p:nvPr/>
        </p:nvSpPr>
        <p:spPr>
          <a:xfrm>
            <a:off x="2467652" y="648005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114852" y="290530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Vero o fals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627407"/>
            <a:ext cx="8915399" cy="2880020"/>
          </a:xfrm>
        </p:spPr>
        <p:txBody>
          <a:bodyPr anchor="ctr">
            <a:normAutofit/>
          </a:bodyPr>
          <a:lstStyle>
            <a:lvl1pPr algn="l">
              <a:defRPr sz="4800" b="0"/>
            </a:lvl1pPr>
          </a:lstStyle>
          <a:p>
            <a:r>
              <a:rPr lang="it-IT"/>
              <a:t>Fare clic per modificare lo stile del titolo dello schema</a:t>
            </a:r>
            <a:endParaRPr lang="en-US" dirty="0"/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589212" y="4343400"/>
            <a:ext cx="8915400" cy="83820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it-IT"/>
              <a:t>Modifica gli stili del testo dello schema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it-IT"/>
              <a:t>Modifica gli stili del testo dello schema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10/31/2017</a:t>
            </a:r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it-IT"/>
              <a:t>Architettura dei Sistemi di Elaborazione – Tutorato                                                     Anno accademico 2017/2018             Andrea Strazzulla</a:t>
            </a:r>
            <a:endParaRPr lang="en-US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‹N›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olo e testo vertica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it-IT"/>
              <a:t>Modifica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10/31/2017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it-IT"/>
              <a:t>Architettura dei Sistemi di Elaborazione – Tutorato                                                     Anno accademico 2017/2018             Andrea Strazzulla</a:t>
            </a:r>
            <a:endParaRPr lang="en-US" dirty="0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olo e testo vertica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294812" y="627405"/>
            <a:ext cx="2207601" cy="5283817"/>
          </a:xfrm>
        </p:spPr>
        <p:txBody>
          <a:bodyPr vert="eaVert" anchor="ctr"/>
          <a:lstStyle/>
          <a:p>
            <a:r>
              <a:rPr lang="it-IT"/>
              <a:t>Fare clic per modificare lo stile del titolo dello schema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589212" y="627405"/>
            <a:ext cx="6477000" cy="5283817"/>
          </a:xfrm>
        </p:spPr>
        <p:txBody>
          <a:bodyPr vert="eaVert"/>
          <a:lstStyle/>
          <a:p>
            <a:pPr lvl="0"/>
            <a:r>
              <a:rPr lang="it-IT"/>
              <a:t>Modifica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10/31/2017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it-IT"/>
              <a:t>Architettura dei Sistemi di Elaborazione – Tutorato                                                     Anno accademico 2017/2018             Andrea Strazzulla</a:t>
            </a:r>
            <a:endParaRPr lang="en-US" dirty="0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" name="Group 22"/>
          <p:cNvGrpSpPr/>
          <p:nvPr/>
        </p:nvGrpSpPr>
        <p:grpSpPr>
          <a:xfrm>
            <a:off x="1" y="228600"/>
            <a:ext cx="2851516" cy="6638628"/>
            <a:chOff x="2487613" y="285750"/>
            <a:chExt cx="2428875" cy="5654676"/>
          </a:xfrm>
        </p:grpSpPr>
        <p:sp>
          <p:nvSpPr>
            <p:cNvPr id="24" name="Freeform 11"/>
            <p:cNvSpPr/>
            <p:nvPr/>
          </p:nvSpPr>
          <p:spPr bwMode="auto">
            <a:xfrm>
              <a:off x="2487613" y="2284413"/>
              <a:ext cx="85725" cy="533400"/>
            </a:xfrm>
            <a:custGeom>
              <a:avLst/>
              <a:gdLst/>
              <a:ahLst/>
              <a:cxnLst/>
              <a:rect l="0" t="0" r="r" b="b"/>
              <a:pathLst>
                <a:path w="22" h="136">
                  <a:moveTo>
                    <a:pt x="22" y="136"/>
                  </a:moveTo>
                  <a:cubicBezTo>
                    <a:pt x="20" y="117"/>
                    <a:pt x="19" y="99"/>
                    <a:pt x="17" y="80"/>
                  </a:cubicBezTo>
                  <a:cubicBezTo>
                    <a:pt x="11" y="54"/>
                    <a:pt x="6" y="27"/>
                    <a:pt x="0" y="0"/>
                  </a:cubicBezTo>
                  <a:cubicBezTo>
                    <a:pt x="0" y="35"/>
                    <a:pt x="0" y="35"/>
                    <a:pt x="0" y="35"/>
                  </a:cubicBezTo>
                  <a:cubicBezTo>
                    <a:pt x="6" y="64"/>
                    <a:pt x="13" y="94"/>
                    <a:pt x="20" y="124"/>
                  </a:cubicBezTo>
                  <a:cubicBezTo>
                    <a:pt x="20" y="128"/>
                    <a:pt x="21" y="132"/>
                    <a:pt x="22" y="136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5" name="Freeform 12"/>
            <p:cNvSpPr/>
            <p:nvPr/>
          </p:nvSpPr>
          <p:spPr bwMode="auto">
            <a:xfrm>
              <a:off x="2597151" y="2779713"/>
              <a:ext cx="550863" cy="1978025"/>
            </a:xfrm>
            <a:custGeom>
              <a:avLst/>
              <a:gdLst/>
              <a:ahLst/>
              <a:cxnLst/>
              <a:rect l="0" t="0" r="r" b="b"/>
              <a:pathLst>
                <a:path w="140" h="504">
                  <a:moveTo>
                    <a:pt x="86" y="350"/>
                  </a:moveTo>
                  <a:cubicBezTo>
                    <a:pt x="103" y="402"/>
                    <a:pt x="120" y="453"/>
                    <a:pt x="139" y="504"/>
                  </a:cubicBezTo>
                  <a:cubicBezTo>
                    <a:pt x="139" y="495"/>
                    <a:pt x="139" y="487"/>
                    <a:pt x="140" y="478"/>
                  </a:cubicBezTo>
                  <a:cubicBezTo>
                    <a:pt x="124" y="435"/>
                    <a:pt x="109" y="391"/>
                    <a:pt x="95" y="347"/>
                  </a:cubicBezTo>
                  <a:cubicBezTo>
                    <a:pt x="58" y="233"/>
                    <a:pt x="27" y="117"/>
                    <a:pt x="0" y="0"/>
                  </a:cubicBezTo>
                  <a:cubicBezTo>
                    <a:pt x="2" y="20"/>
                    <a:pt x="4" y="41"/>
                    <a:pt x="6" y="61"/>
                  </a:cubicBezTo>
                  <a:cubicBezTo>
                    <a:pt x="30" y="158"/>
                    <a:pt x="56" y="255"/>
                    <a:pt x="86" y="35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6" name="Freeform 13"/>
            <p:cNvSpPr/>
            <p:nvPr/>
          </p:nvSpPr>
          <p:spPr bwMode="auto">
            <a:xfrm>
              <a:off x="3175001" y="4730750"/>
              <a:ext cx="519113" cy="1209675"/>
            </a:xfrm>
            <a:custGeom>
              <a:avLst/>
              <a:gdLst/>
              <a:ahLst/>
              <a:cxnLst/>
              <a:rect l="0" t="0" r="r" b="b"/>
              <a:pathLst>
                <a:path w="132" h="308">
                  <a:moveTo>
                    <a:pt x="8" y="22"/>
                  </a:moveTo>
                  <a:cubicBezTo>
                    <a:pt x="5" y="15"/>
                    <a:pt x="2" y="8"/>
                    <a:pt x="0" y="0"/>
                  </a:cubicBezTo>
                  <a:cubicBezTo>
                    <a:pt x="0" y="10"/>
                    <a:pt x="0" y="19"/>
                    <a:pt x="0" y="29"/>
                  </a:cubicBezTo>
                  <a:cubicBezTo>
                    <a:pt x="21" y="85"/>
                    <a:pt x="44" y="140"/>
                    <a:pt x="68" y="194"/>
                  </a:cubicBezTo>
                  <a:cubicBezTo>
                    <a:pt x="85" y="232"/>
                    <a:pt x="104" y="270"/>
                    <a:pt x="123" y="308"/>
                  </a:cubicBezTo>
                  <a:cubicBezTo>
                    <a:pt x="132" y="308"/>
                    <a:pt x="132" y="308"/>
                    <a:pt x="132" y="308"/>
                  </a:cubicBezTo>
                  <a:cubicBezTo>
                    <a:pt x="113" y="269"/>
                    <a:pt x="94" y="230"/>
                    <a:pt x="77" y="190"/>
                  </a:cubicBezTo>
                  <a:cubicBezTo>
                    <a:pt x="52" y="135"/>
                    <a:pt x="29" y="79"/>
                    <a:pt x="8" y="22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7" name="Freeform 14"/>
            <p:cNvSpPr/>
            <p:nvPr/>
          </p:nvSpPr>
          <p:spPr bwMode="auto">
            <a:xfrm>
              <a:off x="3305176" y="5630863"/>
              <a:ext cx="146050" cy="309563"/>
            </a:xfrm>
            <a:custGeom>
              <a:avLst/>
              <a:gdLst/>
              <a:ahLst/>
              <a:cxnLst/>
              <a:rect l="0" t="0" r="r" b="b"/>
              <a:pathLst>
                <a:path w="37" h="79">
                  <a:moveTo>
                    <a:pt x="28" y="79"/>
                  </a:moveTo>
                  <a:cubicBezTo>
                    <a:pt x="37" y="79"/>
                    <a:pt x="37" y="79"/>
                    <a:pt x="37" y="79"/>
                  </a:cubicBezTo>
                  <a:cubicBezTo>
                    <a:pt x="24" y="53"/>
                    <a:pt x="12" y="27"/>
                    <a:pt x="0" y="0"/>
                  </a:cubicBezTo>
                  <a:cubicBezTo>
                    <a:pt x="8" y="27"/>
                    <a:pt x="17" y="53"/>
                    <a:pt x="28" y="79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8" name="Freeform 15"/>
            <p:cNvSpPr/>
            <p:nvPr/>
          </p:nvSpPr>
          <p:spPr bwMode="auto">
            <a:xfrm>
              <a:off x="2573338" y="2817813"/>
              <a:ext cx="700088" cy="2835275"/>
            </a:xfrm>
            <a:custGeom>
              <a:avLst/>
              <a:gdLst/>
              <a:ahLst/>
              <a:cxnLst/>
              <a:rect l="0" t="0" r="r" b="b"/>
              <a:pathLst>
                <a:path w="178" h="722">
                  <a:moveTo>
                    <a:pt x="162" y="660"/>
                  </a:moveTo>
                  <a:cubicBezTo>
                    <a:pt x="145" y="618"/>
                    <a:pt x="130" y="576"/>
                    <a:pt x="116" y="534"/>
                  </a:cubicBezTo>
                  <a:cubicBezTo>
                    <a:pt x="84" y="437"/>
                    <a:pt x="59" y="337"/>
                    <a:pt x="40" y="236"/>
                  </a:cubicBezTo>
                  <a:cubicBezTo>
                    <a:pt x="29" y="175"/>
                    <a:pt x="20" y="113"/>
                    <a:pt x="12" y="51"/>
                  </a:cubicBezTo>
                  <a:cubicBezTo>
                    <a:pt x="8" y="34"/>
                    <a:pt x="4" y="17"/>
                    <a:pt x="0" y="0"/>
                  </a:cubicBezTo>
                  <a:cubicBezTo>
                    <a:pt x="8" y="79"/>
                    <a:pt x="19" y="159"/>
                    <a:pt x="33" y="237"/>
                  </a:cubicBezTo>
                  <a:cubicBezTo>
                    <a:pt x="51" y="339"/>
                    <a:pt x="76" y="439"/>
                    <a:pt x="107" y="537"/>
                  </a:cubicBezTo>
                  <a:cubicBezTo>
                    <a:pt x="123" y="586"/>
                    <a:pt x="141" y="634"/>
                    <a:pt x="160" y="681"/>
                  </a:cubicBezTo>
                  <a:cubicBezTo>
                    <a:pt x="166" y="695"/>
                    <a:pt x="172" y="708"/>
                    <a:pt x="178" y="722"/>
                  </a:cubicBezTo>
                  <a:cubicBezTo>
                    <a:pt x="176" y="717"/>
                    <a:pt x="175" y="713"/>
                    <a:pt x="174" y="708"/>
                  </a:cubicBezTo>
                  <a:cubicBezTo>
                    <a:pt x="169" y="692"/>
                    <a:pt x="165" y="676"/>
                    <a:pt x="162" y="66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9" name="Freeform 16"/>
            <p:cNvSpPr/>
            <p:nvPr/>
          </p:nvSpPr>
          <p:spPr bwMode="auto">
            <a:xfrm>
              <a:off x="2506663" y="285750"/>
              <a:ext cx="90488" cy="2493963"/>
            </a:xfrm>
            <a:custGeom>
              <a:avLst/>
              <a:gdLst/>
              <a:ahLst/>
              <a:cxnLst/>
              <a:rect l="0" t="0" r="r" b="b"/>
              <a:pathLst>
                <a:path w="23" h="635">
                  <a:moveTo>
                    <a:pt x="11" y="577"/>
                  </a:moveTo>
                  <a:cubicBezTo>
                    <a:pt x="12" y="581"/>
                    <a:pt x="12" y="585"/>
                    <a:pt x="12" y="589"/>
                  </a:cubicBezTo>
                  <a:cubicBezTo>
                    <a:pt x="15" y="603"/>
                    <a:pt x="19" y="617"/>
                    <a:pt x="22" y="632"/>
                  </a:cubicBezTo>
                  <a:cubicBezTo>
                    <a:pt x="22" y="633"/>
                    <a:pt x="22" y="634"/>
                    <a:pt x="23" y="635"/>
                  </a:cubicBezTo>
                  <a:cubicBezTo>
                    <a:pt x="21" y="615"/>
                    <a:pt x="19" y="596"/>
                    <a:pt x="17" y="576"/>
                  </a:cubicBezTo>
                  <a:cubicBezTo>
                    <a:pt x="9" y="474"/>
                    <a:pt x="5" y="372"/>
                    <a:pt x="5" y="269"/>
                  </a:cubicBezTo>
                  <a:cubicBezTo>
                    <a:pt x="6" y="179"/>
                    <a:pt x="9" y="90"/>
                    <a:pt x="15" y="0"/>
                  </a:cubicBezTo>
                  <a:cubicBezTo>
                    <a:pt x="12" y="0"/>
                    <a:pt x="12" y="0"/>
                    <a:pt x="12" y="0"/>
                  </a:cubicBezTo>
                  <a:cubicBezTo>
                    <a:pt x="5" y="89"/>
                    <a:pt x="2" y="179"/>
                    <a:pt x="1" y="269"/>
                  </a:cubicBezTo>
                  <a:cubicBezTo>
                    <a:pt x="0" y="372"/>
                    <a:pt x="3" y="474"/>
                    <a:pt x="11" y="577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0" name="Freeform 17"/>
            <p:cNvSpPr/>
            <p:nvPr/>
          </p:nvSpPr>
          <p:spPr bwMode="auto">
            <a:xfrm>
              <a:off x="2554288" y="2598738"/>
              <a:ext cx="66675" cy="420688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0" y="0"/>
                  </a:moveTo>
                  <a:cubicBezTo>
                    <a:pt x="2" y="19"/>
                    <a:pt x="3" y="37"/>
                    <a:pt x="5" y="56"/>
                  </a:cubicBezTo>
                  <a:cubicBezTo>
                    <a:pt x="9" y="73"/>
                    <a:pt x="13" y="90"/>
                    <a:pt x="17" y="107"/>
                  </a:cubicBezTo>
                  <a:cubicBezTo>
                    <a:pt x="15" y="87"/>
                    <a:pt x="13" y="66"/>
                    <a:pt x="11" y="46"/>
                  </a:cubicBezTo>
                  <a:cubicBezTo>
                    <a:pt x="10" y="45"/>
                    <a:pt x="10" y="44"/>
                    <a:pt x="10" y="43"/>
                  </a:cubicBezTo>
                  <a:cubicBezTo>
                    <a:pt x="7" y="28"/>
                    <a:pt x="3" y="1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1" name="Freeform 18"/>
            <p:cNvSpPr/>
            <p:nvPr/>
          </p:nvSpPr>
          <p:spPr bwMode="auto">
            <a:xfrm>
              <a:off x="3143251" y="4757738"/>
              <a:ext cx="161925" cy="873125"/>
            </a:xfrm>
            <a:custGeom>
              <a:avLst/>
              <a:gdLst/>
              <a:ahLst/>
              <a:cxnLst/>
              <a:rect l="0" t="0" r="r" b="b"/>
              <a:pathLst>
                <a:path w="41" h="222">
                  <a:moveTo>
                    <a:pt x="0" y="0"/>
                  </a:moveTo>
                  <a:cubicBezTo>
                    <a:pt x="0" y="31"/>
                    <a:pt x="2" y="62"/>
                    <a:pt x="5" y="93"/>
                  </a:cubicBezTo>
                  <a:cubicBezTo>
                    <a:pt x="8" y="117"/>
                    <a:pt x="12" y="142"/>
                    <a:pt x="17" y="166"/>
                  </a:cubicBezTo>
                  <a:cubicBezTo>
                    <a:pt x="19" y="172"/>
                    <a:pt x="22" y="178"/>
                    <a:pt x="24" y="184"/>
                  </a:cubicBezTo>
                  <a:cubicBezTo>
                    <a:pt x="30" y="197"/>
                    <a:pt x="35" y="209"/>
                    <a:pt x="41" y="222"/>
                  </a:cubicBezTo>
                  <a:cubicBezTo>
                    <a:pt x="40" y="219"/>
                    <a:pt x="39" y="215"/>
                    <a:pt x="38" y="212"/>
                  </a:cubicBezTo>
                  <a:cubicBezTo>
                    <a:pt x="26" y="172"/>
                    <a:pt x="18" y="132"/>
                    <a:pt x="13" y="92"/>
                  </a:cubicBezTo>
                  <a:cubicBezTo>
                    <a:pt x="11" y="68"/>
                    <a:pt x="9" y="45"/>
                    <a:pt x="8" y="22"/>
                  </a:cubicBezTo>
                  <a:cubicBezTo>
                    <a:pt x="8" y="21"/>
                    <a:pt x="7" y="20"/>
                    <a:pt x="7" y="18"/>
                  </a:cubicBezTo>
                  <a:cubicBezTo>
                    <a:pt x="5" y="12"/>
                    <a:pt x="2" y="6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2" name="Freeform 19"/>
            <p:cNvSpPr/>
            <p:nvPr/>
          </p:nvSpPr>
          <p:spPr bwMode="auto">
            <a:xfrm>
              <a:off x="3148013" y="1282700"/>
              <a:ext cx="1768475" cy="3448050"/>
            </a:xfrm>
            <a:custGeom>
              <a:avLst/>
              <a:gdLst/>
              <a:ahLst/>
              <a:cxnLst/>
              <a:rect l="0" t="0" r="r" b="b"/>
              <a:pathLst>
                <a:path w="450" h="878">
                  <a:moveTo>
                    <a:pt x="7" y="854"/>
                  </a:moveTo>
                  <a:cubicBezTo>
                    <a:pt x="10" y="772"/>
                    <a:pt x="26" y="691"/>
                    <a:pt x="50" y="613"/>
                  </a:cubicBezTo>
                  <a:cubicBezTo>
                    <a:pt x="75" y="535"/>
                    <a:pt x="109" y="460"/>
                    <a:pt x="149" y="388"/>
                  </a:cubicBezTo>
                  <a:cubicBezTo>
                    <a:pt x="189" y="316"/>
                    <a:pt x="235" y="248"/>
                    <a:pt x="285" y="183"/>
                  </a:cubicBezTo>
                  <a:cubicBezTo>
                    <a:pt x="310" y="151"/>
                    <a:pt x="337" y="119"/>
                    <a:pt x="364" y="89"/>
                  </a:cubicBezTo>
                  <a:cubicBezTo>
                    <a:pt x="378" y="74"/>
                    <a:pt x="392" y="58"/>
                    <a:pt x="406" y="44"/>
                  </a:cubicBezTo>
                  <a:cubicBezTo>
                    <a:pt x="421" y="29"/>
                    <a:pt x="435" y="15"/>
                    <a:pt x="450" y="1"/>
                  </a:cubicBezTo>
                  <a:cubicBezTo>
                    <a:pt x="450" y="0"/>
                    <a:pt x="450" y="0"/>
                    <a:pt x="450" y="0"/>
                  </a:cubicBezTo>
                  <a:cubicBezTo>
                    <a:pt x="434" y="14"/>
                    <a:pt x="420" y="28"/>
                    <a:pt x="405" y="43"/>
                  </a:cubicBezTo>
                  <a:cubicBezTo>
                    <a:pt x="391" y="57"/>
                    <a:pt x="377" y="72"/>
                    <a:pt x="363" y="88"/>
                  </a:cubicBezTo>
                  <a:cubicBezTo>
                    <a:pt x="335" y="118"/>
                    <a:pt x="308" y="149"/>
                    <a:pt x="283" y="181"/>
                  </a:cubicBezTo>
                  <a:cubicBezTo>
                    <a:pt x="232" y="246"/>
                    <a:pt x="185" y="314"/>
                    <a:pt x="145" y="386"/>
                  </a:cubicBezTo>
                  <a:cubicBezTo>
                    <a:pt x="104" y="457"/>
                    <a:pt x="70" y="533"/>
                    <a:pt x="45" y="611"/>
                  </a:cubicBezTo>
                  <a:cubicBezTo>
                    <a:pt x="19" y="690"/>
                    <a:pt x="3" y="771"/>
                    <a:pt x="0" y="854"/>
                  </a:cubicBezTo>
                  <a:cubicBezTo>
                    <a:pt x="0" y="856"/>
                    <a:pt x="0" y="857"/>
                    <a:pt x="0" y="859"/>
                  </a:cubicBezTo>
                  <a:cubicBezTo>
                    <a:pt x="2" y="865"/>
                    <a:pt x="4" y="872"/>
                    <a:pt x="7" y="878"/>
                  </a:cubicBezTo>
                  <a:cubicBezTo>
                    <a:pt x="7" y="870"/>
                    <a:pt x="7" y="862"/>
                    <a:pt x="7" y="85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3" name="Freeform 20"/>
            <p:cNvSpPr/>
            <p:nvPr/>
          </p:nvSpPr>
          <p:spPr bwMode="auto">
            <a:xfrm>
              <a:off x="3273426" y="5653088"/>
              <a:ext cx="138113" cy="287338"/>
            </a:xfrm>
            <a:custGeom>
              <a:avLst/>
              <a:gdLst/>
              <a:ahLst/>
              <a:cxnLst/>
              <a:rect l="0" t="0" r="r" b="b"/>
              <a:pathLst>
                <a:path w="35" h="73">
                  <a:moveTo>
                    <a:pt x="0" y="0"/>
                  </a:moveTo>
                  <a:cubicBezTo>
                    <a:pt x="7" y="24"/>
                    <a:pt x="16" y="49"/>
                    <a:pt x="26" y="73"/>
                  </a:cubicBezTo>
                  <a:cubicBezTo>
                    <a:pt x="35" y="73"/>
                    <a:pt x="35" y="73"/>
                    <a:pt x="35" y="73"/>
                  </a:cubicBezTo>
                  <a:cubicBezTo>
                    <a:pt x="23" y="49"/>
                    <a:pt x="11" y="2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4" name="Freeform 21"/>
            <p:cNvSpPr/>
            <p:nvPr/>
          </p:nvSpPr>
          <p:spPr bwMode="auto">
            <a:xfrm>
              <a:off x="3143251" y="4656138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7" y="44"/>
                  </a:moveTo>
                  <a:cubicBezTo>
                    <a:pt x="7" y="46"/>
                    <a:pt x="8" y="47"/>
                    <a:pt x="8" y="48"/>
                  </a:cubicBezTo>
                  <a:cubicBezTo>
                    <a:pt x="8" y="38"/>
                    <a:pt x="8" y="29"/>
                    <a:pt x="8" y="19"/>
                  </a:cubicBezTo>
                  <a:cubicBezTo>
                    <a:pt x="5" y="13"/>
                    <a:pt x="3" y="6"/>
                    <a:pt x="1" y="0"/>
                  </a:cubicBezTo>
                  <a:cubicBezTo>
                    <a:pt x="0" y="9"/>
                    <a:pt x="0" y="17"/>
                    <a:pt x="0" y="26"/>
                  </a:cubicBezTo>
                  <a:cubicBezTo>
                    <a:pt x="2" y="32"/>
                    <a:pt x="5" y="38"/>
                    <a:pt x="7" y="4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5" name="Freeform 22"/>
            <p:cNvSpPr/>
            <p:nvPr/>
          </p:nvSpPr>
          <p:spPr bwMode="auto">
            <a:xfrm>
              <a:off x="3211513" y="5410200"/>
              <a:ext cx="203200" cy="530225"/>
            </a:xfrm>
            <a:custGeom>
              <a:avLst/>
              <a:gdLst/>
              <a:ahLst/>
              <a:cxnLst/>
              <a:rect l="0" t="0" r="r" b="b"/>
              <a:pathLst>
                <a:path w="52" h="135">
                  <a:moveTo>
                    <a:pt x="7" y="18"/>
                  </a:moveTo>
                  <a:cubicBezTo>
                    <a:pt x="5" y="12"/>
                    <a:pt x="2" y="6"/>
                    <a:pt x="0" y="0"/>
                  </a:cubicBezTo>
                  <a:cubicBezTo>
                    <a:pt x="3" y="16"/>
                    <a:pt x="7" y="32"/>
                    <a:pt x="12" y="48"/>
                  </a:cubicBezTo>
                  <a:cubicBezTo>
                    <a:pt x="13" y="53"/>
                    <a:pt x="14" y="57"/>
                    <a:pt x="16" y="62"/>
                  </a:cubicBezTo>
                  <a:cubicBezTo>
                    <a:pt x="27" y="86"/>
                    <a:pt x="39" y="111"/>
                    <a:pt x="51" y="135"/>
                  </a:cubicBezTo>
                  <a:cubicBezTo>
                    <a:pt x="52" y="135"/>
                    <a:pt x="52" y="135"/>
                    <a:pt x="52" y="135"/>
                  </a:cubicBezTo>
                  <a:cubicBezTo>
                    <a:pt x="41" y="109"/>
                    <a:pt x="32" y="83"/>
                    <a:pt x="24" y="56"/>
                  </a:cubicBezTo>
                  <a:cubicBezTo>
                    <a:pt x="18" y="43"/>
                    <a:pt x="13" y="31"/>
                    <a:pt x="7" y="18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</p:grpSp>
      <p:grpSp>
        <p:nvGrpSpPr>
          <p:cNvPr id="10" name="Group 9"/>
          <p:cNvGrpSpPr/>
          <p:nvPr/>
        </p:nvGrpSpPr>
        <p:grpSpPr>
          <a:xfrm>
            <a:off x="27221" y="-32"/>
            <a:ext cx="2356674" cy="6853285"/>
            <a:chOff x="6627813" y="195454"/>
            <a:chExt cx="1952625" cy="5678297"/>
          </a:xfrm>
        </p:grpSpPr>
        <p:sp>
          <p:nvSpPr>
            <p:cNvPr id="11" name="Freeform 27"/>
            <p:cNvSpPr/>
            <p:nvPr/>
          </p:nvSpPr>
          <p:spPr bwMode="auto">
            <a:xfrm>
              <a:off x="6627813" y="195454"/>
              <a:ext cx="409575" cy="3646488"/>
            </a:xfrm>
            <a:custGeom>
              <a:avLst/>
              <a:gdLst/>
              <a:ahLst/>
              <a:cxnLst/>
              <a:rect l="0" t="0" r="r" b="b"/>
              <a:pathLst>
                <a:path w="103" h="920">
                  <a:moveTo>
                    <a:pt x="7" y="210"/>
                  </a:moveTo>
                  <a:cubicBezTo>
                    <a:pt x="11" y="288"/>
                    <a:pt x="17" y="367"/>
                    <a:pt x="26" y="445"/>
                  </a:cubicBezTo>
                  <a:cubicBezTo>
                    <a:pt x="34" y="523"/>
                    <a:pt x="44" y="601"/>
                    <a:pt x="57" y="679"/>
                  </a:cubicBezTo>
                  <a:cubicBezTo>
                    <a:pt x="69" y="757"/>
                    <a:pt x="84" y="834"/>
                    <a:pt x="101" y="911"/>
                  </a:cubicBezTo>
                  <a:cubicBezTo>
                    <a:pt x="102" y="914"/>
                    <a:pt x="103" y="917"/>
                    <a:pt x="103" y="920"/>
                  </a:cubicBezTo>
                  <a:cubicBezTo>
                    <a:pt x="102" y="905"/>
                    <a:pt x="100" y="889"/>
                    <a:pt x="99" y="874"/>
                  </a:cubicBezTo>
                  <a:cubicBezTo>
                    <a:pt x="99" y="871"/>
                    <a:pt x="99" y="868"/>
                    <a:pt x="99" y="866"/>
                  </a:cubicBezTo>
                  <a:cubicBezTo>
                    <a:pt x="85" y="803"/>
                    <a:pt x="73" y="741"/>
                    <a:pt x="63" y="678"/>
                  </a:cubicBezTo>
                  <a:cubicBezTo>
                    <a:pt x="50" y="600"/>
                    <a:pt x="39" y="523"/>
                    <a:pt x="30" y="444"/>
                  </a:cubicBezTo>
                  <a:cubicBezTo>
                    <a:pt x="21" y="366"/>
                    <a:pt x="14" y="288"/>
                    <a:pt x="9" y="209"/>
                  </a:cubicBezTo>
                  <a:cubicBezTo>
                    <a:pt x="7" y="170"/>
                    <a:pt x="5" y="131"/>
                    <a:pt x="3" y="92"/>
                  </a:cubicBezTo>
                  <a:cubicBezTo>
                    <a:pt x="2" y="61"/>
                    <a:pt x="1" y="31"/>
                    <a:pt x="1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1"/>
                    <a:pt x="1" y="61"/>
                    <a:pt x="1" y="92"/>
                  </a:cubicBezTo>
                  <a:cubicBezTo>
                    <a:pt x="3" y="131"/>
                    <a:pt x="4" y="170"/>
                    <a:pt x="7" y="21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2" name="Freeform 28"/>
            <p:cNvSpPr/>
            <p:nvPr/>
          </p:nvSpPr>
          <p:spPr bwMode="auto">
            <a:xfrm>
              <a:off x="7061201" y="3771900"/>
              <a:ext cx="350838" cy="1309688"/>
            </a:xfrm>
            <a:custGeom>
              <a:avLst/>
              <a:gdLst/>
              <a:ahLst/>
              <a:cxnLst/>
              <a:rect l="0" t="0" r="r" b="b"/>
              <a:pathLst>
                <a:path w="88" h="330">
                  <a:moveTo>
                    <a:pt x="53" y="229"/>
                  </a:moveTo>
                  <a:cubicBezTo>
                    <a:pt x="64" y="263"/>
                    <a:pt x="75" y="297"/>
                    <a:pt x="88" y="330"/>
                  </a:cubicBezTo>
                  <a:cubicBezTo>
                    <a:pt x="88" y="323"/>
                    <a:pt x="88" y="315"/>
                    <a:pt x="88" y="308"/>
                  </a:cubicBezTo>
                  <a:cubicBezTo>
                    <a:pt x="88" y="307"/>
                    <a:pt x="88" y="305"/>
                    <a:pt x="88" y="304"/>
                  </a:cubicBezTo>
                  <a:cubicBezTo>
                    <a:pt x="79" y="278"/>
                    <a:pt x="70" y="252"/>
                    <a:pt x="62" y="226"/>
                  </a:cubicBezTo>
                  <a:cubicBezTo>
                    <a:pt x="38" y="152"/>
                    <a:pt x="17" y="76"/>
                    <a:pt x="0" y="0"/>
                  </a:cubicBezTo>
                  <a:cubicBezTo>
                    <a:pt x="2" y="21"/>
                    <a:pt x="4" y="42"/>
                    <a:pt x="7" y="63"/>
                  </a:cubicBezTo>
                  <a:cubicBezTo>
                    <a:pt x="21" y="119"/>
                    <a:pt x="36" y="174"/>
                    <a:pt x="53" y="22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3" name="Freeform 29"/>
            <p:cNvSpPr/>
            <p:nvPr/>
          </p:nvSpPr>
          <p:spPr bwMode="auto">
            <a:xfrm>
              <a:off x="7439026" y="5053013"/>
              <a:ext cx="357188" cy="820738"/>
            </a:xfrm>
            <a:custGeom>
              <a:avLst/>
              <a:gdLst/>
              <a:ahLst/>
              <a:cxnLst/>
              <a:rect l="0" t="0" r="r" b="b"/>
              <a:pathLst>
                <a:path w="90" h="207">
                  <a:moveTo>
                    <a:pt x="6" y="15"/>
                  </a:moveTo>
                  <a:cubicBezTo>
                    <a:pt x="4" y="10"/>
                    <a:pt x="2" y="5"/>
                    <a:pt x="0" y="0"/>
                  </a:cubicBezTo>
                  <a:cubicBezTo>
                    <a:pt x="0" y="9"/>
                    <a:pt x="0" y="19"/>
                    <a:pt x="1" y="29"/>
                  </a:cubicBezTo>
                  <a:cubicBezTo>
                    <a:pt x="14" y="62"/>
                    <a:pt x="27" y="95"/>
                    <a:pt x="42" y="127"/>
                  </a:cubicBezTo>
                  <a:cubicBezTo>
                    <a:pt x="54" y="154"/>
                    <a:pt x="67" y="181"/>
                    <a:pt x="80" y="207"/>
                  </a:cubicBezTo>
                  <a:cubicBezTo>
                    <a:pt x="90" y="207"/>
                    <a:pt x="90" y="207"/>
                    <a:pt x="90" y="207"/>
                  </a:cubicBezTo>
                  <a:cubicBezTo>
                    <a:pt x="76" y="180"/>
                    <a:pt x="63" y="152"/>
                    <a:pt x="50" y="123"/>
                  </a:cubicBezTo>
                  <a:cubicBezTo>
                    <a:pt x="34" y="88"/>
                    <a:pt x="20" y="51"/>
                    <a:pt x="6" y="15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4" name="Freeform 30"/>
            <p:cNvSpPr/>
            <p:nvPr/>
          </p:nvSpPr>
          <p:spPr bwMode="auto">
            <a:xfrm>
              <a:off x="7037388" y="3811588"/>
              <a:ext cx="457200" cy="1852613"/>
            </a:xfrm>
            <a:custGeom>
              <a:avLst/>
              <a:gdLst/>
              <a:ahLst/>
              <a:cxnLst/>
              <a:rect l="0" t="0" r="r" b="b"/>
              <a:pathLst>
                <a:path w="115" h="467">
                  <a:moveTo>
                    <a:pt x="101" y="409"/>
                  </a:moveTo>
                  <a:cubicBezTo>
                    <a:pt x="93" y="388"/>
                    <a:pt x="85" y="366"/>
                    <a:pt x="78" y="344"/>
                  </a:cubicBezTo>
                  <a:cubicBezTo>
                    <a:pt x="57" y="281"/>
                    <a:pt x="41" y="216"/>
                    <a:pt x="29" y="151"/>
                  </a:cubicBezTo>
                  <a:cubicBezTo>
                    <a:pt x="22" y="119"/>
                    <a:pt x="17" y="86"/>
                    <a:pt x="13" y="53"/>
                  </a:cubicBezTo>
                  <a:cubicBezTo>
                    <a:pt x="9" y="35"/>
                    <a:pt x="4" y="18"/>
                    <a:pt x="0" y="0"/>
                  </a:cubicBezTo>
                  <a:cubicBezTo>
                    <a:pt x="5" y="51"/>
                    <a:pt x="12" y="102"/>
                    <a:pt x="21" y="152"/>
                  </a:cubicBezTo>
                  <a:cubicBezTo>
                    <a:pt x="33" y="218"/>
                    <a:pt x="49" y="283"/>
                    <a:pt x="69" y="347"/>
                  </a:cubicBezTo>
                  <a:cubicBezTo>
                    <a:pt x="79" y="378"/>
                    <a:pt x="90" y="410"/>
                    <a:pt x="103" y="441"/>
                  </a:cubicBezTo>
                  <a:cubicBezTo>
                    <a:pt x="107" y="449"/>
                    <a:pt x="111" y="458"/>
                    <a:pt x="115" y="467"/>
                  </a:cubicBezTo>
                  <a:cubicBezTo>
                    <a:pt x="114" y="464"/>
                    <a:pt x="113" y="461"/>
                    <a:pt x="112" y="458"/>
                  </a:cubicBezTo>
                  <a:cubicBezTo>
                    <a:pt x="108" y="442"/>
                    <a:pt x="104" y="425"/>
                    <a:pt x="101" y="40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5" name="Freeform 31"/>
            <p:cNvSpPr/>
            <p:nvPr/>
          </p:nvSpPr>
          <p:spPr bwMode="auto">
            <a:xfrm>
              <a:off x="6992938" y="1263650"/>
              <a:ext cx="144463" cy="2508250"/>
            </a:xfrm>
            <a:custGeom>
              <a:avLst/>
              <a:gdLst/>
              <a:ahLst/>
              <a:cxnLst/>
              <a:rect l="0" t="0" r="r" b="b"/>
              <a:pathLst>
                <a:path w="36" h="633">
                  <a:moveTo>
                    <a:pt x="17" y="633"/>
                  </a:moveTo>
                  <a:cubicBezTo>
                    <a:pt x="15" y="621"/>
                    <a:pt x="14" y="609"/>
                    <a:pt x="13" y="597"/>
                  </a:cubicBezTo>
                  <a:cubicBezTo>
                    <a:pt x="8" y="530"/>
                    <a:pt x="5" y="464"/>
                    <a:pt x="5" y="398"/>
                  </a:cubicBezTo>
                  <a:cubicBezTo>
                    <a:pt x="5" y="331"/>
                    <a:pt x="8" y="265"/>
                    <a:pt x="13" y="198"/>
                  </a:cubicBezTo>
                  <a:cubicBezTo>
                    <a:pt x="15" y="165"/>
                    <a:pt x="18" y="132"/>
                    <a:pt x="22" y="99"/>
                  </a:cubicBezTo>
                  <a:cubicBezTo>
                    <a:pt x="26" y="66"/>
                    <a:pt x="30" y="33"/>
                    <a:pt x="36" y="0"/>
                  </a:cubicBezTo>
                  <a:cubicBezTo>
                    <a:pt x="35" y="0"/>
                    <a:pt x="35" y="0"/>
                    <a:pt x="35" y="0"/>
                  </a:cubicBezTo>
                  <a:cubicBezTo>
                    <a:pt x="29" y="33"/>
                    <a:pt x="24" y="66"/>
                    <a:pt x="20" y="99"/>
                  </a:cubicBezTo>
                  <a:cubicBezTo>
                    <a:pt x="16" y="132"/>
                    <a:pt x="13" y="165"/>
                    <a:pt x="10" y="198"/>
                  </a:cubicBezTo>
                  <a:cubicBezTo>
                    <a:pt x="4" y="264"/>
                    <a:pt x="1" y="331"/>
                    <a:pt x="1" y="398"/>
                  </a:cubicBezTo>
                  <a:cubicBezTo>
                    <a:pt x="0" y="461"/>
                    <a:pt x="2" y="525"/>
                    <a:pt x="7" y="589"/>
                  </a:cubicBezTo>
                  <a:cubicBezTo>
                    <a:pt x="10" y="603"/>
                    <a:pt x="13" y="618"/>
                    <a:pt x="16" y="632"/>
                  </a:cubicBezTo>
                  <a:cubicBezTo>
                    <a:pt x="16" y="632"/>
                    <a:pt x="17" y="633"/>
                    <a:pt x="17" y="63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6" name="Freeform 32"/>
            <p:cNvSpPr/>
            <p:nvPr/>
          </p:nvSpPr>
          <p:spPr bwMode="auto">
            <a:xfrm>
              <a:off x="7526338" y="5640388"/>
              <a:ext cx="111125" cy="233363"/>
            </a:xfrm>
            <a:custGeom>
              <a:avLst/>
              <a:gdLst/>
              <a:ahLst/>
              <a:cxnLst/>
              <a:rect l="0" t="0" r="r" b="b"/>
              <a:pathLst>
                <a:path w="28" h="59">
                  <a:moveTo>
                    <a:pt x="22" y="59"/>
                  </a:moveTo>
                  <a:cubicBezTo>
                    <a:pt x="28" y="59"/>
                    <a:pt x="28" y="59"/>
                    <a:pt x="28" y="59"/>
                  </a:cubicBezTo>
                  <a:cubicBezTo>
                    <a:pt x="18" y="40"/>
                    <a:pt x="9" y="20"/>
                    <a:pt x="0" y="0"/>
                  </a:cubicBezTo>
                  <a:cubicBezTo>
                    <a:pt x="6" y="20"/>
                    <a:pt x="13" y="40"/>
                    <a:pt x="22" y="5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7" name="Freeform 33"/>
            <p:cNvSpPr/>
            <p:nvPr/>
          </p:nvSpPr>
          <p:spPr bwMode="auto">
            <a:xfrm>
              <a:off x="7021513" y="3598863"/>
              <a:ext cx="68263" cy="423863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4" y="54"/>
                  </a:moveTo>
                  <a:cubicBezTo>
                    <a:pt x="8" y="72"/>
                    <a:pt x="13" y="89"/>
                    <a:pt x="17" y="107"/>
                  </a:cubicBezTo>
                  <a:cubicBezTo>
                    <a:pt x="14" y="86"/>
                    <a:pt x="12" y="65"/>
                    <a:pt x="10" y="44"/>
                  </a:cubicBezTo>
                  <a:cubicBezTo>
                    <a:pt x="10" y="44"/>
                    <a:pt x="9" y="43"/>
                    <a:pt x="9" y="43"/>
                  </a:cubicBezTo>
                  <a:cubicBezTo>
                    <a:pt x="6" y="29"/>
                    <a:pt x="3" y="14"/>
                    <a:pt x="0" y="0"/>
                  </a:cubicBezTo>
                  <a:cubicBezTo>
                    <a:pt x="0" y="2"/>
                    <a:pt x="0" y="5"/>
                    <a:pt x="0" y="8"/>
                  </a:cubicBezTo>
                  <a:cubicBezTo>
                    <a:pt x="1" y="23"/>
                    <a:pt x="3" y="39"/>
                    <a:pt x="4" y="54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8" name="Freeform 34"/>
            <p:cNvSpPr/>
            <p:nvPr/>
          </p:nvSpPr>
          <p:spPr bwMode="auto">
            <a:xfrm>
              <a:off x="7412038" y="2801938"/>
              <a:ext cx="1168400" cy="2251075"/>
            </a:xfrm>
            <a:custGeom>
              <a:avLst/>
              <a:gdLst/>
              <a:ahLst/>
              <a:cxnLst/>
              <a:rect l="0" t="0" r="r" b="b"/>
              <a:pathLst>
                <a:path w="294" h="568">
                  <a:moveTo>
                    <a:pt x="8" y="553"/>
                  </a:moveTo>
                  <a:cubicBezTo>
                    <a:pt x="9" y="501"/>
                    <a:pt x="19" y="448"/>
                    <a:pt x="35" y="397"/>
                  </a:cubicBezTo>
                  <a:cubicBezTo>
                    <a:pt x="51" y="347"/>
                    <a:pt x="73" y="298"/>
                    <a:pt x="99" y="252"/>
                  </a:cubicBezTo>
                  <a:cubicBezTo>
                    <a:pt x="124" y="205"/>
                    <a:pt x="154" y="161"/>
                    <a:pt x="187" y="119"/>
                  </a:cubicBezTo>
                  <a:cubicBezTo>
                    <a:pt x="203" y="98"/>
                    <a:pt x="220" y="77"/>
                    <a:pt x="238" y="58"/>
                  </a:cubicBezTo>
                  <a:cubicBezTo>
                    <a:pt x="247" y="48"/>
                    <a:pt x="256" y="38"/>
                    <a:pt x="265" y="28"/>
                  </a:cubicBezTo>
                  <a:cubicBezTo>
                    <a:pt x="274" y="19"/>
                    <a:pt x="284" y="9"/>
                    <a:pt x="294" y="0"/>
                  </a:cubicBezTo>
                  <a:cubicBezTo>
                    <a:pt x="293" y="0"/>
                    <a:pt x="293" y="0"/>
                    <a:pt x="293" y="0"/>
                  </a:cubicBezTo>
                  <a:cubicBezTo>
                    <a:pt x="283" y="9"/>
                    <a:pt x="273" y="18"/>
                    <a:pt x="264" y="27"/>
                  </a:cubicBezTo>
                  <a:cubicBezTo>
                    <a:pt x="255" y="37"/>
                    <a:pt x="246" y="47"/>
                    <a:pt x="237" y="56"/>
                  </a:cubicBezTo>
                  <a:cubicBezTo>
                    <a:pt x="218" y="76"/>
                    <a:pt x="201" y="96"/>
                    <a:pt x="185" y="117"/>
                  </a:cubicBezTo>
                  <a:cubicBezTo>
                    <a:pt x="151" y="159"/>
                    <a:pt x="121" y="203"/>
                    <a:pt x="95" y="249"/>
                  </a:cubicBezTo>
                  <a:cubicBezTo>
                    <a:pt x="68" y="296"/>
                    <a:pt x="46" y="345"/>
                    <a:pt x="30" y="396"/>
                  </a:cubicBezTo>
                  <a:cubicBezTo>
                    <a:pt x="13" y="445"/>
                    <a:pt x="3" y="497"/>
                    <a:pt x="0" y="549"/>
                  </a:cubicBezTo>
                  <a:cubicBezTo>
                    <a:pt x="3" y="555"/>
                    <a:pt x="5" y="561"/>
                    <a:pt x="7" y="568"/>
                  </a:cubicBezTo>
                  <a:cubicBezTo>
                    <a:pt x="7" y="563"/>
                    <a:pt x="7" y="558"/>
                    <a:pt x="8" y="55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9" name="Freeform 35"/>
            <p:cNvSpPr/>
            <p:nvPr/>
          </p:nvSpPr>
          <p:spPr bwMode="auto">
            <a:xfrm>
              <a:off x="7494588" y="5664200"/>
              <a:ext cx="100013" cy="209550"/>
            </a:xfrm>
            <a:custGeom>
              <a:avLst/>
              <a:gdLst/>
              <a:ahLst/>
              <a:cxnLst/>
              <a:rect l="0" t="0" r="r" b="b"/>
              <a:pathLst>
                <a:path w="25" h="53">
                  <a:moveTo>
                    <a:pt x="0" y="0"/>
                  </a:moveTo>
                  <a:cubicBezTo>
                    <a:pt x="5" y="18"/>
                    <a:pt x="12" y="36"/>
                    <a:pt x="19" y="53"/>
                  </a:cubicBezTo>
                  <a:cubicBezTo>
                    <a:pt x="25" y="53"/>
                    <a:pt x="25" y="53"/>
                    <a:pt x="25" y="53"/>
                  </a:cubicBezTo>
                  <a:cubicBezTo>
                    <a:pt x="16" y="36"/>
                    <a:pt x="8" y="18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0" name="Freeform 36"/>
            <p:cNvSpPr/>
            <p:nvPr/>
          </p:nvSpPr>
          <p:spPr bwMode="auto">
            <a:xfrm>
              <a:off x="7412038" y="5081588"/>
              <a:ext cx="114300" cy="558800"/>
            </a:xfrm>
            <a:custGeom>
              <a:avLst/>
              <a:gdLst/>
              <a:ahLst/>
              <a:cxnLst/>
              <a:rect l="0" t="0" r="r" b="b"/>
              <a:pathLst>
                <a:path w="29" h="141">
                  <a:moveTo>
                    <a:pt x="0" y="0"/>
                  </a:moveTo>
                  <a:cubicBezTo>
                    <a:pt x="0" y="30"/>
                    <a:pt x="2" y="60"/>
                    <a:pt x="7" y="89"/>
                  </a:cubicBezTo>
                  <a:cubicBezTo>
                    <a:pt x="11" y="98"/>
                    <a:pt x="14" y="108"/>
                    <a:pt x="18" y="117"/>
                  </a:cubicBezTo>
                  <a:cubicBezTo>
                    <a:pt x="22" y="125"/>
                    <a:pt x="25" y="133"/>
                    <a:pt x="29" y="141"/>
                  </a:cubicBezTo>
                  <a:cubicBezTo>
                    <a:pt x="28" y="139"/>
                    <a:pt x="28" y="137"/>
                    <a:pt x="27" y="135"/>
                  </a:cubicBezTo>
                  <a:cubicBezTo>
                    <a:pt x="16" y="98"/>
                    <a:pt x="10" y="60"/>
                    <a:pt x="8" y="22"/>
                  </a:cubicBezTo>
                  <a:cubicBezTo>
                    <a:pt x="7" y="18"/>
                    <a:pt x="5" y="15"/>
                    <a:pt x="4" y="11"/>
                  </a:cubicBezTo>
                  <a:cubicBezTo>
                    <a:pt x="2" y="7"/>
                    <a:pt x="1" y="3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1" name="Freeform 37"/>
            <p:cNvSpPr/>
            <p:nvPr/>
          </p:nvSpPr>
          <p:spPr bwMode="auto">
            <a:xfrm>
              <a:off x="7412038" y="4978400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0" y="26"/>
                  </a:moveTo>
                  <a:cubicBezTo>
                    <a:pt x="1" y="29"/>
                    <a:pt x="2" y="33"/>
                    <a:pt x="4" y="37"/>
                  </a:cubicBezTo>
                  <a:cubicBezTo>
                    <a:pt x="5" y="41"/>
                    <a:pt x="7" y="44"/>
                    <a:pt x="8" y="48"/>
                  </a:cubicBezTo>
                  <a:cubicBezTo>
                    <a:pt x="7" y="38"/>
                    <a:pt x="7" y="28"/>
                    <a:pt x="7" y="19"/>
                  </a:cubicBezTo>
                  <a:cubicBezTo>
                    <a:pt x="5" y="12"/>
                    <a:pt x="3" y="6"/>
                    <a:pt x="0" y="0"/>
                  </a:cubicBezTo>
                  <a:cubicBezTo>
                    <a:pt x="0" y="1"/>
                    <a:pt x="0" y="3"/>
                    <a:pt x="0" y="4"/>
                  </a:cubicBezTo>
                  <a:cubicBezTo>
                    <a:pt x="0" y="11"/>
                    <a:pt x="0" y="19"/>
                    <a:pt x="0" y="26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2" name="Freeform 38"/>
            <p:cNvSpPr/>
            <p:nvPr/>
          </p:nvSpPr>
          <p:spPr bwMode="auto">
            <a:xfrm>
              <a:off x="7439026" y="5434013"/>
              <a:ext cx="174625" cy="439738"/>
            </a:xfrm>
            <a:custGeom>
              <a:avLst/>
              <a:gdLst/>
              <a:ahLst/>
              <a:cxnLst/>
              <a:rect l="0" t="0" r="r" b="b"/>
              <a:pathLst>
                <a:path w="44" h="111">
                  <a:moveTo>
                    <a:pt x="11" y="28"/>
                  </a:moveTo>
                  <a:cubicBezTo>
                    <a:pt x="7" y="19"/>
                    <a:pt x="4" y="9"/>
                    <a:pt x="0" y="0"/>
                  </a:cubicBezTo>
                  <a:cubicBezTo>
                    <a:pt x="3" y="16"/>
                    <a:pt x="7" y="33"/>
                    <a:pt x="11" y="49"/>
                  </a:cubicBezTo>
                  <a:cubicBezTo>
                    <a:pt x="12" y="52"/>
                    <a:pt x="13" y="55"/>
                    <a:pt x="14" y="58"/>
                  </a:cubicBezTo>
                  <a:cubicBezTo>
                    <a:pt x="22" y="76"/>
                    <a:pt x="30" y="94"/>
                    <a:pt x="39" y="111"/>
                  </a:cubicBezTo>
                  <a:cubicBezTo>
                    <a:pt x="44" y="111"/>
                    <a:pt x="44" y="111"/>
                    <a:pt x="44" y="111"/>
                  </a:cubicBezTo>
                  <a:cubicBezTo>
                    <a:pt x="35" y="92"/>
                    <a:pt x="28" y="72"/>
                    <a:pt x="22" y="52"/>
                  </a:cubicBezTo>
                  <a:cubicBezTo>
                    <a:pt x="18" y="44"/>
                    <a:pt x="15" y="36"/>
                    <a:pt x="11" y="28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</p:grpSp>
      <p:sp>
        <p:nvSpPr>
          <p:cNvPr id="7" name="Rectangle 6"/>
          <p:cNvSpPr/>
          <p:nvPr/>
        </p:nvSpPr>
        <p:spPr>
          <a:xfrm>
            <a:off x="0" y="0"/>
            <a:ext cx="182880" cy="6858000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592924" y="624110"/>
            <a:ext cx="8911687" cy="128089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it-IT"/>
              <a:t>Fare clic per modificare lo stile del titolo dello schema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2133600"/>
            <a:ext cx="8915400" cy="38862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it-IT"/>
              <a:t>Modifica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361612" y="6130437"/>
            <a:ext cx="1146283" cy="37039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/>
              <a:t>10/31/2017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589212" y="6135808"/>
            <a:ext cx="76199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it-IT"/>
              <a:t>Architettura dei Sistemi di Elaborazione – Tutorato                                                     Anno accademico 2017/2018             Andrea Strazzulla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531812" y="787782"/>
            <a:ext cx="77976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000">
                <a:solidFill>
                  <a:srgbClr val="FEFFFF"/>
                </a:solidFill>
              </a:defRPr>
            </a:lvl1pPr>
          </a:lstStyle>
          <a:p>
            <a:fld id="{D57F1E4F-1CFF-5643-939E-217C01CDF565}" type="slidenum">
              <a:rPr lang="en-US" dirty="0"/>
              <a:pPr/>
              <a:t>‹N›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60" r:id="rId10"/>
    <p:sldLayoutId id="2147483661" r:id="rId11"/>
    <p:sldLayoutId id="2147483662" r:id="rId12"/>
    <p:sldLayoutId id="2147483663" r:id="rId13"/>
    <p:sldLayoutId id="2147483664" r:id="rId14"/>
    <p:sldLayoutId id="2147483658" r:id="rId15"/>
    <p:sldLayoutId id="2147483659" r:id="rId16"/>
  </p:sldLayoutIdLst>
  <p:hf hdr="0"/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tx1">
              <a:lumMod val="85000"/>
              <a:lumOff val="15000"/>
            </a:schemeClr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8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gif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96B3DABE-A298-4397-9F97-98977AB98683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it-IT" dirty="0"/>
              <a:t>ESERCITAZIONE 2</a:t>
            </a:r>
          </a:p>
        </p:txBody>
      </p:sp>
      <p:sp>
        <p:nvSpPr>
          <p:cNvPr id="3" name="Sottotitolo 2">
            <a:extLst>
              <a:ext uri="{FF2B5EF4-FFF2-40B4-BE49-F238E27FC236}">
                <a16:creationId xmlns:a16="http://schemas.microsoft.com/office/drawing/2014/main" id="{C67F4023-4F77-422E-8EFF-970ACFA4FB6F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 lnSpcReduction="10000"/>
          </a:bodyPr>
          <a:lstStyle/>
          <a:p>
            <a:r>
              <a:rPr lang="it-IT" b="1" dirty="0"/>
              <a:t>Algebre di Boole e funzioni logiche</a:t>
            </a:r>
          </a:p>
          <a:p>
            <a:r>
              <a:rPr lang="it-IT" b="1" dirty="0"/>
              <a:t>Circuiti combinatori e sequenziali</a:t>
            </a:r>
          </a:p>
          <a:p>
            <a:r>
              <a:rPr lang="it-IT" b="1" dirty="0"/>
              <a:t>Codici di correzione di errore</a:t>
            </a:r>
            <a:endParaRPr lang="it-IT" dirty="0"/>
          </a:p>
          <a:p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336131116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56BDDE03-C3A9-48A6-80A4-B499442396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b="1" dirty="0"/>
              <a:t>Algebre di Boole e funzioni logiche</a:t>
            </a:r>
          </a:p>
        </p:txBody>
      </p:sp>
      <p:sp>
        <p:nvSpPr>
          <p:cNvPr id="4" name="Segnaposto piè di pagina 3">
            <a:extLst>
              <a:ext uri="{FF2B5EF4-FFF2-40B4-BE49-F238E27FC236}">
                <a16:creationId xmlns:a16="http://schemas.microsoft.com/office/drawing/2014/main" id="{99D0DC79-0BE5-41A4-931B-F0C62E60A6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it-IT"/>
              <a:t>Architettura dei Sistemi di Elaborazione – Tutorato                                                     Anno accademico 2017/2018             Andrea Strazzulla</a:t>
            </a:r>
            <a:endParaRPr lang="en-US" dirty="0"/>
          </a:p>
        </p:txBody>
      </p:sp>
      <p:sp>
        <p:nvSpPr>
          <p:cNvPr id="5" name="Segnaposto numero diapositiva 4">
            <a:extLst>
              <a:ext uri="{FF2B5EF4-FFF2-40B4-BE49-F238E27FC236}">
                <a16:creationId xmlns:a16="http://schemas.microsoft.com/office/drawing/2014/main" id="{DA4081DC-CB2C-496B-A802-4343CF1CF0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2</a:t>
            </a:fld>
            <a:endParaRPr lang="en-US" dirty="0"/>
          </a:p>
        </p:txBody>
      </p:sp>
      <p:sp>
        <p:nvSpPr>
          <p:cNvPr id="7" name="Segnaposto data 6">
            <a:extLst>
              <a:ext uri="{FF2B5EF4-FFF2-40B4-BE49-F238E27FC236}">
                <a16:creationId xmlns:a16="http://schemas.microsoft.com/office/drawing/2014/main" id="{382E2FD2-DA8E-40E1-AFCE-BF3C577E7E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it-IT"/>
              <a:t>13/11/2017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9495134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9D188ADF-BCFE-4A6C-9415-75DB8285E4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it-IT" b="1" dirty="0"/>
              <a:t>Algebre di Boole e funzioni logiche (1)</a:t>
            </a:r>
            <a:endParaRPr lang="it-IT" dirty="0"/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83B7E7EA-E401-44AE-8301-9E4D33A766C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89212" y="2133600"/>
            <a:ext cx="8915400" cy="644667"/>
          </a:xfrm>
        </p:spPr>
        <p:txBody>
          <a:bodyPr/>
          <a:lstStyle/>
          <a:p>
            <a:pPr marL="0" indent="0">
              <a:buNone/>
            </a:pPr>
            <a:r>
              <a:rPr lang="it-IT" b="1" dirty="0"/>
              <a:t>1) Rappresentare le funzioni logiche F e G in termini delle </a:t>
            </a:r>
            <a:r>
              <a:rPr lang="it-IT" b="1"/>
              <a:t>variabili A, B e C, </a:t>
            </a:r>
            <a:r>
              <a:rPr lang="it-IT" b="1" dirty="0"/>
              <a:t>in forma normale congiuntiva e disgiuntiva e poi con solo operazioni NOR:</a:t>
            </a:r>
            <a:endParaRPr lang="it-IT" dirty="0"/>
          </a:p>
        </p:txBody>
      </p:sp>
      <p:sp>
        <p:nvSpPr>
          <p:cNvPr id="4" name="Segnaposto piè di pagina 3">
            <a:extLst>
              <a:ext uri="{FF2B5EF4-FFF2-40B4-BE49-F238E27FC236}">
                <a16:creationId xmlns:a16="http://schemas.microsoft.com/office/drawing/2014/main" id="{9C1D3600-249A-4110-9654-D84371F706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it-IT" dirty="0"/>
              <a:t>Architettura dei Sistemi di Elaborazione – Tutorato                                                     Anno accademico 2017/2018             Andrea </a:t>
            </a:r>
            <a:r>
              <a:rPr lang="it-IT" dirty="0" err="1"/>
              <a:t>Strazzulla</a:t>
            </a:r>
            <a:endParaRPr lang="en-US" dirty="0"/>
          </a:p>
        </p:txBody>
      </p:sp>
      <p:sp>
        <p:nvSpPr>
          <p:cNvPr id="5" name="Segnaposto numero diapositiva 4">
            <a:extLst>
              <a:ext uri="{FF2B5EF4-FFF2-40B4-BE49-F238E27FC236}">
                <a16:creationId xmlns:a16="http://schemas.microsoft.com/office/drawing/2014/main" id="{9793DC44-B2D4-4B97-937D-AAA8A02794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3</a:t>
            </a:fld>
            <a:endParaRPr lang="en-US" dirty="0"/>
          </a:p>
        </p:txBody>
      </p:sp>
      <p:graphicFrame>
        <p:nvGraphicFramePr>
          <p:cNvPr id="6" name="Tabella 5">
            <a:extLst>
              <a:ext uri="{FF2B5EF4-FFF2-40B4-BE49-F238E27FC236}">
                <a16:creationId xmlns:a16="http://schemas.microsoft.com/office/drawing/2014/main" id="{E457CB40-AD6A-468D-97F1-A45EC46135C7}"/>
              </a:ext>
            </a:extLst>
          </p:cNvPr>
          <p:cNvGraphicFramePr>
            <a:graphicFrameLocks noGrp="1"/>
          </p:cNvGraphicFramePr>
          <p:nvPr>
            <p:extLst/>
          </p:nvPr>
        </p:nvGraphicFramePr>
        <p:xfrm>
          <a:off x="2982912" y="2778267"/>
          <a:ext cx="6417760" cy="283646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83552">
                  <a:extLst>
                    <a:ext uri="{9D8B030D-6E8A-4147-A177-3AD203B41FA5}">
                      <a16:colId xmlns:a16="http://schemas.microsoft.com/office/drawing/2014/main" val="3598827600"/>
                    </a:ext>
                  </a:extLst>
                </a:gridCol>
                <a:gridCol w="1283552">
                  <a:extLst>
                    <a:ext uri="{9D8B030D-6E8A-4147-A177-3AD203B41FA5}">
                      <a16:colId xmlns:a16="http://schemas.microsoft.com/office/drawing/2014/main" val="3039126238"/>
                    </a:ext>
                  </a:extLst>
                </a:gridCol>
                <a:gridCol w="1283552">
                  <a:extLst>
                    <a:ext uri="{9D8B030D-6E8A-4147-A177-3AD203B41FA5}">
                      <a16:colId xmlns:a16="http://schemas.microsoft.com/office/drawing/2014/main" val="3828136975"/>
                    </a:ext>
                  </a:extLst>
                </a:gridCol>
                <a:gridCol w="1283552">
                  <a:extLst>
                    <a:ext uri="{9D8B030D-6E8A-4147-A177-3AD203B41FA5}">
                      <a16:colId xmlns:a16="http://schemas.microsoft.com/office/drawing/2014/main" val="2298993972"/>
                    </a:ext>
                  </a:extLst>
                </a:gridCol>
                <a:gridCol w="1283552">
                  <a:extLst>
                    <a:ext uri="{9D8B030D-6E8A-4147-A177-3AD203B41FA5}">
                      <a16:colId xmlns:a16="http://schemas.microsoft.com/office/drawing/2014/main" val="1194895185"/>
                    </a:ext>
                  </a:extLst>
                </a:gridCol>
              </a:tblGrid>
              <a:tr h="315163">
                <a:tc>
                  <a:txBody>
                    <a:bodyPr/>
                    <a:lstStyle/>
                    <a:p>
                      <a:pPr algn="ctr" rtl="0">
                        <a:lnSpc>
                          <a:spcPct val="120000"/>
                        </a:lnSpc>
                      </a:pPr>
                      <a:r>
                        <a:rPr lang="it-IT" sz="1200" b="1" dirty="0">
                          <a:effectLst/>
                          <a:latin typeface="Times New Roman, serif"/>
                        </a:rPr>
                        <a:t>A</a:t>
                      </a:r>
                      <a:endParaRPr lang="it-IT" dirty="0">
                        <a:effectLst/>
                      </a:endParaRPr>
                    </a:p>
                  </a:txBody>
                  <a:tcPr marL="38100" marR="38100" marT="38100" marB="38100"/>
                </a:tc>
                <a:tc>
                  <a:txBody>
                    <a:bodyPr/>
                    <a:lstStyle/>
                    <a:p>
                      <a:pPr algn="ctr" rtl="0">
                        <a:lnSpc>
                          <a:spcPct val="120000"/>
                        </a:lnSpc>
                      </a:pPr>
                      <a:r>
                        <a:rPr lang="it-IT" sz="1200" b="1">
                          <a:effectLst/>
                          <a:latin typeface="Times New Roman, serif"/>
                        </a:rPr>
                        <a:t>B</a:t>
                      </a:r>
                      <a:endParaRPr lang="it-IT">
                        <a:effectLst/>
                      </a:endParaRPr>
                    </a:p>
                  </a:txBody>
                  <a:tcPr marL="38100" marR="38100" marT="38100" marB="38100"/>
                </a:tc>
                <a:tc>
                  <a:txBody>
                    <a:bodyPr/>
                    <a:lstStyle/>
                    <a:p>
                      <a:pPr algn="ctr" rtl="0">
                        <a:lnSpc>
                          <a:spcPct val="120000"/>
                        </a:lnSpc>
                      </a:pPr>
                      <a:r>
                        <a:rPr lang="it-IT" sz="1200" b="1">
                          <a:effectLst/>
                          <a:latin typeface="Times New Roman, serif"/>
                        </a:rPr>
                        <a:t>C</a:t>
                      </a:r>
                      <a:endParaRPr lang="it-IT">
                        <a:effectLst/>
                      </a:endParaRPr>
                    </a:p>
                  </a:txBody>
                  <a:tcPr marL="38100" marR="38100" marT="38100" marB="38100"/>
                </a:tc>
                <a:tc>
                  <a:txBody>
                    <a:bodyPr/>
                    <a:lstStyle/>
                    <a:p>
                      <a:pPr algn="ctr" rtl="0">
                        <a:lnSpc>
                          <a:spcPct val="120000"/>
                        </a:lnSpc>
                      </a:pPr>
                      <a:r>
                        <a:rPr lang="it-IT" sz="1200" b="1">
                          <a:effectLst/>
                          <a:latin typeface="Times New Roman, serif"/>
                        </a:rPr>
                        <a:t>F</a:t>
                      </a:r>
                      <a:endParaRPr lang="it-IT">
                        <a:effectLst/>
                      </a:endParaRPr>
                    </a:p>
                  </a:txBody>
                  <a:tcPr marL="38100" marR="38100" marT="38100" marB="38100"/>
                </a:tc>
                <a:tc>
                  <a:txBody>
                    <a:bodyPr/>
                    <a:lstStyle/>
                    <a:p>
                      <a:pPr algn="ctr" rtl="0">
                        <a:lnSpc>
                          <a:spcPct val="120000"/>
                        </a:lnSpc>
                      </a:pPr>
                      <a:r>
                        <a:rPr lang="it-IT" sz="1200" b="1">
                          <a:effectLst/>
                          <a:latin typeface="Times New Roman, serif"/>
                        </a:rPr>
                        <a:t>G</a:t>
                      </a:r>
                      <a:endParaRPr lang="it-IT">
                        <a:effectLst/>
                      </a:endParaRPr>
                    </a:p>
                  </a:txBody>
                  <a:tcPr marL="38100" marR="38100" marT="38100" marB="38100"/>
                </a:tc>
                <a:extLst>
                  <a:ext uri="{0D108BD9-81ED-4DB2-BD59-A6C34878D82A}">
                    <a16:rowId xmlns:a16="http://schemas.microsoft.com/office/drawing/2014/main" val="2534611843"/>
                  </a:ext>
                </a:extLst>
              </a:tr>
              <a:tr h="315163">
                <a:tc>
                  <a:txBody>
                    <a:bodyPr/>
                    <a:lstStyle/>
                    <a:p>
                      <a:pPr algn="ctr" rtl="0">
                        <a:lnSpc>
                          <a:spcPct val="120000"/>
                        </a:lnSpc>
                      </a:pPr>
                      <a:r>
                        <a:rPr lang="it-IT" sz="1200">
                          <a:effectLst/>
                          <a:latin typeface="Times New Roman, serif"/>
                        </a:rPr>
                        <a:t>0</a:t>
                      </a:r>
                      <a:endParaRPr lang="it-IT">
                        <a:effectLst/>
                      </a:endParaRPr>
                    </a:p>
                  </a:txBody>
                  <a:tcPr marL="38100" marR="38100" marT="38100" marB="38100"/>
                </a:tc>
                <a:tc>
                  <a:txBody>
                    <a:bodyPr/>
                    <a:lstStyle/>
                    <a:p>
                      <a:pPr algn="ctr" rtl="0">
                        <a:lnSpc>
                          <a:spcPct val="120000"/>
                        </a:lnSpc>
                      </a:pPr>
                      <a:r>
                        <a:rPr lang="it-IT" sz="1200">
                          <a:effectLst/>
                          <a:latin typeface="Times New Roman, serif"/>
                        </a:rPr>
                        <a:t>0</a:t>
                      </a:r>
                      <a:endParaRPr lang="it-IT">
                        <a:effectLst/>
                      </a:endParaRPr>
                    </a:p>
                  </a:txBody>
                  <a:tcPr marL="38100" marR="38100" marT="38100" marB="38100"/>
                </a:tc>
                <a:tc>
                  <a:txBody>
                    <a:bodyPr/>
                    <a:lstStyle/>
                    <a:p>
                      <a:pPr algn="ctr" rtl="0">
                        <a:lnSpc>
                          <a:spcPct val="120000"/>
                        </a:lnSpc>
                      </a:pPr>
                      <a:r>
                        <a:rPr lang="it-IT" sz="1200">
                          <a:effectLst/>
                          <a:latin typeface="Times New Roman, serif"/>
                        </a:rPr>
                        <a:t>0</a:t>
                      </a:r>
                      <a:endParaRPr lang="it-IT">
                        <a:effectLst/>
                      </a:endParaRPr>
                    </a:p>
                  </a:txBody>
                  <a:tcPr marL="38100" marR="38100" marT="38100" marB="38100"/>
                </a:tc>
                <a:tc>
                  <a:txBody>
                    <a:bodyPr/>
                    <a:lstStyle/>
                    <a:p>
                      <a:pPr algn="ctr" rtl="0">
                        <a:lnSpc>
                          <a:spcPct val="120000"/>
                        </a:lnSpc>
                      </a:pPr>
                      <a:r>
                        <a:rPr lang="it-IT" sz="1200">
                          <a:effectLst/>
                          <a:latin typeface="Times New Roman, serif"/>
                        </a:rPr>
                        <a:t>1</a:t>
                      </a:r>
                      <a:endParaRPr lang="it-IT">
                        <a:effectLst/>
                      </a:endParaRPr>
                    </a:p>
                  </a:txBody>
                  <a:tcPr marL="38100" marR="38100" marT="38100" marB="38100"/>
                </a:tc>
                <a:tc>
                  <a:txBody>
                    <a:bodyPr/>
                    <a:lstStyle/>
                    <a:p>
                      <a:pPr algn="ctr" rtl="0">
                        <a:lnSpc>
                          <a:spcPct val="120000"/>
                        </a:lnSpc>
                      </a:pPr>
                      <a:r>
                        <a:rPr lang="it-IT" sz="1200">
                          <a:effectLst/>
                          <a:latin typeface="Times New Roman, serif"/>
                        </a:rPr>
                        <a:t>0</a:t>
                      </a:r>
                      <a:endParaRPr lang="it-IT">
                        <a:effectLst/>
                      </a:endParaRPr>
                    </a:p>
                  </a:txBody>
                  <a:tcPr marL="38100" marR="38100" marT="38100" marB="38100"/>
                </a:tc>
                <a:extLst>
                  <a:ext uri="{0D108BD9-81ED-4DB2-BD59-A6C34878D82A}">
                    <a16:rowId xmlns:a16="http://schemas.microsoft.com/office/drawing/2014/main" val="2391603627"/>
                  </a:ext>
                </a:extLst>
              </a:tr>
              <a:tr h="315163">
                <a:tc>
                  <a:txBody>
                    <a:bodyPr/>
                    <a:lstStyle/>
                    <a:p>
                      <a:pPr algn="ctr" rtl="0">
                        <a:lnSpc>
                          <a:spcPct val="120000"/>
                        </a:lnSpc>
                      </a:pPr>
                      <a:r>
                        <a:rPr lang="it-IT" sz="1200">
                          <a:effectLst/>
                          <a:latin typeface="Times New Roman, serif"/>
                        </a:rPr>
                        <a:t>0</a:t>
                      </a:r>
                      <a:endParaRPr lang="it-IT">
                        <a:effectLst/>
                      </a:endParaRPr>
                    </a:p>
                  </a:txBody>
                  <a:tcPr marL="38100" marR="38100" marT="38100" marB="38100"/>
                </a:tc>
                <a:tc>
                  <a:txBody>
                    <a:bodyPr/>
                    <a:lstStyle/>
                    <a:p>
                      <a:pPr algn="ctr" rtl="0">
                        <a:lnSpc>
                          <a:spcPct val="120000"/>
                        </a:lnSpc>
                      </a:pPr>
                      <a:r>
                        <a:rPr lang="it-IT" sz="1200">
                          <a:effectLst/>
                          <a:latin typeface="Times New Roman, serif"/>
                        </a:rPr>
                        <a:t>0</a:t>
                      </a:r>
                      <a:endParaRPr lang="it-IT">
                        <a:effectLst/>
                      </a:endParaRPr>
                    </a:p>
                  </a:txBody>
                  <a:tcPr marL="38100" marR="38100" marT="38100" marB="38100"/>
                </a:tc>
                <a:tc>
                  <a:txBody>
                    <a:bodyPr/>
                    <a:lstStyle/>
                    <a:p>
                      <a:pPr algn="ctr" rtl="0">
                        <a:lnSpc>
                          <a:spcPct val="120000"/>
                        </a:lnSpc>
                      </a:pPr>
                      <a:r>
                        <a:rPr lang="it-IT" sz="1200">
                          <a:effectLst/>
                          <a:latin typeface="Times New Roman, serif"/>
                        </a:rPr>
                        <a:t>1</a:t>
                      </a:r>
                      <a:endParaRPr lang="it-IT">
                        <a:effectLst/>
                      </a:endParaRPr>
                    </a:p>
                  </a:txBody>
                  <a:tcPr marL="38100" marR="38100" marT="38100" marB="38100"/>
                </a:tc>
                <a:tc>
                  <a:txBody>
                    <a:bodyPr/>
                    <a:lstStyle/>
                    <a:p>
                      <a:pPr algn="ctr" rtl="0">
                        <a:lnSpc>
                          <a:spcPct val="120000"/>
                        </a:lnSpc>
                      </a:pPr>
                      <a:r>
                        <a:rPr lang="it-IT" sz="1200">
                          <a:effectLst/>
                          <a:latin typeface="Times New Roman, serif"/>
                        </a:rPr>
                        <a:t>0</a:t>
                      </a:r>
                      <a:endParaRPr lang="it-IT">
                        <a:effectLst/>
                      </a:endParaRPr>
                    </a:p>
                  </a:txBody>
                  <a:tcPr marL="38100" marR="38100" marT="38100" marB="38100"/>
                </a:tc>
                <a:tc>
                  <a:txBody>
                    <a:bodyPr/>
                    <a:lstStyle/>
                    <a:p>
                      <a:pPr algn="ctr" rtl="0">
                        <a:lnSpc>
                          <a:spcPct val="120000"/>
                        </a:lnSpc>
                      </a:pPr>
                      <a:r>
                        <a:rPr lang="it-IT" sz="1200">
                          <a:effectLst/>
                          <a:latin typeface="Times New Roman, serif"/>
                        </a:rPr>
                        <a:t>0</a:t>
                      </a:r>
                      <a:endParaRPr lang="it-IT">
                        <a:effectLst/>
                      </a:endParaRPr>
                    </a:p>
                  </a:txBody>
                  <a:tcPr marL="38100" marR="38100" marT="38100" marB="38100"/>
                </a:tc>
                <a:extLst>
                  <a:ext uri="{0D108BD9-81ED-4DB2-BD59-A6C34878D82A}">
                    <a16:rowId xmlns:a16="http://schemas.microsoft.com/office/drawing/2014/main" val="2342947703"/>
                  </a:ext>
                </a:extLst>
              </a:tr>
              <a:tr h="315163">
                <a:tc>
                  <a:txBody>
                    <a:bodyPr/>
                    <a:lstStyle/>
                    <a:p>
                      <a:pPr algn="ctr" rtl="0">
                        <a:lnSpc>
                          <a:spcPct val="120000"/>
                        </a:lnSpc>
                      </a:pPr>
                      <a:r>
                        <a:rPr lang="it-IT" sz="1200">
                          <a:effectLst/>
                          <a:latin typeface="Times New Roman, serif"/>
                        </a:rPr>
                        <a:t>0</a:t>
                      </a:r>
                      <a:endParaRPr lang="it-IT">
                        <a:effectLst/>
                      </a:endParaRPr>
                    </a:p>
                  </a:txBody>
                  <a:tcPr marL="38100" marR="38100" marT="38100" marB="38100"/>
                </a:tc>
                <a:tc>
                  <a:txBody>
                    <a:bodyPr/>
                    <a:lstStyle/>
                    <a:p>
                      <a:pPr algn="ctr" rtl="0">
                        <a:lnSpc>
                          <a:spcPct val="120000"/>
                        </a:lnSpc>
                      </a:pPr>
                      <a:r>
                        <a:rPr lang="it-IT" sz="1200">
                          <a:effectLst/>
                          <a:latin typeface="Times New Roman, serif"/>
                        </a:rPr>
                        <a:t>1</a:t>
                      </a:r>
                      <a:endParaRPr lang="it-IT">
                        <a:effectLst/>
                      </a:endParaRPr>
                    </a:p>
                  </a:txBody>
                  <a:tcPr marL="38100" marR="38100" marT="38100" marB="38100"/>
                </a:tc>
                <a:tc>
                  <a:txBody>
                    <a:bodyPr/>
                    <a:lstStyle/>
                    <a:p>
                      <a:pPr algn="ctr" rtl="0">
                        <a:lnSpc>
                          <a:spcPct val="120000"/>
                        </a:lnSpc>
                      </a:pPr>
                      <a:r>
                        <a:rPr lang="it-IT" sz="1200">
                          <a:effectLst/>
                          <a:latin typeface="Times New Roman, serif"/>
                        </a:rPr>
                        <a:t>0</a:t>
                      </a:r>
                      <a:endParaRPr lang="it-IT">
                        <a:effectLst/>
                      </a:endParaRPr>
                    </a:p>
                  </a:txBody>
                  <a:tcPr marL="38100" marR="38100" marT="38100" marB="38100"/>
                </a:tc>
                <a:tc>
                  <a:txBody>
                    <a:bodyPr/>
                    <a:lstStyle/>
                    <a:p>
                      <a:pPr algn="ctr" rtl="0">
                        <a:lnSpc>
                          <a:spcPct val="120000"/>
                        </a:lnSpc>
                      </a:pPr>
                      <a:r>
                        <a:rPr lang="it-IT" sz="1200">
                          <a:effectLst/>
                          <a:latin typeface="Times New Roman, serif"/>
                        </a:rPr>
                        <a:t>0</a:t>
                      </a:r>
                      <a:endParaRPr lang="it-IT">
                        <a:effectLst/>
                      </a:endParaRPr>
                    </a:p>
                  </a:txBody>
                  <a:tcPr marL="38100" marR="38100" marT="38100" marB="38100"/>
                </a:tc>
                <a:tc>
                  <a:txBody>
                    <a:bodyPr/>
                    <a:lstStyle/>
                    <a:p>
                      <a:pPr algn="ctr" rtl="0">
                        <a:lnSpc>
                          <a:spcPct val="120000"/>
                        </a:lnSpc>
                      </a:pPr>
                      <a:r>
                        <a:rPr lang="it-IT" sz="1200">
                          <a:effectLst/>
                          <a:latin typeface="Times New Roman, serif"/>
                        </a:rPr>
                        <a:t>0</a:t>
                      </a:r>
                      <a:endParaRPr lang="it-IT">
                        <a:effectLst/>
                      </a:endParaRPr>
                    </a:p>
                  </a:txBody>
                  <a:tcPr marL="38100" marR="38100" marT="38100" marB="38100"/>
                </a:tc>
                <a:extLst>
                  <a:ext uri="{0D108BD9-81ED-4DB2-BD59-A6C34878D82A}">
                    <a16:rowId xmlns:a16="http://schemas.microsoft.com/office/drawing/2014/main" val="4003506386"/>
                  </a:ext>
                </a:extLst>
              </a:tr>
              <a:tr h="315163">
                <a:tc>
                  <a:txBody>
                    <a:bodyPr/>
                    <a:lstStyle/>
                    <a:p>
                      <a:pPr algn="ctr" rtl="0">
                        <a:lnSpc>
                          <a:spcPct val="120000"/>
                        </a:lnSpc>
                      </a:pPr>
                      <a:r>
                        <a:rPr lang="it-IT" sz="1200">
                          <a:effectLst/>
                          <a:latin typeface="Times New Roman, serif"/>
                        </a:rPr>
                        <a:t>0</a:t>
                      </a:r>
                      <a:endParaRPr lang="it-IT">
                        <a:effectLst/>
                      </a:endParaRPr>
                    </a:p>
                  </a:txBody>
                  <a:tcPr marL="38100" marR="38100" marT="38100" marB="38100"/>
                </a:tc>
                <a:tc>
                  <a:txBody>
                    <a:bodyPr/>
                    <a:lstStyle/>
                    <a:p>
                      <a:pPr algn="ctr" rtl="0">
                        <a:lnSpc>
                          <a:spcPct val="120000"/>
                        </a:lnSpc>
                      </a:pPr>
                      <a:r>
                        <a:rPr lang="it-IT" sz="1200">
                          <a:effectLst/>
                          <a:latin typeface="Times New Roman, serif"/>
                        </a:rPr>
                        <a:t>1</a:t>
                      </a:r>
                      <a:endParaRPr lang="it-IT">
                        <a:effectLst/>
                      </a:endParaRPr>
                    </a:p>
                  </a:txBody>
                  <a:tcPr marL="38100" marR="38100" marT="38100" marB="38100"/>
                </a:tc>
                <a:tc>
                  <a:txBody>
                    <a:bodyPr/>
                    <a:lstStyle/>
                    <a:p>
                      <a:pPr algn="ctr" rtl="0">
                        <a:lnSpc>
                          <a:spcPct val="120000"/>
                        </a:lnSpc>
                      </a:pPr>
                      <a:r>
                        <a:rPr lang="it-IT" sz="1200">
                          <a:effectLst/>
                          <a:latin typeface="Times New Roman, serif"/>
                        </a:rPr>
                        <a:t>1</a:t>
                      </a:r>
                      <a:endParaRPr lang="it-IT">
                        <a:effectLst/>
                      </a:endParaRPr>
                    </a:p>
                  </a:txBody>
                  <a:tcPr marL="38100" marR="38100" marT="38100" marB="38100"/>
                </a:tc>
                <a:tc>
                  <a:txBody>
                    <a:bodyPr/>
                    <a:lstStyle/>
                    <a:p>
                      <a:pPr algn="ctr" rtl="0">
                        <a:lnSpc>
                          <a:spcPct val="120000"/>
                        </a:lnSpc>
                      </a:pPr>
                      <a:r>
                        <a:rPr lang="it-IT" sz="1200">
                          <a:effectLst/>
                          <a:latin typeface="Times New Roman, serif"/>
                        </a:rPr>
                        <a:t>0</a:t>
                      </a:r>
                      <a:endParaRPr lang="it-IT">
                        <a:effectLst/>
                      </a:endParaRPr>
                    </a:p>
                  </a:txBody>
                  <a:tcPr marL="38100" marR="38100" marT="38100" marB="38100"/>
                </a:tc>
                <a:tc>
                  <a:txBody>
                    <a:bodyPr/>
                    <a:lstStyle/>
                    <a:p>
                      <a:pPr algn="ctr" rtl="0">
                        <a:lnSpc>
                          <a:spcPct val="120000"/>
                        </a:lnSpc>
                      </a:pPr>
                      <a:r>
                        <a:rPr lang="it-IT" sz="1200">
                          <a:effectLst/>
                          <a:latin typeface="Times New Roman, serif"/>
                        </a:rPr>
                        <a:t>0</a:t>
                      </a:r>
                      <a:endParaRPr lang="it-IT">
                        <a:effectLst/>
                      </a:endParaRPr>
                    </a:p>
                  </a:txBody>
                  <a:tcPr marL="38100" marR="38100" marT="38100" marB="38100"/>
                </a:tc>
                <a:extLst>
                  <a:ext uri="{0D108BD9-81ED-4DB2-BD59-A6C34878D82A}">
                    <a16:rowId xmlns:a16="http://schemas.microsoft.com/office/drawing/2014/main" val="3226740685"/>
                  </a:ext>
                </a:extLst>
              </a:tr>
              <a:tr h="315163">
                <a:tc>
                  <a:txBody>
                    <a:bodyPr/>
                    <a:lstStyle/>
                    <a:p>
                      <a:pPr algn="ctr" rtl="0">
                        <a:lnSpc>
                          <a:spcPct val="120000"/>
                        </a:lnSpc>
                      </a:pPr>
                      <a:r>
                        <a:rPr lang="it-IT" sz="1200">
                          <a:effectLst/>
                          <a:latin typeface="Times New Roman, serif"/>
                        </a:rPr>
                        <a:t>1</a:t>
                      </a:r>
                      <a:endParaRPr lang="it-IT">
                        <a:effectLst/>
                      </a:endParaRPr>
                    </a:p>
                  </a:txBody>
                  <a:tcPr marL="38100" marR="38100" marT="38100" marB="38100"/>
                </a:tc>
                <a:tc>
                  <a:txBody>
                    <a:bodyPr/>
                    <a:lstStyle/>
                    <a:p>
                      <a:pPr algn="ctr" rtl="0">
                        <a:lnSpc>
                          <a:spcPct val="120000"/>
                        </a:lnSpc>
                      </a:pPr>
                      <a:r>
                        <a:rPr lang="it-IT" sz="1200">
                          <a:effectLst/>
                          <a:latin typeface="Times New Roman, serif"/>
                        </a:rPr>
                        <a:t>0</a:t>
                      </a:r>
                      <a:endParaRPr lang="it-IT">
                        <a:effectLst/>
                      </a:endParaRPr>
                    </a:p>
                  </a:txBody>
                  <a:tcPr marL="38100" marR="38100" marT="38100" marB="38100"/>
                </a:tc>
                <a:tc>
                  <a:txBody>
                    <a:bodyPr/>
                    <a:lstStyle/>
                    <a:p>
                      <a:pPr algn="ctr" rtl="0">
                        <a:lnSpc>
                          <a:spcPct val="120000"/>
                        </a:lnSpc>
                      </a:pPr>
                      <a:r>
                        <a:rPr lang="it-IT" sz="1200">
                          <a:effectLst/>
                          <a:latin typeface="Times New Roman, serif"/>
                        </a:rPr>
                        <a:t>0</a:t>
                      </a:r>
                      <a:endParaRPr lang="it-IT">
                        <a:effectLst/>
                      </a:endParaRPr>
                    </a:p>
                  </a:txBody>
                  <a:tcPr marL="38100" marR="38100" marT="38100" marB="38100"/>
                </a:tc>
                <a:tc>
                  <a:txBody>
                    <a:bodyPr/>
                    <a:lstStyle/>
                    <a:p>
                      <a:pPr algn="ctr" rtl="0">
                        <a:lnSpc>
                          <a:spcPct val="120000"/>
                        </a:lnSpc>
                      </a:pPr>
                      <a:r>
                        <a:rPr lang="it-IT" sz="1200">
                          <a:effectLst/>
                          <a:latin typeface="Times New Roman, serif"/>
                        </a:rPr>
                        <a:t>0</a:t>
                      </a:r>
                      <a:endParaRPr lang="it-IT">
                        <a:effectLst/>
                      </a:endParaRPr>
                    </a:p>
                  </a:txBody>
                  <a:tcPr marL="38100" marR="38100" marT="38100" marB="38100"/>
                </a:tc>
                <a:tc>
                  <a:txBody>
                    <a:bodyPr/>
                    <a:lstStyle/>
                    <a:p>
                      <a:pPr algn="ctr" rtl="0">
                        <a:lnSpc>
                          <a:spcPct val="120000"/>
                        </a:lnSpc>
                      </a:pPr>
                      <a:r>
                        <a:rPr lang="it-IT" sz="1200">
                          <a:effectLst/>
                          <a:latin typeface="Times New Roman, serif"/>
                        </a:rPr>
                        <a:t>0</a:t>
                      </a:r>
                      <a:endParaRPr lang="it-IT">
                        <a:effectLst/>
                      </a:endParaRPr>
                    </a:p>
                  </a:txBody>
                  <a:tcPr marL="38100" marR="38100" marT="38100" marB="38100"/>
                </a:tc>
                <a:extLst>
                  <a:ext uri="{0D108BD9-81ED-4DB2-BD59-A6C34878D82A}">
                    <a16:rowId xmlns:a16="http://schemas.microsoft.com/office/drawing/2014/main" val="3961344471"/>
                  </a:ext>
                </a:extLst>
              </a:tr>
              <a:tr h="315163">
                <a:tc>
                  <a:txBody>
                    <a:bodyPr/>
                    <a:lstStyle/>
                    <a:p>
                      <a:pPr algn="ctr" rtl="0">
                        <a:lnSpc>
                          <a:spcPct val="120000"/>
                        </a:lnSpc>
                      </a:pPr>
                      <a:r>
                        <a:rPr lang="it-IT" sz="1200">
                          <a:effectLst/>
                          <a:latin typeface="Times New Roman, serif"/>
                        </a:rPr>
                        <a:t>1</a:t>
                      </a:r>
                      <a:endParaRPr lang="it-IT">
                        <a:effectLst/>
                      </a:endParaRPr>
                    </a:p>
                  </a:txBody>
                  <a:tcPr marL="38100" marR="38100" marT="38100" marB="38100"/>
                </a:tc>
                <a:tc>
                  <a:txBody>
                    <a:bodyPr/>
                    <a:lstStyle/>
                    <a:p>
                      <a:pPr algn="ctr" rtl="0">
                        <a:lnSpc>
                          <a:spcPct val="120000"/>
                        </a:lnSpc>
                      </a:pPr>
                      <a:r>
                        <a:rPr lang="it-IT" sz="1200">
                          <a:effectLst/>
                          <a:latin typeface="Times New Roman, serif"/>
                        </a:rPr>
                        <a:t>0</a:t>
                      </a:r>
                      <a:endParaRPr lang="it-IT">
                        <a:effectLst/>
                      </a:endParaRPr>
                    </a:p>
                  </a:txBody>
                  <a:tcPr marL="38100" marR="38100" marT="38100" marB="38100"/>
                </a:tc>
                <a:tc>
                  <a:txBody>
                    <a:bodyPr/>
                    <a:lstStyle/>
                    <a:p>
                      <a:pPr algn="ctr" rtl="0">
                        <a:lnSpc>
                          <a:spcPct val="120000"/>
                        </a:lnSpc>
                      </a:pPr>
                      <a:r>
                        <a:rPr lang="it-IT" sz="1200">
                          <a:effectLst/>
                          <a:latin typeface="Times New Roman, serif"/>
                        </a:rPr>
                        <a:t>1</a:t>
                      </a:r>
                      <a:endParaRPr lang="it-IT">
                        <a:effectLst/>
                      </a:endParaRPr>
                    </a:p>
                  </a:txBody>
                  <a:tcPr marL="38100" marR="38100" marT="38100" marB="38100"/>
                </a:tc>
                <a:tc>
                  <a:txBody>
                    <a:bodyPr/>
                    <a:lstStyle/>
                    <a:p>
                      <a:pPr algn="ctr" rtl="0">
                        <a:lnSpc>
                          <a:spcPct val="120000"/>
                        </a:lnSpc>
                      </a:pPr>
                      <a:r>
                        <a:rPr lang="it-IT" sz="1200">
                          <a:effectLst/>
                          <a:latin typeface="Times New Roman, serif"/>
                        </a:rPr>
                        <a:t>0</a:t>
                      </a:r>
                      <a:endParaRPr lang="it-IT">
                        <a:effectLst/>
                      </a:endParaRPr>
                    </a:p>
                  </a:txBody>
                  <a:tcPr marL="38100" marR="38100" marT="38100" marB="38100"/>
                </a:tc>
                <a:tc>
                  <a:txBody>
                    <a:bodyPr/>
                    <a:lstStyle/>
                    <a:p>
                      <a:pPr algn="ctr" rtl="0">
                        <a:lnSpc>
                          <a:spcPct val="120000"/>
                        </a:lnSpc>
                      </a:pPr>
                      <a:r>
                        <a:rPr lang="it-IT" sz="1200">
                          <a:effectLst/>
                          <a:latin typeface="Times New Roman, serif"/>
                        </a:rPr>
                        <a:t>0</a:t>
                      </a:r>
                      <a:endParaRPr lang="it-IT">
                        <a:effectLst/>
                      </a:endParaRPr>
                    </a:p>
                  </a:txBody>
                  <a:tcPr marL="38100" marR="38100" marT="38100" marB="38100"/>
                </a:tc>
                <a:extLst>
                  <a:ext uri="{0D108BD9-81ED-4DB2-BD59-A6C34878D82A}">
                    <a16:rowId xmlns:a16="http://schemas.microsoft.com/office/drawing/2014/main" val="3441063293"/>
                  </a:ext>
                </a:extLst>
              </a:tr>
              <a:tr h="315163">
                <a:tc>
                  <a:txBody>
                    <a:bodyPr/>
                    <a:lstStyle/>
                    <a:p>
                      <a:pPr algn="ctr" rtl="0">
                        <a:lnSpc>
                          <a:spcPct val="120000"/>
                        </a:lnSpc>
                      </a:pPr>
                      <a:r>
                        <a:rPr lang="it-IT" sz="1200">
                          <a:effectLst/>
                          <a:latin typeface="Times New Roman, serif"/>
                        </a:rPr>
                        <a:t>1</a:t>
                      </a:r>
                      <a:endParaRPr lang="it-IT">
                        <a:effectLst/>
                      </a:endParaRPr>
                    </a:p>
                  </a:txBody>
                  <a:tcPr marL="38100" marR="38100" marT="38100" marB="38100"/>
                </a:tc>
                <a:tc>
                  <a:txBody>
                    <a:bodyPr/>
                    <a:lstStyle/>
                    <a:p>
                      <a:pPr algn="ctr" rtl="0">
                        <a:lnSpc>
                          <a:spcPct val="120000"/>
                        </a:lnSpc>
                      </a:pPr>
                      <a:r>
                        <a:rPr lang="it-IT" sz="1200">
                          <a:effectLst/>
                          <a:latin typeface="Times New Roman, serif"/>
                        </a:rPr>
                        <a:t>1</a:t>
                      </a:r>
                      <a:endParaRPr lang="it-IT">
                        <a:effectLst/>
                      </a:endParaRPr>
                    </a:p>
                  </a:txBody>
                  <a:tcPr marL="38100" marR="38100" marT="38100" marB="38100"/>
                </a:tc>
                <a:tc>
                  <a:txBody>
                    <a:bodyPr/>
                    <a:lstStyle/>
                    <a:p>
                      <a:pPr algn="ctr" rtl="0">
                        <a:lnSpc>
                          <a:spcPct val="120000"/>
                        </a:lnSpc>
                      </a:pPr>
                      <a:r>
                        <a:rPr lang="it-IT" sz="1200">
                          <a:effectLst/>
                          <a:latin typeface="Times New Roman, serif"/>
                        </a:rPr>
                        <a:t>0</a:t>
                      </a:r>
                      <a:endParaRPr lang="it-IT">
                        <a:effectLst/>
                      </a:endParaRPr>
                    </a:p>
                  </a:txBody>
                  <a:tcPr marL="38100" marR="38100" marT="38100" marB="38100"/>
                </a:tc>
                <a:tc>
                  <a:txBody>
                    <a:bodyPr/>
                    <a:lstStyle/>
                    <a:p>
                      <a:pPr algn="ctr" rtl="0">
                        <a:lnSpc>
                          <a:spcPct val="120000"/>
                        </a:lnSpc>
                      </a:pPr>
                      <a:r>
                        <a:rPr lang="it-IT" sz="1200">
                          <a:effectLst/>
                          <a:latin typeface="Times New Roman, serif"/>
                        </a:rPr>
                        <a:t>0</a:t>
                      </a:r>
                      <a:endParaRPr lang="it-IT">
                        <a:effectLst/>
                      </a:endParaRPr>
                    </a:p>
                  </a:txBody>
                  <a:tcPr marL="38100" marR="38100" marT="38100" marB="38100"/>
                </a:tc>
                <a:tc>
                  <a:txBody>
                    <a:bodyPr/>
                    <a:lstStyle/>
                    <a:p>
                      <a:pPr algn="ctr" rtl="0">
                        <a:lnSpc>
                          <a:spcPct val="120000"/>
                        </a:lnSpc>
                      </a:pPr>
                      <a:r>
                        <a:rPr lang="it-IT" sz="1200">
                          <a:effectLst/>
                          <a:latin typeface="Times New Roman, serif"/>
                        </a:rPr>
                        <a:t>1</a:t>
                      </a:r>
                      <a:endParaRPr lang="it-IT">
                        <a:effectLst/>
                      </a:endParaRPr>
                    </a:p>
                  </a:txBody>
                  <a:tcPr marL="38100" marR="38100" marT="38100" marB="38100"/>
                </a:tc>
                <a:extLst>
                  <a:ext uri="{0D108BD9-81ED-4DB2-BD59-A6C34878D82A}">
                    <a16:rowId xmlns:a16="http://schemas.microsoft.com/office/drawing/2014/main" val="924074813"/>
                  </a:ext>
                </a:extLst>
              </a:tr>
              <a:tr h="315163">
                <a:tc>
                  <a:txBody>
                    <a:bodyPr/>
                    <a:lstStyle/>
                    <a:p>
                      <a:pPr algn="ctr" rtl="0">
                        <a:lnSpc>
                          <a:spcPct val="120000"/>
                        </a:lnSpc>
                      </a:pPr>
                      <a:r>
                        <a:rPr lang="it-IT" sz="1200">
                          <a:effectLst/>
                          <a:latin typeface="Times New Roman, serif"/>
                        </a:rPr>
                        <a:t>1</a:t>
                      </a:r>
                      <a:endParaRPr lang="it-IT">
                        <a:effectLst/>
                      </a:endParaRPr>
                    </a:p>
                  </a:txBody>
                  <a:tcPr marL="38100" marR="38100" marT="38100" marB="38100"/>
                </a:tc>
                <a:tc>
                  <a:txBody>
                    <a:bodyPr/>
                    <a:lstStyle/>
                    <a:p>
                      <a:pPr algn="ctr" rtl="0">
                        <a:lnSpc>
                          <a:spcPct val="120000"/>
                        </a:lnSpc>
                      </a:pPr>
                      <a:r>
                        <a:rPr lang="it-IT" sz="1200">
                          <a:effectLst/>
                          <a:latin typeface="Times New Roman, serif"/>
                        </a:rPr>
                        <a:t>1</a:t>
                      </a:r>
                      <a:endParaRPr lang="it-IT">
                        <a:effectLst/>
                      </a:endParaRPr>
                    </a:p>
                  </a:txBody>
                  <a:tcPr marL="38100" marR="38100" marT="38100" marB="38100"/>
                </a:tc>
                <a:tc>
                  <a:txBody>
                    <a:bodyPr/>
                    <a:lstStyle/>
                    <a:p>
                      <a:pPr algn="ctr" rtl="0">
                        <a:lnSpc>
                          <a:spcPct val="120000"/>
                        </a:lnSpc>
                      </a:pPr>
                      <a:r>
                        <a:rPr lang="it-IT" sz="1200">
                          <a:effectLst/>
                          <a:latin typeface="Times New Roman, serif"/>
                        </a:rPr>
                        <a:t>1</a:t>
                      </a:r>
                      <a:endParaRPr lang="it-IT">
                        <a:effectLst/>
                      </a:endParaRPr>
                    </a:p>
                  </a:txBody>
                  <a:tcPr marL="38100" marR="38100" marT="38100" marB="38100"/>
                </a:tc>
                <a:tc>
                  <a:txBody>
                    <a:bodyPr/>
                    <a:lstStyle/>
                    <a:p>
                      <a:pPr algn="ctr" rtl="0">
                        <a:lnSpc>
                          <a:spcPct val="120000"/>
                        </a:lnSpc>
                      </a:pPr>
                      <a:r>
                        <a:rPr lang="it-IT" sz="1200">
                          <a:effectLst/>
                          <a:latin typeface="Times New Roman, serif"/>
                        </a:rPr>
                        <a:t>1</a:t>
                      </a:r>
                      <a:endParaRPr lang="it-IT">
                        <a:effectLst/>
                      </a:endParaRPr>
                    </a:p>
                  </a:txBody>
                  <a:tcPr marL="38100" marR="38100" marT="38100" marB="38100"/>
                </a:tc>
                <a:tc>
                  <a:txBody>
                    <a:bodyPr/>
                    <a:lstStyle/>
                    <a:p>
                      <a:pPr algn="ctr" rtl="0">
                        <a:lnSpc>
                          <a:spcPct val="120000"/>
                        </a:lnSpc>
                      </a:pPr>
                      <a:r>
                        <a:rPr lang="it-IT" sz="1200" dirty="0">
                          <a:effectLst/>
                          <a:latin typeface="Times New Roman, serif"/>
                        </a:rPr>
                        <a:t>0</a:t>
                      </a:r>
                      <a:endParaRPr lang="it-IT" dirty="0">
                        <a:effectLst/>
                      </a:endParaRPr>
                    </a:p>
                  </a:txBody>
                  <a:tcPr marL="38100" marR="38100" marT="38100" marB="38100"/>
                </a:tc>
                <a:extLst>
                  <a:ext uri="{0D108BD9-81ED-4DB2-BD59-A6C34878D82A}">
                    <a16:rowId xmlns:a16="http://schemas.microsoft.com/office/drawing/2014/main" val="243948192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27249775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E4510FC5-F3CA-4661-80ED-090ED1C868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b="1" dirty="0"/>
              <a:t>Algebre di Boole e funzioni logiche (1)</a:t>
            </a:r>
            <a:br>
              <a:rPr lang="it-IT" b="1" dirty="0"/>
            </a:br>
            <a:r>
              <a:rPr lang="it-IT" b="1" dirty="0"/>
              <a:t>Idea (1)</a:t>
            </a:r>
            <a:endParaRPr lang="it-IT" dirty="0"/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850E6AF9-7E4C-4CE3-B384-142FF4BB8B3D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it-IT" dirty="0"/>
              <a:t>Forma normale disgiuntiva</a:t>
            </a:r>
          </a:p>
          <a:p>
            <a:pPr lvl="1">
              <a:buFont typeface="+mj-lt"/>
              <a:buAutoNum type="arabicPeriod"/>
            </a:pPr>
            <a:r>
              <a:rPr lang="it-IT" dirty="0"/>
              <a:t>Per ogni riga tavola verità con valore 1</a:t>
            </a:r>
          </a:p>
          <a:p>
            <a:pPr lvl="2">
              <a:buFont typeface="+mj-lt"/>
              <a:buAutoNum type="arabicPeriod"/>
            </a:pPr>
            <a:r>
              <a:rPr lang="it-IT" dirty="0"/>
              <a:t>Variabili con valore 0  in forma negata</a:t>
            </a:r>
          </a:p>
          <a:p>
            <a:pPr lvl="2">
              <a:buFont typeface="+mj-lt"/>
              <a:buAutoNum type="arabicPeriod"/>
            </a:pPr>
            <a:r>
              <a:rPr lang="it-IT" dirty="0"/>
              <a:t>Variabili con valore 1  in forma positiva</a:t>
            </a:r>
          </a:p>
          <a:p>
            <a:pPr lvl="2">
              <a:buFont typeface="+mj-lt"/>
              <a:buAutoNum type="arabicPeriod"/>
            </a:pPr>
            <a:r>
              <a:rPr lang="it-IT" dirty="0"/>
              <a:t>Prodotto tra variabili</a:t>
            </a:r>
          </a:p>
          <a:p>
            <a:pPr lvl="1">
              <a:buFont typeface="+mj-lt"/>
              <a:buAutoNum type="arabicPeriod"/>
            </a:pPr>
            <a:r>
              <a:rPr lang="it-IT" dirty="0"/>
              <a:t>Somma espressioni ottenute</a:t>
            </a:r>
          </a:p>
        </p:txBody>
      </p:sp>
      <p:sp>
        <p:nvSpPr>
          <p:cNvPr id="4" name="Segnaposto contenuto 3">
            <a:extLst>
              <a:ext uri="{FF2B5EF4-FFF2-40B4-BE49-F238E27FC236}">
                <a16:creationId xmlns:a16="http://schemas.microsoft.com/office/drawing/2014/main" id="{CBBD9E5B-4D49-44F4-9EE0-B1F5FB706116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r>
              <a:rPr lang="it-IT" dirty="0"/>
              <a:t>Forma normale congiuntiva</a:t>
            </a:r>
          </a:p>
          <a:p>
            <a:pPr lvl="1">
              <a:buFont typeface="+mj-lt"/>
              <a:buAutoNum type="arabicPeriod"/>
            </a:pPr>
            <a:r>
              <a:rPr lang="it-IT" dirty="0"/>
              <a:t>Per ogni riga tavola verità con valore 0</a:t>
            </a:r>
          </a:p>
          <a:p>
            <a:pPr lvl="2">
              <a:buFont typeface="+mj-lt"/>
              <a:buAutoNum type="arabicPeriod"/>
            </a:pPr>
            <a:r>
              <a:rPr lang="it-IT" dirty="0"/>
              <a:t>Variabili con valore 0  in forma positiva</a:t>
            </a:r>
          </a:p>
          <a:p>
            <a:pPr lvl="2">
              <a:buFont typeface="+mj-lt"/>
              <a:buAutoNum type="arabicPeriod"/>
            </a:pPr>
            <a:r>
              <a:rPr lang="it-IT" dirty="0"/>
              <a:t>Variabili con valore 1  in forma negata</a:t>
            </a:r>
          </a:p>
          <a:p>
            <a:pPr lvl="2">
              <a:buFont typeface="+mj-lt"/>
              <a:buAutoNum type="arabicPeriod"/>
            </a:pPr>
            <a:r>
              <a:rPr lang="it-IT" dirty="0"/>
              <a:t>Somma tra variabili</a:t>
            </a:r>
          </a:p>
          <a:p>
            <a:pPr lvl="1">
              <a:buFont typeface="+mj-lt"/>
              <a:buAutoNum type="arabicPeriod"/>
            </a:pPr>
            <a:r>
              <a:rPr lang="it-IT" dirty="0"/>
              <a:t>Prodotto espressioni ottenute</a:t>
            </a:r>
          </a:p>
          <a:p>
            <a:pPr lvl="1">
              <a:buFont typeface="+mj-lt"/>
              <a:buAutoNum type="arabicPeriod"/>
            </a:pPr>
            <a:endParaRPr lang="it-IT" dirty="0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BF9870E2-BE87-49C7-A144-841B401821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it-IT"/>
              <a:t>Architettura dei Sistemi di Elaborazione – Tutorato                                                     Anno accademico 2017/2018             Andrea Strazzulla</a:t>
            </a:r>
            <a:endParaRPr lang="en-US" dirty="0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BE7897D2-04F9-4FAB-A830-A64F76ADD1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2262783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Segnaposto contenuto 10">
            <a:extLst>
              <a:ext uri="{FF2B5EF4-FFF2-40B4-BE49-F238E27FC236}">
                <a16:creationId xmlns:a16="http://schemas.microsoft.com/office/drawing/2014/main" id="{A826870E-D4A9-4AE3-94E7-E35046F1B36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7075250" y="1305913"/>
            <a:ext cx="3929634" cy="4555138"/>
          </a:xfrm>
        </p:spPr>
      </p:pic>
      <p:sp>
        <p:nvSpPr>
          <p:cNvPr id="4" name="Segnaposto testo 3">
            <a:extLst>
              <a:ext uri="{FF2B5EF4-FFF2-40B4-BE49-F238E27FC236}">
                <a16:creationId xmlns:a16="http://schemas.microsoft.com/office/drawing/2014/main" id="{7AA9EC6B-61F8-45CB-B94B-28146EFD9E7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2589212" y="3472590"/>
            <a:ext cx="3505199" cy="775617"/>
          </a:xfrm>
        </p:spPr>
        <p:txBody>
          <a:bodyPr>
            <a:normAutofit/>
          </a:bodyPr>
          <a:lstStyle/>
          <a:p>
            <a:r>
              <a:rPr lang="it-IT" sz="1600" dirty="0"/>
              <a:t>Passare da Forma normale congiuntiva (POS) a Forma NOR</a:t>
            </a:r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F7D5339D-6036-45BC-9A80-3FDE9AD89A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it-IT"/>
              <a:t>Architettura dei Sistemi di Elaborazione – Tutorato                                                     Anno accademico 2017/2018             Andrea Strazzulla</a:t>
            </a:r>
            <a:endParaRPr lang="en-US" dirty="0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488AB6CC-840D-4DB4-B70A-5371078BBB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5</a:t>
            </a:fld>
            <a:endParaRPr lang="en-US" dirty="0"/>
          </a:p>
        </p:txBody>
      </p:sp>
      <p:sp>
        <p:nvSpPr>
          <p:cNvPr id="9" name="Titolo 1">
            <a:extLst>
              <a:ext uri="{FF2B5EF4-FFF2-40B4-BE49-F238E27FC236}">
                <a16:creationId xmlns:a16="http://schemas.microsoft.com/office/drawing/2014/main" id="{556E48C0-DE7E-4D13-8378-DD2DDA226B5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89212" y="180344"/>
            <a:ext cx="8911687" cy="1280890"/>
          </a:xfrm>
        </p:spPr>
        <p:txBody>
          <a:bodyPr>
            <a:normAutofit/>
          </a:bodyPr>
          <a:lstStyle/>
          <a:p>
            <a:r>
              <a:rPr lang="it-IT" sz="3600" b="1" dirty="0"/>
              <a:t>Algebre di Boole e funzioni logiche (1)</a:t>
            </a:r>
            <a:br>
              <a:rPr lang="it-IT" sz="3600" b="1" dirty="0"/>
            </a:br>
            <a:r>
              <a:rPr lang="it-IT" sz="3600" b="1" dirty="0"/>
              <a:t>Idea (2)</a:t>
            </a:r>
            <a:endParaRPr lang="it-IT" sz="3600" dirty="0"/>
          </a:p>
        </p:txBody>
      </p:sp>
    </p:spTree>
    <p:extLst>
      <p:ext uri="{BB962C8B-B14F-4D97-AF65-F5344CB8AC3E}">
        <p14:creationId xmlns:p14="http://schemas.microsoft.com/office/powerpoint/2010/main" val="6907931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0691617F-4494-487F-9DE4-EE9013DCE9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b="1" dirty="0"/>
              <a:t>Algebre di Boole e funzioni logiche (2)</a:t>
            </a:r>
            <a:endParaRPr lang="it-IT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Segnaposto contenuto 2">
                <a:extLst>
                  <a:ext uri="{FF2B5EF4-FFF2-40B4-BE49-F238E27FC236}">
                    <a16:creationId xmlns:a16="http://schemas.microsoft.com/office/drawing/2014/main" id="{01069D96-91CA-4D7E-B961-82C0AF8CAF4B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marL="0" indent="0">
                  <a:buNone/>
                </a:pPr>
                <a:r>
                  <a:rPr lang="it-IT" b="1" dirty="0"/>
                  <a:t>2) Rappresentare in forma minima la funzione logica 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it-IT" b="1" i="1" dirty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it-IT" b="1" i="1" dirty="0">
                            <a:latin typeface="Cambria Math" panose="02040503050406030204" pitchFamily="18" charset="0"/>
                          </a:rPr>
                          <m:t>𝑨</m:t>
                        </m:r>
                      </m:e>
                    </m:acc>
                  </m:oMath>
                </a14:m>
                <a:r>
                  <a:rPr lang="it-IT" b="1" dirty="0"/>
                  <a:t> 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it-IT" b="1" i="1" dirty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it-IT" b="1" i="1" dirty="0">
                            <a:latin typeface="Cambria Math" panose="02040503050406030204" pitchFamily="18" charset="0"/>
                          </a:rPr>
                          <m:t>𝑩</m:t>
                        </m:r>
                      </m:e>
                    </m:acc>
                  </m:oMath>
                </a14:m>
                <a:r>
                  <a:rPr lang="it-IT" b="1" dirty="0"/>
                  <a:t> 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it-IT" b="1" i="1" dirty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it-IT" b="1" i="1" dirty="0">
                            <a:latin typeface="Cambria Math" panose="02040503050406030204" pitchFamily="18" charset="0"/>
                          </a:rPr>
                          <m:t>𝑪</m:t>
                        </m:r>
                      </m:e>
                    </m:acc>
                    <m:r>
                      <a:rPr lang="it-IT" b="1" i="1" dirty="0">
                        <a:latin typeface="Cambria Math" panose="02040503050406030204" pitchFamily="18" charset="0"/>
                      </a:rPr>
                      <m:t> </m:t>
                    </m:r>
                    <m:acc>
                      <m:accPr>
                        <m:chr m:val="̅"/>
                        <m:ctrlPr>
                          <a:rPr lang="it-IT" b="1" i="1" dirty="0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it-IT" b="1" i="1" dirty="0" smtClean="0">
                            <a:latin typeface="Cambria Math" panose="02040503050406030204" pitchFamily="18" charset="0"/>
                          </a:rPr>
                          <m:t>𝑫</m:t>
                        </m:r>
                      </m:e>
                    </m:acc>
                  </m:oMath>
                </a14:m>
                <a:r>
                  <a:rPr lang="it-IT" b="1" dirty="0"/>
                  <a:t> + 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it-IT" b="1" i="1" dirty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it-IT" b="1" i="1" dirty="0">
                            <a:latin typeface="Cambria Math" panose="02040503050406030204" pitchFamily="18" charset="0"/>
                          </a:rPr>
                          <m:t>𝑨</m:t>
                        </m:r>
                      </m:e>
                    </m:acc>
                  </m:oMath>
                </a14:m>
                <a:r>
                  <a:rPr lang="it-IT" b="1" dirty="0"/>
                  <a:t> 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it-IT" b="1" i="1" dirty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it-IT" b="1" i="1" dirty="0">
                            <a:latin typeface="Cambria Math" panose="02040503050406030204" pitchFamily="18" charset="0"/>
                          </a:rPr>
                          <m:t>𝑩</m:t>
                        </m:r>
                      </m:e>
                    </m:acc>
                  </m:oMath>
                </a14:m>
                <a:r>
                  <a:rPr lang="it-IT" b="1" dirty="0"/>
                  <a:t> C 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it-IT" b="1" i="1" dirty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it-IT" b="1" i="1" dirty="0">
                            <a:latin typeface="Cambria Math" panose="02040503050406030204" pitchFamily="18" charset="0"/>
                          </a:rPr>
                          <m:t>𝑫</m:t>
                        </m:r>
                      </m:e>
                    </m:acc>
                  </m:oMath>
                </a14:m>
                <a:r>
                  <a:rPr lang="it-IT" b="1" dirty="0"/>
                  <a:t> + 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it-IT" b="1" i="1" dirty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it-IT" b="1" i="1" dirty="0">
                            <a:latin typeface="Cambria Math" panose="02040503050406030204" pitchFamily="18" charset="0"/>
                          </a:rPr>
                          <m:t>𝑨</m:t>
                        </m:r>
                      </m:e>
                    </m:acc>
                  </m:oMath>
                </a14:m>
                <a:r>
                  <a:rPr lang="it-IT" b="1" dirty="0"/>
                  <a:t> </a:t>
                </a:r>
                <a14:m>
                  <m:oMath xmlns:m="http://schemas.openxmlformats.org/officeDocument/2006/math">
                    <m:r>
                      <a:rPr lang="it-IT" b="1" i="1" dirty="0" smtClean="0">
                        <a:latin typeface="Cambria Math" panose="02040503050406030204" pitchFamily="18" charset="0"/>
                      </a:rPr>
                      <m:t>𝑩</m:t>
                    </m:r>
                    <m:r>
                      <a:rPr lang="it-IT" b="1" i="1" dirty="0" smtClean="0">
                        <a:latin typeface="Cambria Math" panose="02040503050406030204" pitchFamily="18" charset="0"/>
                      </a:rPr>
                      <m:t> </m:t>
                    </m:r>
                    <m:acc>
                      <m:accPr>
                        <m:chr m:val="̅"/>
                        <m:ctrlPr>
                          <a:rPr lang="it-IT" b="1" i="1" dirty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it-IT" b="1" i="1" dirty="0">
                            <a:latin typeface="Cambria Math" panose="02040503050406030204" pitchFamily="18" charset="0"/>
                          </a:rPr>
                          <m:t>𝑪</m:t>
                        </m:r>
                      </m:e>
                    </m:acc>
                    <m:r>
                      <a:rPr lang="it-IT" b="1" i="1" dirty="0">
                        <a:latin typeface="Cambria Math" panose="02040503050406030204" pitchFamily="18" charset="0"/>
                      </a:rPr>
                      <m:t> </m:t>
                    </m:r>
                    <m:acc>
                      <m:accPr>
                        <m:chr m:val="̅"/>
                        <m:ctrlPr>
                          <a:rPr lang="it-IT" b="1" i="1" dirty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it-IT" b="1" i="1" dirty="0">
                            <a:latin typeface="Cambria Math" panose="02040503050406030204" pitchFamily="18" charset="0"/>
                          </a:rPr>
                          <m:t>𝑫</m:t>
                        </m:r>
                      </m:e>
                    </m:acc>
                  </m:oMath>
                </a14:m>
                <a:r>
                  <a:rPr lang="it-IT" b="1" dirty="0"/>
                  <a:t> + 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it-IT" b="1" i="1" dirty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it-IT" b="1" i="1" dirty="0">
                            <a:latin typeface="Cambria Math" panose="02040503050406030204" pitchFamily="18" charset="0"/>
                          </a:rPr>
                          <m:t>𝑨</m:t>
                        </m:r>
                      </m:e>
                    </m:acc>
                  </m:oMath>
                </a14:m>
                <a:r>
                  <a:rPr lang="it-IT" b="1" dirty="0"/>
                  <a:t> </a:t>
                </a:r>
                <a14:m>
                  <m:oMath xmlns:m="http://schemas.openxmlformats.org/officeDocument/2006/math">
                    <m:r>
                      <a:rPr lang="it-IT" b="1" i="1" dirty="0" smtClean="0">
                        <a:latin typeface="Cambria Math" panose="02040503050406030204" pitchFamily="18" charset="0"/>
                      </a:rPr>
                      <m:t>𝑩𝑪</m:t>
                    </m:r>
                    <m:r>
                      <a:rPr lang="it-IT" b="1" i="1" dirty="0" smtClean="0">
                        <a:latin typeface="Cambria Math" panose="02040503050406030204" pitchFamily="18" charset="0"/>
                      </a:rPr>
                      <m:t> </m:t>
                    </m:r>
                    <m:acc>
                      <m:accPr>
                        <m:chr m:val="̅"/>
                        <m:ctrlPr>
                          <a:rPr lang="it-IT" b="1" i="1" dirty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it-IT" b="1" i="1" dirty="0">
                            <a:latin typeface="Cambria Math" panose="02040503050406030204" pitchFamily="18" charset="0"/>
                          </a:rPr>
                          <m:t>𝑫</m:t>
                        </m:r>
                      </m:e>
                    </m:acc>
                  </m:oMath>
                </a14:m>
                <a:r>
                  <a:rPr lang="it-IT" b="1" dirty="0"/>
                  <a:t> + 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it-IT" b="1" i="1" dirty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it-IT" b="1" i="1" dirty="0">
                            <a:latin typeface="Cambria Math" panose="02040503050406030204" pitchFamily="18" charset="0"/>
                          </a:rPr>
                          <m:t>𝑨</m:t>
                        </m:r>
                      </m:e>
                    </m:acc>
                  </m:oMath>
                </a14:m>
                <a:r>
                  <a:rPr lang="it-IT" b="1" dirty="0"/>
                  <a:t> BCD</a:t>
                </a:r>
              </a:p>
            </p:txBody>
          </p:sp>
        </mc:Choice>
        <mc:Fallback xmlns="">
          <p:sp>
            <p:nvSpPr>
              <p:cNvPr id="3" name="Segnaposto contenuto 2">
                <a:extLst>
                  <a:ext uri="{FF2B5EF4-FFF2-40B4-BE49-F238E27FC236}">
                    <a16:creationId xmlns:a16="http://schemas.microsoft.com/office/drawing/2014/main" id="{01069D96-91CA-4D7E-B961-82C0AF8CAF4B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616" t="-806"/>
                </a:stretch>
              </a:blipFill>
            </p:spPr>
            <p:txBody>
              <a:bodyPr/>
              <a:lstStyle/>
              <a:p>
                <a:r>
                  <a:rPr lang="it-IT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egnaposto piè di pagina 3">
            <a:extLst>
              <a:ext uri="{FF2B5EF4-FFF2-40B4-BE49-F238E27FC236}">
                <a16:creationId xmlns:a16="http://schemas.microsoft.com/office/drawing/2014/main" id="{40F976C3-D232-4548-9ABE-A48EA4A770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it-IT"/>
              <a:t>Architettura dei Sistemi di Elaborazione – Tutorato                                                     Anno accademico 2017/2018             Andrea Strazzulla</a:t>
            </a:r>
            <a:endParaRPr lang="en-US" dirty="0"/>
          </a:p>
        </p:txBody>
      </p:sp>
      <p:sp>
        <p:nvSpPr>
          <p:cNvPr id="5" name="Segnaposto numero diapositiva 4">
            <a:extLst>
              <a:ext uri="{FF2B5EF4-FFF2-40B4-BE49-F238E27FC236}">
                <a16:creationId xmlns:a16="http://schemas.microsoft.com/office/drawing/2014/main" id="{A2C779EC-EED3-436F-8A6F-0ED6E85E9A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1190016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0691617F-4494-487F-9DE4-EE9013DCE9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b="1" dirty="0"/>
              <a:t>Algebre di Boole e funzioni logiche (2)</a:t>
            </a:r>
            <a:br>
              <a:rPr lang="it-IT" b="1" dirty="0"/>
            </a:br>
            <a:r>
              <a:rPr lang="it-IT" b="1" dirty="0"/>
              <a:t>Idea (1)</a:t>
            </a:r>
            <a:endParaRPr lang="it-IT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Segnaposto contenuto 2">
                <a:extLst>
                  <a:ext uri="{FF2B5EF4-FFF2-40B4-BE49-F238E27FC236}">
                    <a16:creationId xmlns:a16="http://schemas.microsoft.com/office/drawing/2014/main" id="{01069D96-91CA-4D7E-B961-82C0AF8CAF4B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marL="0" indent="0">
                  <a:buNone/>
                </a:pPr>
                <a:r>
                  <a:rPr lang="it-IT" dirty="0"/>
                  <a:t>Forma minima:</a:t>
                </a:r>
              </a:p>
              <a:p>
                <a:pPr>
                  <a:buFont typeface="Wingdings" panose="05000000000000000000" pitchFamily="2" charset="2"/>
                  <a:buChar char="§"/>
                </a:pPr>
                <a:r>
                  <a:rPr lang="it-IT" dirty="0"/>
                  <a:t>Consenso tra coppie congiunzioni</a:t>
                </a:r>
              </a:p>
              <a:p>
                <a:pPr>
                  <a:buFont typeface="Wingdings" panose="05000000000000000000" pitchFamily="2" charset="2"/>
                  <a:buChar char="§"/>
                </a:pPr>
                <a:r>
                  <a:rPr lang="it-IT" dirty="0"/>
                  <a:t>Tutte variabili uguali, a meno di una negata</a:t>
                </a:r>
              </a:p>
              <a:p>
                <a:pPr>
                  <a:buFont typeface="Wingdings" panose="05000000000000000000" pitchFamily="2" charset="2"/>
                  <a:buChar char="§"/>
                </a:pPr>
                <a:r>
                  <a:rPr lang="it-IT" dirty="0"/>
                  <a:t>Genero nuova congiunzione con solo le variabili per cui vale il consenso</a:t>
                </a:r>
              </a:p>
              <a:p>
                <a:pPr lvl="1">
                  <a:buFont typeface="Wingdings" panose="05000000000000000000" pitchFamily="2" charset="2"/>
                  <a:buChar char="§"/>
                </a:pPr>
                <a:r>
                  <a:rPr lang="it-IT" dirty="0"/>
                  <a:t>Esempio 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it-IT" i="1" dirty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it-IT" b="0" i="1" dirty="0"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</m:acc>
                  </m:oMath>
                </a14:m>
                <a:r>
                  <a:rPr lang="it-IT" dirty="0"/>
                  <a:t> 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it-IT" i="1" dirty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it-IT" b="0" i="1" dirty="0">
                            <a:latin typeface="Cambria Math" panose="02040503050406030204" pitchFamily="18" charset="0"/>
                          </a:rPr>
                          <m:t>𝐵</m:t>
                        </m:r>
                      </m:e>
                    </m:acc>
                  </m:oMath>
                </a14:m>
                <a:r>
                  <a:rPr lang="it-IT" dirty="0"/>
                  <a:t> + 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it-IT" i="1" dirty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it-IT" i="1" dirty="0"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</m:acc>
                  </m:oMath>
                </a14:m>
                <a:r>
                  <a:rPr lang="it-IT" dirty="0"/>
                  <a:t> </a:t>
                </a:r>
                <a14:m>
                  <m:oMath xmlns:m="http://schemas.openxmlformats.org/officeDocument/2006/math">
                    <m:r>
                      <a:rPr lang="it-IT" b="0" i="1" dirty="0" smtClean="0">
                        <a:latin typeface="Cambria Math" panose="02040503050406030204" pitchFamily="18" charset="0"/>
                      </a:rPr>
                      <m:t>𝐵</m:t>
                    </m:r>
                  </m:oMath>
                </a14:m>
                <a:r>
                  <a:rPr lang="it-IT" dirty="0"/>
                  <a:t>→ 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it-IT" i="1" dirty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it-IT" i="1" dirty="0"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</m:acc>
                  </m:oMath>
                </a14:m>
                <a:r>
                  <a:rPr lang="it-IT" dirty="0"/>
                  <a:t> </a:t>
                </a:r>
              </a:p>
              <a:p>
                <a:pPr>
                  <a:buFont typeface="Wingdings" panose="05000000000000000000" pitchFamily="2" charset="2"/>
                  <a:buChar char="§"/>
                </a:pPr>
                <a:r>
                  <a:rPr lang="it-IT" dirty="0"/>
                  <a:t>Itero il procedimento fino a che non è più possibile comprimere</a:t>
                </a:r>
              </a:p>
              <a:p>
                <a:pPr marL="457200" lvl="1" indent="0">
                  <a:buNone/>
                </a:pPr>
                <a:endParaRPr lang="it-IT" dirty="0"/>
              </a:p>
            </p:txBody>
          </p:sp>
        </mc:Choice>
        <mc:Fallback xmlns="">
          <p:sp>
            <p:nvSpPr>
              <p:cNvPr id="3" name="Segnaposto contenuto 2">
                <a:extLst>
                  <a:ext uri="{FF2B5EF4-FFF2-40B4-BE49-F238E27FC236}">
                    <a16:creationId xmlns:a16="http://schemas.microsoft.com/office/drawing/2014/main" id="{01069D96-91CA-4D7E-B961-82C0AF8CAF4B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616" t="-806"/>
                </a:stretch>
              </a:blipFill>
            </p:spPr>
            <p:txBody>
              <a:bodyPr/>
              <a:lstStyle/>
              <a:p>
                <a:r>
                  <a:rPr lang="it-IT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egnaposto piè di pagina 3">
            <a:extLst>
              <a:ext uri="{FF2B5EF4-FFF2-40B4-BE49-F238E27FC236}">
                <a16:creationId xmlns:a16="http://schemas.microsoft.com/office/drawing/2014/main" id="{40F976C3-D232-4548-9ABE-A48EA4A770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it-IT"/>
              <a:t>Architettura dei Sistemi di Elaborazione – Tutorato                                                     Anno accademico 2017/2018             Andrea Strazzulla</a:t>
            </a:r>
            <a:endParaRPr lang="en-US" dirty="0"/>
          </a:p>
        </p:txBody>
      </p:sp>
      <p:sp>
        <p:nvSpPr>
          <p:cNvPr id="5" name="Segnaposto numero diapositiva 4">
            <a:extLst>
              <a:ext uri="{FF2B5EF4-FFF2-40B4-BE49-F238E27FC236}">
                <a16:creationId xmlns:a16="http://schemas.microsoft.com/office/drawing/2014/main" id="{A2C779EC-EED3-436F-8A6F-0ED6E85E9A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9661577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56BDDE03-C3A9-48A6-80A4-B499442396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b="1" dirty="0"/>
              <a:t>Circuiti combinatori e sequenziali</a:t>
            </a:r>
            <a:endParaRPr lang="it-IT" dirty="0"/>
          </a:p>
        </p:txBody>
      </p:sp>
      <p:sp>
        <p:nvSpPr>
          <p:cNvPr id="4" name="Segnaposto piè di pagina 3">
            <a:extLst>
              <a:ext uri="{FF2B5EF4-FFF2-40B4-BE49-F238E27FC236}">
                <a16:creationId xmlns:a16="http://schemas.microsoft.com/office/drawing/2014/main" id="{99D0DC79-0BE5-41A4-931B-F0C62E60A6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it-IT"/>
              <a:t>Architettura dei Sistemi di Elaborazione – Tutorato                                                     Anno accademico 2017/2018             Andrea Strazzulla</a:t>
            </a:r>
            <a:endParaRPr lang="en-US" dirty="0"/>
          </a:p>
        </p:txBody>
      </p:sp>
      <p:sp>
        <p:nvSpPr>
          <p:cNvPr id="5" name="Segnaposto numero diapositiva 4">
            <a:extLst>
              <a:ext uri="{FF2B5EF4-FFF2-40B4-BE49-F238E27FC236}">
                <a16:creationId xmlns:a16="http://schemas.microsoft.com/office/drawing/2014/main" id="{DA4081DC-CB2C-496B-A802-4343CF1CF0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8</a:t>
            </a:fld>
            <a:endParaRPr lang="en-US" dirty="0"/>
          </a:p>
        </p:txBody>
      </p:sp>
      <p:sp>
        <p:nvSpPr>
          <p:cNvPr id="7" name="Segnaposto data 6">
            <a:extLst>
              <a:ext uri="{FF2B5EF4-FFF2-40B4-BE49-F238E27FC236}">
                <a16:creationId xmlns:a16="http://schemas.microsoft.com/office/drawing/2014/main" id="{382E2FD2-DA8E-40E1-AFCE-BF3C577E7E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it-IT"/>
              <a:t>13/11/2017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2625708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0691617F-4494-487F-9DE4-EE9013DCE9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b="1" dirty="0"/>
              <a:t>Circuiti combinatori e sequenziali (1)</a:t>
            </a:r>
            <a:endParaRPr lang="it-IT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Segnaposto contenuto 2">
                <a:extLst>
                  <a:ext uri="{FF2B5EF4-FFF2-40B4-BE49-F238E27FC236}">
                    <a16:creationId xmlns:a16="http://schemas.microsoft.com/office/drawing/2014/main" id="{01069D96-91CA-4D7E-B961-82C0AF8CAF4B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marL="0" indent="0">
                  <a:buNone/>
                </a:pPr>
                <a:r>
                  <a:rPr lang="it-IT" b="1" dirty="0"/>
                  <a:t>1) Si costruisca un circuito multiplexer con 8 dati in input, un output e 3 input di controllo, che sia effettivamente in grado di calcolare il valore di verità di una funzione booleana a </a:t>
                </a:r>
                <a:r>
                  <a:rPr lang="it-IT" b="1" i="1" dirty="0"/>
                  <a:t>quattro </a:t>
                </a:r>
                <a:r>
                  <a:rPr lang="it-IT" b="1" dirty="0"/>
                  <a:t>variabili.</a:t>
                </a:r>
              </a:p>
              <a:p>
                <a:pPr marL="0" indent="0">
                  <a:buNone/>
                </a:pPr>
                <a:r>
                  <a:rPr lang="it-IT" b="1" dirty="0"/>
                  <a:t>La funzione da calcolare è la seguente: 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it-IT" b="1" i="1" dirty="0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it-IT" b="1" i="1" dirty="0" smtClean="0">
                            <a:latin typeface="Cambria Math" panose="02040503050406030204" pitchFamily="18" charset="0"/>
                          </a:rPr>
                          <m:t>𝑨</m:t>
                        </m:r>
                      </m:e>
                    </m:acc>
                  </m:oMath>
                </a14:m>
                <a:r>
                  <a:rPr lang="it-IT" b="1" dirty="0"/>
                  <a:t> 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it-IT" b="1" i="1" dirty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it-IT" b="1" i="1" dirty="0" smtClean="0">
                            <a:latin typeface="Cambria Math" panose="02040503050406030204" pitchFamily="18" charset="0"/>
                          </a:rPr>
                          <m:t>𝑩</m:t>
                        </m:r>
                      </m:e>
                    </m:acc>
                  </m:oMath>
                </a14:m>
                <a:r>
                  <a:rPr lang="it-IT" b="1" dirty="0"/>
                  <a:t> 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it-IT" b="1" i="1" dirty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it-IT" b="1" i="1" dirty="0" smtClean="0">
                            <a:latin typeface="Cambria Math" panose="02040503050406030204" pitchFamily="18" charset="0"/>
                          </a:rPr>
                          <m:t>𝑪</m:t>
                        </m:r>
                      </m:e>
                    </m:acc>
                  </m:oMath>
                </a14:m>
                <a:r>
                  <a:rPr lang="it-IT" b="1" dirty="0"/>
                  <a:t> 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it-IT" b="1" i="1" dirty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it-IT" b="1" i="1" dirty="0" smtClean="0">
                            <a:latin typeface="Cambria Math" panose="02040503050406030204" pitchFamily="18" charset="0"/>
                          </a:rPr>
                          <m:t>𝑫</m:t>
                        </m:r>
                      </m:e>
                    </m:acc>
                  </m:oMath>
                </a14:m>
                <a:r>
                  <a:rPr lang="it-IT" b="1" dirty="0"/>
                  <a:t> + 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it-IT" b="1" i="1" dirty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it-IT" b="1" i="1" dirty="0">
                            <a:latin typeface="Cambria Math" panose="02040503050406030204" pitchFamily="18" charset="0"/>
                          </a:rPr>
                          <m:t>𝑨</m:t>
                        </m:r>
                      </m:e>
                    </m:acc>
                  </m:oMath>
                </a14:m>
                <a:r>
                  <a:rPr lang="it-IT" b="1" dirty="0"/>
                  <a:t> B 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it-IT" b="1" i="1" dirty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it-IT" b="1" i="1" dirty="0">
                            <a:latin typeface="Cambria Math" panose="02040503050406030204" pitchFamily="18" charset="0"/>
                          </a:rPr>
                          <m:t>𝑪</m:t>
                        </m:r>
                      </m:e>
                    </m:acc>
                  </m:oMath>
                </a14:m>
                <a:r>
                  <a:rPr lang="it-IT" b="1" dirty="0"/>
                  <a:t> D + A 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it-IT" b="1" i="1" dirty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it-IT" b="1" i="1" dirty="0">
                            <a:latin typeface="Cambria Math" panose="02040503050406030204" pitchFamily="18" charset="0"/>
                          </a:rPr>
                          <m:t>𝑩</m:t>
                        </m:r>
                      </m:e>
                    </m:acc>
                  </m:oMath>
                </a14:m>
                <a:r>
                  <a:rPr lang="it-IT" b="1" dirty="0"/>
                  <a:t> 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it-IT" b="1" i="1" dirty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it-IT" b="1" i="1" dirty="0">
                            <a:latin typeface="Cambria Math" panose="02040503050406030204" pitchFamily="18" charset="0"/>
                          </a:rPr>
                          <m:t>𝑪</m:t>
                        </m:r>
                      </m:e>
                    </m:acc>
                  </m:oMath>
                </a14:m>
                <a:r>
                  <a:rPr lang="it-IT" b="1" dirty="0"/>
                  <a:t> 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it-IT" b="1" i="1" dirty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it-IT" b="1" i="1" dirty="0">
                            <a:latin typeface="Cambria Math" panose="02040503050406030204" pitchFamily="18" charset="0"/>
                          </a:rPr>
                          <m:t>𝑫</m:t>
                        </m:r>
                      </m:e>
                    </m:acc>
                  </m:oMath>
                </a14:m>
                <a:r>
                  <a:rPr lang="it-IT" b="1" dirty="0"/>
                  <a:t> </a:t>
                </a:r>
              </a:p>
            </p:txBody>
          </p:sp>
        </mc:Choice>
        <mc:Fallback xmlns="">
          <p:sp>
            <p:nvSpPr>
              <p:cNvPr id="3" name="Segnaposto contenuto 2">
                <a:extLst>
                  <a:ext uri="{FF2B5EF4-FFF2-40B4-BE49-F238E27FC236}">
                    <a16:creationId xmlns:a16="http://schemas.microsoft.com/office/drawing/2014/main" id="{01069D96-91CA-4D7E-B961-82C0AF8CAF4B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616" t="-806" r="-410"/>
                </a:stretch>
              </a:blipFill>
            </p:spPr>
            <p:txBody>
              <a:bodyPr/>
              <a:lstStyle/>
              <a:p>
                <a:r>
                  <a:rPr lang="it-IT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egnaposto piè di pagina 3">
            <a:extLst>
              <a:ext uri="{FF2B5EF4-FFF2-40B4-BE49-F238E27FC236}">
                <a16:creationId xmlns:a16="http://schemas.microsoft.com/office/drawing/2014/main" id="{40F976C3-D232-4548-9ABE-A48EA4A770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it-IT"/>
              <a:t>Architettura dei Sistemi di Elaborazione – Tutorato                                                     Anno accademico 2017/2018             Andrea Strazzulla</a:t>
            </a:r>
            <a:endParaRPr lang="en-US" dirty="0"/>
          </a:p>
        </p:txBody>
      </p:sp>
      <p:sp>
        <p:nvSpPr>
          <p:cNvPr id="5" name="Segnaposto numero diapositiva 4">
            <a:extLst>
              <a:ext uri="{FF2B5EF4-FFF2-40B4-BE49-F238E27FC236}">
                <a16:creationId xmlns:a16="http://schemas.microsoft.com/office/drawing/2014/main" id="{A2C779EC-EED3-436F-8A6F-0ED6E85E9A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6268078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31DC3423-6B9F-4E34-8261-7B3DF3D828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b="1" dirty="0"/>
              <a:t>Circuiti combinatori e sequenziali (1)</a:t>
            </a:r>
            <a:br>
              <a:rPr lang="it-IT" b="1" dirty="0"/>
            </a:br>
            <a:r>
              <a:rPr lang="it-IT" b="1" dirty="0"/>
              <a:t>Idea (1)</a:t>
            </a:r>
            <a:endParaRPr lang="it-IT" dirty="0"/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0A920D54-9BBC-4A27-A490-0F9E9159BDD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it-IT" dirty="0"/>
              <a:t>Un multiplexer a 3 input di controllo può rappresentare qualsiasi tavola di verità di una funzione booleana a 3 variabili. Per forzarlo a calcolare una funzione booleana a </a:t>
            </a:r>
            <a:r>
              <a:rPr lang="it-IT" i="1" dirty="0"/>
              <a:t>quattro</a:t>
            </a:r>
            <a:r>
              <a:rPr lang="it-IT" dirty="0"/>
              <a:t> variabili si deve conoscere la sua struttura interna, illustrata in figura. Sul libro (</a:t>
            </a:r>
            <a:r>
              <a:rPr lang="it-IT" b="1" dirty="0"/>
              <a:t>Architettura dei calcolatori</a:t>
            </a:r>
            <a:r>
              <a:rPr lang="it-IT" dirty="0"/>
              <a:t>, </a:t>
            </a:r>
            <a:r>
              <a:rPr lang="it-IT" dirty="0" err="1"/>
              <a:t>Tanenbaum</a:t>
            </a:r>
            <a:r>
              <a:rPr lang="it-IT" dirty="0"/>
              <a:t>), si trova a pagina 144.</a:t>
            </a:r>
          </a:p>
          <a:p>
            <a:pPr marL="0" indent="0">
              <a:buNone/>
            </a:pPr>
            <a:endParaRPr lang="it-IT" dirty="0"/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AA981965-CE97-4649-98A5-E68AD37928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10/31/2017</a:t>
            </a:r>
            <a:endParaRPr lang="en-US" dirty="0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DF86CB61-4045-41B4-B559-2210E58AD8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it-IT"/>
              <a:t>Architettura dei Sistemi di Elaborazione – Tutorato                                                     Anno accademico 2017/2018             Andrea Strazzulla</a:t>
            </a:r>
            <a:endParaRPr lang="en-US" dirty="0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198929CE-17E6-419E-9923-B033514CAE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10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6730016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31DC3423-6B9F-4E34-8261-7B3DF3D828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b="1" dirty="0"/>
              <a:t>Circuiti combinatori e sequenziali (1)</a:t>
            </a:r>
            <a:br>
              <a:rPr lang="it-IT" b="1" dirty="0"/>
            </a:br>
            <a:r>
              <a:rPr lang="it-IT" b="1" dirty="0"/>
              <a:t>Idea (2)</a:t>
            </a:r>
            <a:endParaRPr lang="it-IT" dirty="0"/>
          </a:p>
        </p:txBody>
      </p:sp>
      <p:pic>
        <p:nvPicPr>
          <p:cNvPr id="8" name="Segnaposto contenuto 7">
            <a:extLst>
              <a:ext uri="{FF2B5EF4-FFF2-40B4-BE49-F238E27FC236}">
                <a16:creationId xmlns:a16="http://schemas.microsoft.com/office/drawing/2014/main" id="{22165FC2-E7FA-443C-80AB-A73B22E1466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5296298" y="2133600"/>
            <a:ext cx="3501229" cy="3778250"/>
          </a:xfrm>
        </p:spPr>
      </p:pic>
      <p:sp>
        <p:nvSpPr>
          <p:cNvPr id="4" name="Segnaposto data 3">
            <a:extLst>
              <a:ext uri="{FF2B5EF4-FFF2-40B4-BE49-F238E27FC236}">
                <a16:creationId xmlns:a16="http://schemas.microsoft.com/office/drawing/2014/main" id="{AA981965-CE97-4649-98A5-E68AD37928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10/31/2017</a:t>
            </a:r>
            <a:endParaRPr lang="en-US" dirty="0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DF86CB61-4045-41B4-B559-2210E58AD8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it-IT"/>
              <a:t>Architettura dei Sistemi di Elaborazione – Tutorato                                                     Anno accademico 2017/2018             Andrea Strazzulla</a:t>
            </a:r>
            <a:endParaRPr lang="en-US" dirty="0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198929CE-17E6-419E-9923-B033514CAE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11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3631691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6CB220CD-0A62-40F7-9F50-0B414CA63B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b="1" dirty="0"/>
              <a:t>Circuiti combinatori e sequenziali (2)</a:t>
            </a:r>
            <a:endParaRPr lang="it-IT" dirty="0"/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97224857-9FF5-4BE9-98B8-39C0011C606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it-IT" b="1" dirty="0"/>
              <a:t>2) Un chip MSI molto comune è il sommatore a 4 bit. È possibile agganciare quattro di questi chip per ottenere un sommatore a 16 bit? Disegnarlo, se possibile. Quanti pin avrà il nuovo sommatore?</a:t>
            </a:r>
          </a:p>
          <a:p>
            <a:pPr marL="0" indent="0">
              <a:buNone/>
            </a:pPr>
            <a:endParaRPr lang="it-IT" dirty="0"/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3ADC796C-77E3-4469-9A06-4A6BE6FF28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10/31/2017</a:t>
            </a:r>
            <a:endParaRPr lang="en-US" dirty="0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907213F7-9AB3-44A5-86CF-274CACA2D3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it-IT"/>
              <a:t>Architettura dei Sistemi di Elaborazione – Tutorato                                                     Anno accademico 2017/2018             Andrea Strazzulla</a:t>
            </a:r>
            <a:endParaRPr lang="en-US" dirty="0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0D31AF44-3B52-49F4-890D-45CAB17465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12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1971478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6CB220CD-0A62-40F7-9F50-0B414CA63B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b="1" dirty="0"/>
              <a:t>Circuiti combinatori e sequenziali (2)</a:t>
            </a:r>
            <a:br>
              <a:rPr lang="it-IT" b="1" dirty="0"/>
            </a:br>
            <a:r>
              <a:rPr lang="it-IT" b="1" dirty="0"/>
              <a:t>Idea (1)</a:t>
            </a:r>
            <a:endParaRPr lang="it-IT" dirty="0"/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97224857-9FF5-4BE9-98B8-39C0011C606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89212" y="2133600"/>
            <a:ext cx="8915400" cy="866274"/>
          </a:xfrm>
        </p:spPr>
        <p:txBody>
          <a:bodyPr/>
          <a:lstStyle/>
          <a:p>
            <a:pPr marL="0" indent="0">
              <a:buNone/>
            </a:pPr>
            <a:r>
              <a:rPr lang="it-IT" dirty="0"/>
              <a:t>L’</a:t>
            </a:r>
            <a:r>
              <a:rPr lang="it-IT" dirty="0" err="1"/>
              <a:t>adder</a:t>
            </a:r>
            <a:r>
              <a:rPr lang="it-IT" dirty="0"/>
              <a:t> a 4 bit altro non è che la giustapposizione di 4 circuiti full-</a:t>
            </a:r>
            <a:r>
              <a:rPr lang="it-IT" dirty="0" err="1"/>
              <a:t>adder</a:t>
            </a:r>
            <a:r>
              <a:rPr lang="it-IT" dirty="0"/>
              <a:t> a un bit (sul libro, si tratta di questo argomento alle pagine 149-150). 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3ADC796C-77E3-4469-9A06-4A6BE6FF28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10/31/2017</a:t>
            </a:r>
            <a:endParaRPr lang="en-US" dirty="0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907213F7-9AB3-44A5-86CF-274CACA2D3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it-IT"/>
              <a:t>Architettura dei Sistemi di Elaborazione – Tutorato                                                     Anno accademico 2017/2018             Andrea Strazzulla</a:t>
            </a:r>
            <a:endParaRPr lang="en-US" dirty="0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0D31AF44-3B52-49F4-890D-45CAB17465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13</a:t>
            </a:fld>
            <a:endParaRPr lang="en-US" dirty="0"/>
          </a:p>
        </p:txBody>
      </p:sp>
      <p:pic>
        <p:nvPicPr>
          <p:cNvPr id="7" name="Immagine 6">
            <a:extLst>
              <a:ext uri="{FF2B5EF4-FFF2-40B4-BE49-F238E27FC236}">
                <a16:creationId xmlns:a16="http://schemas.microsoft.com/office/drawing/2014/main" id="{73F2D96F-0F42-439E-ABB7-25607F36B4D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21821" y="2999874"/>
            <a:ext cx="7154779" cy="26830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7929432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6CB220CD-0A62-40F7-9F50-0B414CA63B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b="1" dirty="0"/>
              <a:t>Circuiti combinatori e sequenziali (2)</a:t>
            </a:r>
            <a:br>
              <a:rPr lang="it-IT" b="1" dirty="0"/>
            </a:br>
            <a:r>
              <a:rPr lang="it-IT" b="1" dirty="0"/>
              <a:t>Idea (2)</a:t>
            </a:r>
            <a:endParaRPr lang="it-IT" dirty="0"/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97224857-9FF5-4BE9-98B8-39C0011C606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89212" y="2133599"/>
            <a:ext cx="8915400" cy="3996837"/>
          </a:xfrm>
        </p:spPr>
        <p:txBody>
          <a:bodyPr/>
          <a:lstStyle/>
          <a:p>
            <a:pPr marL="0" indent="0">
              <a:buNone/>
            </a:pPr>
            <a:r>
              <a:rPr lang="it-IT" dirty="0"/>
              <a:t>I valori in ingresso sono indicati come le coppie di 4 pin A</a:t>
            </a:r>
            <a:r>
              <a:rPr lang="it-IT" baseline="-25000" dirty="0"/>
              <a:t>1</a:t>
            </a:r>
            <a:r>
              <a:rPr lang="it-IT" dirty="0"/>
              <a:t>, A</a:t>
            </a:r>
            <a:r>
              <a:rPr lang="it-IT" baseline="-25000" dirty="0"/>
              <a:t>2</a:t>
            </a:r>
            <a:r>
              <a:rPr lang="it-IT" dirty="0"/>
              <a:t>, A</a:t>
            </a:r>
            <a:r>
              <a:rPr lang="it-IT" baseline="-25000" dirty="0"/>
              <a:t>3</a:t>
            </a:r>
            <a:r>
              <a:rPr lang="it-IT" dirty="0"/>
              <a:t>, A</a:t>
            </a:r>
            <a:r>
              <a:rPr lang="it-IT" baseline="-25000" dirty="0"/>
              <a:t>4</a:t>
            </a:r>
            <a:r>
              <a:rPr lang="it-IT" dirty="0"/>
              <a:t> e B</a:t>
            </a:r>
            <a:r>
              <a:rPr lang="it-IT" baseline="-25000" dirty="0"/>
              <a:t>1</a:t>
            </a:r>
            <a:r>
              <a:rPr lang="it-IT" dirty="0"/>
              <a:t>, B</a:t>
            </a:r>
            <a:r>
              <a:rPr lang="it-IT" baseline="-25000" dirty="0"/>
              <a:t>2</a:t>
            </a:r>
            <a:r>
              <a:rPr lang="it-IT" dirty="0"/>
              <a:t>, B</a:t>
            </a:r>
            <a:r>
              <a:rPr lang="it-IT" baseline="-25000" dirty="0"/>
              <a:t>3</a:t>
            </a:r>
            <a:r>
              <a:rPr lang="it-IT" dirty="0"/>
              <a:t>, B4, che rappresentano i bit dal meno al più significativo dei valori A e B. Gli output sono i 4 bit risultanti e marcati con le </a:t>
            </a:r>
            <a:r>
              <a:rPr lang="it-IT" dirty="0" err="1"/>
              <a:t>tag</a:t>
            </a:r>
            <a:r>
              <a:rPr lang="it-IT" dirty="0"/>
              <a:t> S</a:t>
            </a:r>
            <a:r>
              <a:rPr lang="it-IT" baseline="-25000" dirty="0"/>
              <a:t>1</a:t>
            </a:r>
            <a:r>
              <a:rPr lang="it-IT" dirty="0"/>
              <a:t>, …, S</a:t>
            </a:r>
            <a:r>
              <a:rPr lang="it-IT" baseline="-25000" dirty="0"/>
              <a:t>4</a:t>
            </a:r>
            <a:r>
              <a:rPr lang="it-IT" dirty="0"/>
              <a:t>. I riporti, invece sono rappresentati dalle </a:t>
            </a:r>
            <a:r>
              <a:rPr lang="it-IT" dirty="0" err="1"/>
              <a:t>tag</a:t>
            </a:r>
            <a:r>
              <a:rPr lang="it-IT" dirty="0"/>
              <a:t> C</a:t>
            </a:r>
            <a:r>
              <a:rPr lang="it-IT" baseline="-25000" dirty="0"/>
              <a:t>I</a:t>
            </a:r>
            <a:r>
              <a:rPr lang="it-IT" dirty="0"/>
              <a:t> per quello in ingresso e C</a:t>
            </a:r>
            <a:r>
              <a:rPr lang="it-IT" baseline="-25000" dirty="0"/>
              <a:t>O</a:t>
            </a:r>
            <a:r>
              <a:rPr lang="it-IT" dirty="0"/>
              <a:t> per quello in uscita.</a:t>
            </a:r>
            <a:endParaRPr lang="it-IT" dirty="0">
              <a:effectLst/>
            </a:endParaRP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3ADC796C-77E3-4469-9A06-4A6BE6FF28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10/31/2017</a:t>
            </a:r>
            <a:endParaRPr lang="en-US" dirty="0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907213F7-9AB3-44A5-86CF-274CACA2D3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it-IT"/>
              <a:t>Architettura dei Sistemi di Elaborazione – Tutorato                                                     Anno accademico 2017/2018             Andrea Strazzulla</a:t>
            </a:r>
            <a:endParaRPr lang="en-US" dirty="0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0D31AF44-3B52-49F4-890D-45CAB17465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14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4843715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6CB220CD-0A62-40F7-9F50-0B414CA63B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b="1" dirty="0"/>
              <a:t>Circuiti combinatori e sequenziali (3)</a:t>
            </a:r>
            <a:endParaRPr lang="it-IT" dirty="0"/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97224857-9FF5-4BE9-98B8-39C0011C606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it-IT" b="1" dirty="0"/>
              <a:t>3) Si studi un circuito flip-flop pilotato dal fronte di salita del clock. Lo si modifichi in modo tale che sia pilotato dal fronte di discesa del clock.</a:t>
            </a:r>
          </a:p>
          <a:p>
            <a:pPr marL="0" indent="0">
              <a:buNone/>
            </a:pPr>
            <a:endParaRPr lang="it-IT" dirty="0"/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3ADC796C-77E3-4469-9A06-4A6BE6FF28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10/31/2017</a:t>
            </a:r>
            <a:endParaRPr lang="en-US" dirty="0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907213F7-9AB3-44A5-86CF-274CACA2D3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it-IT"/>
              <a:t>Architettura dei Sistemi di Elaborazione – Tutorato                                                     Anno accademico 2017/2018             Andrea Strazzulla</a:t>
            </a:r>
            <a:endParaRPr lang="en-US" dirty="0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0D31AF44-3B52-49F4-890D-45CAB17465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15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5408542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6CB220CD-0A62-40F7-9F50-0B414CA63B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b="1" dirty="0"/>
              <a:t>Circuiti combinatori e sequenziali (3)</a:t>
            </a:r>
            <a:br>
              <a:rPr lang="it-IT" b="1" dirty="0"/>
            </a:br>
            <a:r>
              <a:rPr lang="it-IT" b="1" dirty="0"/>
              <a:t>Idea (1)</a:t>
            </a:r>
            <a:endParaRPr lang="it-IT" dirty="0"/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97224857-9FF5-4BE9-98B8-39C0011C606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89212" y="2133600"/>
            <a:ext cx="8915400" cy="3777622"/>
          </a:xfrm>
        </p:spPr>
        <p:txBody>
          <a:bodyPr/>
          <a:lstStyle/>
          <a:p>
            <a:pPr marL="0" indent="0">
              <a:buNone/>
            </a:pPr>
            <a:r>
              <a:rPr lang="it-IT" dirty="0"/>
              <a:t>Il circuito flip-flop pilotato dalla salita del clock è mostrato in figura.</a:t>
            </a:r>
          </a:p>
          <a:p>
            <a:pPr marL="0" indent="0">
              <a:buNone/>
            </a:pPr>
            <a:r>
              <a:rPr lang="it-IT" dirty="0"/>
              <a:t>Per tutti gli aspetti teorici relativi al funzionamento e all’utilizzo del flip-flop, vi consiglio di vedere, sempre sul </a:t>
            </a:r>
            <a:r>
              <a:rPr lang="it-IT" dirty="0" err="1"/>
              <a:t>Tanenbaum</a:t>
            </a:r>
            <a:r>
              <a:rPr lang="it-IT" dirty="0"/>
              <a:t>, la pagine 157 e successive. </a:t>
            </a:r>
            <a:r>
              <a:rPr lang="it-IT"/>
              <a:t>Nella </a:t>
            </a:r>
            <a:r>
              <a:rPr lang="it-IT" dirty="0"/>
              <a:t>domanda, si fa riferimento al flip-flop temporizzato, indicato sul libro come flip-flop D.</a:t>
            </a:r>
          </a:p>
          <a:p>
            <a:pPr marL="0" indent="0">
              <a:buNone/>
            </a:pPr>
            <a:endParaRPr lang="it-IT" dirty="0"/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3ADC796C-77E3-4469-9A06-4A6BE6FF28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10/31/2017</a:t>
            </a:r>
            <a:endParaRPr lang="en-US" dirty="0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907213F7-9AB3-44A5-86CF-274CACA2D3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it-IT"/>
              <a:t>Architettura dei Sistemi di Elaborazione – Tutorato                                                     Anno accademico 2017/2018             Andrea Strazzulla</a:t>
            </a:r>
            <a:endParaRPr lang="en-US" dirty="0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0D31AF44-3B52-49F4-890D-45CAB17465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16</a:t>
            </a:fld>
            <a:endParaRPr lang="en-US" dirty="0"/>
          </a:p>
        </p:txBody>
      </p:sp>
      <p:pic>
        <p:nvPicPr>
          <p:cNvPr id="7" name="Immagine 6">
            <a:extLst>
              <a:ext uri="{FF2B5EF4-FFF2-40B4-BE49-F238E27FC236}">
                <a16:creationId xmlns:a16="http://schemas.microsoft.com/office/drawing/2014/main" id="{8816B964-443C-4979-BAEC-5112D2225EF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99671" y="3703136"/>
            <a:ext cx="3792658" cy="24273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84018255"/>
      </p:ext>
    </p:extLst>
  </p:cSld>
  <p:clrMapOvr>
    <a:masterClrMapping/>
  </p:clrMapOvr>
</p:sld>
</file>

<file path=ppt/theme/theme1.xml><?xml version="1.0" encoding="utf-8"?>
<a:theme xmlns:a="http://schemas.openxmlformats.org/drawingml/2006/main" name="Filo">
  <a:themeElements>
    <a:clrScheme name="Wisp">
      <a:dk1>
        <a:sysClr val="windowText" lastClr="000000"/>
      </a:dk1>
      <a:lt1>
        <a:sysClr val="window" lastClr="FFFFFF"/>
      </a:lt1>
      <a:dk2>
        <a:srgbClr val="647252"/>
      </a:dk2>
      <a:lt2>
        <a:srgbClr val="EAE8CF"/>
      </a:lt2>
      <a:accent1>
        <a:srgbClr val="E78712"/>
      </a:accent1>
      <a:accent2>
        <a:srgbClr val="B73C26"/>
      </a:accent2>
      <a:accent3>
        <a:srgbClr val="865331"/>
      </a:accent3>
      <a:accent4>
        <a:srgbClr val="B38648"/>
      </a:accent4>
      <a:accent5>
        <a:srgbClr val="BBB473"/>
      </a:accent5>
      <a:accent6>
        <a:srgbClr val="849276"/>
      </a:accent6>
      <a:hlink>
        <a:srgbClr val="FDAB2A"/>
      </a:hlink>
      <a:folHlink>
        <a:srgbClr val="CCB182"/>
      </a:folHlink>
    </a:clrScheme>
    <a:fontScheme name="Wisp">
      <a:maj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Wisp">
      <a:fillStyleLst>
        <a:solidFill>
          <a:schemeClr val="phClr"/>
        </a:solidFill>
        <a:solidFill>
          <a:schemeClr val="phClr">
            <a:tint val="70000"/>
            <a:lumMod val="104000"/>
          </a:schemeClr>
        </a:solidFill>
        <a:gradFill rotWithShape="1">
          <a:gsLst>
            <a:gs pos="0">
              <a:schemeClr val="phClr">
                <a:tint val="96000"/>
                <a:lumMod val="104000"/>
              </a:schemeClr>
            </a:gs>
            <a:gs pos="100000">
              <a:schemeClr val="phClr">
                <a:shade val="98000"/>
                <a:lumMod val="9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>
              <a:shade val="90000"/>
            </a:schemeClr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2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6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satMod val="92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Wisp" id="{7CB32D59-10C0-40DD-B7BD-2E94284A981C}" vid="{54F6613E-5ED7-40ED-90A8-F639BE712C0E}"/>
    </a:ext>
  </a:extLst>
</a:theme>
</file>

<file path=ppt/theme/theme2.xml><?xml version="1.0" encoding="utf-8"?>
<a:theme xmlns:a="http://schemas.openxmlformats.org/drawingml/2006/main" name="Tema di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Tema di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Wisp</Template>
  <TotalTime>514</TotalTime>
  <Words>919</Words>
  <Application>Microsoft Office PowerPoint</Application>
  <PresentationFormat>Widescreen</PresentationFormat>
  <Paragraphs>133</Paragraphs>
  <Slides>16</Slides>
  <Notes>0</Notes>
  <HiddenSlides>0</HiddenSlides>
  <MMClips>0</MMClips>
  <ScaleCrop>false</ScaleCrop>
  <HeadingPairs>
    <vt:vector size="6" baseType="variant">
      <vt:variant>
        <vt:lpstr>Caratteri utilizzati</vt:lpstr>
      </vt:variant>
      <vt:variant>
        <vt:i4>7</vt:i4>
      </vt:variant>
      <vt:variant>
        <vt:lpstr>Tema</vt:lpstr>
      </vt:variant>
      <vt:variant>
        <vt:i4>1</vt:i4>
      </vt:variant>
      <vt:variant>
        <vt:lpstr>Titoli diapositive</vt:lpstr>
      </vt:variant>
      <vt:variant>
        <vt:i4>16</vt:i4>
      </vt:variant>
    </vt:vector>
  </HeadingPairs>
  <TitlesOfParts>
    <vt:vector size="24" baseType="lpstr">
      <vt:lpstr>Arial</vt:lpstr>
      <vt:lpstr>Calibri</vt:lpstr>
      <vt:lpstr>Cambria Math</vt:lpstr>
      <vt:lpstr>Century Gothic</vt:lpstr>
      <vt:lpstr>Times New Roman, serif</vt:lpstr>
      <vt:lpstr>Wingdings</vt:lpstr>
      <vt:lpstr>Wingdings 3</vt:lpstr>
      <vt:lpstr>Filo</vt:lpstr>
      <vt:lpstr>ESERCITAZIONE 2</vt:lpstr>
      <vt:lpstr>Algebre di Boole e funzioni logiche</vt:lpstr>
      <vt:lpstr>Algebre di Boole e funzioni logiche (1)</vt:lpstr>
      <vt:lpstr>Algebre di Boole e funzioni logiche (1) Idea (1)</vt:lpstr>
      <vt:lpstr>Algebre di Boole e funzioni logiche (1) Idea (2)</vt:lpstr>
      <vt:lpstr>Algebre di Boole e funzioni logiche (2)</vt:lpstr>
      <vt:lpstr>Algebre di Boole e funzioni logiche (2) Idea (1)</vt:lpstr>
      <vt:lpstr>Circuiti combinatori e sequenziali</vt:lpstr>
      <vt:lpstr>Circuiti combinatori e sequenziali (1)</vt:lpstr>
      <vt:lpstr>Circuiti combinatori e sequenziali (1) Idea (1)</vt:lpstr>
      <vt:lpstr>Circuiti combinatori e sequenziali (1) Idea (2)</vt:lpstr>
      <vt:lpstr>Circuiti combinatori e sequenziali (2)</vt:lpstr>
      <vt:lpstr>Circuiti combinatori e sequenziali (2) Idea (1)</vt:lpstr>
      <vt:lpstr>Circuiti combinatori e sequenziali (2) Idea (2)</vt:lpstr>
      <vt:lpstr>Circuiti combinatori e sequenziali (3)</vt:lpstr>
      <vt:lpstr>Circuiti combinatori e sequenziali (3) Idea (1)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ESERCITAZIONE 1- Soluzioni</dc:title>
  <dc:creator>Andrea</dc:creator>
  <cp:lastModifiedBy>Andrea</cp:lastModifiedBy>
  <cp:revision>61</cp:revision>
  <dcterms:created xsi:type="dcterms:W3CDTF">2017-10-29T11:29:02Z</dcterms:created>
  <dcterms:modified xsi:type="dcterms:W3CDTF">2017-11-14T09:56:24Z</dcterms:modified>
</cp:coreProperties>
</file>