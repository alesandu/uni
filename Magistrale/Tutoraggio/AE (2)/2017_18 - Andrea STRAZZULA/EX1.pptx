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314" r:id="rId3"/>
    <p:sldId id="280" r:id="rId4"/>
    <p:sldId id="257" r:id="rId5"/>
    <p:sldId id="258" r:id="rId6"/>
    <p:sldId id="268" r:id="rId7"/>
    <p:sldId id="270" r:id="rId8"/>
    <p:sldId id="269" r:id="rId9"/>
    <p:sldId id="273" r:id="rId10"/>
    <p:sldId id="274" r:id="rId11"/>
    <p:sldId id="279" r:id="rId12"/>
    <p:sldId id="281" r:id="rId13"/>
    <p:sldId id="282" r:id="rId14"/>
    <p:sldId id="283" r:id="rId15"/>
    <p:sldId id="284" r:id="rId16"/>
    <p:sldId id="291" r:id="rId17"/>
    <p:sldId id="29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07/11/2017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07/11/2017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groups/23585796221" TargetMode="External"/><Relationship Id="rId2" Type="http://schemas.openxmlformats.org/officeDocument/2006/relationships/hyperlink" Target="mailto:andrea.strazzulla@yahoo.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1- Soluzioni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Sistemi di numerazione e cambiamenti di base</a:t>
            </a:r>
          </a:p>
          <a:p>
            <a:r>
              <a:rPr lang="it-IT" b="1" dirty="0"/>
              <a:t>Algebre di Boole e funzioni logiche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5502C9-17A6-4DFA-A9E7-7B384581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Contatti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69D391-10F3-4437-AD8D-48286CAD3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Andrea </a:t>
            </a:r>
            <a:r>
              <a:rPr lang="it-IT" dirty="0" err="1"/>
              <a:t>Strazzulla</a:t>
            </a:r>
            <a:endParaRPr lang="it-IT" dirty="0"/>
          </a:p>
          <a:p>
            <a:pPr lvl="1"/>
            <a:r>
              <a:rPr lang="it-IT" dirty="0"/>
              <a:t>Email: </a:t>
            </a:r>
            <a:r>
              <a:rPr lang="it-IT" dirty="0">
                <a:hlinkClick r:id="rId2"/>
              </a:rPr>
              <a:t>andrea.strazzulla@yahoo.it</a:t>
            </a:r>
            <a:endParaRPr lang="it-IT" dirty="0"/>
          </a:p>
          <a:p>
            <a:pPr lvl="1"/>
            <a:r>
              <a:rPr lang="it-IT" dirty="0"/>
              <a:t>Facebook: andrea.strazzulla93</a:t>
            </a:r>
          </a:p>
          <a:p>
            <a:pPr lvl="1"/>
            <a:r>
              <a:rPr lang="it-IT" dirty="0"/>
              <a:t>Gruppo informatica: </a:t>
            </a:r>
            <a:r>
              <a:rPr lang="it-IT" dirty="0">
                <a:hlinkClick r:id="rId3"/>
              </a:rPr>
              <a:t>https://www.facebook.com/groups/23585796221</a:t>
            </a:r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pPr marL="457200" lvl="1" indent="0">
              <a:buNone/>
            </a:pPr>
            <a:r>
              <a:rPr lang="it-IT" dirty="0"/>
              <a:t>Soluzioni sul sito del corso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FC341A-1450-47C6-AC46-2AC488188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5D1CCC9-A7F6-4981-8B85-CD8918CAF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AFC4FB9-19BA-4F99-A398-A281B5D3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32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1" dirty="0"/>
              <a:t>Sistemi di numerazione e cambiamenti di base (1)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1) Convertire i seguenti numeri in binario, esadecimale e ottale:</a:t>
            </a:r>
          </a:p>
          <a:p>
            <a:pPr lvl="1">
              <a:buFont typeface="+mj-lt"/>
              <a:buAutoNum type="alphaLcParenR"/>
            </a:pPr>
            <a:r>
              <a:rPr lang="it-IT" b="1" dirty="0"/>
              <a:t>37</a:t>
            </a:r>
          </a:p>
          <a:p>
            <a:pPr lvl="1">
              <a:buFont typeface="+mj-lt"/>
              <a:buAutoNum type="alphaLcParenR"/>
            </a:pPr>
            <a:r>
              <a:rPr lang="it-IT" b="1" dirty="0"/>
              <a:t>148</a:t>
            </a:r>
          </a:p>
          <a:p>
            <a:pPr lvl="1">
              <a:buFont typeface="+mj-lt"/>
              <a:buAutoNum type="alphaLcParenR"/>
            </a:pPr>
            <a:r>
              <a:rPr lang="it-IT" b="1" dirty="0"/>
              <a:t>225</a:t>
            </a:r>
          </a:p>
          <a:p>
            <a:pPr lvl="1">
              <a:buFont typeface="+mj-lt"/>
              <a:buAutoNum type="alphaLcParenR"/>
            </a:pPr>
            <a:r>
              <a:rPr lang="it-IT" b="1" dirty="0"/>
              <a:t>1023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3CB8CBB-82E3-453F-AE4B-D0FC4BBC9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84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9FDEF9-9DF0-4EEC-B0D2-05A0E440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EEFFDA-A1F3-4A26-9B88-2487FDBD2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Condurre numero in base 10 alla base </a:t>
            </a:r>
            <a:r>
              <a:rPr lang="it-IT" i="1" dirty="0"/>
              <a:t>k</a:t>
            </a:r>
            <a:r>
              <a:rPr lang="it-IT" dirty="0"/>
              <a:t>.</a:t>
            </a:r>
          </a:p>
          <a:p>
            <a:pPr>
              <a:buFont typeface="+mj-lt"/>
              <a:buAutoNum type="arabicParenR"/>
            </a:pPr>
            <a:r>
              <a:rPr lang="it-IT" dirty="0"/>
              <a:t>Dividere il numero per </a:t>
            </a:r>
            <a:r>
              <a:rPr lang="it-IT" i="1" dirty="0"/>
              <a:t>k</a:t>
            </a:r>
            <a:r>
              <a:rPr lang="it-IT" dirty="0"/>
              <a:t>, ottenendo così un quoziente Q e un resto R;</a:t>
            </a:r>
          </a:p>
          <a:p>
            <a:pPr>
              <a:buFont typeface="+mj-lt"/>
              <a:buAutoNum type="arabicParenR"/>
            </a:pPr>
            <a:r>
              <a:rPr lang="it-IT" dirty="0"/>
              <a:t>Memorizzare il resto R;</a:t>
            </a:r>
          </a:p>
          <a:p>
            <a:pPr>
              <a:buFont typeface="+mj-lt"/>
              <a:buAutoNum type="arabicParenR"/>
            </a:pPr>
            <a:r>
              <a:rPr lang="it-IT" dirty="0"/>
              <a:t>Ripetere i punti 1) e 2) fino a che non si ottiene un quoziente Q = 0;</a:t>
            </a:r>
          </a:p>
          <a:p>
            <a:pPr>
              <a:buFont typeface="+mj-lt"/>
              <a:buAutoNum type="arabicParenR"/>
            </a:pPr>
            <a:r>
              <a:rPr lang="it-IT" dirty="0"/>
              <a:t>Scrivere i resti nell’ordine inverso rispetto a quello della memorizzazione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288A38F-6497-41E8-A1A4-91086EED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15A530-60A7-412D-BE89-AA74CA40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A4FE119-8079-43F0-9865-DAF939AD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67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17BF15-B4D9-408F-92C4-8EDDA10C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(1) Idea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4DC7EE-A011-42ED-BE52-7292D9243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930442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Attenzione: possono essere usate alcune accortezze per velocizzare questo procedimento. Esistono due modi molto semplici per trasformare un qualsiasi numero in base 2 in base 8 o16. 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C8940F-9270-416C-AC58-BC8B9C87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091887-EAFD-485E-8209-F4885416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9D56E3-1D25-4B3F-80FA-3AD987910200}"/>
              </a:ext>
            </a:extLst>
          </p:cNvPr>
          <p:cNvSpPr txBox="1"/>
          <p:nvPr/>
        </p:nvSpPr>
        <p:spPr>
          <a:xfrm>
            <a:off x="2589212" y="3292642"/>
            <a:ext cx="47420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Base 8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Ogni tripletta di bit del numero in base 2 corrisponde a una cifra nel numero in base 8, esattamente alla suo valore binario in base 10.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Esempio: (37)</a:t>
            </a:r>
            <a:r>
              <a:rPr lang="it-IT" baseline="-25000" dirty="0"/>
              <a:t>10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100</a:t>
            </a:r>
            <a:r>
              <a:rPr lang="it-IT" dirty="0">
                <a:solidFill>
                  <a:srgbClr val="0070C0"/>
                </a:solidFill>
              </a:rPr>
              <a:t>101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(?)</a:t>
            </a:r>
            <a:r>
              <a:rPr lang="it-IT" baseline="-25000" dirty="0"/>
              <a:t>8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FF0000"/>
                </a:solidFill>
              </a:rPr>
              <a:t>100 </a:t>
            </a:r>
            <a:r>
              <a:rPr lang="it-IT" dirty="0"/>
              <a:t>= </a:t>
            </a:r>
            <a:r>
              <a:rPr lang="it-IT" dirty="0">
                <a:solidFill>
                  <a:srgbClr val="FF0000"/>
                </a:solidFill>
              </a:rPr>
              <a:t>4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70C0"/>
                </a:solidFill>
              </a:rPr>
              <a:t>101 </a:t>
            </a:r>
            <a:r>
              <a:rPr lang="it-IT" dirty="0"/>
              <a:t>= </a:t>
            </a:r>
            <a:r>
              <a:rPr lang="it-IT" dirty="0">
                <a:solidFill>
                  <a:srgbClr val="0070C0"/>
                </a:solidFill>
              </a:rPr>
              <a:t>5</a:t>
            </a:r>
          </a:p>
          <a:p>
            <a:pPr lvl="1"/>
            <a:r>
              <a:rPr lang="it-IT" dirty="0"/>
              <a:t>(37)</a:t>
            </a:r>
            <a:r>
              <a:rPr lang="it-IT" baseline="-25000" dirty="0"/>
              <a:t>10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100</a:t>
            </a:r>
            <a:r>
              <a:rPr lang="it-IT" dirty="0">
                <a:solidFill>
                  <a:srgbClr val="0070C0"/>
                </a:solidFill>
              </a:rPr>
              <a:t>101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4</a:t>
            </a:r>
            <a:r>
              <a:rPr lang="it-IT" dirty="0">
                <a:solidFill>
                  <a:srgbClr val="0070C0"/>
                </a:solidFill>
              </a:rPr>
              <a:t>5</a:t>
            </a:r>
            <a:r>
              <a:rPr lang="it-IT" dirty="0"/>
              <a:t>)</a:t>
            </a:r>
            <a:r>
              <a:rPr lang="it-IT" baseline="-25000" dirty="0"/>
              <a:t>8</a:t>
            </a:r>
          </a:p>
          <a:p>
            <a:pPr lvl="1"/>
            <a:endParaRPr lang="it-IT" b="1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b="1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E47E3DC-0C88-4DB5-BFC8-D7B61F6EBBE9}"/>
              </a:ext>
            </a:extLst>
          </p:cNvPr>
          <p:cNvSpPr txBox="1"/>
          <p:nvPr/>
        </p:nvSpPr>
        <p:spPr>
          <a:xfrm>
            <a:off x="7331242" y="3292642"/>
            <a:ext cx="47420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Base 16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Ogni quartetto di bit del numero in base 2 corrisponde a una cifra nel numero in base 8, esattamente alla suo valore binario in base 10.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dirty="0"/>
              <a:t>Esempio: (37)</a:t>
            </a:r>
            <a:r>
              <a:rPr lang="it-IT" baseline="-25000" dirty="0"/>
              <a:t>10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0010</a:t>
            </a:r>
            <a:r>
              <a:rPr lang="it-IT" dirty="0">
                <a:solidFill>
                  <a:srgbClr val="0070C0"/>
                </a:solidFill>
              </a:rPr>
              <a:t>0101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(?)</a:t>
            </a:r>
            <a:r>
              <a:rPr lang="it-IT" baseline="-25000" dirty="0"/>
              <a:t>16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FF0000"/>
                </a:solidFill>
              </a:rPr>
              <a:t>0010 </a:t>
            </a:r>
            <a:r>
              <a:rPr lang="it-IT" dirty="0"/>
              <a:t>= </a:t>
            </a:r>
            <a:r>
              <a:rPr lang="it-IT" dirty="0">
                <a:solidFill>
                  <a:srgbClr val="FF0000"/>
                </a:solidFill>
              </a:rPr>
              <a:t>2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0070C0"/>
                </a:solidFill>
              </a:rPr>
              <a:t>0101 </a:t>
            </a:r>
            <a:r>
              <a:rPr lang="it-IT" dirty="0"/>
              <a:t>= </a:t>
            </a:r>
            <a:r>
              <a:rPr lang="it-IT" dirty="0">
                <a:solidFill>
                  <a:srgbClr val="0070C0"/>
                </a:solidFill>
              </a:rPr>
              <a:t>5</a:t>
            </a:r>
          </a:p>
          <a:p>
            <a:pPr lvl="1"/>
            <a:r>
              <a:rPr lang="it-IT" dirty="0"/>
              <a:t>(37)</a:t>
            </a:r>
            <a:r>
              <a:rPr lang="it-IT" baseline="-25000" dirty="0"/>
              <a:t>10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100</a:t>
            </a:r>
            <a:r>
              <a:rPr lang="it-IT" dirty="0">
                <a:solidFill>
                  <a:srgbClr val="0070C0"/>
                </a:solidFill>
              </a:rPr>
              <a:t>101</a:t>
            </a:r>
            <a:r>
              <a:rPr lang="it-IT" dirty="0"/>
              <a:t>)</a:t>
            </a:r>
            <a:r>
              <a:rPr lang="it-IT" baseline="-25000" dirty="0"/>
              <a:t>2</a:t>
            </a:r>
            <a:r>
              <a:rPr lang="it-IT" dirty="0"/>
              <a:t> = (</a:t>
            </a:r>
            <a:r>
              <a:rPr lang="it-IT" dirty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0070C0"/>
                </a:solidFill>
              </a:rPr>
              <a:t>5</a:t>
            </a:r>
            <a:r>
              <a:rPr lang="it-IT" dirty="0"/>
              <a:t>)</a:t>
            </a:r>
            <a:r>
              <a:rPr lang="it-IT" baseline="-25000" dirty="0"/>
              <a:t>16</a:t>
            </a:r>
          </a:p>
          <a:p>
            <a:pPr lvl="1"/>
            <a:endParaRPr lang="it-IT" b="1" dirty="0">
              <a:solidFill>
                <a:srgbClr val="0070C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it-IT" b="1" dirty="0"/>
          </a:p>
        </p:txBody>
      </p:sp>
      <p:sp>
        <p:nvSpPr>
          <p:cNvPr id="9" name="Segnaposto data 8">
            <a:extLst>
              <a:ext uri="{FF2B5EF4-FFF2-40B4-BE49-F238E27FC236}">
                <a16:creationId xmlns:a16="http://schemas.microsoft.com/office/drawing/2014/main" id="{C8C744F1-C1C0-4FD2-8BE0-2BB726EA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18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1" dirty="0"/>
              <a:t>Sistemi di numerazione e cambiamenti di base (2)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2) Qual è la rappresentazione decimale, ottale e esadecimale della stringa binaria 1001101001?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090052B-58DF-4993-9DA0-3459BBED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03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9FDEF9-9DF0-4EEC-B0D2-05A0E440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(2) Idea (1)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6EEFFDA-A1F3-4A26-9B88-2487FDBD24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Condurre numero in base</a:t>
                </a:r>
                <a:r>
                  <a:rPr lang="it-IT" i="1" dirty="0"/>
                  <a:t> k </a:t>
                </a:r>
                <a:r>
                  <a:rPr lang="it-IT" dirty="0"/>
                  <a:t>alla base 10.</a:t>
                </a:r>
              </a:p>
              <a:p>
                <a:pPr>
                  <a:buFont typeface="+mj-lt"/>
                  <a:buAutoNum type="arabicParenR"/>
                </a:pPr>
                <a:r>
                  <a:rPr lang="it-IT" dirty="0"/>
                  <a:t>Per ogni cifra </a:t>
                </a:r>
                <a:r>
                  <a:rPr lang="it-IT" i="1" dirty="0"/>
                  <a:t>i</a:t>
                </a:r>
                <a:r>
                  <a:rPr lang="it-IT" dirty="0"/>
                  <a:t>, in posizione </a:t>
                </a:r>
                <a:r>
                  <a:rPr lang="it-IT" i="1" dirty="0"/>
                  <a:t>j</a:t>
                </a:r>
                <a:r>
                  <a:rPr lang="it-IT" dirty="0"/>
                  <a:t> del numero in base </a:t>
                </a:r>
                <a:r>
                  <a:rPr lang="it-IT" i="1" dirty="0"/>
                  <a:t>k</a:t>
                </a:r>
                <a:r>
                  <a:rPr lang="it-IT" dirty="0"/>
                  <a:t> (con </a:t>
                </a:r>
                <a:r>
                  <a:rPr lang="it-IT" i="1" dirty="0"/>
                  <a:t>j</a:t>
                </a:r>
                <a:r>
                  <a:rPr lang="it-IT" dirty="0"/>
                  <a:t>=0 la cifra meno significativa):</a:t>
                </a:r>
              </a:p>
              <a:p>
                <a:pPr lvl="1">
                  <a:buFont typeface="+mj-lt"/>
                  <a:buAutoNum type="arabicParenR"/>
                </a:pPr>
                <a:r>
                  <a:rPr lang="it-IT" dirty="0"/>
                  <a:t>Ottenere il valore </a:t>
                </a:r>
                <a:r>
                  <a:rPr lang="it-IT" dirty="0" err="1"/>
                  <a:t>n</a:t>
                </a:r>
                <a:r>
                  <a:rPr lang="it-IT" baseline="-25000" dirty="0" err="1"/>
                  <a:t>j</a:t>
                </a:r>
                <a:r>
                  <a:rPr lang="it-IT" dirty="0"/>
                  <a:t> = </a:t>
                </a:r>
                <a:r>
                  <a:rPr lang="it-IT" i="1" dirty="0"/>
                  <a:t>i*</a:t>
                </a:r>
                <a:r>
                  <a:rPr lang="it-IT" i="1" dirty="0" err="1"/>
                  <a:t>k</a:t>
                </a:r>
                <a:r>
                  <a:rPr lang="it-IT" i="1" baseline="30000" dirty="0" err="1"/>
                  <a:t>j</a:t>
                </a:r>
                <a:endParaRPr lang="it-IT" dirty="0"/>
              </a:p>
              <a:p>
                <a:pPr>
                  <a:buFont typeface="+mj-lt"/>
                  <a:buAutoNum type="arabicParenR"/>
                </a:pPr>
                <a:r>
                  <a:rPr lang="it-IT" dirty="0"/>
                  <a:t>Sommare gli </a:t>
                </a:r>
                <a:r>
                  <a:rPr lang="it-IT" dirty="0" err="1"/>
                  <a:t>n</a:t>
                </a:r>
                <a:r>
                  <a:rPr lang="it-IT" baseline="-25000" dirty="0" err="1"/>
                  <a:t>j</a:t>
                </a:r>
                <a:r>
                  <a:rPr lang="it-IT" dirty="0"/>
                  <a:t> per ottenere il valore</a:t>
                </a:r>
              </a:p>
              <a:p>
                <a:pPr>
                  <a:buFont typeface="+mj-lt"/>
                  <a:buAutoNum type="arabicParenR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nor/>
                          </m:rPr>
                          <a:rPr lang="it-IT" dirty="0"/>
                          <m:t>n</m:t>
                        </m:r>
                        <m:r>
                          <m:rPr>
                            <m:nor/>
                          </m:rPr>
                          <a:rPr lang="it-IT" baseline="-25000" dirty="0"/>
                          <m:t>j</m:t>
                        </m:r>
                      </m:e>
                    </m:nary>
                  </m:oMath>
                </a14:m>
                <a:r>
                  <a:rPr lang="it-IT" dirty="0"/>
                  <a:t>, con </a:t>
                </a:r>
                <a:r>
                  <a:rPr lang="it-IT" i="1" dirty="0"/>
                  <a:t>m </a:t>
                </a:r>
                <a:r>
                  <a:rPr lang="it-IT" dirty="0"/>
                  <a:t>numero di cifre del numero in base </a:t>
                </a:r>
                <a:r>
                  <a:rPr lang="it-IT" i="1" dirty="0"/>
                  <a:t>k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6EEFFDA-A1F3-4A26-9B88-2487FDBD2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288A38F-6497-41E8-A1A4-91086EED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615A530-60A7-412D-BE89-AA74CA40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403573E-906A-4E4E-84D8-6D26945A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846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F1E782-10FD-4612-9CE4-488249F8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E466F1-1A3F-4D97-93F0-819E5CAA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3) Convertire, se possibile, in decimale i seguenti numeri esadecimali:</a:t>
            </a:r>
          </a:p>
          <a:p>
            <a:pPr lvl="1"/>
            <a:r>
              <a:rPr lang="it-IT" b="1" dirty="0"/>
              <a:t>BARBA</a:t>
            </a:r>
          </a:p>
          <a:p>
            <a:pPr lvl="1"/>
            <a:r>
              <a:rPr lang="it-IT" b="1" dirty="0"/>
              <a:t>DECADE</a:t>
            </a:r>
          </a:p>
          <a:p>
            <a:pPr lvl="1"/>
            <a:r>
              <a:rPr lang="it-IT" b="1" dirty="0"/>
              <a:t>CACCIA</a:t>
            </a:r>
          </a:p>
          <a:p>
            <a:pPr lvl="1"/>
            <a:r>
              <a:rPr lang="it-IT" b="1" dirty="0"/>
              <a:t>EFFE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286821D-3775-4398-932D-2B982C2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9B1BCD-F894-49D0-85B6-20214F7C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B233CB-7901-4923-9ED0-5EEC9BB17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659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37BFB6-155B-48DD-8D4D-CD751C42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(3) 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BA37C4-9543-49F4-90F2-9DF92E65E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17095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Cifre per codifica esadecimale: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286667-F52D-4912-9080-38561318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F86F72F-51AD-4231-8482-4172E320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57D1890-CFA1-431A-B407-7C4202437534}"/>
              </a:ext>
            </a:extLst>
          </p:cNvPr>
          <p:cNvSpPr txBox="1"/>
          <p:nvPr/>
        </p:nvSpPr>
        <p:spPr>
          <a:xfrm>
            <a:off x="2727158" y="2823411"/>
            <a:ext cx="34330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/>
              <a:t>7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5B33375-96E2-4CD6-941C-7A8257093D4D}"/>
              </a:ext>
            </a:extLst>
          </p:cNvPr>
          <p:cNvSpPr txBox="1"/>
          <p:nvPr/>
        </p:nvSpPr>
        <p:spPr>
          <a:xfrm>
            <a:off x="6890084" y="2823410"/>
            <a:ext cx="34330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</a:t>
            </a:r>
          </a:p>
          <a:p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937F119-3C1C-4FDA-AEBC-6B8A4FE7A1E9}"/>
              </a:ext>
            </a:extLst>
          </p:cNvPr>
          <p:cNvSpPr txBox="1"/>
          <p:nvPr/>
        </p:nvSpPr>
        <p:spPr>
          <a:xfrm>
            <a:off x="2727158" y="5261811"/>
            <a:ext cx="7595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 un numero presenta cifre diverse da quelle elencate, non è in rappresentazione esadecimale e non può essere convertito.</a:t>
            </a:r>
          </a:p>
        </p:txBody>
      </p:sp>
      <p:sp>
        <p:nvSpPr>
          <p:cNvPr id="10" name="Segnaposto data 9">
            <a:extLst>
              <a:ext uri="{FF2B5EF4-FFF2-40B4-BE49-F238E27FC236}">
                <a16:creationId xmlns:a16="http://schemas.microsoft.com/office/drawing/2014/main" id="{8B130813-7906-44A7-9C11-6C392180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542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F1E782-10FD-4612-9CE4-488249F8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Sistemi di numerazione e cambiamenti di base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E466F1-1A3F-4D97-93F0-819E5CAA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4. Quanti numeri diversi si possono rappresentare con </a:t>
            </a:r>
            <a:r>
              <a:rPr lang="it-IT" b="1" i="1" dirty="0"/>
              <a:t>k </a:t>
            </a:r>
            <a:r>
              <a:rPr lang="it-IT" b="1" dirty="0"/>
              <a:t>cifre in base </a:t>
            </a:r>
            <a:r>
              <a:rPr lang="it-IT" b="1" i="1" dirty="0"/>
              <a:t>b</a:t>
            </a:r>
            <a:r>
              <a:rPr lang="it-IT" b="1" dirty="0"/>
              <a:t>?</a:t>
            </a:r>
            <a:endParaRPr lang="it-IT" dirty="0"/>
          </a:p>
          <a:p>
            <a:pPr marL="457200" lvl="1" indent="0">
              <a:buNone/>
            </a:pPr>
            <a:r>
              <a:rPr lang="it-IT" dirty="0"/>
              <a:t>Se ne possono rappresentare esattamente </a:t>
            </a:r>
            <a:r>
              <a:rPr lang="it-IT" dirty="0" err="1"/>
              <a:t>b</a:t>
            </a:r>
            <a:r>
              <a:rPr lang="it-IT" baseline="30000" dirty="0" err="1"/>
              <a:t>k</a:t>
            </a:r>
            <a:r>
              <a:rPr lang="it-IT" dirty="0"/>
              <a:t>, che corrispondono a tutte le possibili combinazioni delle </a:t>
            </a:r>
            <a:r>
              <a:rPr lang="it-IT" i="1" dirty="0"/>
              <a:t>b</a:t>
            </a:r>
            <a:r>
              <a:rPr lang="it-IT" dirty="0"/>
              <a:t> cifre in k modi diversi.</a:t>
            </a:r>
          </a:p>
          <a:p>
            <a:pPr marL="457200" lvl="1" indent="0">
              <a:buNone/>
            </a:pPr>
            <a:endParaRPr lang="it-IT" b="1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286821D-3775-4398-932D-2B982C2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9B1BCD-F894-49D0-85B6-20214F7C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7C9B412-65AD-4355-A4DF-EE56FBA9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3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2EDC47C-FCE8-4753-B1D8-5610DA3AB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71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 (1)</a:t>
            </a:r>
            <a:br>
              <a:rPr lang="it-IT" dirty="0"/>
            </a:b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b="1" dirty="0"/>
                  <a:t>1) Semplificare le seguenti espressioni logiche:</a:t>
                </a:r>
                <a:endParaRPr lang="it-IT" dirty="0"/>
              </a:p>
              <a:p>
                <a:pPr lvl="1"/>
                <a:r>
                  <a:rPr lang="it-IT" b="1" dirty="0"/>
                  <a:t>AB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CD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̿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CD+ABCD</a:t>
                </a:r>
                <a:endParaRPr lang="it-IT" dirty="0">
                  <a:effectLst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224FDFF-B7E7-4D05-BC8E-30327BA6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60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B640B1-4FE2-4B4B-88B2-EB1ACACB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(1)</a:t>
            </a:r>
            <a:br>
              <a:rPr lang="it-IT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C47CA9-91A6-4810-802B-E5AD55D92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9211" y="2855494"/>
            <a:ext cx="4601535" cy="3055727"/>
          </a:xfrm>
        </p:spPr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it-IT" u="sng" dirty="0"/>
              <a:t>Commutativa</a:t>
            </a:r>
            <a:endParaRPr lang="it-IT" dirty="0"/>
          </a:p>
          <a:p>
            <a:pPr lvl="1"/>
            <a:r>
              <a:rPr lang="it-IT" dirty="0" err="1"/>
              <a:t>a+b</a:t>
            </a:r>
            <a:r>
              <a:rPr lang="it-IT" dirty="0"/>
              <a:t>=</a:t>
            </a:r>
            <a:r>
              <a:rPr lang="it-IT" dirty="0" err="1"/>
              <a:t>b+a</a:t>
            </a:r>
            <a:r>
              <a:rPr lang="it-IT" dirty="0"/>
              <a:t>, a*b=b*a</a:t>
            </a:r>
          </a:p>
          <a:p>
            <a:pPr>
              <a:buFont typeface="+mj-lt"/>
              <a:buAutoNum type="arabicPeriod"/>
            </a:pPr>
            <a:r>
              <a:rPr lang="it-IT" u="sng" dirty="0"/>
              <a:t>Associativa</a:t>
            </a:r>
            <a:endParaRPr lang="it-IT" dirty="0"/>
          </a:p>
          <a:p>
            <a:pPr lvl="1"/>
            <a:r>
              <a:rPr lang="it-IT" dirty="0"/>
              <a:t>a+(</a:t>
            </a:r>
            <a:r>
              <a:rPr lang="it-IT" dirty="0" err="1"/>
              <a:t>b+c</a:t>
            </a:r>
            <a:r>
              <a:rPr lang="it-IT" dirty="0"/>
              <a:t>)=(</a:t>
            </a:r>
            <a:r>
              <a:rPr lang="it-IT" dirty="0" err="1"/>
              <a:t>a+b</a:t>
            </a:r>
            <a:r>
              <a:rPr lang="it-IT" dirty="0"/>
              <a:t>)+c, a*(b*c)=(a*b)*c</a:t>
            </a:r>
          </a:p>
          <a:p>
            <a:pPr>
              <a:buFont typeface="+mj-lt"/>
              <a:buAutoNum type="arabicPeriod"/>
            </a:pPr>
            <a:r>
              <a:rPr lang="it-IT" u="sng" dirty="0"/>
              <a:t>Assorbimento</a:t>
            </a:r>
            <a:endParaRPr lang="it-IT" dirty="0"/>
          </a:p>
          <a:p>
            <a:pPr lvl="1"/>
            <a:r>
              <a:rPr lang="it-IT" dirty="0"/>
              <a:t>a+(a*b) = a, a*(</a:t>
            </a:r>
            <a:r>
              <a:rPr lang="it-IT" dirty="0" err="1"/>
              <a:t>a+b</a:t>
            </a:r>
            <a:r>
              <a:rPr lang="it-IT" dirty="0"/>
              <a:t>)=a</a:t>
            </a:r>
          </a:p>
          <a:p>
            <a:pPr>
              <a:buFont typeface="+mj-lt"/>
              <a:buAutoNum type="arabicPeriod"/>
            </a:pPr>
            <a:r>
              <a:rPr lang="it-IT" u="sng" dirty="0"/>
              <a:t>Distributiva</a:t>
            </a:r>
            <a:endParaRPr lang="it-IT" dirty="0"/>
          </a:p>
          <a:p>
            <a:pPr lvl="1"/>
            <a:r>
              <a:rPr lang="it-IT" dirty="0"/>
              <a:t>a*(</a:t>
            </a:r>
            <a:r>
              <a:rPr lang="it-IT" dirty="0" err="1"/>
              <a:t>b+c</a:t>
            </a:r>
            <a:r>
              <a:rPr lang="it-IT" dirty="0"/>
              <a:t>)=(a*b)+(a*c), a+(b*c)=(</a:t>
            </a:r>
            <a:r>
              <a:rPr lang="it-IT" dirty="0" err="1"/>
              <a:t>a+b</a:t>
            </a:r>
            <a:r>
              <a:rPr lang="it-IT" dirty="0"/>
              <a:t>)*(</a:t>
            </a:r>
            <a:r>
              <a:rPr lang="it-IT" dirty="0" err="1"/>
              <a:t>a+c</a:t>
            </a:r>
            <a:r>
              <a:rPr lang="it-IT" dirty="0"/>
              <a:t>)</a:t>
            </a:r>
          </a:p>
          <a:p>
            <a:pPr>
              <a:buFont typeface="+mj-lt"/>
              <a:buAutoNum type="arabicPeriod"/>
            </a:pP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DE9B21DA-F738-4576-AEE1-EED8FE6EB5E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934073" y="2855494"/>
                <a:ext cx="4313864" cy="304835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Idempotenza</a:t>
                </a:r>
                <a:endParaRPr lang="it-IT" dirty="0"/>
              </a:p>
              <a:p>
                <a:pPr lvl="1"/>
                <a:r>
                  <a:rPr lang="it-IT" dirty="0" err="1"/>
                  <a:t>a+a</a:t>
                </a:r>
                <a:r>
                  <a:rPr lang="it-IT" dirty="0"/>
                  <a:t>=a, a*a=a</a:t>
                </a:r>
                <a:endParaRPr lang="it-IT" u="sng" dirty="0"/>
              </a:p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Esistenza minimo e massimo</a:t>
                </a:r>
                <a:endParaRPr lang="it-IT" dirty="0"/>
              </a:p>
              <a:p>
                <a:pPr lvl="1"/>
                <a:r>
                  <a:rPr lang="it-IT" dirty="0"/>
                  <a:t>a*0 = 0, a+1=1</a:t>
                </a:r>
              </a:p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Esistenza complemento</a:t>
                </a:r>
                <a:endParaRPr lang="it-IT" dirty="0"/>
              </a:p>
              <a:p>
                <a:pPr lvl="1"/>
                <a:r>
                  <a:rPr lang="it-IT" dirty="0"/>
                  <a:t>a* a=0, a+ a=1</a:t>
                </a:r>
              </a:p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Esistenza elemento neutro</a:t>
                </a:r>
                <a:endParaRPr lang="it-IT" dirty="0"/>
              </a:p>
              <a:p>
                <a:pPr lvl="1"/>
                <a:r>
                  <a:rPr lang="it-IT" dirty="0"/>
                  <a:t>a+0=a, a*1=a </a:t>
                </a:r>
              </a:p>
              <a:p>
                <a:pPr>
                  <a:buFont typeface="+mj-lt"/>
                  <a:buAutoNum type="arabicPeriod" startAt="5"/>
                </a:pPr>
                <a:r>
                  <a:rPr lang="it-IT" u="sng" dirty="0"/>
                  <a:t>Doppia negazione</a:t>
                </a:r>
                <a:endParaRPr lang="it-IT" dirty="0"/>
              </a:p>
              <a:p>
                <a:pPr lvl="1"/>
                <a:r>
                  <a:rPr lang="it-IT" dirty="0"/>
                  <a:t>a =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endParaRPr lang="it-IT" dirty="0"/>
              </a:p>
              <a:p>
                <a:pPr marL="457200" lvl="1" indent="0">
                  <a:buNone/>
                </a:pPr>
                <a:endParaRPr lang="it-IT" dirty="0"/>
              </a:p>
              <a:p>
                <a:pPr lvl="1"/>
                <a:endParaRPr lang="it-IT" dirty="0"/>
              </a:p>
            </p:txBody>
          </p:sp>
        </mc:Choice>
        <mc:Fallback>
          <p:sp>
            <p:nvSpPr>
              <p:cNvPr id="4" name="Segnaposto contenuto 3">
                <a:extLst>
                  <a:ext uri="{FF2B5EF4-FFF2-40B4-BE49-F238E27FC236}">
                    <a16:creationId xmlns:a16="http://schemas.microsoft.com/office/drawing/2014/main" id="{DE9B21DA-F738-4576-AEE1-EED8FE6EB5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934073" y="2855494"/>
                <a:ext cx="4313864" cy="3048350"/>
              </a:xfrm>
              <a:blipFill>
                <a:blip r:embed="rId2"/>
                <a:stretch>
                  <a:fillRect l="-565" t="-1800" b="-6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B26D74-8938-4EC7-A257-7FCE28F80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5BE58-99B6-4D2A-ACDE-BAD10A04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6B1FA77-BA29-44E2-A389-3308DFB8F972}"/>
              </a:ext>
            </a:extLst>
          </p:cNvPr>
          <p:cNvSpPr txBox="1"/>
          <p:nvPr/>
        </p:nvSpPr>
        <p:spPr>
          <a:xfrm>
            <a:off x="2589212" y="1905000"/>
            <a:ext cx="8915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Un’ algebra di Boole è una tripla (K, +, *), in cui K è un insieme e + e * sono delle operazioni tra gli elementi dell’insieme K. Per le operazioni, valgono le seguenti proprietà:</a:t>
            </a:r>
          </a:p>
          <a:p>
            <a:pPr marL="342900" indent="-342900">
              <a:buFont typeface="+mj-lt"/>
              <a:buAutoNum type="arabicParenR"/>
            </a:pPr>
            <a:endParaRPr lang="it-IT" dirty="0"/>
          </a:p>
        </p:txBody>
      </p:sp>
      <p:sp>
        <p:nvSpPr>
          <p:cNvPr id="9" name="Segnaposto data 8">
            <a:extLst>
              <a:ext uri="{FF2B5EF4-FFF2-40B4-BE49-F238E27FC236}">
                <a16:creationId xmlns:a16="http://schemas.microsoft.com/office/drawing/2014/main" id="{1CC6F45E-AE85-4BD1-96F4-10E9FDDE3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252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 (1)</a:t>
            </a:r>
            <a:br>
              <a:rPr lang="it-IT" dirty="0"/>
            </a:br>
            <a:r>
              <a:rPr lang="it-IT" b="1" dirty="0"/>
              <a:t>Idea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Per semplificare, si intende una espressione equivalente a quella proposta in esercizio e non immediatamente riconducibile a una più semplice. Si tenga presente che la soluzione proposta non è l’unica. Vanno applicate le proprietà appena illustrate.</a:t>
            </a:r>
          </a:p>
          <a:p>
            <a:pPr marL="0" indent="0">
              <a:buNone/>
            </a:pPr>
            <a:endParaRPr lang="it-IT" dirty="0">
              <a:effectLst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A926D45-63B9-4F7E-AB27-CB760F82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44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b="1" dirty="0"/>
                  <a:t>2) Dimostrare la validità o meno delle seguenti uguaglianze logiche: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it-IT" b="1" dirty="0"/>
                  <a:t>AB+AC = A(B+C)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+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  <m:r>
                      <a:rPr lang="it-IT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b="1" dirty="0"/>
                  <a:t>+BC=1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 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+CB=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it-IT" b="1" dirty="0"/>
                  <a:t>B+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B=0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it-IT" b="1" dirty="0"/>
                  <a:t>A = (ABC) + (A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𝑩𝑪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it-IT" b="1" dirty="0"/>
                  <a:t>)</a:t>
                </a:r>
                <a:endParaRPr lang="it-IT" dirty="0"/>
              </a:p>
              <a:p>
                <a:pPr marL="800100" lvl="1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it-IT" b="1" dirty="0"/>
                          <m:t>(</m:t>
                        </m:r>
                        <m:r>
                          <m:rPr>
                            <m:nor/>
                          </m:rPr>
                          <a:rPr lang="it-IT" b="1" dirty="0"/>
                          <m:t>A</m:t>
                        </m:r>
                        <m:r>
                          <m:rPr>
                            <m:nor/>
                          </m:rPr>
                          <a:rPr lang="it-IT" b="1" dirty="0"/>
                          <m:t>+</m:t>
                        </m:r>
                        <m:r>
                          <m:rPr>
                            <m:nor/>
                          </m:rPr>
                          <a:rPr lang="it-IT" b="1" dirty="0"/>
                          <m:t>B</m:t>
                        </m:r>
                        <m:r>
                          <m:rPr>
                            <m:nor/>
                          </m:rPr>
                          <a:rPr lang="it-IT" b="1" dirty="0"/>
                          <m:t>+</m:t>
                        </m:r>
                        <m:r>
                          <m:rPr>
                            <m:nor/>
                          </m:rPr>
                          <a:rPr lang="it-IT" b="1" dirty="0"/>
                          <m:t>C</m:t>
                        </m:r>
                        <m:r>
                          <m:rPr>
                            <m:nor/>
                          </m:rPr>
                          <a:rPr lang="it-IT" b="1" dirty="0"/>
                          <m:t>+</m:t>
                        </m:r>
                        <m:r>
                          <m:rPr>
                            <m:nor/>
                          </m:rPr>
                          <a:rPr lang="it-IT" b="1" dirty="0"/>
                          <m:t>D</m:t>
                        </m:r>
                        <m:r>
                          <m:rPr>
                            <m:nor/>
                          </m:rPr>
                          <a:rPr lang="it-IT" b="1" dirty="0"/>
                          <m:t>)</m:t>
                        </m:r>
                      </m:e>
                    </m:acc>
                  </m:oMath>
                </a14:m>
                <a:r>
                  <a:rPr lang="it-IT" b="1" dirty="0"/>
                  <a:t>= A B C D</a:t>
                </a:r>
                <a:endParaRPr lang="it-IT" dirty="0">
                  <a:effectLst/>
                </a:endParaRP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9" t="-8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7EF7454-1B56-486A-A5B1-9E49838E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534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D24E6-3325-458C-8F7F-904BB900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funzioni logiche (2)</a:t>
            </a:r>
            <a:br>
              <a:rPr lang="it-IT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66CF61-1AE7-476B-8FB7-02FF8BC2C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752556" cy="3777622"/>
          </a:xfrm>
        </p:spPr>
        <p:txBody>
          <a:bodyPr>
            <a:normAutofit/>
          </a:bodyPr>
          <a:lstStyle/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056A1F-3BB1-4117-BF2B-9C3EB868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E01B112-DDEB-400C-9D62-3223D1AC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3813AD2-CC28-4CB7-937E-A14B76F705FA}"/>
              </a:ext>
            </a:extLst>
          </p:cNvPr>
          <p:cNvSpPr txBox="1"/>
          <p:nvPr/>
        </p:nvSpPr>
        <p:spPr>
          <a:xfrm>
            <a:off x="2727158" y="2245895"/>
            <a:ext cx="74820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Dimostrare l’equivalenza tra due espressioni booleane: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Utilizzare le proprietà per trasformare un’espressione nell’altra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Confrontare le tavole di verità delle due espressioni.</a:t>
            </a: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2131F4A9-38F6-4449-958A-14CF9AFB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996732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342</TotalTime>
  <Words>1146</Words>
  <Application>Microsoft Office PowerPoint</Application>
  <PresentationFormat>Widescreen</PresentationFormat>
  <Paragraphs>162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Century Gothic</vt:lpstr>
      <vt:lpstr>Wingdings</vt:lpstr>
      <vt:lpstr>Wingdings 3</vt:lpstr>
      <vt:lpstr>Filo</vt:lpstr>
      <vt:lpstr>ESERCITAZIONE 1- Soluzioni</vt:lpstr>
      <vt:lpstr>Contatti</vt:lpstr>
      <vt:lpstr>Sistemi di numerazione e cambiamenti di base</vt:lpstr>
      <vt:lpstr>Sistemi di numerazione e cambiamenti di base (1) </vt:lpstr>
      <vt:lpstr>Sistemi di numerazione e cambiamenti di base (1) Idea (1)</vt:lpstr>
      <vt:lpstr>Sistemi di numerazione e cambiamenti di base (1) Idea (2)</vt:lpstr>
      <vt:lpstr>Sistemi di numerazione e cambiamenti di base (2) </vt:lpstr>
      <vt:lpstr>Sistemi di numerazione e cambiamenti di base (2) Idea (1)</vt:lpstr>
      <vt:lpstr>Sistemi di numerazione e cambiamenti di base (3)</vt:lpstr>
      <vt:lpstr>Sistemi di numerazione e cambiamenti di base (3) Idea (1)</vt:lpstr>
      <vt:lpstr>Sistemi di numerazione e cambiamenti di base (4)</vt:lpstr>
      <vt:lpstr>Algebre di Boole e funzioni logiche</vt:lpstr>
      <vt:lpstr>Algebre di Boole e funzioni logiche (1) </vt:lpstr>
      <vt:lpstr>Algebre di Boole e funzioni logiche (1) Idea (1)</vt:lpstr>
      <vt:lpstr>Algebre di Boole e funzioni logiche (1) Idea (2)</vt:lpstr>
      <vt:lpstr>Algebre di Boole e funzioni logiche (2) </vt:lpstr>
      <vt:lpstr>Algebre di Boole e funzioni logiche (2) Idea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34</cp:revision>
  <dcterms:created xsi:type="dcterms:W3CDTF">2017-10-29T11:29:02Z</dcterms:created>
  <dcterms:modified xsi:type="dcterms:W3CDTF">2017-11-07T18:00:39Z</dcterms:modified>
</cp:coreProperties>
</file>