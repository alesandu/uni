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98" r:id="rId3"/>
    <p:sldId id="299" r:id="rId4"/>
    <p:sldId id="300" r:id="rId5"/>
    <p:sldId id="307" r:id="rId6"/>
    <p:sldId id="308" r:id="rId7"/>
    <p:sldId id="301" r:id="rId8"/>
    <p:sldId id="302" r:id="rId9"/>
    <p:sldId id="309" r:id="rId10"/>
    <p:sldId id="310" r:id="rId11"/>
    <p:sldId id="316" r:id="rId12"/>
    <p:sldId id="317" r:id="rId13"/>
    <p:sldId id="318" r:id="rId14"/>
    <p:sldId id="303" r:id="rId15"/>
    <p:sldId id="304" r:id="rId16"/>
    <p:sldId id="311" r:id="rId17"/>
    <p:sldId id="312" r:id="rId18"/>
    <p:sldId id="305" r:id="rId19"/>
    <p:sldId id="306" r:id="rId20"/>
    <p:sldId id="313" r:id="rId21"/>
    <p:sldId id="314" r:id="rId22"/>
    <p:sldId id="315" r:id="rId23"/>
    <p:sldId id="297" r:id="rId24"/>
    <p:sldId id="274" r:id="rId25"/>
    <p:sldId id="280" r:id="rId26"/>
    <p:sldId id="281" r:id="rId27"/>
    <p:sldId id="294" r:id="rId28"/>
    <p:sldId id="295" r:id="rId29"/>
    <p:sldId id="29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6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21/11/2017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21/11/2017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</a:t>
            </a:r>
          </a:p>
          <a:p>
            <a:r>
              <a:rPr lang="it-IT" b="1" dirty="0"/>
              <a:t>Codici di correzione di errore</a:t>
            </a:r>
          </a:p>
          <a:p>
            <a:endParaRPr lang="it-IT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3169522-414C-4F79-ADF5-8DE5709F33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3- Soluzioni</a:t>
            </a:r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circuiti logici  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644667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</a:t>
            </a:r>
            <a:r>
              <a:rPr lang="it-IT" dirty="0"/>
              <a:t> </a:t>
            </a:r>
            <a:r>
              <a:rPr lang="it-IT" b="1" dirty="0"/>
              <a:t>Si consideri il circuito logico in figura. Si determini la funzione logica che implementa e la si semplifichi. Disegnare, poi, il nuovo circuito.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2B9901C-C4E2-45A2-BB50-9D8940343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821" y="2826703"/>
            <a:ext cx="5244182" cy="32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(1)</a:t>
            </a:r>
            <a:br>
              <a:rPr lang="it-IT" b="1" dirty="0"/>
            </a:br>
            <a:r>
              <a:rPr lang="it-IT" b="1" dirty="0"/>
              <a:t>Soluzione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64466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Risolvere le porte logiche una alla volta, considerando l’ordine in cui esse vengono eseguite.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0B2095B-AA07-4C64-B634-C148704C9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3171162"/>
            <a:ext cx="3333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6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(1)</a:t>
            </a:r>
            <a:br>
              <a:rPr lang="it-IT" b="1" dirty="0"/>
            </a:br>
            <a:r>
              <a:rPr lang="it-IT" b="1" dirty="0"/>
              <a:t>Soluzione (2)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A9C0F84-B4F8-4C9F-A05C-1C397675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140" y="1905000"/>
            <a:ext cx="5067719" cy="31509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C0DDEBA-0BDB-4E51-BC54-3ED7F5A6DB90}"/>
                  </a:ext>
                </a:extLst>
              </p:cNvPr>
              <p:cNvSpPr txBox="1"/>
              <p:nvPr/>
            </p:nvSpPr>
            <p:spPr>
              <a:xfrm>
                <a:off x="2005263" y="5085347"/>
                <a:ext cx="7876674" cy="947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Risolvere le porte logiche come illustrato in precedenza. Il risultato è:</a:t>
                </a:r>
              </a:p>
              <a:p>
                <a:r>
                  <a:rPr lang="it-IT" dirty="0"/>
                  <a:t>Y =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(A + B)) + (BC)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C0DDEBA-0BDB-4E51-BC54-3ED7F5A6D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63" y="5085347"/>
                <a:ext cx="7876674" cy="947760"/>
              </a:xfrm>
              <a:prstGeom prst="rect">
                <a:avLst/>
              </a:prstGeom>
              <a:blipFill>
                <a:blip r:embed="rId3"/>
                <a:stretch>
                  <a:fillRect l="-697" t="-320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59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(1)</a:t>
            </a:r>
            <a:br>
              <a:rPr lang="it-IT" b="1" dirty="0"/>
            </a:br>
            <a:r>
              <a:rPr lang="it-IT" b="1" dirty="0"/>
              <a:t>Soluzione (3)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C0DDEBA-0BDB-4E51-BC54-3ED7F5A6DB90}"/>
                  </a:ext>
                </a:extLst>
              </p:cNvPr>
              <p:cNvSpPr txBox="1"/>
              <p:nvPr/>
            </p:nvSpPr>
            <p:spPr>
              <a:xfrm>
                <a:off x="1989221" y="2413062"/>
                <a:ext cx="7876674" cy="2588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Semplificare:</a:t>
                </a:r>
              </a:p>
              <a:p>
                <a:r>
                  <a:rPr lang="it-IT" dirty="0"/>
                  <a:t>Y =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(A + B)) + (BC)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it-IT" dirty="0"/>
              </a:p>
              <a:p>
                <a:r>
                  <a:rPr lang="it-IT" dirty="0"/>
                  <a:t>→ 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 err="1"/>
                  <a:t>A</a:t>
                </a:r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B + (BC)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 						[distributività]</a:t>
                </a:r>
              </a:p>
              <a:p>
                <a:r>
                  <a:rPr lang="it-IT" dirty="0"/>
                  <a:t>→ Y =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it-IT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B + (BC)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 							[contraddizione]</a:t>
                </a:r>
              </a:p>
              <a:p>
                <a:r>
                  <a:rPr lang="it-IT" dirty="0"/>
                  <a:t>→ 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B + (BC)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 								[</a:t>
                </a:r>
                <a:r>
                  <a:rPr lang="it-IT" dirty="0" err="1"/>
                  <a:t>el</a:t>
                </a:r>
                <a:r>
                  <a:rPr lang="it-IT" dirty="0"/>
                  <a:t>. neutro]</a:t>
                </a:r>
              </a:p>
              <a:p>
                <a:r>
                  <a:rPr lang="it-IT" dirty="0"/>
                  <a:t>→ 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B + 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									[assorbimento II]</a:t>
                </a:r>
              </a:p>
              <a:p>
                <a:r>
                  <a:rPr lang="it-IT" dirty="0"/>
                  <a:t>→ Y = 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										[assorbimento]</a:t>
                </a:r>
              </a:p>
              <a:p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9C0DDEBA-0BDB-4E51-BC54-3ED7F5A6D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221" y="2413062"/>
                <a:ext cx="7876674" cy="2588209"/>
              </a:xfrm>
              <a:prstGeom prst="rect">
                <a:avLst/>
              </a:prstGeom>
              <a:blipFill>
                <a:blip r:embed="rId2"/>
                <a:stretch>
                  <a:fillRect l="-619" t="-14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58E974-CE8F-441F-B120-EEF086A36634}"/>
              </a:ext>
            </a:extLst>
          </p:cNvPr>
          <p:cNvSpPr txBox="1"/>
          <p:nvPr/>
        </p:nvSpPr>
        <p:spPr>
          <a:xfrm>
            <a:off x="2197768" y="4645209"/>
            <a:ext cx="389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circuito che implementa la funzione logica richiesta è illustrato a fianco.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B147411-2DC5-49AF-8EC6-03D9B911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709" y="4658702"/>
            <a:ext cx="2590476" cy="95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0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(2)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b="1" dirty="0"/>
                  <a:t>2)</a:t>
                </a:r>
                <a:r>
                  <a:rPr lang="it-IT" dirty="0"/>
                  <a:t> </a:t>
                </a:r>
                <a:r>
                  <a:rPr lang="it-IT" b="1" dirty="0"/>
                  <a:t>Data la funzione logica Y= 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CD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C, semplificarla e scriverla in forma congiuntiva. Disegnare il circuito corrispondente a una delle due forme.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  <a:blipFill>
                <a:blip r:embed="rId2"/>
                <a:stretch>
                  <a:fillRect l="-616" t="-1916" r="-10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191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(2)</a:t>
            </a:r>
            <a:br>
              <a:rPr lang="it-IT" b="1" dirty="0"/>
            </a:br>
            <a:r>
              <a:rPr lang="it-IT" b="1" dirty="0"/>
              <a:t>Soluzione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002208"/>
          </a:xfrm>
        </p:spPr>
        <p:txBody>
          <a:bodyPr>
            <a:normAutofit/>
          </a:bodyPr>
          <a:lstStyle/>
          <a:p>
            <a:r>
              <a:rPr lang="it-IT" dirty="0"/>
              <a:t>Per disegnare il circuito, fare riferimento alle porte logiche viste in precedenza, anche a più di due porte.</a:t>
            </a:r>
          </a:p>
          <a:p>
            <a:r>
              <a:rPr lang="it-IT" dirty="0"/>
              <a:t>È più semplice rappresentare la funzione logica semplificata.</a:t>
            </a:r>
          </a:p>
          <a:p>
            <a:r>
              <a:rPr lang="it-IT" dirty="0"/>
              <a:t>Passaggio in CNF:</a:t>
            </a:r>
          </a:p>
          <a:p>
            <a:pPr lvl="1"/>
            <a:r>
              <a:rPr lang="it-IT" dirty="0"/>
              <a:t>Doppia negazione</a:t>
            </a:r>
          </a:p>
          <a:p>
            <a:pPr lvl="1"/>
            <a:r>
              <a:rPr lang="it-IT" dirty="0"/>
              <a:t>Interna risolta tramite De Morgan</a:t>
            </a:r>
          </a:p>
          <a:p>
            <a:pPr lvl="1"/>
            <a:r>
              <a:rPr lang="it-IT" dirty="0"/>
              <a:t>Semplificare contraddizioni/idempotenze</a:t>
            </a:r>
          </a:p>
          <a:p>
            <a:pPr lvl="1"/>
            <a:r>
              <a:rPr lang="it-IT" dirty="0"/>
              <a:t>Usare nuovamente De Morgan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7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(2)</a:t>
            </a:r>
            <a:br>
              <a:rPr lang="it-IT" b="1" dirty="0"/>
            </a:br>
            <a:r>
              <a:rPr lang="it-IT" b="1" dirty="0"/>
              <a:t>Soluzione (2)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400220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it-IT" dirty="0"/>
                  <a:t>Semplificazione dell’espressione Y= 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CD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</a:t>
                </a:r>
              </a:p>
              <a:p>
                <a:r>
                  <a:rPr lang="it-IT" dirty="0"/>
                  <a:t>Y= C(B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D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								[distributività]</a:t>
                </a:r>
              </a:p>
              <a:p>
                <a:r>
                  <a:rPr lang="it-IT" dirty="0"/>
                  <a:t>Y = C(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(B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 + D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								[distributività]</a:t>
                </a:r>
              </a:p>
              <a:p>
                <a:r>
                  <a:rPr lang="it-IT" dirty="0"/>
                  <a:t>Y = C(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(B + A) + D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								[assorbimento II]</a:t>
                </a:r>
              </a:p>
              <a:p>
                <a:r>
                  <a:rPr lang="it-IT" dirty="0"/>
                  <a:t>Y = C(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A + D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								[distributività]</a:t>
                </a:r>
              </a:p>
              <a:p>
                <a:r>
                  <a:rPr lang="it-IT" dirty="0"/>
                  <a:t>Y = C(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B + A + D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									[assorbimento II]</a:t>
                </a:r>
              </a:p>
              <a:p>
                <a:r>
                  <a:rPr lang="it-IT" dirty="0"/>
                  <a:t>Y = C(B + A + D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									[assorbimento II]</a:t>
                </a:r>
              </a:p>
              <a:p>
                <a:r>
                  <a:rPr lang="it-IT" dirty="0"/>
                  <a:t>Y = C(B + A + D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)									[assorbimento II]</a:t>
                </a:r>
              </a:p>
              <a:p>
                <a:r>
                  <a:rPr lang="it-IT" dirty="0"/>
                  <a:t>Y = C(B + 1 + D )										[tautologia]</a:t>
                </a:r>
              </a:p>
              <a:p>
                <a:r>
                  <a:rPr lang="it-IT" dirty="0"/>
                  <a:t>Y = C(1)												[</a:t>
                </a:r>
                <a:r>
                  <a:rPr lang="it-IT" dirty="0" err="1"/>
                  <a:t>el</a:t>
                </a:r>
                <a:r>
                  <a:rPr lang="it-IT" dirty="0"/>
                  <a:t>. assorbente]</a:t>
                </a:r>
              </a:p>
              <a:p>
                <a:r>
                  <a:rPr lang="it-IT" dirty="0"/>
                  <a:t>Y = C													[</a:t>
                </a:r>
                <a:r>
                  <a:rPr lang="it-IT" dirty="0" err="1"/>
                  <a:t>el</a:t>
                </a:r>
                <a:r>
                  <a:rPr lang="it-IT" dirty="0"/>
                  <a:t>. neutro]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4002208"/>
              </a:xfrm>
              <a:blipFill>
                <a:blip r:embed="rId2"/>
                <a:stretch>
                  <a:fillRect l="-479" t="-1065" b="-3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03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(2)</a:t>
            </a:r>
            <a:br>
              <a:rPr lang="it-IT" b="1" dirty="0"/>
            </a:br>
            <a:r>
              <a:rPr lang="it-IT" b="1" dirty="0"/>
              <a:t>Soluzione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002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Circuito banale.</a:t>
            </a:r>
          </a:p>
          <a:p>
            <a:pPr marL="0" indent="0">
              <a:buNone/>
            </a:pPr>
            <a:r>
              <a:rPr lang="it-IT" dirty="0"/>
              <a:t>La forma congiuntiva viene sviluppata come illustrato in precedenza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52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BD68E-679F-4D98-915B-DBB125E2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circuiti logici (2)</a:t>
            </a:r>
            <a:br>
              <a:rPr lang="it-IT" b="1" dirty="0"/>
            </a:br>
            <a:r>
              <a:rPr lang="it-IT" b="1" dirty="0"/>
              <a:t>Soluzione (4)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582A34DE-6CC2-423A-B004-371D14EA1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5932" y="2133600"/>
            <a:ext cx="7341961" cy="3778250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2BE5C6-8E53-4102-8C30-40911709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6FAEDA-3419-4ACA-A2EE-2F11A47F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688AD0-D51D-4EFF-8FB3-E0F34CE4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30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BD68E-679F-4D98-915B-DBB125E2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circuiti logici (2)</a:t>
            </a:r>
            <a:br>
              <a:rPr lang="it-IT" b="1" dirty="0"/>
            </a:br>
            <a:r>
              <a:rPr lang="it-IT" b="1" dirty="0"/>
              <a:t>Soluzione (5)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2BE5C6-8E53-4102-8C30-40911709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6FAEDA-3419-4ACA-A2EE-2F11A47F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688AD0-D51D-4EFF-8FB3-E0F34CE4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EF450FB3-41A0-487C-91B2-093FAF66B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098" y="2261936"/>
            <a:ext cx="7335339" cy="3165653"/>
          </a:xfrm>
        </p:spPr>
      </p:pic>
    </p:spTree>
    <p:extLst>
      <p:ext uri="{BB962C8B-B14F-4D97-AF65-F5344CB8AC3E}">
        <p14:creationId xmlns:p14="http://schemas.microsoft.com/office/powerpoint/2010/main" val="195537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BD68E-679F-4D98-915B-DBB125E2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circuiti logici (2)</a:t>
            </a:r>
            <a:br>
              <a:rPr lang="it-IT" b="1" dirty="0"/>
            </a:br>
            <a:r>
              <a:rPr lang="it-IT" b="1" dirty="0"/>
              <a:t>Soluzione (6)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2BE5C6-8E53-4102-8C30-40911709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6FAEDA-3419-4ACA-A2EE-2F11A47F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688AD0-D51D-4EFF-8FB3-E0F34CE4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53531EF6-35BF-4CCA-BF75-3B05B000E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056" y="3057645"/>
            <a:ext cx="7885714" cy="1930159"/>
          </a:xfrm>
        </p:spPr>
      </p:pic>
    </p:spTree>
    <p:extLst>
      <p:ext uri="{BB962C8B-B14F-4D97-AF65-F5344CB8AC3E}">
        <p14:creationId xmlns:p14="http://schemas.microsoft.com/office/powerpoint/2010/main" val="2859197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(3)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b="1" dirty="0"/>
                  <a:t>3) Considerato il circuito corrispondente ad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CD + ABC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, costruire un circuito equivalente, ma che utilizzi almeno 10 porte logiche in più.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  <a:blipFill>
                <a:blip r:embed="rId2"/>
                <a:stretch>
                  <a:fillRect l="-616" t="-19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47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(3)</a:t>
            </a:r>
            <a:br>
              <a:rPr lang="it-IT" b="1" dirty="0"/>
            </a:br>
            <a:r>
              <a:rPr lang="it-IT" b="1" dirty="0"/>
              <a:t>Soluzione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599"/>
                <a:ext cx="8915400" cy="20373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dirty="0"/>
                  <a:t>Aggiungere porte senza modificare la valenza logica del circuito:</a:t>
                </a:r>
              </a:p>
              <a:p>
                <a:pPr lvl="1"/>
                <a:r>
                  <a:rPr lang="it-IT" dirty="0"/>
                  <a:t>A =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											[due porte logiche in più]</a:t>
                </a:r>
              </a:p>
              <a:p>
                <a:pPr lvl="1"/>
                <a:r>
                  <a:rPr lang="it-IT" dirty="0"/>
                  <a:t>A = A + A 										[una porta logica in più]</a:t>
                </a:r>
              </a:p>
              <a:p>
                <a:pPr lvl="1"/>
                <a:r>
                  <a:rPr lang="it-IT" dirty="0"/>
                  <a:t>A = AA 										[una porta logica in più]</a:t>
                </a:r>
              </a:p>
              <a:p>
                <a:pPr lvl="1"/>
                <a:r>
                  <a:rPr lang="it-IT" dirty="0"/>
                  <a:t>A + B + C = (A+B) + C							 [una porta logica in più]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599"/>
                <a:ext cx="8915400" cy="2037348"/>
              </a:xfrm>
              <a:blipFill>
                <a:blip r:embed="rId2"/>
                <a:stretch>
                  <a:fillRect l="-616" t="-14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5CA8393-6EC8-4089-BAEC-CF57778B2E1C}"/>
              </a:ext>
            </a:extLst>
          </p:cNvPr>
          <p:cNvSpPr txBox="1"/>
          <p:nvPr/>
        </p:nvSpPr>
        <p:spPr>
          <a:xfrm>
            <a:off x="2589212" y="4539916"/>
            <a:ext cx="891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Possono essere usate porte logiche a due o più ingressi.</a:t>
            </a:r>
          </a:p>
        </p:txBody>
      </p:sp>
    </p:spTree>
    <p:extLst>
      <p:ext uri="{BB962C8B-B14F-4D97-AF65-F5344CB8AC3E}">
        <p14:creationId xmlns:p14="http://schemas.microsoft.com/office/powerpoint/2010/main" val="1906647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(3)</a:t>
            </a:r>
            <a:br>
              <a:rPr lang="it-IT" b="1" dirty="0"/>
            </a:br>
            <a:r>
              <a:rPr lang="it-IT" b="1" dirty="0"/>
              <a:t>Soluzione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770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È facile verificare che il circuito in figura implementa la funzione logica richiesta dall’esercizio.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D7534603-28C1-402F-83F2-DC84EFCB4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968" y="3320531"/>
            <a:ext cx="6528486" cy="239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73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(3)</a:t>
            </a:r>
            <a:br>
              <a:rPr lang="it-IT" b="1" dirty="0"/>
            </a:br>
            <a:r>
              <a:rPr lang="it-IT" b="1" dirty="0"/>
              <a:t>Soluzione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914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Usando la metodologia descritta nelle slide precedenti, si può ottenere un circuito equivalente. NB: questa è una possibile soluzione, in quanto ne esistono infinite.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3900CF7-55EB-4F1E-82C1-95BB30222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493" y="3276600"/>
            <a:ext cx="4367013" cy="278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1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(4)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b="1" dirty="0"/>
                  <a:t>4)</a:t>
                </a:r>
                <a:r>
                  <a:rPr lang="it-IT" dirty="0"/>
                  <a:t> </a:t>
                </a:r>
                <a:r>
                  <a:rPr lang="it-IT" b="1" dirty="0"/>
                  <a:t>Data la formula logica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CB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). Dimostrare se è equivalente alla formula AB+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D. Disegnare il circuito che la implementa, utilizzando un multiplexer a 8 dati in input e 3 input di controllo.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  <a:blipFill>
                <a:blip r:embed="rId2"/>
                <a:stretch>
                  <a:fillRect l="-616" t="-19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35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(4)</a:t>
            </a:r>
            <a:br>
              <a:rPr lang="it-IT" b="1" dirty="0"/>
            </a:br>
            <a:r>
              <a:rPr lang="it-IT" b="1" dirty="0"/>
              <a:t>Soluzione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588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Questo esercizio altro non è che la combinazione di altri due visti nelle esercitazioni precedenti. L’idea sulla soluzione da applicare è la stessa.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0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(4)</a:t>
            </a:r>
            <a:br>
              <a:rPr lang="it-IT" b="1" dirty="0"/>
            </a:br>
            <a:r>
              <a:rPr lang="it-IT" b="1" dirty="0"/>
              <a:t>Soluzione (2)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4002208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Dimostrazione equivalenza</a:t>
                </a:r>
              </a:p>
              <a:p>
                <a:r>
                  <a:rPr lang="it-IT" dirty="0"/>
                  <a:t>Trasformare Y in AB+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D</a:t>
                </a:r>
              </a:p>
              <a:p>
                <a:pPr lvl="1"/>
                <a:r>
                  <a:rPr lang="it-IT" dirty="0"/>
                  <a:t>Y =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)</a:t>
                </a:r>
              </a:p>
              <a:p>
                <a:pPr lvl="1"/>
                <a:r>
                  <a:rPr lang="it-IT" dirty="0"/>
                  <a:t>Y =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C(B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C(D + 1)+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)					[distributività]</a:t>
                </a:r>
              </a:p>
              <a:p>
                <a:pPr lvl="1"/>
                <a:r>
                  <a:rPr lang="it-IT" dirty="0"/>
                  <a:t>Y =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C(1)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C(D + 1)+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)					[tautologia]</a:t>
                </a:r>
              </a:p>
              <a:p>
                <a:pPr lvl="1"/>
                <a:r>
                  <a:rPr lang="it-IT" dirty="0"/>
                  <a:t>Y =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C(D + 1)+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)						[</a:t>
                </a:r>
                <a:r>
                  <a:rPr lang="it-IT" dirty="0" err="1"/>
                  <a:t>el</a:t>
                </a:r>
                <a:r>
                  <a:rPr lang="it-IT" dirty="0"/>
                  <a:t>. neutro *]</a:t>
                </a:r>
              </a:p>
              <a:p>
                <a:pPr lvl="1"/>
                <a:r>
                  <a:rPr lang="it-IT" dirty="0"/>
                  <a:t>Y =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C(1)+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)							[</a:t>
                </a:r>
                <a:r>
                  <a:rPr lang="it-IT" dirty="0" err="1"/>
                  <a:t>el</a:t>
                </a:r>
                <a:r>
                  <a:rPr lang="it-IT" dirty="0"/>
                  <a:t>. assorbente +]</a:t>
                </a:r>
              </a:p>
              <a:p>
                <a:pPr lvl="1"/>
                <a:r>
                  <a:rPr lang="it-IT" dirty="0"/>
                  <a:t>Y =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C+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)							[</a:t>
                </a:r>
                <a:r>
                  <a:rPr lang="it-IT" dirty="0" err="1"/>
                  <a:t>el</a:t>
                </a:r>
                <a:r>
                  <a:rPr lang="it-IT" dirty="0"/>
                  <a:t>. neutro *]</a:t>
                </a:r>
              </a:p>
              <a:p>
                <a:pPr lvl="1"/>
                <a:r>
                  <a:rPr lang="it-IT" dirty="0"/>
                  <a:t>Y =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(C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)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(C+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) )							[distributività]</a:t>
                </a:r>
              </a:p>
              <a:p>
                <a:pPr lvl="1"/>
                <a:r>
                  <a:rPr lang="it-IT" dirty="0"/>
                  <a:t>Y = ¬((C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)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))									[distributività]</a:t>
                </a:r>
              </a:p>
              <a:p>
                <a:pPr lvl="1"/>
                <a:endParaRPr lang="it-IT" dirty="0"/>
              </a:p>
              <a:p>
                <a:pPr marL="457200" lvl="1" indent="0">
                  <a:buNone/>
                </a:pPr>
                <a:endParaRPr lang="it-IT" dirty="0"/>
              </a:p>
              <a:p>
                <a:pPr lvl="1"/>
                <a:endParaRPr lang="it-IT" dirty="0"/>
              </a:p>
              <a:p>
                <a:pPr lvl="1"/>
                <a:endParaRPr lang="it-IT" dirty="0"/>
              </a:p>
              <a:p>
                <a:pPr lvl="1"/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4002208"/>
              </a:xfrm>
              <a:blipFill>
                <a:blip r:embed="rId2"/>
                <a:stretch>
                  <a:fillRect l="-479" t="-7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054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(4)</a:t>
            </a:r>
            <a:br>
              <a:rPr lang="it-IT" b="1" dirty="0"/>
            </a:br>
            <a:r>
              <a:rPr lang="it-IT" b="1" dirty="0"/>
              <a:t>Soluzione (3)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4002208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Trasformare Y in AB+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D</a:t>
                </a:r>
              </a:p>
              <a:p>
                <a:pPr lvl="1"/>
                <a:r>
                  <a:rPr lang="it-IT" dirty="0"/>
                  <a:t>Y = ¬((C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)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))	</a:t>
                </a:r>
              </a:p>
              <a:p>
                <a:pPr lvl="1"/>
                <a:r>
                  <a:rPr lang="it-IT" dirty="0"/>
                  <a:t>Y = ¬(C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) +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)) 								[De Morgan]</a:t>
                </a:r>
              </a:p>
              <a:p>
                <a:pPr lvl="1"/>
                <a:r>
                  <a:rPr lang="it-IT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D + AB										[De Morgan]</a:t>
                </a:r>
              </a:p>
              <a:p>
                <a:pPr marL="457200" lvl="1" indent="0">
                  <a:buNone/>
                </a:pPr>
                <a:endParaRPr lang="it-IT" dirty="0"/>
              </a:p>
              <a:p>
                <a:pPr marL="457200" lvl="1" indent="0">
                  <a:buNone/>
                </a:pPr>
                <a:endParaRPr lang="it-IT" dirty="0"/>
              </a:p>
              <a:p>
                <a:pPr lvl="1"/>
                <a:endParaRPr lang="it-IT" dirty="0"/>
              </a:p>
              <a:p>
                <a:pPr lvl="1"/>
                <a:endParaRPr lang="it-IT" dirty="0"/>
              </a:p>
              <a:p>
                <a:pPr lvl="1"/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4002208"/>
              </a:xfrm>
              <a:blipFill>
                <a:blip r:embed="rId2"/>
                <a:stretch>
                  <a:fillRect l="-479" t="-7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6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(4)</a:t>
            </a:r>
            <a:br>
              <a:rPr lang="it-IT" b="1" dirty="0"/>
            </a:br>
            <a:r>
              <a:rPr lang="it-IT" b="1" dirty="0"/>
              <a:t>Soluzione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002208"/>
          </a:xfrm>
        </p:spPr>
        <p:txBody>
          <a:bodyPr>
            <a:normAutofit/>
          </a:bodyPr>
          <a:lstStyle/>
          <a:p>
            <a:r>
              <a:rPr lang="it-IT" dirty="0"/>
              <a:t>Costruzione del multiplexer</a:t>
            </a:r>
          </a:p>
          <a:p>
            <a:pPr lvl="1"/>
            <a:r>
              <a:rPr lang="it-IT" dirty="0"/>
              <a:t>(metodologia illustrata nella esercitazione 2, slide 17  e successive)</a:t>
            </a:r>
          </a:p>
          <a:p>
            <a:pPr marL="457200" lvl="1" indent="0">
              <a:buNone/>
            </a:pPr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F858CC8-9915-44A1-85B5-D24832774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465" y="3062763"/>
            <a:ext cx="5263492" cy="284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586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4) Si ha una parola a 4 bit, 1100. Utilizzando il codice d’errore basato sulla distanza di </a:t>
            </a:r>
            <a:r>
              <a:rPr lang="it-IT" b="1" dirty="0" err="1"/>
              <a:t>Hamming</a:t>
            </a:r>
            <a:r>
              <a:rPr lang="it-IT" b="1" dirty="0"/>
              <a:t>, quanti e quali sono i bit del codice di correzione </a:t>
            </a:r>
            <a:r>
              <a:rPr lang="it-IT" b="1"/>
              <a:t>corrispondente?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20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 (1)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918493" cy="3777622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Ricordando che per comporre:</a:t>
            </a:r>
          </a:p>
          <a:p>
            <a:pPr lvl="1"/>
            <a:r>
              <a:rPr lang="it-IT" dirty="0"/>
              <a:t>7 = 4 + 2 + 1</a:t>
            </a:r>
          </a:p>
          <a:p>
            <a:pPr lvl="1"/>
            <a:r>
              <a:rPr lang="it-IT" dirty="0"/>
              <a:t>6 = 4 + 2</a:t>
            </a:r>
          </a:p>
          <a:p>
            <a:pPr lvl="1"/>
            <a:r>
              <a:rPr lang="it-IT" dirty="0"/>
              <a:t>5 = 4 +       1</a:t>
            </a:r>
          </a:p>
          <a:p>
            <a:pPr lvl="1"/>
            <a:r>
              <a:rPr lang="it-IT" dirty="0"/>
              <a:t>4 = 4</a:t>
            </a:r>
          </a:p>
          <a:p>
            <a:pPr lvl="1"/>
            <a:r>
              <a:rPr lang="it-IT" dirty="0"/>
              <a:t>3 =       2 + 1</a:t>
            </a:r>
          </a:p>
          <a:p>
            <a:pPr lvl="1"/>
            <a:r>
              <a:rPr lang="it-IT" dirty="0"/>
              <a:t>2 =       2</a:t>
            </a:r>
          </a:p>
          <a:p>
            <a:pPr lvl="1"/>
            <a:r>
              <a:rPr lang="it-IT" dirty="0"/>
              <a:t>1 =             1</a:t>
            </a:r>
          </a:p>
          <a:p>
            <a:r>
              <a:rPr lang="it-IT" dirty="0"/>
              <a:t>Quindi </a:t>
            </a:r>
          </a:p>
          <a:p>
            <a:pPr lvl="1"/>
            <a:r>
              <a:rPr lang="it-IT" dirty="0"/>
              <a:t>Il valore 1 lo troviamo nei numeri 1, 3, 5, 7</a:t>
            </a:r>
          </a:p>
          <a:p>
            <a:pPr lvl="1"/>
            <a:r>
              <a:rPr lang="it-IT" dirty="0"/>
              <a:t>Il valore 2 lo troviamo nei numeri 2, 3, 6, 7</a:t>
            </a:r>
          </a:p>
          <a:p>
            <a:pPr lvl="1"/>
            <a:r>
              <a:rPr lang="it-IT" dirty="0"/>
              <a:t>Il valore 4 lo troviamo nei numeri 4, 5, 6, 7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CCFEE297-8C33-44BE-94EC-1D3468D28BCF}"/>
              </a:ext>
            </a:extLst>
          </p:cNvPr>
          <p:cNvGrpSpPr/>
          <p:nvPr/>
        </p:nvGrpSpPr>
        <p:grpSpPr>
          <a:xfrm>
            <a:off x="9766298" y="3124199"/>
            <a:ext cx="885825" cy="609601"/>
            <a:chOff x="1905000" y="3000376"/>
            <a:chExt cx="885825" cy="609601"/>
          </a:xfrm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36361B84-3F43-47FB-9DB7-F15538C0464F}"/>
                </a:ext>
              </a:extLst>
            </p:cNvPr>
            <p:cNvSpPr/>
            <p:nvPr/>
          </p:nvSpPr>
          <p:spPr bwMode="auto">
            <a:xfrm>
              <a:off x="1905000" y="3000376"/>
              <a:ext cx="295275" cy="30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8D90E7E1-7649-491B-A5A8-E969A4EB9C70}"/>
                </a:ext>
              </a:extLst>
            </p:cNvPr>
            <p:cNvSpPr/>
            <p:nvPr/>
          </p:nvSpPr>
          <p:spPr bwMode="auto">
            <a:xfrm>
              <a:off x="2200275" y="3000376"/>
              <a:ext cx="295275" cy="30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63519250-BF79-4BDE-B0B6-244B4756F5CC}"/>
                </a:ext>
              </a:extLst>
            </p:cNvPr>
            <p:cNvSpPr/>
            <p:nvPr/>
          </p:nvSpPr>
          <p:spPr bwMode="auto">
            <a:xfrm>
              <a:off x="2495550" y="3000376"/>
              <a:ext cx="295275" cy="30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E8023150-94E5-4D13-AE2B-4CB7FF8EE758}"/>
                </a:ext>
              </a:extLst>
            </p:cNvPr>
            <p:cNvSpPr/>
            <p:nvPr/>
          </p:nvSpPr>
          <p:spPr bwMode="auto">
            <a:xfrm>
              <a:off x="1905000" y="3305177"/>
              <a:ext cx="295275" cy="3048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 sz="1400" dirty="0">
                  <a:latin typeface="Arial" charset="0"/>
                </a:rPr>
                <a:t>4</a:t>
              </a: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5ECDA00D-E40B-4565-AA77-0BD1C0B892C2}"/>
                </a:ext>
              </a:extLst>
            </p:cNvPr>
            <p:cNvSpPr/>
            <p:nvPr/>
          </p:nvSpPr>
          <p:spPr bwMode="auto">
            <a:xfrm>
              <a:off x="2200275" y="3305177"/>
              <a:ext cx="295275" cy="3048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2</a:t>
              </a: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9C347CFC-E572-47F4-83D8-9BA71AADFE87}"/>
                </a:ext>
              </a:extLst>
            </p:cNvPr>
            <p:cNvSpPr/>
            <p:nvPr/>
          </p:nvSpPr>
          <p:spPr bwMode="auto">
            <a:xfrm>
              <a:off x="2495550" y="3305177"/>
              <a:ext cx="295275" cy="3048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4748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 (1)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918493" cy="3777622"/>
          </a:xfrm>
        </p:spPr>
        <p:txBody>
          <a:bodyPr>
            <a:normAutofit/>
          </a:bodyPr>
          <a:lstStyle/>
          <a:p>
            <a:r>
              <a:rPr lang="it-IT" dirty="0"/>
              <a:t>Ricordando che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FF0000"/>
                </a:solidFill>
              </a:rPr>
              <a:t>A</a:t>
            </a:r>
            <a:r>
              <a:rPr lang="it-IT" dirty="0"/>
              <a:t> (1) controlla i bit di indice 1, 3, 5, 7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0070C0"/>
                </a:solidFill>
              </a:rPr>
              <a:t>B</a:t>
            </a:r>
            <a:r>
              <a:rPr lang="it-IT" dirty="0"/>
              <a:t> (2) controlla i bit di indice 2, 3, 6, 7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00B050"/>
                </a:solidFill>
              </a:rPr>
              <a:t>C</a:t>
            </a:r>
            <a:r>
              <a:rPr lang="it-IT" dirty="0"/>
              <a:t> (4) controlla i bit di indice 4, 5, 6, 7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307704B-9504-4F33-A368-EC34B84B0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705" y="2129586"/>
            <a:ext cx="3400900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66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768687" cy="1280890"/>
          </a:xfrm>
        </p:spPr>
        <p:txBody>
          <a:bodyPr/>
          <a:lstStyle/>
          <a:p>
            <a:r>
              <a:rPr lang="it-IT" b="1" dirty="0"/>
              <a:t>Codici di correzione di errore (1) 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133600"/>
            <a:ext cx="4849812" cy="129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Scrivere, un bit alla volta, la parola all’interno delle intersezioni, seguendo l’ordine determinato al punto precedente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F5BD7AE-A520-4345-905F-9FB19A914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292170"/>
              </p:ext>
            </p:extLst>
          </p:nvPr>
        </p:nvGraphicFramePr>
        <p:xfrm>
          <a:off x="7439024" y="2145628"/>
          <a:ext cx="4065588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97">
                  <a:extLst>
                    <a:ext uri="{9D8B030D-6E8A-4147-A177-3AD203B41FA5}">
                      <a16:colId xmlns:a16="http://schemas.microsoft.com/office/drawing/2014/main" val="2535572476"/>
                    </a:ext>
                  </a:extLst>
                </a:gridCol>
                <a:gridCol w="1016397">
                  <a:extLst>
                    <a:ext uri="{9D8B030D-6E8A-4147-A177-3AD203B41FA5}">
                      <a16:colId xmlns:a16="http://schemas.microsoft.com/office/drawing/2014/main" val="2455097191"/>
                    </a:ext>
                  </a:extLst>
                </a:gridCol>
                <a:gridCol w="1016397">
                  <a:extLst>
                    <a:ext uri="{9D8B030D-6E8A-4147-A177-3AD203B41FA5}">
                      <a16:colId xmlns:a16="http://schemas.microsoft.com/office/drawing/2014/main" val="1175860733"/>
                    </a:ext>
                  </a:extLst>
                </a:gridCol>
                <a:gridCol w="1016397">
                  <a:extLst>
                    <a:ext uri="{9D8B030D-6E8A-4147-A177-3AD203B41FA5}">
                      <a16:colId xmlns:a16="http://schemas.microsoft.com/office/drawing/2014/main" val="1509613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7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859509"/>
                  </a:ext>
                </a:extLst>
              </a:tr>
            </a:tbl>
          </a:graphicData>
        </a:graphic>
      </p:graphicFrame>
      <p:pic>
        <p:nvPicPr>
          <p:cNvPr id="9" name="Immagine 8">
            <a:extLst>
              <a:ext uri="{FF2B5EF4-FFF2-40B4-BE49-F238E27FC236}">
                <a16:creationId xmlns:a16="http://schemas.microsoft.com/office/drawing/2014/main" id="{D02EFF00-A54C-453D-A9B7-333EDE7C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652" y="3377462"/>
            <a:ext cx="2486372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43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 (1)</a:t>
            </a:r>
            <a:br>
              <a:rPr lang="it-IT" b="1" dirty="0"/>
            </a:br>
            <a:r>
              <a:rPr lang="it-IT" b="1" dirty="0"/>
              <a:t>Soluzioni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560051" cy="603331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Calcolare A, B e C in modo tale che il numero di 1 all’interno del cerchio sia pari: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40598E3-7FAF-4267-944B-4C82617C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022" y="2843853"/>
            <a:ext cx="6106377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0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 (1)</a:t>
            </a:r>
            <a:br>
              <a:rPr lang="it-IT" b="1" dirty="0"/>
            </a:br>
            <a:r>
              <a:rPr lang="it-IT" b="1" dirty="0"/>
              <a:t>Idea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918493" cy="3777622"/>
          </a:xfrm>
        </p:spPr>
        <p:txBody>
          <a:bodyPr>
            <a:normAutofit/>
          </a:bodyPr>
          <a:lstStyle/>
          <a:p>
            <a:r>
              <a:rPr lang="it-IT" dirty="0"/>
              <a:t>Ricordando che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FF0000"/>
                </a:solidFill>
              </a:rPr>
              <a:t>A</a:t>
            </a:r>
            <a:r>
              <a:rPr lang="it-IT" dirty="0"/>
              <a:t> (1) controlla i bit di indice 1, 3, 5, 7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0070C0"/>
                </a:solidFill>
              </a:rPr>
              <a:t>B</a:t>
            </a:r>
            <a:r>
              <a:rPr lang="it-IT" dirty="0"/>
              <a:t> (2) controlla i bit di indice 2, 3, 6, 7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00B050"/>
                </a:solidFill>
              </a:rPr>
              <a:t>C</a:t>
            </a:r>
            <a:r>
              <a:rPr lang="it-IT" dirty="0"/>
              <a:t> (4) controlla i bit di indice 4, 5, 6, 7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307704B-9504-4F33-A368-EC34B84B0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705" y="2129586"/>
            <a:ext cx="3400900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50268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764</TotalTime>
  <Words>1419</Words>
  <Application>Microsoft Office PowerPoint</Application>
  <PresentationFormat>Widescreen</PresentationFormat>
  <Paragraphs>205</Paragraphs>
  <Slides>29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Century Gothic</vt:lpstr>
      <vt:lpstr>Wingdings 3</vt:lpstr>
      <vt:lpstr>Filo</vt:lpstr>
      <vt:lpstr>ESERCITAZIONE 3- Soluzioni</vt:lpstr>
      <vt:lpstr>Algebre di Boole e circuiti logici  </vt:lpstr>
      <vt:lpstr>Algebre di Boole e circuiti logici (1)</vt:lpstr>
      <vt:lpstr>Algebre di Boole e circuiti logici (1) Soluzione (1)</vt:lpstr>
      <vt:lpstr>Algebre di Boole e circuiti logici (1) Soluzione (2)</vt:lpstr>
      <vt:lpstr>Algebre di Boole e circuiti logici (1) Soluzione (3)</vt:lpstr>
      <vt:lpstr>Algebre di Boole e circuiti logici (2)</vt:lpstr>
      <vt:lpstr>Algebre di Boole e circuiti logici (2) Soluzione (1)</vt:lpstr>
      <vt:lpstr>Algebre di Boole e circuiti logici (2) Soluzione (2)</vt:lpstr>
      <vt:lpstr>Algebre di Boole e circuiti logici (2) Soluzione (3)</vt:lpstr>
      <vt:lpstr>Algebre di Boole e circuiti logici (2) Soluzione (4)</vt:lpstr>
      <vt:lpstr>Algebre di Boole e circuiti logici (2) Soluzione (5)</vt:lpstr>
      <vt:lpstr>Algebre di Boole e circuiti logici (2) Soluzione (6)</vt:lpstr>
      <vt:lpstr>Algebre di Boole e circuiti logici (3)</vt:lpstr>
      <vt:lpstr>Algebre di Boole e circuiti logici (3) Soluzione (1)</vt:lpstr>
      <vt:lpstr>Algebre di Boole e circuiti logici (3) Soluzione (2)</vt:lpstr>
      <vt:lpstr>Algebre di Boole e circuiti logici (3) Soluzione (3)</vt:lpstr>
      <vt:lpstr>Algebre di Boole e circuiti logici (4)</vt:lpstr>
      <vt:lpstr>Algebre di Boole e circuiti logici (4) Soluzione (1)</vt:lpstr>
      <vt:lpstr>Algebre di Boole e circuiti logici (4) Soluzione (2)</vt:lpstr>
      <vt:lpstr>Algebre di Boole e circuiti logici (4) Soluzione (3)</vt:lpstr>
      <vt:lpstr>Algebre di Boole e circuiti logici (4) Soluzione (3)</vt:lpstr>
      <vt:lpstr>Codici di correzione di errore</vt:lpstr>
      <vt:lpstr>Codici di correzione di errore (1)</vt:lpstr>
      <vt:lpstr>Codici di correzione di errore (1) Soluzioni (1)</vt:lpstr>
      <vt:lpstr>Codici di correzione di errore (1) Soluzioni (2)</vt:lpstr>
      <vt:lpstr>Codici di correzione di errore (1)  Soluzioni (3)</vt:lpstr>
      <vt:lpstr>Codici di correzione di errore (1) Soluzioni (4)</vt:lpstr>
      <vt:lpstr>Codici di correzione di errore (1) Idea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81</cp:revision>
  <dcterms:created xsi:type="dcterms:W3CDTF">2017-10-29T11:29:02Z</dcterms:created>
  <dcterms:modified xsi:type="dcterms:W3CDTF">2017-11-21T17:18:29Z</dcterms:modified>
</cp:coreProperties>
</file>