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66" r:id="rId5"/>
    <p:sldId id="277" r:id="rId6"/>
    <p:sldId id="278" r:id="rId7"/>
    <p:sldId id="279" r:id="rId8"/>
    <p:sldId id="270" r:id="rId9"/>
    <p:sldId id="290" r:id="rId10"/>
    <p:sldId id="291" r:id="rId11"/>
    <p:sldId id="273" r:id="rId12"/>
    <p:sldId id="289" r:id="rId13"/>
    <p:sldId id="292" r:id="rId14"/>
    <p:sldId id="269" r:id="rId15"/>
    <p:sldId id="280" r:id="rId16"/>
    <p:sldId id="281" r:id="rId17"/>
    <p:sldId id="282" r:id="rId18"/>
    <p:sldId id="283" r:id="rId19"/>
    <p:sldId id="284" r:id="rId20"/>
    <p:sldId id="274" r:id="rId21"/>
    <p:sldId id="275" r:id="rId22"/>
    <p:sldId id="276" r:id="rId23"/>
    <p:sldId id="285" r:id="rId24"/>
    <p:sldId id="286" r:id="rId25"/>
    <p:sldId id="288" r:id="rId26"/>
    <p:sldId id="28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20/12/2017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20/12/2017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3DABE-A298-4397-9F97-98977AB98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4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b="1" dirty="0"/>
              <a:t>Livello d’architettura dell’insieme di istruzioni</a:t>
            </a:r>
          </a:p>
          <a:p>
            <a:r>
              <a:rPr lang="it-IT" b="1" dirty="0"/>
              <a:t>Decodifica dell’indirizzo</a:t>
            </a:r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Livello d’architettura dell’insieme di istruzioni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5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Livello d’architettura dell’insieme di istruzioni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1)</a:t>
            </a:r>
            <a:r>
              <a:rPr lang="it-IT" dirty="0"/>
              <a:t> </a:t>
            </a:r>
            <a:r>
              <a:rPr lang="it-IT" b="1" dirty="0"/>
              <a:t>Si scrivano in notazione polacca inversa le seguenti espressioni</a:t>
            </a:r>
            <a:endParaRPr lang="it-IT" dirty="0"/>
          </a:p>
          <a:p>
            <a:pPr lvl="1">
              <a:buFont typeface="+mj-lt"/>
              <a:buAutoNum type="alphaLcParenR"/>
            </a:pPr>
            <a:r>
              <a:rPr lang="it-IT" b="1" dirty="0"/>
              <a:t>6*(4-3)</a:t>
            </a:r>
            <a:endParaRPr lang="it-IT" dirty="0"/>
          </a:p>
          <a:p>
            <a:pPr lvl="1">
              <a:buFont typeface="+mj-lt"/>
              <a:buAutoNum type="alphaLcParenR"/>
            </a:pPr>
            <a:r>
              <a:rPr lang="it-IT" b="1" dirty="0"/>
              <a:t>(7/3)/((1-4)*2)+1</a:t>
            </a:r>
            <a:endParaRPr lang="it-IT" dirty="0"/>
          </a:p>
          <a:p>
            <a:pPr lvl="1">
              <a:buFont typeface="+mj-lt"/>
              <a:buAutoNum type="alphaLcParenR"/>
            </a:pPr>
            <a:r>
              <a:rPr lang="it-IT" b="1" dirty="0"/>
              <a:t>(5*2+7)-4/2+1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49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(1)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3506788" cy="1702420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Notazione Tradizionale</a:t>
            </a:r>
          </a:p>
          <a:p>
            <a:pPr marL="0" indent="0">
              <a:buNone/>
            </a:pPr>
            <a:r>
              <a:rPr lang="it-IT" dirty="0"/>
              <a:t>       2 		 +		  3</a:t>
            </a:r>
          </a:p>
          <a:p>
            <a:pPr marL="0" indent="0">
              <a:buNone/>
            </a:pPr>
            <a:r>
              <a:rPr lang="it-IT" sz="1400" dirty="0"/>
              <a:t>Operando1 Operatore Operando2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0E3E70B3-43E5-4A1C-9E22-008E5DA9615A}"/>
              </a:ext>
            </a:extLst>
          </p:cNvPr>
          <p:cNvSpPr txBox="1">
            <a:spLocks/>
          </p:cNvSpPr>
          <p:nvPr/>
        </p:nvSpPr>
        <p:spPr>
          <a:xfrm>
            <a:off x="6702423" y="2133600"/>
            <a:ext cx="3506788" cy="170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it-IT" b="1" dirty="0"/>
              <a:t>Notazione Polacca Inversa </a:t>
            </a:r>
          </a:p>
          <a:p>
            <a:pPr marL="0" indent="0">
              <a:buFont typeface="Wingdings 3" charset="2"/>
              <a:buNone/>
            </a:pPr>
            <a:r>
              <a:rPr lang="it-IT" dirty="0"/>
              <a:t>       2 		3		   +</a:t>
            </a:r>
          </a:p>
          <a:p>
            <a:pPr marL="0" indent="0">
              <a:buNone/>
            </a:pPr>
            <a:r>
              <a:rPr lang="it-IT" sz="1400" dirty="0"/>
              <a:t>Operando1 Operando2  Operatore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5C3374D-6E0E-4C8E-B92A-09822BFF2740}"/>
              </a:ext>
            </a:extLst>
          </p:cNvPr>
          <p:cNvSpPr txBox="1"/>
          <p:nvPr/>
        </p:nvSpPr>
        <p:spPr>
          <a:xfrm>
            <a:off x="2274849" y="4047893"/>
            <a:ext cx="793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Operazioni scritte da sinistra verso destro, considerando le priorità.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C052D4C-F545-4C0E-A0CE-8856EFA8A6EC}"/>
              </a:ext>
            </a:extLst>
          </p:cNvPr>
          <p:cNvSpPr txBox="1"/>
          <p:nvPr/>
        </p:nvSpPr>
        <p:spPr>
          <a:xfrm>
            <a:off x="2274849" y="4772722"/>
            <a:ext cx="7619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Riferimento su </a:t>
            </a:r>
            <a:r>
              <a:rPr lang="it-IT" dirty="0" err="1"/>
              <a:t>Tanembaum</a:t>
            </a:r>
            <a:r>
              <a:rPr lang="it-IT" dirty="0"/>
              <a:t>: </a:t>
            </a:r>
            <a:r>
              <a:rPr lang="it-IT" dirty="0" err="1"/>
              <a:t>pag</a:t>
            </a:r>
            <a:r>
              <a:rPr lang="it-IT" dirty="0"/>
              <a:t> 355 e seguenti.</a:t>
            </a:r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A2FE7953-7004-424E-871E-ADB25D20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76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(1)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A2FE7953-7004-424E-871E-ADB25D20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6BC36DC1-EE07-473D-9EDD-08EC26A4D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2133600"/>
            <a:ext cx="8800683" cy="3777622"/>
          </a:xfrm>
        </p:spPr>
        <p:txBody>
          <a:bodyPr/>
          <a:lstStyle/>
          <a:p>
            <a:pPr>
              <a:buFont typeface="+mj-lt"/>
              <a:buAutoNum type="alphaLcParenR"/>
            </a:pPr>
            <a:r>
              <a:rPr lang="it-IT" b="1" dirty="0"/>
              <a:t>6*(4-3)</a:t>
            </a:r>
          </a:p>
          <a:p>
            <a:r>
              <a:rPr lang="it-IT" dirty="0"/>
              <a:t>Operando1= 6, Operatore = *, Operando2=(4-3)</a:t>
            </a:r>
          </a:p>
          <a:p>
            <a:r>
              <a:rPr lang="it-IT" dirty="0"/>
              <a:t>Op1 = 4, Op2 = 3, Operatore=-;</a:t>
            </a:r>
          </a:p>
          <a:p>
            <a:r>
              <a:rPr lang="it-IT" dirty="0"/>
              <a:t>Soluzione: 6 4 3 - *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05800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(1)</a:t>
            </a:r>
            <a:br>
              <a:rPr lang="it-IT" b="1" dirty="0"/>
            </a:br>
            <a:r>
              <a:rPr lang="it-IT" b="1" dirty="0"/>
              <a:t>Soluzioni (3)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A2FE7953-7004-424E-871E-ADB25D20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6BC36DC1-EE07-473D-9EDD-08EC26A4D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2133600"/>
            <a:ext cx="8800683" cy="3777622"/>
          </a:xfrm>
        </p:spPr>
        <p:txBody>
          <a:bodyPr/>
          <a:lstStyle/>
          <a:p>
            <a:pPr>
              <a:buFont typeface="+mj-lt"/>
              <a:buAutoNum type="alphaLcParenR" startAt="2"/>
            </a:pPr>
            <a:r>
              <a:rPr lang="it-IT" b="1" dirty="0"/>
              <a:t>  (7/3)/((1-4)*2)+1</a:t>
            </a:r>
            <a:endParaRPr lang="it-IT" dirty="0"/>
          </a:p>
          <a:p>
            <a:r>
              <a:rPr lang="it-IT" dirty="0"/>
              <a:t>Operando1= (7/3)/((1-4)*2), Operatore = +, Operando2=1</a:t>
            </a:r>
          </a:p>
          <a:p>
            <a:r>
              <a:rPr lang="it-IT" dirty="0"/>
              <a:t>Op11 = (7/3), Op12 = ((1-4)*2), Operatore=/</a:t>
            </a:r>
          </a:p>
          <a:p>
            <a:r>
              <a:rPr lang="it-IT" dirty="0"/>
              <a:t>Op111 = 7, Op112 = 3, Operatore = /</a:t>
            </a:r>
          </a:p>
          <a:p>
            <a:r>
              <a:rPr lang="it-IT" dirty="0"/>
              <a:t>Op121=(1-4), Op122 = 2, Operatore = *</a:t>
            </a:r>
          </a:p>
          <a:p>
            <a:r>
              <a:rPr lang="it-IT" dirty="0"/>
              <a:t>Op1211 = 1, Op1212 = 4, Operatore = -</a:t>
            </a:r>
          </a:p>
          <a:p>
            <a:r>
              <a:rPr lang="it-IT" dirty="0"/>
              <a:t>Soluzione: 7 3 / 1 4 – 2 * / 1 + 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86735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(1)</a:t>
            </a:r>
            <a:br>
              <a:rPr lang="it-IT" b="1" dirty="0"/>
            </a:br>
            <a:r>
              <a:rPr lang="it-IT" b="1" dirty="0"/>
              <a:t>Soluzioni (4)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A2FE7953-7004-424E-871E-ADB25D20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6BC36DC1-EE07-473D-9EDD-08EC26A4D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2133600"/>
            <a:ext cx="8800683" cy="3777622"/>
          </a:xfrm>
        </p:spPr>
        <p:txBody>
          <a:bodyPr/>
          <a:lstStyle/>
          <a:p>
            <a:pPr>
              <a:buFont typeface="+mj-lt"/>
              <a:buAutoNum type="alphaLcParenR" startAt="3"/>
            </a:pPr>
            <a:r>
              <a:rPr lang="it-IT" b="1" dirty="0"/>
              <a:t>(5*2+7)-4/2+1</a:t>
            </a:r>
            <a:endParaRPr lang="it-IT" dirty="0"/>
          </a:p>
          <a:p>
            <a:r>
              <a:rPr lang="it-IT" dirty="0"/>
              <a:t>Operando1= (5*2+7)-4/2, Operatore = +, Operando2=1</a:t>
            </a:r>
          </a:p>
          <a:p>
            <a:r>
              <a:rPr lang="it-IT" dirty="0"/>
              <a:t>Op11 = (5*2+7) Op12 = 4/2, Operatore= -</a:t>
            </a:r>
          </a:p>
          <a:p>
            <a:r>
              <a:rPr lang="it-IT" dirty="0"/>
              <a:t>Op111 = 5*2, Op112 = 7, Operatore = +</a:t>
            </a:r>
          </a:p>
          <a:p>
            <a:r>
              <a:rPr lang="it-IT" dirty="0"/>
              <a:t>Op121=4, Op122 = 2, Operatore = /</a:t>
            </a:r>
          </a:p>
          <a:p>
            <a:r>
              <a:rPr lang="it-IT" dirty="0"/>
              <a:t>Op1111 = 5, Op1112 = 2, Operatore = *</a:t>
            </a:r>
          </a:p>
          <a:p>
            <a:r>
              <a:rPr lang="it-IT" dirty="0"/>
              <a:t>Soluzione: 5 2 * 7 + 4 2 / - 1 +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16440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Livello d’architettura dell’insieme di istruzioni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2)</a:t>
            </a:r>
            <a:r>
              <a:rPr lang="it-IT" dirty="0"/>
              <a:t> </a:t>
            </a:r>
            <a:r>
              <a:rPr lang="it-IT" b="1" dirty="0"/>
              <a:t>Indicare il tipo di indirizzamento delle seguenti istruzioni</a:t>
            </a:r>
            <a:endParaRPr lang="it-IT" dirty="0"/>
          </a:p>
          <a:p>
            <a:r>
              <a:rPr lang="it-IT" b="1" dirty="0"/>
              <a:t>CMP R2,R4</a:t>
            </a:r>
            <a:endParaRPr lang="it-IT" dirty="0"/>
          </a:p>
          <a:p>
            <a:r>
              <a:rPr lang="it-IT" b="1" dirty="0"/>
              <a:t>MOV R2,#2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650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(2)</a:t>
            </a:r>
            <a:br>
              <a:rPr lang="it-IT" b="1" dirty="0"/>
            </a:br>
            <a:r>
              <a:rPr lang="it-IT" b="1" dirty="0"/>
              <a:t>Soluzione (1)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A2FE7953-7004-424E-871E-ADB25D20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A9548C32-0A99-4370-AF4A-16A3E7DE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Modalità di indirizzamento</a:t>
            </a:r>
          </a:p>
          <a:p>
            <a:r>
              <a:rPr lang="it-IT" b="1" dirty="0"/>
              <a:t>Indirizzamento immediato			</a:t>
            </a:r>
            <a:r>
              <a:rPr lang="it-IT" dirty="0"/>
              <a:t>operando stesso come campo</a:t>
            </a:r>
            <a:endParaRPr lang="it-IT" b="1" dirty="0"/>
          </a:p>
          <a:p>
            <a:r>
              <a:rPr lang="it-IT" b="1" dirty="0"/>
              <a:t>Indirizzamento diretto					</a:t>
            </a:r>
            <a:r>
              <a:rPr lang="it-IT" dirty="0"/>
              <a:t>indirizzo completo come campo</a:t>
            </a:r>
            <a:endParaRPr lang="it-IT" b="1" dirty="0"/>
          </a:p>
          <a:p>
            <a:r>
              <a:rPr lang="it-IT" b="1" dirty="0"/>
              <a:t>Indirizzamento a registro				</a:t>
            </a:r>
            <a:r>
              <a:rPr lang="it-IT" dirty="0"/>
              <a:t>registro come campo</a:t>
            </a:r>
            <a:endParaRPr lang="it-IT" b="1" dirty="0"/>
          </a:p>
          <a:p>
            <a:r>
              <a:rPr lang="it-IT" b="1" dirty="0"/>
              <a:t>Indirizzamento a registro indiretto		</a:t>
            </a:r>
            <a:r>
              <a:rPr lang="it-IT" dirty="0"/>
              <a:t>registro con indirizzo come campo</a:t>
            </a:r>
            <a:endParaRPr lang="it-IT" b="1" dirty="0"/>
          </a:p>
          <a:p>
            <a:r>
              <a:rPr lang="it-IT" b="1" dirty="0"/>
              <a:t>Indirizzamento indicizzato				</a:t>
            </a:r>
            <a:r>
              <a:rPr lang="it-IT" dirty="0"/>
              <a:t>registro più spiazzamento costante</a:t>
            </a:r>
            <a:endParaRPr lang="it-IT" b="1" dirty="0"/>
          </a:p>
          <a:p>
            <a:r>
              <a:rPr lang="it-IT" b="1" dirty="0"/>
              <a:t>Indirizzamento indicizzato esteso		</a:t>
            </a:r>
            <a:r>
              <a:rPr lang="it-IT" dirty="0"/>
              <a:t>indirizzo come somma </a:t>
            </a:r>
            <a:r>
              <a:rPr lang="it-IT"/>
              <a:t>valori registri</a:t>
            </a:r>
            <a:endParaRPr lang="it-IT" b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74B1F54-DABD-48FA-B702-F3CAE9E68287}"/>
              </a:ext>
            </a:extLst>
          </p:cNvPr>
          <p:cNvSpPr txBox="1"/>
          <p:nvPr/>
        </p:nvSpPr>
        <p:spPr>
          <a:xfrm>
            <a:off x="7304314" y="1372969"/>
            <a:ext cx="4200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Riferimento sul testo: </a:t>
            </a:r>
            <a:r>
              <a:rPr lang="it-IT" i="1" dirty="0" err="1"/>
              <a:t>pag</a:t>
            </a:r>
            <a:r>
              <a:rPr lang="it-IT" i="1" dirty="0"/>
              <a:t> 351 e seguenti</a:t>
            </a:r>
          </a:p>
        </p:txBody>
      </p:sp>
    </p:spTree>
    <p:extLst>
      <p:ext uri="{BB962C8B-B14F-4D97-AF65-F5344CB8AC3E}">
        <p14:creationId xmlns:p14="http://schemas.microsoft.com/office/powerpoint/2010/main" val="2334123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(2)</a:t>
            </a:r>
            <a:br>
              <a:rPr lang="it-IT" b="1" dirty="0"/>
            </a:br>
            <a:r>
              <a:rPr lang="it-IT" b="1" dirty="0"/>
              <a:t>Soluzione (2)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A2FE7953-7004-424E-871E-ADB25D20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A9548C32-0A99-4370-AF4A-16A3E7DE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9319759" cy="3777622"/>
          </a:xfrm>
        </p:spPr>
        <p:txBody>
          <a:bodyPr/>
          <a:lstStyle/>
          <a:p>
            <a:r>
              <a:rPr lang="it-IT" b="1" dirty="0"/>
              <a:t>CMP R2,R4</a:t>
            </a:r>
            <a:endParaRPr lang="it-IT" dirty="0"/>
          </a:p>
          <a:p>
            <a:pPr lvl="1"/>
            <a:r>
              <a:rPr lang="it-IT" b="1" dirty="0"/>
              <a:t>Operando 1: </a:t>
            </a:r>
          </a:p>
          <a:p>
            <a:pPr lvl="2"/>
            <a:r>
              <a:rPr lang="it-IT" b="1" dirty="0"/>
              <a:t>Indirizzamento a registro: il valore è indicato con il registro che lo contiene </a:t>
            </a:r>
          </a:p>
          <a:p>
            <a:pPr lvl="1"/>
            <a:r>
              <a:rPr lang="it-IT" b="1" dirty="0"/>
              <a:t>Operando 2: </a:t>
            </a:r>
          </a:p>
          <a:p>
            <a:pPr lvl="2"/>
            <a:r>
              <a:rPr lang="it-IT" b="1" dirty="0"/>
              <a:t>Indirizzamento a registro: il valore è indicato con il registro che lo contiene</a:t>
            </a:r>
          </a:p>
          <a:p>
            <a:r>
              <a:rPr lang="it-IT" b="1" dirty="0"/>
              <a:t>MOV R2,#2</a:t>
            </a:r>
          </a:p>
          <a:p>
            <a:pPr lvl="1"/>
            <a:r>
              <a:rPr lang="it-IT" b="1" dirty="0"/>
              <a:t>Operando 1: </a:t>
            </a:r>
          </a:p>
          <a:p>
            <a:pPr lvl="2"/>
            <a:r>
              <a:rPr lang="it-IT" b="1" dirty="0"/>
              <a:t>Indirizzamento a registro: il valore è indicato con il registro che lo contiene </a:t>
            </a:r>
          </a:p>
          <a:p>
            <a:pPr lvl="1"/>
            <a:r>
              <a:rPr lang="it-IT" b="1" dirty="0"/>
              <a:t>Operando 2: </a:t>
            </a:r>
          </a:p>
          <a:p>
            <a:pPr lvl="2"/>
            <a:r>
              <a:rPr lang="it-IT" b="1" dirty="0"/>
              <a:t>Indirizzamento immediato: il valore è indicato con il valore stesso</a:t>
            </a:r>
          </a:p>
          <a:p>
            <a:endParaRPr lang="it-IT" b="1" dirty="0"/>
          </a:p>
          <a:p>
            <a:pPr lvl="1"/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563443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Livello d’architettura dell’insieme di istruzioni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3)</a:t>
            </a:r>
            <a:r>
              <a:rPr lang="it-IT" dirty="0"/>
              <a:t> </a:t>
            </a:r>
            <a:r>
              <a:rPr lang="it-IT" b="1" dirty="0"/>
              <a:t>Scrivere le istruzioni Assembly utili per ottimizzare l’utilizzo della CPU per il calcolo della moltiplicazione tra il numero 19 e un valore </a:t>
            </a:r>
            <a:r>
              <a:rPr lang="it-IT" b="1" i="1" dirty="0"/>
              <a:t>n</a:t>
            </a:r>
            <a:r>
              <a:rPr lang="it-IT" b="1" dirty="0"/>
              <a:t> intero e non negativo. Verificare , ponendo </a:t>
            </a:r>
            <a:r>
              <a:rPr lang="it-IT" b="1" i="1" dirty="0"/>
              <a:t>n</a:t>
            </a:r>
            <a:r>
              <a:rPr lang="it-IT" b="1" dirty="0"/>
              <a:t>=3, che l’operazione proposta sia corretta.</a:t>
            </a:r>
            <a:endParaRPr lang="it-IT" u="none" strike="noStrike" dirty="0">
              <a:effectLst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86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(3)</a:t>
            </a:r>
            <a:br>
              <a:rPr lang="it-IT" b="1" dirty="0"/>
            </a:br>
            <a:r>
              <a:rPr lang="it-IT" b="1" dirty="0"/>
              <a:t>Soluzione (1)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A2FE7953-7004-424E-871E-ADB25D20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A9548C32-0A99-4370-AF4A-16A3E7DE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b="1" dirty="0"/>
              <a:t>Istruzioni Principali</a:t>
            </a:r>
          </a:p>
          <a:p>
            <a:pPr marL="0" indent="0">
              <a:buNone/>
            </a:pPr>
            <a:endParaRPr lang="it-IT" b="1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41266C6-CED9-488E-AD18-486E69A76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457217"/>
              </p:ext>
            </p:extLst>
          </p:nvPr>
        </p:nvGraphicFramePr>
        <p:xfrm>
          <a:off x="2589212" y="2534359"/>
          <a:ext cx="9080274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40137">
                  <a:extLst>
                    <a:ext uri="{9D8B030D-6E8A-4147-A177-3AD203B41FA5}">
                      <a16:colId xmlns:a16="http://schemas.microsoft.com/office/drawing/2014/main" val="1254903478"/>
                    </a:ext>
                  </a:extLst>
                </a:gridCol>
                <a:gridCol w="4540137">
                  <a:extLst>
                    <a:ext uri="{9D8B030D-6E8A-4147-A177-3AD203B41FA5}">
                      <a16:colId xmlns:a16="http://schemas.microsoft.com/office/drawing/2014/main" val="258901301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it-IT" b="1" dirty="0"/>
                        <a:t>Trasferimenti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43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MOV DST,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Sposta SRC in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2469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it-IT" b="1" dirty="0"/>
                        <a:t>Aritmetica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ADD DST,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Somma SRC a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911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SUB DST,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Sottrae SRC da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25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MUL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Moltiplica EAX con SRC (no segno)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677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DIV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Divide EDX:EAX per SRC(no segno)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463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252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(3)</a:t>
            </a:r>
            <a:br>
              <a:rPr lang="it-IT" b="1" dirty="0"/>
            </a:br>
            <a:r>
              <a:rPr lang="it-IT" b="1" dirty="0"/>
              <a:t>Soluzione (2)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A2FE7953-7004-424E-871E-ADB25D20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A9548C32-0A99-4370-AF4A-16A3E7DE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b="1" dirty="0"/>
              <a:t>Istruzioni Principali</a:t>
            </a:r>
          </a:p>
          <a:p>
            <a:pPr marL="0" indent="0">
              <a:buNone/>
            </a:pPr>
            <a:endParaRPr lang="it-IT" b="1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41266C6-CED9-488E-AD18-486E69A76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998250"/>
              </p:ext>
            </p:extLst>
          </p:nvPr>
        </p:nvGraphicFramePr>
        <p:xfrm>
          <a:off x="2589212" y="2534359"/>
          <a:ext cx="9080274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40137">
                  <a:extLst>
                    <a:ext uri="{9D8B030D-6E8A-4147-A177-3AD203B41FA5}">
                      <a16:colId xmlns:a16="http://schemas.microsoft.com/office/drawing/2014/main" val="1254903478"/>
                    </a:ext>
                  </a:extLst>
                </a:gridCol>
                <a:gridCol w="4540137">
                  <a:extLst>
                    <a:ext uri="{9D8B030D-6E8A-4147-A177-3AD203B41FA5}">
                      <a16:colId xmlns:a16="http://schemas.microsoft.com/office/drawing/2014/main" val="258901301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it-IT" b="1" dirty="0"/>
                        <a:t>Scorrimento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43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SHL / SHR DST, #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Shift logico verso s/d di SRC di # bit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2469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it-IT" b="1" dirty="0"/>
                        <a:t>Booleane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AND DST,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AND di SRC e DST, res in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911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OR DST,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OR di SRC e DST, res in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25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XOR DST,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OR esclusivo di SRC e DST, res in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677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NOT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Rimpiazza DST con complemento a 1.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463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648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645230"/>
            <a:ext cx="8915400" cy="3490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La moltiplicazione tra un qualsiasi numero </a:t>
            </a:r>
            <a:r>
              <a:rPr lang="it-IT" i="1" dirty="0"/>
              <a:t>n</a:t>
            </a:r>
            <a:r>
              <a:rPr lang="it-IT" dirty="0"/>
              <a:t> e un numero come </a:t>
            </a:r>
            <a:r>
              <a:rPr lang="it-IT" i="1" dirty="0"/>
              <a:t>2</a:t>
            </a:r>
            <a:r>
              <a:rPr lang="it-IT" i="1" baseline="30000" dirty="0"/>
              <a:t>k</a:t>
            </a:r>
            <a:r>
              <a:rPr lang="it-IT" dirty="0"/>
              <a:t>, può essere ottimizzato come uno shift del numero verso sinistra di </a:t>
            </a:r>
            <a:r>
              <a:rPr lang="it-IT" i="1" dirty="0"/>
              <a:t>k</a:t>
            </a:r>
            <a:r>
              <a:rPr lang="it-IT" dirty="0"/>
              <a:t> cifre.</a:t>
            </a:r>
          </a:p>
          <a:p>
            <a:pPr marL="0" indent="0">
              <a:buNone/>
            </a:pPr>
            <a:r>
              <a:rPr lang="it-IT" b="0" u="none" strike="noStrike" dirty="0">
                <a:effectLst/>
              </a:rPr>
              <a:t>Esempio: </a:t>
            </a:r>
          </a:p>
          <a:p>
            <a:r>
              <a:rPr lang="it-IT" dirty="0"/>
              <a:t>3 x 2 = ?</a:t>
            </a:r>
          </a:p>
          <a:p>
            <a:r>
              <a:rPr lang="it-IT" dirty="0"/>
              <a:t>3 = (00000011)</a:t>
            </a:r>
            <a:r>
              <a:rPr lang="it-IT" baseline="-25000" dirty="0"/>
              <a:t>2</a:t>
            </a:r>
            <a:r>
              <a:rPr lang="it-IT" dirty="0"/>
              <a:t> (rappresentazione a 8 bit)</a:t>
            </a:r>
          </a:p>
          <a:p>
            <a:r>
              <a:rPr lang="it-IT" dirty="0"/>
              <a:t>2 = 2</a:t>
            </a:r>
            <a:r>
              <a:rPr lang="it-IT" baseline="30000" dirty="0"/>
              <a:t>1</a:t>
            </a:r>
          </a:p>
          <a:p>
            <a:r>
              <a:rPr lang="it-IT" dirty="0"/>
              <a:t>Shift 1 cifra a </a:t>
            </a:r>
            <a:r>
              <a:rPr lang="it-IT" dirty="0" err="1"/>
              <a:t>sx</a:t>
            </a:r>
            <a:endParaRPr lang="it-IT" dirty="0"/>
          </a:p>
          <a:p>
            <a:r>
              <a:rPr lang="it-IT" dirty="0"/>
              <a:t>3 x 2 = (00000110)</a:t>
            </a:r>
            <a:r>
              <a:rPr lang="it-IT" baseline="-25000" dirty="0"/>
              <a:t>2</a:t>
            </a:r>
            <a:r>
              <a:rPr lang="it-IT" dirty="0"/>
              <a:t> = 6</a:t>
            </a:r>
          </a:p>
          <a:p>
            <a:endParaRPr lang="it-IT" b="0" u="none" strike="noStrike" dirty="0">
              <a:effectLst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(3)</a:t>
            </a:r>
            <a:br>
              <a:rPr lang="it-IT" b="1" dirty="0"/>
            </a:br>
            <a:r>
              <a:rPr lang="it-IT" b="1" dirty="0"/>
              <a:t>Soluzione (3)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299BE86-3980-4E79-9253-AB23F835128C}"/>
              </a:ext>
            </a:extLst>
          </p:cNvPr>
          <p:cNvSpPr txBox="1"/>
          <p:nvPr/>
        </p:nvSpPr>
        <p:spPr>
          <a:xfrm>
            <a:off x="2471057" y="1905000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Riferimento sul libro: paragrafo 5.5.3, </a:t>
            </a:r>
            <a:r>
              <a:rPr lang="it-IT" i="1" dirty="0" err="1"/>
              <a:t>pag</a:t>
            </a:r>
            <a:r>
              <a:rPr lang="it-IT" i="1" dirty="0"/>
              <a:t> 367 e seguenti</a:t>
            </a:r>
          </a:p>
        </p:txBody>
      </p:sp>
    </p:spTree>
    <p:extLst>
      <p:ext uri="{BB962C8B-B14F-4D97-AF65-F5344CB8AC3E}">
        <p14:creationId xmlns:p14="http://schemas.microsoft.com/office/powerpoint/2010/main" val="1442979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645230"/>
            <a:ext cx="5720599" cy="3490578"/>
          </a:xfrm>
        </p:spPr>
        <p:txBody>
          <a:bodyPr>
            <a:normAutofit/>
          </a:bodyPr>
          <a:lstStyle/>
          <a:p>
            <a:r>
              <a:rPr lang="it-IT" dirty="0"/>
              <a:t>19 = 16 + 2 + 1</a:t>
            </a:r>
          </a:p>
          <a:p>
            <a:r>
              <a:rPr lang="it-IT" dirty="0"/>
              <a:t>19 = 2</a:t>
            </a:r>
            <a:r>
              <a:rPr lang="it-IT" baseline="30000" dirty="0"/>
              <a:t>4 </a:t>
            </a:r>
            <a:r>
              <a:rPr lang="it-IT" dirty="0"/>
              <a:t>+ 2</a:t>
            </a:r>
            <a:r>
              <a:rPr lang="it-IT" baseline="30000" dirty="0"/>
              <a:t>1 </a:t>
            </a:r>
            <a:r>
              <a:rPr lang="it-IT" dirty="0"/>
              <a:t>+ 2</a:t>
            </a:r>
            <a:r>
              <a:rPr lang="it-IT" baseline="30000" dirty="0"/>
              <a:t>0</a:t>
            </a:r>
            <a:endParaRPr lang="it-IT" dirty="0"/>
          </a:p>
          <a:p>
            <a:r>
              <a:rPr lang="it-IT" b="0" u="none" strike="noStrike" dirty="0">
                <a:effectLst/>
              </a:rPr>
              <a:t>Applicare 3 shift e successivamente sommare</a:t>
            </a:r>
          </a:p>
          <a:p>
            <a:endParaRPr lang="it-IT" dirty="0"/>
          </a:p>
          <a:p>
            <a:r>
              <a:rPr lang="it-IT" b="0" u="none" strike="noStrike" dirty="0">
                <a:effectLst/>
              </a:rPr>
              <a:t>3 = (00000011)</a:t>
            </a:r>
            <a:r>
              <a:rPr lang="it-IT" b="0" u="none" strike="noStrike" baseline="-25000" dirty="0">
                <a:effectLst/>
              </a:rPr>
              <a:t>2</a:t>
            </a:r>
          </a:p>
          <a:p>
            <a:r>
              <a:rPr lang="it-IT" dirty="0"/>
              <a:t>Shift 1: 00110000</a:t>
            </a:r>
          </a:p>
          <a:p>
            <a:r>
              <a:rPr lang="it-IT" b="0" u="none" strike="noStrike" dirty="0">
                <a:effectLst/>
              </a:rPr>
              <a:t>Shift </a:t>
            </a:r>
            <a:r>
              <a:rPr lang="it-IT" dirty="0"/>
              <a:t>2: 00000110</a:t>
            </a:r>
            <a:endParaRPr lang="it-IT" b="0" u="none" strike="noStrike" dirty="0">
              <a:effectLst/>
            </a:endParaRPr>
          </a:p>
          <a:p>
            <a:r>
              <a:rPr lang="it-IT" dirty="0"/>
              <a:t>Shift 3: 00000011</a:t>
            </a:r>
            <a:endParaRPr lang="it-IT" b="0" u="none" strike="noStrike" dirty="0">
              <a:effectLst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(3)</a:t>
            </a:r>
            <a:br>
              <a:rPr lang="it-IT" b="1" dirty="0"/>
            </a:br>
            <a:r>
              <a:rPr lang="it-IT" b="1" dirty="0"/>
              <a:t>Soluzione (4)</a:t>
            </a:r>
            <a:endParaRPr lang="it-IT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BB6C3B84-AF9F-4A21-93ED-2CD8B6737E16}"/>
              </a:ext>
            </a:extLst>
          </p:cNvPr>
          <p:cNvSpPr txBox="1">
            <a:spLocks/>
          </p:cNvSpPr>
          <p:nvPr/>
        </p:nvSpPr>
        <p:spPr>
          <a:xfrm>
            <a:off x="8399631" y="3834063"/>
            <a:ext cx="3042400" cy="19263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Somma:</a:t>
            </a:r>
          </a:p>
          <a:p>
            <a:pPr marL="0" indent="0">
              <a:buNone/>
            </a:pPr>
            <a:r>
              <a:rPr lang="it-IT" dirty="0"/>
              <a:t>00110000 +</a:t>
            </a:r>
          </a:p>
          <a:p>
            <a:pPr marL="0" indent="0">
              <a:buNone/>
            </a:pPr>
            <a:r>
              <a:rPr lang="it-IT" dirty="0"/>
              <a:t>00000110 +</a:t>
            </a:r>
          </a:p>
          <a:p>
            <a:pPr marL="0" indent="0">
              <a:buNone/>
            </a:pPr>
            <a:r>
              <a:rPr lang="it-IT" dirty="0"/>
              <a:t>00000011 =</a:t>
            </a:r>
          </a:p>
          <a:p>
            <a:pPr marL="0" indent="0">
              <a:buNone/>
            </a:pPr>
            <a:r>
              <a:rPr lang="it-IT" dirty="0"/>
              <a:t>00111001</a:t>
            </a:r>
          </a:p>
        </p:txBody>
      </p:sp>
    </p:spTree>
    <p:extLst>
      <p:ext uri="{BB962C8B-B14F-4D97-AF65-F5344CB8AC3E}">
        <p14:creationId xmlns:p14="http://schemas.microsoft.com/office/powerpoint/2010/main" val="3284779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645230"/>
            <a:ext cx="8915400" cy="3490578"/>
          </a:xfrm>
        </p:spPr>
        <p:txBody>
          <a:bodyPr>
            <a:normAutofit/>
          </a:bodyPr>
          <a:lstStyle/>
          <a:p>
            <a:r>
              <a:rPr lang="it-IT" dirty="0"/>
              <a:t>(00111001)</a:t>
            </a:r>
            <a:r>
              <a:rPr lang="it-IT" baseline="-25000" dirty="0"/>
              <a:t>2</a:t>
            </a:r>
            <a:r>
              <a:rPr lang="it-IT" dirty="0"/>
              <a:t> = (57)</a:t>
            </a:r>
            <a:r>
              <a:rPr lang="it-IT" baseline="-25000" dirty="0"/>
              <a:t>10</a:t>
            </a:r>
          </a:p>
          <a:p>
            <a:r>
              <a:rPr lang="it-IT" dirty="0"/>
              <a:t>19 x 3 = 57</a:t>
            </a:r>
          </a:p>
          <a:p>
            <a:r>
              <a:rPr lang="it-IT" dirty="0"/>
              <a:t>VERIFICATO</a:t>
            </a:r>
          </a:p>
          <a:p>
            <a:endParaRPr lang="it-IT" b="0" u="none" strike="noStrike" dirty="0">
              <a:effectLst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(3)</a:t>
            </a:r>
            <a:br>
              <a:rPr lang="it-IT" b="1" dirty="0"/>
            </a:br>
            <a:r>
              <a:rPr lang="it-IT" b="1" dirty="0"/>
              <a:t>Soluzione (5)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9235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645230"/>
            <a:ext cx="8915400" cy="3490578"/>
          </a:xfrm>
        </p:spPr>
        <p:txBody>
          <a:bodyPr>
            <a:normAutofit/>
          </a:bodyPr>
          <a:lstStyle/>
          <a:p>
            <a:r>
              <a:rPr lang="it-IT" dirty="0"/>
              <a:t>MOV R1 $n</a:t>
            </a:r>
          </a:p>
          <a:p>
            <a:r>
              <a:rPr lang="it-IT" dirty="0"/>
              <a:t>MOV R2 $n</a:t>
            </a:r>
          </a:p>
          <a:p>
            <a:r>
              <a:rPr lang="it-IT" dirty="0"/>
              <a:t>MOV R3 $n</a:t>
            </a:r>
          </a:p>
          <a:p>
            <a:pPr marL="0" indent="0">
              <a:buNone/>
            </a:pPr>
            <a:endParaRPr lang="it-IT" b="0" u="none" strike="noStrike" dirty="0">
              <a:effectLst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(3)</a:t>
            </a:r>
            <a:br>
              <a:rPr lang="it-IT" b="1" dirty="0"/>
            </a:br>
            <a:r>
              <a:rPr lang="it-IT" b="1" dirty="0"/>
              <a:t>Soluzione (6)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CAEAAA5-E2F7-4BAD-A6DB-AAC4C7BD2B21}"/>
              </a:ext>
            </a:extLst>
          </p:cNvPr>
          <p:cNvSpPr txBox="1"/>
          <p:nvPr/>
        </p:nvSpPr>
        <p:spPr>
          <a:xfrm>
            <a:off x="2589212" y="1905000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Istruzioni pseudo Assembly: caricamento in memoria di </a:t>
            </a:r>
            <a:r>
              <a:rPr lang="it-IT" b="1" i="1" dirty="0"/>
              <a:t>n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1645122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645230"/>
            <a:ext cx="8915400" cy="909992"/>
          </a:xfrm>
        </p:spPr>
        <p:txBody>
          <a:bodyPr>
            <a:normAutofit/>
          </a:bodyPr>
          <a:lstStyle/>
          <a:p>
            <a:r>
              <a:rPr lang="it-IT" dirty="0"/>
              <a:t>SHL R1 4</a:t>
            </a:r>
          </a:p>
          <a:p>
            <a:r>
              <a:rPr lang="it-IT" dirty="0"/>
              <a:t>SHL R2 1</a:t>
            </a:r>
          </a:p>
          <a:p>
            <a:pPr marL="0" indent="0">
              <a:buNone/>
            </a:pPr>
            <a:endParaRPr lang="it-IT" b="0" u="none" strike="noStrike" dirty="0">
              <a:effectLst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(3)</a:t>
            </a:r>
            <a:br>
              <a:rPr lang="it-IT" b="1" dirty="0"/>
            </a:br>
            <a:r>
              <a:rPr lang="it-IT" b="1" dirty="0"/>
              <a:t>Soluzione (7)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CAEAAA5-E2F7-4BAD-A6DB-AAC4C7BD2B21}"/>
              </a:ext>
            </a:extLst>
          </p:cNvPr>
          <p:cNvSpPr txBox="1"/>
          <p:nvPr/>
        </p:nvSpPr>
        <p:spPr>
          <a:xfrm>
            <a:off x="2589212" y="1905000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Istruzioni pseudo Assembly: </a:t>
            </a:r>
            <a:r>
              <a:rPr lang="it-IT" b="1" dirty="0" err="1"/>
              <a:t>shifting</a:t>
            </a:r>
            <a:r>
              <a:rPr lang="it-IT" b="1" dirty="0"/>
              <a:t> a sinistra dei valori nei registri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F631615-96B0-44AD-89F5-514426250D00}"/>
              </a:ext>
            </a:extLst>
          </p:cNvPr>
          <p:cNvSpPr txBox="1"/>
          <p:nvPr/>
        </p:nvSpPr>
        <p:spPr>
          <a:xfrm>
            <a:off x="2589212" y="3833053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Istruzioni pseudo Assembly: Somma dei valori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DFD2EBB1-2654-4D1E-BBD2-056BF573985B}"/>
              </a:ext>
            </a:extLst>
          </p:cNvPr>
          <p:cNvSpPr txBox="1">
            <a:spLocks/>
          </p:cNvSpPr>
          <p:nvPr/>
        </p:nvSpPr>
        <p:spPr>
          <a:xfrm>
            <a:off x="2589212" y="4569814"/>
            <a:ext cx="8915400" cy="909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ADD R1 R2</a:t>
            </a:r>
          </a:p>
          <a:p>
            <a:r>
              <a:rPr lang="it-IT" dirty="0"/>
              <a:t>ADD R1 R3</a:t>
            </a:r>
          </a:p>
          <a:p>
            <a:pPr marL="0" indent="0">
              <a:buFont typeface="Wingdings 3" charset="2"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62579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(3)</a:t>
            </a:r>
            <a:br>
              <a:rPr lang="it-IT" b="1" dirty="0"/>
            </a:br>
            <a:r>
              <a:rPr lang="it-IT" b="1" dirty="0"/>
              <a:t>Soluzione (8)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CAEAAA5-E2F7-4BAD-A6DB-AAC4C7BD2B21}"/>
              </a:ext>
            </a:extLst>
          </p:cNvPr>
          <p:cNvSpPr txBox="1"/>
          <p:nvPr/>
        </p:nvSpPr>
        <p:spPr>
          <a:xfrm>
            <a:off x="2589212" y="1905000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Verifica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DA8DBECC-220F-4A9A-AA27-7F526EBD5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202952"/>
              </p:ext>
            </p:extLst>
          </p:nvPr>
        </p:nvGraphicFramePr>
        <p:xfrm>
          <a:off x="2701507" y="3208190"/>
          <a:ext cx="1695450" cy="1182624"/>
        </p:xfrm>
        <a:graphic>
          <a:graphicData uri="http://schemas.openxmlformats.org/drawingml/2006/table">
            <a:tbl>
              <a:tblPr/>
              <a:tblGrid>
                <a:gridCol w="847725">
                  <a:extLst>
                    <a:ext uri="{9D8B030D-6E8A-4147-A177-3AD203B41FA5}">
                      <a16:colId xmlns:a16="http://schemas.microsoft.com/office/drawing/2014/main" val="3164265855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1893985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Registro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Valore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398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R1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00000011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142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R2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00000011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99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R3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00000011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607727"/>
                  </a:ext>
                </a:extLst>
              </a:tr>
            </a:tbl>
          </a:graphicData>
        </a:graphic>
      </p:graphicFrame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FADF4EB-89C4-4D43-AD33-38F01617575D}"/>
              </a:ext>
            </a:extLst>
          </p:cNvPr>
          <p:cNvSpPr txBox="1"/>
          <p:nvPr/>
        </p:nvSpPr>
        <p:spPr>
          <a:xfrm>
            <a:off x="2589212" y="2454442"/>
            <a:ext cx="201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1)Caricamento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709F1F44-E6AC-4FD7-8D40-10DEDEB993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601292"/>
              </p:ext>
            </p:extLst>
          </p:nvPr>
        </p:nvGraphicFramePr>
        <p:xfrm>
          <a:off x="5351463" y="3174132"/>
          <a:ext cx="1695450" cy="1182624"/>
        </p:xfrm>
        <a:graphic>
          <a:graphicData uri="http://schemas.openxmlformats.org/drawingml/2006/table">
            <a:tbl>
              <a:tblPr/>
              <a:tblGrid>
                <a:gridCol w="847725">
                  <a:extLst>
                    <a:ext uri="{9D8B030D-6E8A-4147-A177-3AD203B41FA5}">
                      <a16:colId xmlns:a16="http://schemas.microsoft.com/office/drawing/2014/main" val="402791944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161480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Registro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b="1" dirty="0">
                          <a:effectLst/>
                          <a:latin typeface="Times New Roman, serif"/>
                        </a:rPr>
                        <a:t>Valore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929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R1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00110000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907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R2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00000110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561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R3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00000011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7374599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F55F74C5-24BA-4952-AACB-AA0938E00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9188" y="34861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82F704F-8478-4C34-AF1E-66419449C575}"/>
              </a:ext>
            </a:extLst>
          </p:cNvPr>
          <p:cNvSpPr txBox="1"/>
          <p:nvPr/>
        </p:nvSpPr>
        <p:spPr>
          <a:xfrm>
            <a:off x="5522474" y="2454441"/>
            <a:ext cx="1353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2)Left Shift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0B58C5D-B6B2-4353-A6FF-74CEC9264468}"/>
              </a:ext>
            </a:extLst>
          </p:cNvPr>
          <p:cNvSpPr txBox="1"/>
          <p:nvPr/>
        </p:nvSpPr>
        <p:spPr>
          <a:xfrm>
            <a:off x="7794291" y="2454441"/>
            <a:ext cx="152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3) Somma I</a:t>
            </a:r>
          </a:p>
        </p:txBody>
      </p:sp>
      <p:graphicFrame>
        <p:nvGraphicFramePr>
          <p:cNvPr id="17" name="Tabella 16">
            <a:extLst>
              <a:ext uri="{FF2B5EF4-FFF2-40B4-BE49-F238E27FC236}">
                <a16:creationId xmlns:a16="http://schemas.microsoft.com/office/drawing/2014/main" id="{301F1D30-9FE1-407F-B270-2260DDFF8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452028"/>
              </p:ext>
            </p:extLst>
          </p:nvPr>
        </p:nvGraphicFramePr>
        <p:xfrm>
          <a:off x="7894638" y="3133695"/>
          <a:ext cx="1695450" cy="1182624"/>
        </p:xfrm>
        <a:graphic>
          <a:graphicData uri="http://schemas.openxmlformats.org/drawingml/2006/table">
            <a:tbl>
              <a:tblPr/>
              <a:tblGrid>
                <a:gridCol w="847725">
                  <a:extLst>
                    <a:ext uri="{9D8B030D-6E8A-4147-A177-3AD203B41FA5}">
                      <a16:colId xmlns:a16="http://schemas.microsoft.com/office/drawing/2014/main" val="620200225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6635672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Registro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Valore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204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R1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00110110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283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R2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00000110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925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R3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00000011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773188"/>
                  </a:ext>
                </a:extLst>
              </a:tr>
            </a:tbl>
          </a:graphicData>
        </a:graphic>
      </p:graphicFrame>
      <p:sp>
        <p:nvSpPr>
          <p:cNvPr id="18" name="Rectangle 3">
            <a:extLst>
              <a:ext uri="{FF2B5EF4-FFF2-40B4-BE49-F238E27FC236}">
                <a16:creationId xmlns:a16="http://schemas.microsoft.com/office/drawing/2014/main" id="{037B1F52-31BE-4D84-860D-30A62024B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4638" y="31329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259CD97-5A00-4212-AFCD-78914D99E456}"/>
              </a:ext>
            </a:extLst>
          </p:cNvPr>
          <p:cNvSpPr txBox="1"/>
          <p:nvPr/>
        </p:nvSpPr>
        <p:spPr>
          <a:xfrm>
            <a:off x="10171667" y="2454441"/>
            <a:ext cx="152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3) Somma II</a:t>
            </a:r>
          </a:p>
        </p:txBody>
      </p:sp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AA54F983-0DA8-4A76-A8B8-AAFCB55B9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975046"/>
              </p:ext>
            </p:extLst>
          </p:nvPr>
        </p:nvGraphicFramePr>
        <p:xfrm>
          <a:off x="10209211" y="3132993"/>
          <a:ext cx="1695450" cy="1182624"/>
        </p:xfrm>
        <a:graphic>
          <a:graphicData uri="http://schemas.openxmlformats.org/drawingml/2006/table">
            <a:tbl>
              <a:tblPr/>
              <a:tblGrid>
                <a:gridCol w="847725">
                  <a:extLst>
                    <a:ext uri="{9D8B030D-6E8A-4147-A177-3AD203B41FA5}">
                      <a16:colId xmlns:a16="http://schemas.microsoft.com/office/drawing/2014/main" val="327922982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646928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Registro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Valore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594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R1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00111001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119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R2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00000110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01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R3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00000011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407958"/>
                  </a:ext>
                </a:extLst>
              </a:tr>
            </a:tbl>
          </a:graphicData>
        </a:graphic>
      </p:graphicFrame>
      <p:sp>
        <p:nvSpPr>
          <p:cNvPr id="21" name="Rectangle 4">
            <a:extLst>
              <a:ext uri="{FF2B5EF4-FFF2-40B4-BE49-F238E27FC236}">
                <a16:creationId xmlns:a16="http://schemas.microsoft.com/office/drawing/2014/main" id="{939BDABB-BA5F-4284-9860-B2C238B6E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9211" y="31337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041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Decodifica dell’indirizzo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132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Decodifica dell’indirizzo(1)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1) </a:t>
            </a:r>
            <a:r>
              <a:rPr lang="en-US" b="1" dirty="0"/>
              <a:t>Si </a:t>
            </a:r>
            <a:r>
              <a:rPr lang="en-US" b="1" dirty="0" err="1"/>
              <a:t>supponga</a:t>
            </a:r>
            <a:r>
              <a:rPr lang="en-US" b="1" dirty="0"/>
              <a:t> di </a:t>
            </a:r>
            <a:r>
              <a:rPr lang="en-US" b="1" dirty="0" err="1"/>
              <a:t>avere</a:t>
            </a:r>
            <a:r>
              <a:rPr lang="en-US" b="1" dirty="0"/>
              <a:t> un </a:t>
            </a:r>
            <a:r>
              <a:rPr lang="en-US" b="1" dirty="0" err="1"/>
              <a:t>calcolatore</a:t>
            </a:r>
            <a:r>
              <a:rPr lang="en-US" b="1" dirty="0"/>
              <a:t> </a:t>
            </a:r>
            <a:r>
              <a:rPr lang="en-US" b="1" dirty="0" err="1"/>
              <a:t>monoprocessore</a:t>
            </a:r>
            <a:r>
              <a:rPr lang="en-US" b="1" dirty="0"/>
              <a:t> con 16-bit di </a:t>
            </a:r>
            <a:r>
              <a:rPr lang="en-US" b="1" dirty="0" err="1"/>
              <a:t>indirizzamento</a:t>
            </a:r>
            <a:r>
              <a:rPr lang="en-US" b="1" dirty="0"/>
              <a:t> (A0÷A15), </a:t>
            </a:r>
            <a:r>
              <a:rPr lang="en-US" b="1" dirty="0" err="1"/>
              <a:t>una</a:t>
            </a:r>
            <a:r>
              <a:rPr lang="en-US" b="1" dirty="0"/>
              <a:t> EPROM di 2 KB × 8 byte per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programma</a:t>
            </a:r>
            <a:r>
              <a:rPr lang="en-US" b="1" dirty="0"/>
              <a:t>, </a:t>
            </a:r>
            <a:r>
              <a:rPr lang="en-US" b="1" dirty="0" err="1"/>
              <a:t>una</a:t>
            </a:r>
            <a:r>
              <a:rPr lang="en-US" b="1" dirty="0"/>
              <a:t> RAM di 2 KB × 8 byte per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dati</a:t>
            </a:r>
            <a:r>
              <a:rPr lang="en-US" b="1" dirty="0"/>
              <a:t>, </a:t>
            </a:r>
            <a:r>
              <a:rPr lang="en-US" b="1" dirty="0" err="1"/>
              <a:t>una</a:t>
            </a:r>
            <a:r>
              <a:rPr lang="en-US" b="1" dirty="0"/>
              <a:t> PIO </a:t>
            </a:r>
            <a:r>
              <a:rPr lang="en-US" b="1" dirty="0" err="1"/>
              <a:t>tipo</a:t>
            </a:r>
            <a:r>
              <a:rPr lang="en-US" b="1" dirty="0"/>
              <a:t> Intel 8255A con 24 </a:t>
            </a:r>
            <a:r>
              <a:rPr lang="en-US" b="1" dirty="0" err="1"/>
              <a:t>porte</a:t>
            </a:r>
            <a:r>
              <a:rPr lang="en-US" b="1" dirty="0"/>
              <a:t> e un </a:t>
            </a:r>
            <a:r>
              <a:rPr lang="en-US" b="1" dirty="0" err="1"/>
              <a:t>registro</a:t>
            </a:r>
            <a:r>
              <a:rPr lang="en-US" b="1" dirty="0"/>
              <a:t> di </a:t>
            </a:r>
            <a:r>
              <a:rPr lang="en-US" b="1" dirty="0" err="1"/>
              <a:t>controllo</a:t>
            </a:r>
            <a:r>
              <a:rPr lang="en-US" b="1" dirty="0"/>
              <a:t>.</a:t>
            </a:r>
          </a:p>
          <a:p>
            <a:pPr marL="0" indent="0">
              <a:buNone/>
            </a:pPr>
            <a:r>
              <a:rPr lang="en-US" b="1" dirty="0" err="1"/>
              <a:t>Descrivere</a:t>
            </a:r>
            <a:r>
              <a:rPr lang="en-US" b="1" dirty="0"/>
              <a:t>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circuito</a:t>
            </a:r>
            <a:r>
              <a:rPr lang="en-US" b="1" dirty="0"/>
              <a:t> </a:t>
            </a:r>
            <a:r>
              <a:rPr lang="en-US" b="1" dirty="0" err="1"/>
              <a:t>che</a:t>
            </a:r>
            <a:r>
              <a:rPr lang="en-US" b="1" dirty="0"/>
              <a:t> </a:t>
            </a:r>
            <a:r>
              <a:rPr lang="en-US" b="1" dirty="0" err="1"/>
              <a:t>abilita</a:t>
            </a:r>
            <a:r>
              <a:rPr lang="en-US" b="1" dirty="0"/>
              <a:t> </a:t>
            </a:r>
            <a:r>
              <a:rPr lang="en-US" b="1" dirty="0" err="1"/>
              <a:t>il</a:t>
            </a:r>
            <a:r>
              <a:rPr lang="en-US" b="1" dirty="0"/>
              <a:t> chip di I/O in </a:t>
            </a:r>
            <a:r>
              <a:rPr lang="en-US" b="1" dirty="0" err="1"/>
              <a:t>modalità</a:t>
            </a:r>
            <a:r>
              <a:rPr lang="en-US" b="1" dirty="0"/>
              <a:t> Memory-Mapped I/O, se la PIO è </a:t>
            </a:r>
            <a:r>
              <a:rPr lang="en-US" b="1" dirty="0" err="1"/>
              <a:t>posizionata</a:t>
            </a:r>
            <a:r>
              <a:rPr lang="en-US" b="1" dirty="0"/>
              <a:t> a </a:t>
            </a:r>
            <a:r>
              <a:rPr lang="en-US" b="1" dirty="0" err="1"/>
              <a:t>partire</a:t>
            </a:r>
            <a:r>
              <a:rPr lang="en-US" b="1" dirty="0"/>
              <a:t> </a:t>
            </a:r>
            <a:r>
              <a:rPr lang="en-US" b="1" dirty="0" err="1"/>
              <a:t>dall’indirizzo</a:t>
            </a:r>
            <a:r>
              <a:rPr lang="en-US" b="1" dirty="0"/>
              <a:t> FFFCH </a:t>
            </a:r>
            <a:r>
              <a:rPr lang="en-US" b="1" dirty="0" err="1"/>
              <a:t>della</a:t>
            </a:r>
            <a:r>
              <a:rPr lang="en-US" b="1" dirty="0"/>
              <a:t> </a:t>
            </a:r>
            <a:r>
              <a:rPr lang="en-US" b="1" dirty="0" err="1"/>
              <a:t>memoria</a:t>
            </a:r>
            <a:r>
              <a:rPr lang="en-US" b="1" dirty="0"/>
              <a:t>. </a:t>
            </a:r>
          </a:p>
          <a:p>
            <a:pPr marL="0" indent="0">
              <a:buNone/>
            </a:pPr>
            <a:r>
              <a:rPr lang="en-US" b="1" dirty="0" err="1"/>
              <a:t>Suggerimento</a:t>
            </a:r>
            <a:r>
              <a:rPr lang="en-US" b="1" dirty="0"/>
              <a:t>: </a:t>
            </a:r>
            <a:r>
              <a:rPr lang="en-US" b="1" dirty="0" err="1"/>
              <a:t>porre</a:t>
            </a:r>
            <a:r>
              <a:rPr lang="en-US" b="1" dirty="0"/>
              <a:t> la EPROM </a:t>
            </a:r>
            <a:r>
              <a:rPr lang="en-US" b="1" dirty="0" err="1"/>
              <a:t>all'indirizzo</a:t>
            </a:r>
            <a:r>
              <a:rPr lang="en-US" b="1" dirty="0"/>
              <a:t> 0 </a:t>
            </a:r>
            <a:r>
              <a:rPr lang="en-US" b="1" dirty="0" err="1"/>
              <a:t>dello</a:t>
            </a:r>
            <a:r>
              <a:rPr lang="en-US" b="1" dirty="0"/>
              <a:t> </a:t>
            </a:r>
            <a:r>
              <a:rPr lang="en-US" b="1" dirty="0" err="1"/>
              <a:t>spazio</a:t>
            </a:r>
            <a:r>
              <a:rPr lang="en-US" b="1" dirty="0"/>
              <a:t> di </a:t>
            </a:r>
            <a:r>
              <a:rPr lang="en-US" b="1" dirty="0" err="1"/>
              <a:t>indirizzamento</a:t>
            </a:r>
            <a:r>
              <a:rPr lang="en-US" b="1" dirty="0"/>
              <a:t> e la RAM </a:t>
            </a:r>
            <a:r>
              <a:rPr lang="en-US" b="1" dirty="0" err="1"/>
              <a:t>all'indirizzo</a:t>
            </a:r>
            <a:r>
              <a:rPr lang="en-US" b="1" dirty="0"/>
              <a:t> 8000H.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668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645230"/>
                <a:ext cx="8915400" cy="349057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16 bit di </a:t>
                </a:r>
                <a:r>
                  <a:rPr lang="en-US" dirty="0" err="1"/>
                  <a:t>indirizzamento</a:t>
                </a:r>
                <a:r>
                  <a:rPr lang="en-US" dirty="0"/>
                  <a:t> A0÷A15</a:t>
                </a:r>
              </a:p>
              <a:p>
                <a:r>
                  <a:rPr lang="en-US" dirty="0"/>
                  <a:t>EPROM e RAM </a:t>
                </a:r>
                <a:r>
                  <a:rPr lang="en-US" dirty="0" err="1"/>
                  <a:t>richiedono</a:t>
                </a:r>
                <a:r>
                  <a:rPr lang="en-US" dirty="0"/>
                  <a:t> </a:t>
                </a:r>
                <a:r>
                  <a:rPr lang="en-US" dirty="0" err="1"/>
                  <a:t>uno</a:t>
                </a:r>
                <a:r>
                  <a:rPr lang="en-US" dirty="0"/>
                  <a:t> </a:t>
                </a:r>
                <a:r>
                  <a:rPr lang="en-US" dirty="0" err="1"/>
                  <a:t>spazio</a:t>
                </a:r>
                <a:r>
                  <a:rPr lang="en-US" dirty="0"/>
                  <a:t> </a:t>
                </a:r>
                <a:r>
                  <a:rPr lang="en-US" dirty="0" err="1"/>
                  <a:t>degli</a:t>
                </a:r>
                <a:r>
                  <a:rPr lang="en-US" dirty="0"/>
                  <a:t> </a:t>
                </a:r>
                <a:r>
                  <a:rPr lang="en-US" dirty="0" err="1"/>
                  <a:t>indirizzi</a:t>
                </a:r>
                <a:r>
                  <a:rPr lang="en-US" dirty="0"/>
                  <a:t> di 2KB</a:t>
                </a:r>
              </a:p>
              <a:p>
                <a:r>
                  <a:rPr lang="en-US" dirty="0"/>
                  <a:t>PIO </a:t>
                </a:r>
                <a:r>
                  <a:rPr lang="en-US" dirty="0" err="1"/>
                  <a:t>richiede</a:t>
                </a:r>
                <a:r>
                  <a:rPr lang="en-US" dirty="0"/>
                  <a:t> 4 byte</a:t>
                </a:r>
              </a:p>
              <a:p>
                <a:pPr marL="0" indent="0">
                  <a:buNone/>
                </a:pPr>
                <a:r>
                  <a:rPr lang="en-US" dirty="0"/>
                  <a:t>→ </a:t>
                </a:r>
                <a:r>
                  <a:rPr lang="en-US" dirty="0" err="1"/>
                  <a:t>indirizzi</a:t>
                </a:r>
                <a:r>
                  <a:rPr lang="en-US" dirty="0"/>
                  <a:t> 00000xxxxxxxxxxx </a:t>
                </a:r>
                <a:r>
                  <a:rPr lang="en-US" dirty="0" err="1"/>
                  <a:t>sono</a:t>
                </a:r>
                <a:r>
                  <a:rPr lang="en-US" dirty="0"/>
                  <a:t> </a:t>
                </a:r>
                <a:r>
                  <a:rPr lang="en-US" dirty="0" err="1"/>
                  <a:t>destinati</a:t>
                </a:r>
                <a:r>
                  <a:rPr lang="en-US" dirty="0"/>
                  <a:t> </a:t>
                </a:r>
                <a:r>
                  <a:rPr lang="en-US" dirty="0" err="1"/>
                  <a:t>alla</a:t>
                </a:r>
                <a:r>
                  <a:rPr lang="en-US" dirty="0"/>
                  <a:t> EPROM</a:t>
                </a:r>
              </a:p>
              <a:p>
                <a:pPr marL="0" indent="0">
                  <a:buNone/>
                </a:pPr>
                <a:r>
                  <a:rPr lang="en-US" dirty="0"/>
                  <a:t>→ </a:t>
                </a:r>
                <a:r>
                  <a:rPr lang="en-US" dirty="0" err="1"/>
                  <a:t>indirizzi</a:t>
                </a:r>
                <a:r>
                  <a:rPr lang="en-US" dirty="0"/>
                  <a:t> 10000xxxxxxxxxxx </a:t>
                </a:r>
                <a:r>
                  <a:rPr lang="en-US" dirty="0" err="1"/>
                  <a:t>sono</a:t>
                </a:r>
                <a:r>
                  <a:rPr lang="en-US" dirty="0"/>
                  <a:t> </a:t>
                </a:r>
                <a:r>
                  <a:rPr lang="en-US" dirty="0" err="1"/>
                  <a:t>destinati</a:t>
                </a:r>
                <a:r>
                  <a:rPr lang="en-US" dirty="0"/>
                  <a:t> </a:t>
                </a:r>
                <a:r>
                  <a:rPr lang="en-US" dirty="0" err="1"/>
                  <a:t>alla</a:t>
                </a:r>
                <a:r>
                  <a:rPr lang="en-US" dirty="0"/>
                  <a:t> RAM</a:t>
                </a:r>
              </a:p>
              <a:p>
                <a:pPr marL="0" indent="0">
                  <a:buNone/>
                </a:pPr>
                <a:r>
                  <a:rPr lang="en-US" dirty="0"/>
                  <a:t>→ </a:t>
                </a:r>
                <a:r>
                  <a:rPr lang="en-US" dirty="0" err="1"/>
                  <a:t>indirizzi</a:t>
                </a:r>
                <a:r>
                  <a:rPr lang="en-US" dirty="0"/>
                  <a:t> 11111111111111xx </a:t>
                </a:r>
                <a:r>
                  <a:rPr lang="en-US" dirty="0" err="1"/>
                  <a:t>alla</a:t>
                </a:r>
                <a:r>
                  <a:rPr lang="en-US" dirty="0"/>
                  <a:t> PIO</a:t>
                </a:r>
              </a:p>
              <a:p>
                <a:r>
                  <a:rPr lang="en-US" dirty="0"/>
                  <a:t>Per </a:t>
                </a:r>
                <a:r>
                  <a:rPr lang="en-US" dirty="0" err="1"/>
                  <a:t>ogni</a:t>
                </a:r>
                <a:r>
                  <a:rPr lang="en-US" dirty="0"/>
                  <a:t> </a:t>
                </a:r>
                <a:r>
                  <a:rPr lang="en-US" dirty="0" err="1"/>
                  <a:t>componente</a:t>
                </a:r>
                <a:r>
                  <a:rPr lang="en-US" dirty="0"/>
                  <a:t> </a:t>
                </a:r>
                <a:r>
                  <a:rPr lang="en-US" dirty="0" err="1"/>
                  <a:t>va</a:t>
                </a:r>
                <a:r>
                  <a:rPr lang="en-US" dirty="0"/>
                  <a:t> </a:t>
                </a:r>
                <a:r>
                  <a:rPr lang="en-US" dirty="0" err="1"/>
                  <a:t>attivata</a:t>
                </a:r>
                <a:r>
                  <a:rPr lang="en-US" dirty="0"/>
                  <a:t> (con </a:t>
                </a:r>
                <a:r>
                  <a:rPr lang="en-US" dirty="0" err="1"/>
                  <a:t>valore</a:t>
                </a:r>
                <a:r>
                  <a:rPr lang="en-US" dirty="0"/>
                  <a:t> 0) la porta di </a:t>
                </a:r>
                <a:r>
                  <a:rPr lang="en-US" dirty="0" err="1"/>
                  <a:t>controllo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𝐶𝑆</m:t>
                        </m:r>
                      </m:e>
                    </m:acc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it-IT" b="0" u="none" strike="noStrike" dirty="0">
                  <a:effectLst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645230"/>
                <a:ext cx="8915400" cy="3490578"/>
              </a:xfrm>
              <a:blipFill>
                <a:blip r:embed="rId2"/>
                <a:stretch>
                  <a:fillRect l="-616" t="-104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/>
          </a:bodyPr>
          <a:lstStyle/>
          <a:p>
            <a:r>
              <a:rPr lang="it-IT" b="1" dirty="0"/>
              <a:t>Decodifica dell’indirizzo(1)</a:t>
            </a:r>
            <a:br>
              <a:rPr lang="it-IT" b="1" dirty="0"/>
            </a:br>
            <a:r>
              <a:rPr lang="it-IT" b="1" dirty="0"/>
              <a:t>Soluzione (1)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299BE86-3980-4E79-9253-AB23F835128C}"/>
              </a:ext>
            </a:extLst>
          </p:cNvPr>
          <p:cNvSpPr txBox="1"/>
          <p:nvPr/>
        </p:nvSpPr>
        <p:spPr>
          <a:xfrm>
            <a:off x="2471057" y="1905000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Riferimento sul libro </a:t>
            </a:r>
            <a:r>
              <a:rPr lang="it-IT" i="1" dirty="0" err="1"/>
              <a:t>pag</a:t>
            </a:r>
            <a:r>
              <a:rPr lang="it-IT" i="1" dirty="0"/>
              <a:t> 215 e seguenti</a:t>
            </a:r>
          </a:p>
        </p:txBody>
      </p:sp>
    </p:spTree>
    <p:extLst>
      <p:ext uri="{BB962C8B-B14F-4D97-AF65-F5344CB8AC3E}">
        <p14:creationId xmlns:p14="http://schemas.microsoft.com/office/powerpoint/2010/main" val="502759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645230"/>
                <a:ext cx="8915400" cy="3490578"/>
              </a:xfrm>
            </p:spPr>
            <p:txBody>
              <a:bodyPr>
                <a:normAutofit/>
              </a:bodyPr>
              <a:lstStyle/>
              <a:p>
                <a:r>
                  <a:rPr lang="en-US" dirty="0" err="1"/>
                  <a:t>Attivare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𝐶𝑆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della</a:t>
                </a:r>
                <a:r>
                  <a:rPr lang="en-US" dirty="0"/>
                  <a:t> EPROM </a:t>
                </a:r>
                <a:r>
                  <a:rPr lang="en-US" dirty="0" err="1"/>
                  <a:t>quando</a:t>
                </a:r>
                <a:r>
                  <a:rPr lang="en-US" dirty="0"/>
                  <a:t> le </a:t>
                </a:r>
                <a:r>
                  <a:rPr lang="en-US" dirty="0" err="1"/>
                  <a:t>linee</a:t>
                </a:r>
                <a:r>
                  <a:rPr lang="en-US" dirty="0"/>
                  <a:t> A</a:t>
                </a:r>
                <a:r>
                  <a:rPr lang="en-US" baseline="-25000" dirty="0"/>
                  <a:t>11</a:t>
                </a:r>
                <a:r>
                  <a:rPr lang="en-US" dirty="0"/>
                  <a:t>, A</a:t>
                </a:r>
                <a:r>
                  <a:rPr lang="en-US" baseline="-25000" dirty="0"/>
                  <a:t>12</a:t>
                </a:r>
                <a:r>
                  <a:rPr lang="en-US" dirty="0"/>
                  <a:t>, A</a:t>
                </a:r>
                <a:r>
                  <a:rPr lang="en-US" baseline="-25000" dirty="0"/>
                  <a:t>13</a:t>
                </a:r>
                <a:r>
                  <a:rPr lang="en-US" dirty="0"/>
                  <a:t>, A</a:t>
                </a:r>
                <a:r>
                  <a:rPr lang="en-US" baseline="-25000" dirty="0"/>
                  <a:t>14</a:t>
                </a:r>
                <a:r>
                  <a:rPr lang="en-US" dirty="0"/>
                  <a:t> e A</a:t>
                </a:r>
                <a:r>
                  <a:rPr lang="en-US" baseline="-25000" dirty="0"/>
                  <a:t>15</a:t>
                </a:r>
                <a:r>
                  <a:rPr lang="en-US" dirty="0"/>
                  <a:t> </a:t>
                </a:r>
                <a:r>
                  <a:rPr lang="en-US" dirty="0" err="1"/>
                  <a:t>hanno</a:t>
                </a:r>
                <a:r>
                  <a:rPr lang="en-US" dirty="0"/>
                  <a:t> </a:t>
                </a:r>
                <a:r>
                  <a:rPr lang="en-US" dirty="0" err="1"/>
                  <a:t>segnale</a:t>
                </a:r>
                <a:r>
                  <a:rPr lang="en-US" dirty="0"/>
                  <a:t> basso: porta OR.</a:t>
                </a:r>
              </a:p>
              <a:p>
                <a:r>
                  <a:rPr lang="en-US" dirty="0"/>
                  <a:t> Attivare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𝐶𝑆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della</a:t>
                </a:r>
                <a:r>
                  <a:rPr lang="en-US" dirty="0"/>
                  <a:t> RAM </a:t>
                </a:r>
                <a:r>
                  <a:rPr lang="en-US" dirty="0" err="1"/>
                  <a:t>quando</a:t>
                </a:r>
                <a:r>
                  <a:rPr lang="en-US" dirty="0"/>
                  <a:t> le </a:t>
                </a:r>
                <a:r>
                  <a:rPr lang="en-US" dirty="0" err="1"/>
                  <a:t>linee</a:t>
                </a:r>
                <a:r>
                  <a:rPr lang="en-US" dirty="0"/>
                  <a:t> A</a:t>
                </a:r>
                <a:r>
                  <a:rPr lang="en-US" baseline="-25000" dirty="0"/>
                  <a:t>11</a:t>
                </a:r>
                <a:r>
                  <a:rPr lang="en-US" dirty="0"/>
                  <a:t>, A</a:t>
                </a:r>
                <a:r>
                  <a:rPr lang="en-US" baseline="-25000" dirty="0"/>
                  <a:t>12</a:t>
                </a:r>
                <a:r>
                  <a:rPr lang="en-US" dirty="0"/>
                  <a:t>, A</a:t>
                </a:r>
                <a:r>
                  <a:rPr lang="en-US" baseline="-25000" dirty="0"/>
                  <a:t>13</a:t>
                </a:r>
                <a:r>
                  <a:rPr lang="en-US" dirty="0"/>
                  <a:t>, A</a:t>
                </a:r>
                <a:r>
                  <a:rPr lang="en-US" baseline="-25000" dirty="0"/>
                  <a:t>14</a:t>
                </a:r>
                <a:r>
                  <a:rPr lang="en-US" dirty="0"/>
                  <a:t> </a:t>
                </a:r>
                <a:r>
                  <a:rPr lang="en-US" dirty="0" err="1"/>
                  <a:t>hanno</a:t>
                </a:r>
                <a:r>
                  <a:rPr lang="en-US" dirty="0"/>
                  <a:t> </a:t>
                </a:r>
                <a:r>
                  <a:rPr lang="en-US" dirty="0" err="1"/>
                  <a:t>segnale</a:t>
                </a:r>
                <a:r>
                  <a:rPr lang="en-US" dirty="0"/>
                  <a:t> basso, ma A</a:t>
                </a:r>
                <a:r>
                  <a:rPr lang="en-US" baseline="-25000" dirty="0"/>
                  <a:t>15</a:t>
                </a:r>
                <a:r>
                  <a:rPr lang="en-US" dirty="0"/>
                  <a:t> lo ha alto: porta OR </a:t>
                </a:r>
                <a:r>
                  <a:rPr lang="en-US" dirty="0" err="1"/>
                  <a:t>preceduta</a:t>
                </a:r>
                <a:r>
                  <a:rPr lang="en-US" dirty="0"/>
                  <a:t> da un not per la sola A</a:t>
                </a:r>
                <a:r>
                  <a:rPr lang="en-US" baseline="-25000" dirty="0"/>
                  <a:t>15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Attivare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𝐶𝑆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della</a:t>
                </a:r>
                <a:r>
                  <a:rPr lang="en-US" dirty="0"/>
                  <a:t> PIO </a:t>
                </a:r>
                <a:r>
                  <a:rPr lang="en-US" dirty="0" err="1"/>
                  <a:t>quando</a:t>
                </a:r>
                <a:r>
                  <a:rPr lang="en-US" dirty="0"/>
                  <a:t> le line A</a:t>
                </a:r>
                <a:r>
                  <a:rPr lang="en-US" baseline="-25000" dirty="0"/>
                  <a:t>2</a:t>
                </a:r>
                <a:r>
                  <a:rPr lang="en-US" dirty="0"/>
                  <a:t>, A</a:t>
                </a:r>
                <a:r>
                  <a:rPr lang="en-US" baseline="-25000" dirty="0"/>
                  <a:t>3</a:t>
                </a:r>
                <a:r>
                  <a:rPr lang="en-US" dirty="0"/>
                  <a:t>,  A</a:t>
                </a:r>
                <a:r>
                  <a:rPr lang="en-US" baseline="-25000" dirty="0"/>
                  <a:t>4</a:t>
                </a:r>
                <a:r>
                  <a:rPr lang="en-US" dirty="0"/>
                  <a:t>, A</a:t>
                </a:r>
                <a:r>
                  <a:rPr lang="en-US" baseline="-25000" dirty="0"/>
                  <a:t>5</a:t>
                </a:r>
                <a:r>
                  <a:rPr lang="en-US" dirty="0"/>
                  <a:t>, A</a:t>
                </a:r>
                <a:r>
                  <a:rPr lang="en-US" baseline="-25000" dirty="0"/>
                  <a:t>6</a:t>
                </a:r>
                <a:r>
                  <a:rPr lang="en-US" dirty="0"/>
                  <a:t>, A</a:t>
                </a:r>
                <a:r>
                  <a:rPr lang="en-US" baseline="-25000" dirty="0"/>
                  <a:t>7</a:t>
                </a:r>
                <a:r>
                  <a:rPr lang="en-US" dirty="0"/>
                  <a:t>, A</a:t>
                </a:r>
                <a:r>
                  <a:rPr lang="en-US" baseline="-25000" dirty="0"/>
                  <a:t>8</a:t>
                </a:r>
                <a:r>
                  <a:rPr lang="en-US" dirty="0"/>
                  <a:t>, A</a:t>
                </a:r>
                <a:r>
                  <a:rPr lang="en-US" baseline="-25000" dirty="0"/>
                  <a:t>9</a:t>
                </a:r>
                <a:r>
                  <a:rPr lang="en-US" dirty="0"/>
                  <a:t>, A</a:t>
                </a:r>
                <a:r>
                  <a:rPr lang="en-US" baseline="-25000" dirty="0"/>
                  <a:t>10</a:t>
                </a:r>
                <a:r>
                  <a:rPr lang="en-US" dirty="0"/>
                  <a:t>, A</a:t>
                </a:r>
                <a:r>
                  <a:rPr lang="en-US" baseline="-25000" dirty="0"/>
                  <a:t>11</a:t>
                </a:r>
                <a:r>
                  <a:rPr lang="en-US" dirty="0"/>
                  <a:t>, A</a:t>
                </a:r>
                <a:r>
                  <a:rPr lang="en-US" baseline="-25000" dirty="0"/>
                  <a:t>12</a:t>
                </a:r>
                <a:r>
                  <a:rPr lang="en-US" dirty="0"/>
                  <a:t>, A</a:t>
                </a:r>
                <a:r>
                  <a:rPr lang="en-US" baseline="-25000" dirty="0"/>
                  <a:t>13</a:t>
                </a:r>
                <a:r>
                  <a:rPr lang="en-US" dirty="0"/>
                  <a:t>, A</a:t>
                </a:r>
                <a:r>
                  <a:rPr lang="en-US" baseline="-25000" dirty="0"/>
                  <a:t>14</a:t>
                </a:r>
                <a:r>
                  <a:rPr lang="en-US" dirty="0"/>
                  <a:t> e A</a:t>
                </a:r>
                <a:r>
                  <a:rPr lang="en-US" baseline="-25000" dirty="0"/>
                  <a:t>15</a:t>
                </a:r>
                <a:r>
                  <a:rPr lang="en-US" dirty="0"/>
                  <a:t> </a:t>
                </a:r>
                <a:r>
                  <a:rPr lang="en-US" dirty="0" err="1"/>
                  <a:t>hanno</a:t>
                </a:r>
                <a:r>
                  <a:rPr lang="en-US" dirty="0"/>
                  <a:t> </a:t>
                </a:r>
                <a:r>
                  <a:rPr lang="en-US" dirty="0" err="1"/>
                  <a:t>segnale</a:t>
                </a:r>
                <a:r>
                  <a:rPr lang="en-US" dirty="0"/>
                  <a:t> alto: due NAND () e () unite ad </a:t>
                </a:r>
                <a:r>
                  <a:rPr lang="en-US" dirty="0" err="1"/>
                  <a:t>una</a:t>
                </a:r>
                <a:r>
                  <a:rPr lang="en-US" dirty="0"/>
                  <a:t> porta OR.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it-IT" b="0" u="none" strike="noStrike" dirty="0">
                  <a:effectLst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645230"/>
                <a:ext cx="8915400" cy="3490578"/>
              </a:xfrm>
              <a:blipFill>
                <a:blip r:embed="rId2"/>
                <a:stretch>
                  <a:fillRect l="-479" t="-104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/>
          </a:bodyPr>
          <a:lstStyle/>
          <a:p>
            <a:r>
              <a:rPr lang="it-IT" b="1" dirty="0"/>
              <a:t>Decodifica dell’indirizzo(1)</a:t>
            </a:r>
            <a:br>
              <a:rPr lang="it-IT" b="1" dirty="0"/>
            </a:br>
            <a:r>
              <a:rPr lang="it-IT" b="1" dirty="0"/>
              <a:t>Soluzione (2)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9593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/>
          </a:bodyPr>
          <a:lstStyle/>
          <a:p>
            <a:r>
              <a:rPr lang="it-IT" b="1" dirty="0"/>
              <a:t>Decodifica dell’indirizzo(1)</a:t>
            </a:r>
            <a:br>
              <a:rPr lang="it-IT" b="1" dirty="0"/>
            </a:br>
            <a:r>
              <a:rPr lang="it-IT" b="1" dirty="0"/>
              <a:t>Soluzione (3)</a:t>
            </a:r>
            <a:endParaRPr lang="it-IT" dirty="0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2FF2C567-BA55-47CF-9D73-0CA697BC8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Circuito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35574B0-B052-460F-A808-F9FA5C31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193" y="2516417"/>
            <a:ext cx="5380264" cy="358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830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645230"/>
            <a:ext cx="8915400" cy="3490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Notare</a:t>
            </a:r>
            <a:r>
              <a:rPr lang="en-US" dirty="0"/>
              <a:t>:</a:t>
            </a:r>
          </a:p>
          <a:p>
            <a:r>
              <a:rPr lang="en-US" dirty="0"/>
              <a:t>EPROM ha </a:t>
            </a:r>
            <a:r>
              <a:rPr lang="en-US" dirty="0" err="1"/>
              <a:t>indirizzi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iniziano</a:t>
            </a:r>
            <a:r>
              <a:rPr lang="en-US" dirty="0"/>
              <a:t> per 0 (A</a:t>
            </a:r>
            <a:r>
              <a:rPr lang="en-US" baseline="-25000" dirty="0"/>
              <a:t>15 </a:t>
            </a:r>
            <a:r>
              <a:rPr lang="en-US" dirty="0"/>
              <a:t>= 0)</a:t>
            </a:r>
          </a:p>
          <a:p>
            <a:r>
              <a:rPr lang="en-US" dirty="0"/>
              <a:t>RAM ha </a:t>
            </a:r>
            <a:r>
              <a:rPr lang="en-US" dirty="0" err="1"/>
              <a:t>indirizzi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iniziano</a:t>
            </a:r>
            <a:r>
              <a:rPr lang="en-US" dirty="0"/>
              <a:t> per 10 (A</a:t>
            </a:r>
            <a:r>
              <a:rPr lang="en-US" baseline="-25000" dirty="0"/>
              <a:t>15 </a:t>
            </a:r>
            <a:r>
              <a:rPr lang="en-US" dirty="0"/>
              <a:t>= 1, A</a:t>
            </a:r>
            <a:r>
              <a:rPr lang="en-US" baseline="-25000" dirty="0"/>
              <a:t>15 </a:t>
            </a:r>
            <a:r>
              <a:rPr lang="en-US" dirty="0"/>
              <a:t>= 0)</a:t>
            </a:r>
          </a:p>
          <a:p>
            <a:r>
              <a:rPr lang="en-US" dirty="0"/>
              <a:t>PIO ha </a:t>
            </a:r>
            <a:r>
              <a:rPr lang="en-US" dirty="0" err="1"/>
              <a:t>indirizzi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iniziano</a:t>
            </a:r>
            <a:r>
              <a:rPr lang="en-US" dirty="0"/>
              <a:t> per 11 (A</a:t>
            </a:r>
            <a:r>
              <a:rPr lang="en-US" baseline="-25000" dirty="0"/>
              <a:t>15 </a:t>
            </a:r>
            <a:r>
              <a:rPr lang="en-US" dirty="0"/>
              <a:t>= 1, A</a:t>
            </a:r>
            <a:r>
              <a:rPr lang="en-US" baseline="-25000" dirty="0"/>
              <a:t>15 </a:t>
            </a:r>
            <a:r>
              <a:rPr lang="en-US" dirty="0"/>
              <a:t>= 1)</a:t>
            </a:r>
          </a:p>
          <a:p>
            <a:r>
              <a:rPr lang="en-US" dirty="0" err="1"/>
              <a:t>Collegare</a:t>
            </a:r>
            <a:r>
              <a:rPr lang="en-US" dirty="0"/>
              <a:t> con lo </a:t>
            </a:r>
            <a:r>
              <a:rPr lang="en-US" dirty="0" err="1"/>
              <a:t>stesso</a:t>
            </a:r>
            <a:r>
              <a:rPr lang="en-US" dirty="0"/>
              <a:t> </a:t>
            </a:r>
            <a:r>
              <a:rPr lang="en-US" dirty="0" err="1"/>
              <a:t>criterio</a:t>
            </a:r>
            <a:r>
              <a:rPr lang="en-US" dirty="0"/>
              <a:t> </a:t>
            </a:r>
            <a:r>
              <a:rPr lang="en-US" dirty="0" err="1"/>
              <a:t>visto</a:t>
            </a:r>
            <a:r>
              <a:rPr lang="en-US" dirty="0"/>
              <a:t> in </a:t>
            </a:r>
            <a:r>
              <a:rPr lang="en-US" dirty="0" err="1"/>
              <a:t>precedenza</a:t>
            </a:r>
            <a:endParaRPr lang="en-US" dirty="0"/>
          </a:p>
          <a:p>
            <a:r>
              <a:rPr lang="en-US" dirty="0" err="1"/>
              <a:t>Attenzione</a:t>
            </a:r>
            <a:r>
              <a:rPr lang="en-US" dirty="0"/>
              <a:t>: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configurazione</a:t>
            </a:r>
            <a:r>
              <a:rPr lang="en-US" dirty="0"/>
              <a:t> non </a:t>
            </a:r>
            <a:r>
              <a:rPr lang="en-US" dirty="0" err="1"/>
              <a:t>permette</a:t>
            </a:r>
            <a:r>
              <a:rPr lang="en-US" dirty="0"/>
              <a:t> di </a:t>
            </a:r>
            <a:r>
              <a:rPr lang="en-US" dirty="0" err="1"/>
              <a:t>aggiungere</a:t>
            </a:r>
            <a:r>
              <a:rPr lang="en-US" dirty="0"/>
              <a:t> </a:t>
            </a:r>
            <a:r>
              <a:rPr lang="en-US" dirty="0" err="1"/>
              <a:t>ulteriori</a:t>
            </a:r>
            <a:r>
              <a:rPr lang="en-US" dirty="0"/>
              <a:t> </a:t>
            </a:r>
            <a:r>
              <a:rPr lang="en-US" dirty="0" err="1"/>
              <a:t>componenti</a:t>
            </a:r>
            <a:r>
              <a:rPr lang="en-US" dirty="0"/>
              <a:t> al </a:t>
            </a:r>
            <a:r>
              <a:rPr lang="en-US" dirty="0" err="1"/>
              <a:t>calcolatore</a:t>
            </a:r>
            <a:r>
              <a:rPr lang="en-US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it-IT" b="0" u="none" strike="noStrike" dirty="0">
              <a:effectLst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/>
          </a:bodyPr>
          <a:lstStyle/>
          <a:p>
            <a:r>
              <a:rPr lang="it-IT" b="1" dirty="0"/>
              <a:t>Decodifica dell’indirizzo(1)</a:t>
            </a:r>
            <a:br>
              <a:rPr lang="it-IT" b="1" dirty="0"/>
            </a:br>
            <a:r>
              <a:rPr lang="it-IT" b="1" dirty="0"/>
              <a:t>Soluzione (4)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2E52493-3831-4EFE-8C15-7A5733D5356D}"/>
              </a:ext>
            </a:extLst>
          </p:cNvPr>
          <p:cNvSpPr txBox="1"/>
          <p:nvPr/>
        </p:nvSpPr>
        <p:spPr>
          <a:xfrm>
            <a:off x="2589212" y="1905000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Soluzione alterativa</a:t>
            </a:r>
          </a:p>
        </p:txBody>
      </p:sp>
    </p:spTree>
    <p:extLst>
      <p:ext uri="{BB962C8B-B14F-4D97-AF65-F5344CB8AC3E}">
        <p14:creationId xmlns:p14="http://schemas.microsoft.com/office/powerpoint/2010/main" val="4070060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/>
          </a:bodyPr>
          <a:lstStyle/>
          <a:p>
            <a:r>
              <a:rPr lang="it-IT" b="1" dirty="0"/>
              <a:t>Decodifica dell’indirizzo(1)</a:t>
            </a:r>
            <a:br>
              <a:rPr lang="it-IT" b="1" dirty="0"/>
            </a:br>
            <a:r>
              <a:rPr lang="it-IT" b="1" dirty="0"/>
              <a:t>Soluzione (5)</a:t>
            </a:r>
            <a:endParaRPr lang="it-IT" dirty="0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2FF2C567-BA55-47CF-9D73-0CA697BC8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Circuito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07B6719-034B-4C3C-BC62-399E003FF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614" y="2498725"/>
            <a:ext cx="5339443" cy="355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0008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1557</TotalTime>
  <Words>1610</Words>
  <Application>Microsoft Office PowerPoint</Application>
  <PresentationFormat>Widescreen</PresentationFormat>
  <Paragraphs>282</Paragraphs>
  <Slides>26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33" baseType="lpstr">
      <vt:lpstr>Arial</vt:lpstr>
      <vt:lpstr>Calibri</vt:lpstr>
      <vt:lpstr>Cambria Math</vt:lpstr>
      <vt:lpstr>Century Gothic</vt:lpstr>
      <vt:lpstr>Times New Roman, serif</vt:lpstr>
      <vt:lpstr>Wingdings 3</vt:lpstr>
      <vt:lpstr>Filo</vt:lpstr>
      <vt:lpstr>ESERCITAZIONE 4</vt:lpstr>
      <vt:lpstr>Livello d’architettura dell’insieme di istruzioni</vt:lpstr>
      <vt:lpstr>Livello d’architettura dell’insieme di istruzioni (1)</vt:lpstr>
      <vt:lpstr>Livello d’architettura dell’insieme di istruzioni (1) Soluzioni (1)</vt:lpstr>
      <vt:lpstr>Livello d’architettura dell’insieme di istruzioni (1) Soluzioni (2)</vt:lpstr>
      <vt:lpstr>Livello d’architettura dell’insieme di istruzioni (1) Soluzioni (3)</vt:lpstr>
      <vt:lpstr>Livello d’architettura dell’insieme di istruzioni (1) Soluzioni (4)</vt:lpstr>
      <vt:lpstr>Livello d’architettura dell’insieme di istruzioni (2)</vt:lpstr>
      <vt:lpstr>Livello d’architettura dell’insieme di istruzioni (2) Soluzione (1)</vt:lpstr>
      <vt:lpstr>Livello d’architettura dell’insieme di istruzioni (2) Soluzione (2)</vt:lpstr>
      <vt:lpstr>Livello d’architettura dell’insieme di istruzioni (3)</vt:lpstr>
      <vt:lpstr>Livello d’architettura dell’insieme di istruzioni (3) Soluzione (1)</vt:lpstr>
      <vt:lpstr>Livello d’architettura dell’insieme di istruzioni (3) Soluzione (2)</vt:lpstr>
      <vt:lpstr>Livello d’architettura dell’insieme di istruzioni (3) Soluzione (3)</vt:lpstr>
      <vt:lpstr>Livello d’architettura dell’insieme di istruzioni (3) Soluzione (4)</vt:lpstr>
      <vt:lpstr>Livello d’architettura dell’insieme di istruzioni (3) Soluzione (5)</vt:lpstr>
      <vt:lpstr>Livello d’architettura dell’insieme di istruzioni (3) Soluzione (6)</vt:lpstr>
      <vt:lpstr>Livello d’architettura dell’insieme di istruzioni (3) Soluzione (7)</vt:lpstr>
      <vt:lpstr>Livello d’architettura dell’insieme di istruzioni (3) Soluzione (8)</vt:lpstr>
      <vt:lpstr>Decodifica dell’indirizzo</vt:lpstr>
      <vt:lpstr>Decodifica dell’indirizzo(1)</vt:lpstr>
      <vt:lpstr>Decodifica dell’indirizzo(1) Soluzione (1)</vt:lpstr>
      <vt:lpstr>Decodifica dell’indirizzo(1) Soluzione (2)</vt:lpstr>
      <vt:lpstr>Decodifica dell’indirizzo(1) Soluzione (3)</vt:lpstr>
      <vt:lpstr>Decodifica dell’indirizzo(1) Soluzione (4)</vt:lpstr>
      <vt:lpstr>Decodifica dell’indirizzo(1) Soluzione (5)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102</cp:revision>
  <dcterms:created xsi:type="dcterms:W3CDTF">2017-10-29T11:29:02Z</dcterms:created>
  <dcterms:modified xsi:type="dcterms:W3CDTF">2017-12-20T11:42:03Z</dcterms:modified>
</cp:coreProperties>
</file>