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7"/>
  </p:notesMasterIdLst>
  <p:handoutMasterIdLst>
    <p:handoutMasterId r:id="rId28"/>
  </p:handoutMasterIdLst>
  <p:sldIdLst>
    <p:sldId id="256" r:id="rId2"/>
    <p:sldId id="261" r:id="rId3"/>
    <p:sldId id="287" r:id="rId4"/>
    <p:sldId id="288" r:id="rId5"/>
    <p:sldId id="289" r:id="rId6"/>
    <p:sldId id="290" r:id="rId7"/>
    <p:sldId id="291" r:id="rId8"/>
    <p:sldId id="310" r:id="rId9"/>
    <p:sldId id="311" r:id="rId10"/>
    <p:sldId id="313"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9" r:id="rId25"/>
    <p:sldId id="30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2" autoAdjust="0"/>
    <p:restoredTop sz="93705" autoAdjust="0"/>
  </p:normalViewPr>
  <p:slideViewPr>
    <p:cSldViewPr snapToGrid="0">
      <p:cViewPr varScale="1">
        <p:scale>
          <a:sx n="82" d="100"/>
          <a:sy n="82" d="100"/>
        </p:scale>
        <p:origin x="18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96E8C878-CC3F-4927-AFE9-C441B2480F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it-IT"/>
              <a:t>Architettura dei Sisitemi di Elaborazione - Tutorato</a:t>
            </a:r>
          </a:p>
        </p:txBody>
      </p:sp>
      <p:sp>
        <p:nvSpPr>
          <p:cNvPr id="3" name="Segnaposto data 2">
            <a:extLst>
              <a:ext uri="{FF2B5EF4-FFF2-40B4-BE49-F238E27FC236}">
                <a16:creationId xmlns:a16="http://schemas.microsoft.com/office/drawing/2014/main" id="{10718DCB-A11A-4624-ABA8-C419A4CDDC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A8CC87-0F5E-47E7-B396-6CCF82E3A043}" type="datetimeFigureOut">
              <a:rPr lang="it-IT" smtClean="0"/>
              <a:t>07/02/2019</a:t>
            </a:fld>
            <a:endParaRPr lang="it-IT"/>
          </a:p>
        </p:txBody>
      </p:sp>
      <p:sp>
        <p:nvSpPr>
          <p:cNvPr id="4" name="Segnaposto piè di pagina 3">
            <a:extLst>
              <a:ext uri="{FF2B5EF4-FFF2-40B4-BE49-F238E27FC236}">
                <a16:creationId xmlns:a16="http://schemas.microsoft.com/office/drawing/2014/main" id="{A749EA43-ADE6-479A-8BE5-D75DE4C111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it-IT"/>
              <a:t>Anno accademico 2017/2018</a:t>
            </a:r>
          </a:p>
        </p:txBody>
      </p:sp>
      <p:sp>
        <p:nvSpPr>
          <p:cNvPr id="5" name="Segnaposto numero diapositiva 4">
            <a:extLst>
              <a:ext uri="{FF2B5EF4-FFF2-40B4-BE49-F238E27FC236}">
                <a16:creationId xmlns:a16="http://schemas.microsoft.com/office/drawing/2014/main" id="{755A2FCA-B514-4A4F-A6BC-2224BAF0F2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E1BA88-F7B6-42E3-9202-FF05D0F22EEB}" type="slidenum">
              <a:rPr lang="it-IT" smtClean="0"/>
              <a:t>‹N›</a:t>
            </a:fld>
            <a:endParaRPr lang="it-IT"/>
          </a:p>
        </p:txBody>
      </p:sp>
    </p:spTree>
    <p:extLst>
      <p:ext uri="{BB962C8B-B14F-4D97-AF65-F5344CB8AC3E}">
        <p14:creationId xmlns:p14="http://schemas.microsoft.com/office/powerpoint/2010/main" val="2678239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it-IT"/>
              <a:t>Architettura dei Sisitemi di Elaborazione - Tutorato</a:t>
            </a:r>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CE731-2F48-4289-9EB2-95BE0C54B00A}" type="datetimeFigureOut">
              <a:rPr lang="it-IT" smtClean="0"/>
              <a:t>07/02/2019</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it-IT"/>
              <a:t>Anno accademico 2017/2018</a:t>
            </a:r>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EE089-6A9B-4B70-BE17-EEBAA80965DD}" type="slidenum">
              <a:rPr lang="it-IT" smtClean="0"/>
              <a:t>‹N›</a:t>
            </a:fld>
            <a:endParaRPr lang="it-IT"/>
          </a:p>
        </p:txBody>
      </p:sp>
    </p:spTree>
    <p:extLst>
      <p:ext uri="{BB962C8B-B14F-4D97-AF65-F5344CB8AC3E}">
        <p14:creationId xmlns:p14="http://schemas.microsoft.com/office/powerpoint/2010/main" val="62854817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it-IT"/>
              <a:t>Fare clic per modificare lo stile del titolo dello schema</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r>
              <a:rPr lang="it-IT"/>
              <a:t>17/01/2018</a:t>
            </a:r>
            <a:endParaRPr lang="en-US" dirty="0"/>
          </a:p>
        </p:txBody>
      </p:sp>
      <p:sp>
        <p:nvSpPr>
          <p:cNvPr id="8" name="Footer Placeholder 7"/>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r>
              <a:rPr lang="it-IT"/>
              <a:t>17/01/2018</a:t>
            </a:r>
            <a:endParaRPr lang="en-US" dirty="0"/>
          </a:p>
        </p:txBody>
      </p:sp>
      <p:sp>
        <p:nvSpPr>
          <p:cNvPr id="4" name="Footer Placeholder 3"/>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a:t>17/01/2018</a:t>
            </a:r>
            <a:endParaRPr lang="en-US" dirty="0"/>
          </a:p>
        </p:txBody>
      </p:sp>
      <p:sp>
        <p:nvSpPr>
          <p:cNvPr id="3" name="Footer Placeholder 2"/>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it-IT"/>
              <a:t>Fare clic per modificare lo stile del titolo dello schema</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r>
              <a:rPr lang="it-IT"/>
              <a:t>17/01/2018</a:t>
            </a:r>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it-IT" dirty="0"/>
              <a:t>Architettura dei Sistemi di Elaborazione – Tutorato                                                     Anno accademico 2017/2018             Andrea Strazzulla</a:t>
            </a:r>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sldNum="0" hdr="0" ft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B3DABE-A298-4397-9F97-98977AB98683}"/>
              </a:ext>
            </a:extLst>
          </p:cNvPr>
          <p:cNvSpPr>
            <a:spLocks noGrp="1"/>
          </p:cNvSpPr>
          <p:nvPr>
            <p:ph type="ctrTitle"/>
          </p:nvPr>
        </p:nvSpPr>
        <p:spPr/>
        <p:txBody>
          <a:bodyPr/>
          <a:lstStyle/>
          <a:p>
            <a:r>
              <a:rPr lang="it-IT"/>
              <a:t>ESERCITAZIONE 8 </a:t>
            </a:r>
            <a:r>
              <a:rPr lang="it-IT" dirty="0"/>
              <a:t>- Soluzioni</a:t>
            </a:r>
          </a:p>
        </p:txBody>
      </p:sp>
      <p:sp>
        <p:nvSpPr>
          <p:cNvPr id="3" name="Sottotitolo 2">
            <a:extLst>
              <a:ext uri="{FF2B5EF4-FFF2-40B4-BE49-F238E27FC236}">
                <a16:creationId xmlns:a16="http://schemas.microsoft.com/office/drawing/2014/main" id="{C67F4023-4F77-422E-8EFF-970ACFA4FB6F}"/>
              </a:ext>
            </a:extLst>
          </p:cNvPr>
          <p:cNvSpPr>
            <a:spLocks noGrp="1"/>
          </p:cNvSpPr>
          <p:nvPr>
            <p:ph type="subTitle" idx="1"/>
          </p:nvPr>
        </p:nvSpPr>
        <p:spPr/>
        <p:txBody>
          <a:bodyPr>
            <a:normAutofit/>
          </a:bodyPr>
          <a:lstStyle/>
          <a:p>
            <a:r>
              <a:rPr lang="it-IT" b="1" dirty="0"/>
              <a:t>Algoritmi di rimpiazzamento delle pagine</a:t>
            </a:r>
            <a:endParaRPr lang="it-IT" dirty="0"/>
          </a:p>
          <a:p>
            <a:endParaRPr lang="it-IT" b="1" dirty="0"/>
          </a:p>
          <a:p>
            <a:endParaRPr lang="it-IT" b="1" dirty="0"/>
          </a:p>
        </p:txBody>
      </p:sp>
    </p:spTree>
    <p:extLst>
      <p:ext uri="{BB962C8B-B14F-4D97-AF65-F5344CB8AC3E}">
        <p14:creationId xmlns:p14="http://schemas.microsoft.com/office/powerpoint/2010/main" val="3361311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BDDE03-C3A9-48A6-80A4-B499442396EC}"/>
              </a:ext>
            </a:extLst>
          </p:cNvPr>
          <p:cNvSpPr>
            <a:spLocks noGrp="1"/>
          </p:cNvSpPr>
          <p:nvPr>
            <p:ph type="title"/>
          </p:nvPr>
        </p:nvSpPr>
        <p:spPr/>
        <p:txBody>
          <a:bodyPr/>
          <a:lstStyle/>
          <a:p>
            <a:r>
              <a:rPr lang="it-IT" b="1" dirty="0"/>
              <a:t>Algoritmi di rimpiazzamento delle pagine</a:t>
            </a:r>
          </a:p>
        </p:txBody>
      </p:sp>
      <p:sp>
        <p:nvSpPr>
          <p:cNvPr id="6" name="Segnaposto data 5">
            <a:extLst>
              <a:ext uri="{FF2B5EF4-FFF2-40B4-BE49-F238E27FC236}">
                <a16:creationId xmlns:a16="http://schemas.microsoft.com/office/drawing/2014/main" id="{5B609C46-F5C6-4D06-B938-1CA3277C4C6B}"/>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996661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4148472" cy="3820885"/>
          </a:xfrm>
        </p:spPr>
        <p:txBody>
          <a:bodyPr>
            <a:normAutofit/>
          </a:bodyPr>
          <a:lstStyle/>
          <a:p>
            <a:pPr marL="0" indent="0">
              <a:buNone/>
            </a:pPr>
            <a:r>
              <a:rPr lang="it-IT" b="1" dirty="0">
                <a:latin typeface="+Corpo"/>
              </a:rPr>
              <a:t>1) </a:t>
            </a:r>
            <a:r>
              <a:rPr lang="it-IT" b="1" dirty="0"/>
              <a:t>Nell’ambito del rimpiazzamento delle pagine, supponendo di usare l’algoritmo </a:t>
            </a:r>
            <a:r>
              <a:rPr lang="it-IT" b="1" dirty="0" err="1"/>
              <a:t>not</a:t>
            </a:r>
            <a:r>
              <a:rPr lang="it-IT" b="1" dirty="0"/>
              <a:t> </a:t>
            </a:r>
            <a:r>
              <a:rPr lang="it-IT" b="1" dirty="0" err="1"/>
              <a:t>recently</a:t>
            </a:r>
            <a:r>
              <a:rPr lang="it-IT" b="1" dirty="0"/>
              <a:t> </a:t>
            </a:r>
            <a:r>
              <a:rPr lang="it-IT" b="1" dirty="0" err="1"/>
              <a:t>used</a:t>
            </a:r>
            <a:r>
              <a:rPr lang="it-IT" b="1" dirty="0"/>
              <a:t> (NRU), e seguendo la tabella delle pagine in figura, nel caso in cui avvenga un </a:t>
            </a:r>
            <a:r>
              <a:rPr lang="it-IT" b="1" i="1" dirty="0"/>
              <a:t>page fault</a:t>
            </a:r>
            <a:r>
              <a:rPr lang="it-IT" b="1" dirty="0"/>
              <a:t>, quale sarà la pagina che verrà posta su disco? Perché? Se invece considerassimo la tabella come una lista ordinata (nell’ordine A,…,G), cosa succederebbe per l’algoritmo second chance? Quale pagina sarebbe rimpiazzata?</a:t>
            </a: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8" name="Tabella 7">
            <a:extLst>
              <a:ext uri="{FF2B5EF4-FFF2-40B4-BE49-F238E27FC236}">
                <a16:creationId xmlns:a16="http://schemas.microsoft.com/office/drawing/2014/main" id="{057079B7-690D-4A88-B202-6E6290663CA9}"/>
              </a:ext>
            </a:extLst>
          </p:cNvPr>
          <p:cNvGraphicFramePr>
            <a:graphicFrameLocks noGrp="1"/>
          </p:cNvGraphicFramePr>
          <p:nvPr>
            <p:extLst>
              <p:ext uri="{D42A27DB-BD31-4B8C-83A1-F6EECF244321}">
                <p14:modId xmlns:p14="http://schemas.microsoft.com/office/powerpoint/2010/main" val="1078823721"/>
              </p:ext>
            </p:extLst>
          </p:nvPr>
        </p:nvGraphicFramePr>
        <p:xfrm>
          <a:off x="7042013" y="2534652"/>
          <a:ext cx="4020606" cy="2962208"/>
        </p:xfrm>
        <a:graphic>
          <a:graphicData uri="http://schemas.openxmlformats.org/drawingml/2006/table">
            <a:tbl>
              <a:tblPr firstRow="1" bandRow="1">
                <a:tableStyleId>{5C22544A-7EE6-4342-B048-85BDC9FD1C3A}</a:tableStyleId>
              </a:tblPr>
              <a:tblGrid>
                <a:gridCol w="1340202">
                  <a:extLst>
                    <a:ext uri="{9D8B030D-6E8A-4147-A177-3AD203B41FA5}">
                      <a16:colId xmlns:a16="http://schemas.microsoft.com/office/drawing/2014/main" val="2234921742"/>
                    </a:ext>
                  </a:extLst>
                </a:gridCol>
                <a:gridCol w="1340202">
                  <a:extLst>
                    <a:ext uri="{9D8B030D-6E8A-4147-A177-3AD203B41FA5}">
                      <a16:colId xmlns:a16="http://schemas.microsoft.com/office/drawing/2014/main" val="2500185377"/>
                    </a:ext>
                  </a:extLst>
                </a:gridCol>
                <a:gridCol w="1340202">
                  <a:extLst>
                    <a:ext uri="{9D8B030D-6E8A-4147-A177-3AD203B41FA5}">
                      <a16:colId xmlns:a16="http://schemas.microsoft.com/office/drawing/2014/main" val="949842759"/>
                    </a:ext>
                  </a:extLst>
                </a:gridCol>
              </a:tblGrid>
              <a:tr h="370276">
                <a:tc>
                  <a:txBody>
                    <a:bodyPr/>
                    <a:lstStyle/>
                    <a:p>
                      <a:pPr algn="ctr" rtl="0">
                        <a:lnSpc>
                          <a:spcPct val="120000"/>
                        </a:lnSpc>
                      </a:pPr>
                      <a:r>
                        <a:rPr lang="it-IT" sz="1200" b="1" dirty="0">
                          <a:effectLst/>
                          <a:latin typeface="Times New Roman, serif"/>
                        </a:rPr>
                        <a:t>Pagina</a:t>
                      </a:r>
                      <a:endParaRPr lang="it-IT" dirty="0">
                        <a:effectLst/>
                      </a:endParaRPr>
                    </a:p>
                  </a:txBody>
                  <a:tcPr marL="38100" marR="38100" marT="38100" marB="38100"/>
                </a:tc>
                <a:tc>
                  <a:txBody>
                    <a:bodyPr/>
                    <a:lstStyle/>
                    <a:p>
                      <a:pPr algn="ctr" rtl="0">
                        <a:lnSpc>
                          <a:spcPct val="120000"/>
                        </a:lnSpc>
                      </a:pPr>
                      <a:r>
                        <a:rPr lang="it-IT" sz="1200" b="1">
                          <a:effectLst/>
                          <a:latin typeface="Times New Roman, serif"/>
                        </a:rPr>
                        <a:t>R</a:t>
                      </a:r>
                      <a:endParaRPr lang="it-IT">
                        <a:effectLst/>
                      </a:endParaRPr>
                    </a:p>
                  </a:txBody>
                  <a:tcPr marL="38100" marR="38100" marT="38100" marB="38100"/>
                </a:tc>
                <a:tc>
                  <a:txBody>
                    <a:bodyPr/>
                    <a:lstStyle/>
                    <a:p>
                      <a:pPr algn="ctr" rtl="0">
                        <a:lnSpc>
                          <a:spcPct val="120000"/>
                        </a:lnSpc>
                      </a:pPr>
                      <a:r>
                        <a:rPr lang="it-IT" sz="1200" b="1">
                          <a:effectLst/>
                          <a:latin typeface="Times New Roman, serif"/>
                        </a:rPr>
                        <a:t>M</a:t>
                      </a:r>
                      <a:endParaRPr lang="it-IT">
                        <a:effectLst/>
                      </a:endParaRPr>
                    </a:p>
                  </a:txBody>
                  <a:tcPr marL="38100" marR="38100" marT="38100" marB="38100"/>
                </a:tc>
                <a:extLst>
                  <a:ext uri="{0D108BD9-81ED-4DB2-BD59-A6C34878D82A}">
                    <a16:rowId xmlns:a16="http://schemas.microsoft.com/office/drawing/2014/main" val="3501385589"/>
                  </a:ext>
                </a:extLst>
              </a:tr>
              <a:tr h="370276">
                <a:tc>
                  <a:txBody>
                    <a:bodyPr/>
                    <a:lstStyle/>
                    <a:p>
                      <a:pPr algn="ctr" rtl="0">
                        <a:lnSpc>
                          <a:spcPct val="120000"/>
                        </a:lnSpc>
                      </a:pPr>
                      <a:r>
                        <a:rPr lang="it-IT" sz="1200">
                          <a:effectLst/>
                          <a:latin typeface="Times New Roman, serif"/>
                        </a:rPr>
                        <a:t>A</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1057106217"/>
                  </a:ext>
                </a:extLst>
              </a:tr>
              <a:tr h="370276">
                <a:tc>
                  <a:txBody>
                    <a:bodyPr/>
                    <a:lstStyle/>
                    <a:p>
                      <a:pPr algn="ctr" rtl="0">
                        <a:lnSpc>
                          <a:spcPct val="120000"/>
                        </a:lnSpc>
                      </a:pPr>
                      <a:r>
                        <a:rPr lang="it-IT" sz="1200">
                          <a:effectLst/>
                          <a:latin typeface="Times New Roman, serif"/>
                        </a:rPr>
                        <a:t>B</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2605497057"/>
                  </a:ext>
                </a:extLst>
              </a:tr>
              <a:tr h="370276">
                <a:tc>
                  <a:txBody>
                    <a:bodyPr/>
                    <a:lstStyle/>
                    <a:p>
                      <a:pPr algn="ctr" rtl="0">
                        <a:lnSpc>
                          <a:spcPct val="120000"/>
                        </a:lnSpc>
                      </a:pPr>
                      <a:r>
                        <a:rPr lang="it-IT" sz="1200">
                          <a:effectLst/>
                          <a:latin typeface="Times New Roman, serif"/>
                        </a:rPr>
                        <a:t>C</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669115270"/>
                  </a:ext>
                </a:extLst>
              </a:tr>
              <a:tr h="370276">
                <a:tc>
                  <a:txBody>
                    <a:bodyPr/>
                    <a:lstStyle/>
                    <a:p>
                      <a:pPr algn="ctr" rtl="0">
                        <a:lnSpc>
                          <a:spcPct val="120000"/>
                        </a:lnSpc>
                      </a:pPr>
                      <a:r>
                        <a:rPr lang="it-IT" sz="1200">
                          <a:effectLst/>
                          <a:latin typeface="Times New Roman, serif"/>
                        </a:rPr>
                        <a:t>D</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0</a:t>
                      </a:r>
                      <a:endParaRPr lang="it-IT" dirty="0">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2635656350"/>
                  </a:ext>
                </a:extLst>
              </a:tr>
              <a:tr h="370276">
                <a:tc>
                  <a:txBody>
                    <a:bodyPr/>
                    <a:lstStyle/>
                    <a:p>
                      <a:pPr algn="ctr" rtl="0">
                        <a:lnSpc>
                          <a:spcPct val="120000"/>
                        </a:lnSpc>
                      </a:pPr>
                      <a:r>
                        <a:rPr lang="it-IT" sz="1200">
                          <a:effectLst/>
                          <a:latin typeface="Times New Roman, serif"/>
                        </a:rPr>
                        <a:t>E</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365956189"/>
                  </a:ext>
                </a:extLst>
              </a:tr>
              <a:tr h="370276">
                <a:tc>
                  <a:txBody>
                    <a:bodyPr/>
                    <a:lstStyle/>
                    <a:p>
                      <a:pPr algn="ctr" rtl="0">
                        <a:lnSpc>
                          <a:spcPct val="120000"/>
                        </a:lnSpc>
                      </a:pPr>
                      <a:r>
                        <a:rPr lang="it-IT" sz="1200">
                          <a:effectLst/>
                          <a:latin typeface="Times New Roman, serif"/>
                        </a:rPr>
                        <a:t>F</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3052511235"/>
                  </a:ext>
                </a:extLst>
              </a:tr>
              <a:tr h="370276">
                <a:tc>
                  <a:txBody>
                    <a:bodyPr/>
                    <a:lstStyle/>
                    <a:p>
                      <a:pPr algn="ctr" rtl="0">
                        <a:lnSpc>
                          <a:spcPct val="120000"/>
                        </a:lnSpc>
                      </a:pPr>
                      <a:r>
                        <a:rPr lang="it-IT" sz="1200">
                          <a:effectLst/>
                          <a:latin typeface="Times New Roman, serif"/>
                        </a:rPr>
                        <a:t>G</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0</a:t>
                      </a:r>
                      <a:endParaRPr lang="it-IT" dirty="0">
                        <a:effectLst/>
                      </a:endParaRPr>
                    </a:p>
                  </a:txBody>
                  <a:tcPr marL="38100" marR="38100" marT="38100" marB="38100"/>
                </a:tc>
                <a:extLst>
                  <a:ext uri="{0D108BD9-81ED-4DB2-BD59-A6C34878D82A}">
                    <a16:rowId xmlns:a16="http://schemas.microsoft.com/office/drawing/2014/main" val="1013082311"/>
                  </a:ext>
                </a:extLst>
              </a:tr>
            </a:tbl>
          </a:graphicData>
        </a:graphic>
      </p:graphicFrame>
    </p:spTree>
    <p:extLst>
      <p:ext uri="{BB962C8B-B14F-4D97-AF65-F5344CB8AC3E}">
        <p14:creationId xmlns:p14="http://schemas.microsoft.com/office/powerpoint/2010/main" val="375603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(1)- Soluzioni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fontScale="92500" lnSpcReduction="10000"/>
          </a:bodyPr>
          <a:lstStyle/>
          <a:p>
            <a:r>
              <a:rPr lang="it-IT" dirty="0"/>
              <a:t>Algoritmo </a:t>
            </a:r>
            <a:r>
              <a:rPr lang="it-IT" b="1" dirty="0"/>
              <a:t>NRU</a:t>
            </a:r>
            <a:r>
              <a:rPr lang="it-IT" dirty="0"/>
              <a:t> (</a:t>
            </a:r>
            <a:r>
              <a:rPr lang="it-IT" dirty="0" err="1"/>
              <a:t>Not</a:t>
            </a:r>
            <a:r>
              <a:rPr lang="it-IT" dirty="0"/>
              <a:t> </a:t>
            </a:r>
            <a:r>
              <a:rPr lang="it-IT" dirty="0" err="1"/>
              <a:t>Recently</a:t>
            </a:r>
            <a:r>
              <a:rPr lang="it-IT" dirty="0"/>
              <a:t> </a:t>
            </a:r>
            <a:r>
              <a:rPr lang="it-IT" dirty="0" err="1"/>
              <a:t>Used</a:t>
            </a:r>
            <a:r>
              <a:rPr lang="it-IT" dirty="0"/>
              <a:t>):</a:t>
            </a:r>
          </a:p>
          <a:p>
            <a:pPr lvl="1"/>
            <a:r>
              <a:rPr lang="it-IT" dirty="0"/>
              <a:t>Bit R: posto a 1 ogni qual volta pagina sia riferita (cioè scritta o letta)</a:t>
            </a:r>
          </a:p>
          <a:p>
            <a:pPr lvl="1"/>
            <a:r>
              <a:rPr lang="it-IT" dirty="0"/>
              <a:t>Bit M: posto a 1 ogni qual volta pagina sia modificata.</a:t>
            </a:r>
          </a:p>
          <a:p>
            <a:r>
              <a:rPr lang="it-IT" dirty="0"/>
              <a:t>Reset a 0 da software per entrambi i bit.</a:t>
            </a:r>
          </a:p>
          <a:p>
            <a:r>
              <a:rPr lang="it-IT" dirty="0"/>
              <a:t>Priorità :</a:t>
            </a:r>
          </a:p>
          <a:p>
            <a:pPr lvl="1"/>
            <a:r>
              <a:rPr lang="it-IT" dirty="0"/>
              <a:t>[Classe 0]: R=0, M=0,				(classe più conveniente da </a:t>
            </a:r>
            <a:r>
              <a:rPr lang="it-IT" dirty="0" err="1"/>
              <a:t>swappare</a:t>
            </a:r>
            <a:r>
              <a:rPr lang="it-IT" dirty="0"/>
              <a:t>)	</a:t>
            </a:r>
          </a:p>
          <a:p>
            <a:pPr lvl="1"/>
            <a:r>
              <a:rPr lang="it-IT" dirty="0"/>
              <a:t>[Classe1]: R=0, M=1,</a:t>
            </a:r>
          </a:p>
          <a:p>
            <a:pPr lvl="1"/>
            <a:r>
              <a:rPr lang="it-IT" dirty="0"/>
              <a:t>[Classe2]: R=1, M=0,</a:t>
            </a:r>
          </a:p>
          <a:p>
            <a:pPr lvl="1"/>
            <a:r>
              <a:rPr lang="it-IT" dirty="0"/>
              <a:t>[Classe3]: R=1, M=1					 (classe meno conveniente da </a:t>
            </a:r>
            <a:r>
              <a:rPr lang="it-IT" dirty="0" err="1"/>
              <a:t>swappare</a:t>
            </a:r>
            <a:r>
              <a:rPr lang="it-IT" dirty="0"/>
              <a:t>)</a:t>
            </a:r>
          </a:p>
          <a:p>
            <a:r>
              <a:rPr lang="it-IT" dirty="0" err="1"/>
              <a:t>Ref</a:t>
            </a:r>
            <a:r>
              <a:rPr lang="it-IT" dirty="0"/>
              <a:t>: I moderni sistemi operativi”, </a:t>
            </a:r>
            <a:r>
              <a:rPr lang="it-IT" dirty="0" err="1"/>
              <a:t>pag</a:t>
            </a:r>
            <a:r>
              <a:rPr lang="it-IT" dirty="0"/>
              <a:t> 197 e successive, capitolo 4.4. Algoritmi di rimpiazzamento delle pagine.</a:t>
            </a:r>
          </a:p>
          <a:p>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1240934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(1) - Soluzioni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a:t>second chance</a:t>
            </a:r>
            <a:r>
              <a:rPr lang="it-IT" dirty="0"/>
              <a:t> (della seconda opportunità):</a:t>
            </a:r>
          </a:p>
          <a:p>
            <a:r>
              <a:rPr lang="it-IT" dirty="0"/>
              <a:t>Pagine in lista per ordine di ingresso</a:t>
            </a:r>
          </a:p>
          <a:p>
            <a:r>
              <a:rPr lang="it-IT" dirty="0"/>
              <a:t>Bit M non considerato</a:t>
            </a:r>
          </a:p>
          <a:p>
            <a:r>
              <a:rPr lang="it-IT" dirty="0"/>
              <a:t>Algoritmo:</a:t>
            </a:r>
          </a:p>
          <a:p>
            <a:pPr lvl="1"/>
            <a:r>
              <a:rPr lang="it-IT" dirty="0"/>
              <a:t>Scorrere la lista</a:t>
            </a:r>
          </a:p>
          <a:p>
            <a:pPr lvl="1"/>
            <a:r>
              <a:rPr lang="it-IT" dirty="0"/>
              <a:t>Se R = 1, porre R=0, reinserire pagina in fondo a lista</a:t>
            </a:r>
          </a:p>
          <a:p>
            <a:pPr lvl="1"/>
            <a:r>
              <a:rPr lang="it-IT" dirty="0"/>
              <a:t>Se R=0, effettuare swap della pagina corrispondente.</a:t>
            </a:r>
          </a:p>
          <a:p>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3035834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(1) - Soluzioni (3)</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Soluzione algoritmo NRU:</a:t>
            </a:r>
          </a:p>
          <a:p>
            <a:pPr lvl="1"/>
            <a:r>
              <a:rPr lang="it-IT" dirty="0"/>
              <a:t>Una sola pagina appartiene alla Classe 0, con massima priorità di swap.</a:t>
            </a:r>
          </a:p>
          <a:p>
            <a:pPr lvl="1"/>
            <a:r>
              <a:rPr lang="it-IT" dirty="0"/>
              <a:t>La pagina è E (M=0, R=0).</a:t>
            </a:r>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634114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(1) - Soluzioni (4)</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4645777" cy="3766456"/>
          </a:xfrm>
        </p:spPr>
        <p:txBody>
          <a:bodyPr>
            <a:normAutofit/>
          </a:bodyPr>
          <a:lstStyle/>
          <a:p>
            <a:r>
              <a:rPr lang="it-IT" dirty="0"/>
              <a:t>Soluzione algoritmo second chance:</a:t>
            </a:r>
          </a:p>
          <a:p>
            <a:pPr lvl="1"/>
            <a:r>
              <a:rPr lang="it-IT" dirty="0"/>
              <a:t>A ha R=1: reset a 0 e spostamento in fondo alla lista,</a:t>
            </a:r>
          </a:p>
          <a:p>
            <a:pPr lvl="1"/>
            <a:r>
              <a:rPr lang="it-IT" dirty="0"/>
              <a:t>B ha R=1: reset a 0 e spostamento in fondo alla lista,</a:t>
            </a:r>
          </a:p>
          <a:p>
            <a:pPr lvl="1"/>
            <a:r>
              <a:rPr lang="it-IT" dirty="0"/>
              <a:t>C ha R=1: reset a 0 e spostamento in fondo alla lista,</a:t>
            </a:r>
          </a:p>
          <a:p>
            <a:pPr lvl="1"/>
            <a:r>
              <a:rPr lang="it-IT" dirty="0"/>
              <a:t>D ha R=0: swap su disco</a:t>
            </a:r>
          </a:p>
          <a:p>
            <a:pPr lvl="1"/>
            <a:endParaRPr lang="it-IT" dirty="0"/>
          </a:p>
          <a:p>
            <a:pPr lvl="1"/>
            <a:r>
              <a:rPr lang="it-IT" dirty="0"/>
              <a:t>Situazione finale in figura.</a:t>
            </a:r>
          </a:p>
          <a:p>
            <a:pPr marL="0" indent="0">
              <a:buNone/>
            </a:pPr>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5" name="Tabella 4">
            <a:extLst>
              <a:ext uri="{FF2B5EF4-FFF2-40B4-BE49-F238E27FC236}">
                <a16:creationId xmlns:a16="http://schemas.microsoft.com/office/drawing/2014/main" id="{A4297A8F-CE6E-4398-A63C-6715C503938F}"/>
              </a:ext>
            </a:extLst>
          </p:cNvPr>
          <p:cNvGraphicFramePr>
            <a:graphicFrameLocks noGrp="1"/>
          </p:cNvGraphicFramePr>
          <p:nvPr>
            <p:extLst>
              <p:ext uri="{D42A27DB-BD31-4B8C-83A1-F6EECF244321}">
                <p14:modId xmlns:p14="http://schemas.microsoft.com/office/powerpoint/2010/main" val="1308467957"/>
              </p:ext>
            </p:extLst>
          </p:nvPr>
        </p:nvGraphicFramePr>
        <p:xfrm>
          <a:off x="7255430" y="2717093"/>
          <a:ext cx="4064000" cy="2595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748697418"/>
                    </a:ext>
                  </a:extLst>
                </a:gridCol>
                <a:gridCol w="2032000">
                  <a:extLst>
                    <a:ext uri="{9D8B030D-6E8A-4147-A177-3AD203B41FA5}">
                      <a16:colId xmlns:a16="http://schemas.microsoft.com/office/drawing/2014/main" val="2398109710"/>
                    </a:ext>
                  </a:extLst>
                </a:gridCol>
              </a:tblGrid>
              <a:tr h="370840">
                <a:tc>
                  <a:txBody>
                    <a:bodyPr/>
                    <a:lstStyle/>
                    <a:p>
                      <a:pPr algn="ctr" rtl="0">
                        <a:lnSpc>
                          <a:spcPct val="120000"/>
                        </a:lnSpc>
                      </a:pPr>
                      <a:r>
                        <a:rPr lang="it-IT" sz="1200" b="1" dirty="0">
                          <a:effectLst/>
                          <a:latin typeface="Times New Roman, serif"/>
                        </a:rPr>
                        <a:t>Pagina</a:t>
                      </a:r>
                      <a:endParaRPr lang="it-IT" dirty="0">
                        <a:effectLst/>
                      </a:endParaRPr>
                    </a:p>
                  </a:txBody>
                  <a:tcPr marL="38100" marR="38100" marT="38100" marB="38100"/>
                </a:tc>
                <a:tc>
                  <a:txBody>
                    <a:bodyPr/>
                    <a:lstStyle/>
                    <a:p>
                      <a:pPr algn="ctr" rtl="0">
                        <a:lnSpc>
                          <a:spcPct val="120000"/>
                        </a:lnSpc>
                      </a:pPr>
                      <a:r>
                        <a:rPr lang="it-IT" sz="1200" b="1">
                          <a:effectLst/>
                          <a:latin typeface="Times New Roman, serif"/>
                        </a:rPr>
                        <a:t>R</a:t>
                      </a:r>
                      <a:endParaRPr lang="it-IT">
                        <a:effectLst/>
                      </a:endParaRPr>
                    </a:p>
                  </a:txBody>
                  <a:tcPr marL="38100" marR="38100" marT="38100" marB="38100"/>
                </a:tc>
                <a:extLst>
                  <a:ext uri="{0D108BD9-81ED-4DB2-BD59-A6C34878D82A}">
                    <a16:rowId xmlns:a16="http://schemas.microsoft.com/office/drawing/2014/main" val="406914044"/>
                  </a:ext>
                </a:extLst>
              </a:tr>
              <a:tr h="370840">
                <a:tc>
                  <a:txBody>
                    <a:bodyPr/>
                    <a:lstStyle/>
                    <a:p>
                      <a:pPr algn="ctr" rtl="0">
                        <a:lnSpc>
                          <a:spcPct val="120000"/>
                        </a:lnSpc>
                      </a:pPr>
                      <a:r>
                        <a:rPr lang="it-IT" sz="1200">
                          <a:effectLst/>
                          <a:latin typeface="Times New Roman, serif"/>
                        </a:rPr>
                        <a:t>E</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1160051458"/>
                  </a:ext>
                </a:extLst>
              </a:tr>
              <a:tr h="370840">
                <a:tc>
                  <a:txBody>
                    <a:bodyPr/>
                    <a:lstStyle/>
                    <a:p>
                      <a:pPr algn="ctr" rtl="0">
                        <a:lnSpc>
                          <a:spcPct val="120000"/>
                        </a:lnSpc>
                      </a:pPr>
                      <a:r>
                        <a:rPr lang="it-IT" sz="1200">
                          <a:effectLst/>
                          <a:latin typeface="Times New Roman, serif"/>
                        </a:rPr>
                        <a:t>F</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1394778900"/>
                  </a:ext>
                </a:extLst>
              </a:tr>
              <a:tr h="370840">
                <a:tc>
                  <a:txBody>
                    <a:bodyPr/>
                    <a:lstStyle/>
                    <a:p>
                      <a:pPr algn="ctr" rtl="0">
                        <a:lnSpc>
                          <a:spcPct val="120000"/>
                        </a:lnSpc>
                      </a:pPr>
                      <a:r>
                        <a:rPr lang="it-IT" sz="1200">
                          <a:effectLst/>
                          <a:latin typeface="Times New Roman, serif"/>
                        </a:rPr>
                        <a:t>G</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3563569526"/>
                  </a:ext>
                </a:extLst>
              </a:tr>
              <a:tr h="370840">
                <a:tc>
                  <a:txBody>
                    <a:bodyPr/>
                    <a:lstStyle/>
                    <a:p>
                      <a:pPr algn="ctr" rtl="0">
                        <a:lnSpc>
                          <a:spcPct val="120000"/>
                        </a:lnSpc>
                      </a:pPr>
                      <a:r>
                        <a:rPr lang="it-IT" sz="1200">
                          <a:effectLst/>
                          <a:latin typeface="Times New Roman, serif"/>
                        </a:rPr>
                        <a:t>A</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3505496424"/>
                  </a:ext>
                </a:extLst>
              </a:tr>
              <a:tr h="370840">
                <a:tc>
                  <a:txBody>
                    <a:bodyPr/>
                    <a:lstStyle/>
                    <a:p>
                      <a:pPr algn="ctr" rtl="0">
                        <a:lnSpc>
                          <a:spcPct val="120000"/>
                        </a:lnSpc>
                      </a:pPr>
                      <a:r>
                        <a:rPr lang="it-IT" sz="1200">
                          <a:effectLst/>
                          <a:latin typeface="Times New Roman, serif"/>
                        </a:rPr>
                        <a:t>B</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1484936253"/>
                  </a:ext>
                </a:extLst>
              </a:tr>
              <a:tr h="370840">
                <a:tc>
                  <a:txBody>
                    <a:bodyPr/>
                    <a:lstStyle/>
                    <a:p>
                      <a:pPr algn="ctr" rtl="0">
                        <a:lnSpc>
                          <a:spcPct val="120000"/>
                        </a:lnSpc>
                      </a:pPr>
                      <a:r>
                        <a:rPr lang="it-IT" sz="1200">
                          <a:effectLst/>
                          <a:latin typeface="Times New Roman, serif"/>
                        </a:rPr>
                        <a:t>C</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0</a:t>
                      </a:r>
                      <a:endParaRPr lang="it-IT" dirty="0">
                        <a:effectLst/>
                      </a:endParaRPr>
                    </a:p>
                  </a:txBody>
                  <a:tcPr marL="38100" marR="38100" marT="38100" marB="38100"/>
                </a:tc>
                <a:extLst>
                  <a:ext uri="{0D108BD9-81ED-4DB2-BD59-A6C34878D82A}">
                    <a16:rowId xmlns:a16="http://schemas.microsoft.com/office/drawing/2014/main" val="3739871633"/>
                  </a:ext>
                </a:extLst>
              </a:tr>
            </a:tbl>
          </a:graphicData>
        </a:graphic>
      </p:graphicFrame>
    </p:spTree>
    <p:extLst>
      <p:ext uri="{BB962C8B-B14F-4D97-AF65-F5344CB8AC3E}">
        <p14:creationId xmlns:p14="http://schemas.microsoft.com/office/powerpoint/2010/main" val="3536790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4148472" cy="1922584"/>
          </a:xfrm>
        </p:spPr>
        <p:txBody>
          <a:bodyPr>
            <a:normAutofit/>
          </a:bodyPr>
          <a:lstStyle/>
          <a:p>
            <a:pPr marL="0" indent="0">
              <a:buNone/>
            </a:pPr>
            <a:r>
              <a:rPr lang="it-IT" b="1" dirty="0">
                <a:latin typeface="+Corpo"/>
              </a:rPr>
              <a:t>2) </a:t>
            </a:r>
            <a:r>
              <a:rPr lang="it-IT" b="1" dirty="0"/>
              <a:t>Si considerino i valori del bit R visti nell’esercizio precedente. Se si usa l’algoritmo dell’orologio e la posizione della lancetta è quella illustrata in figura, quale pagina sarà rimpiazzata?</a:t>
            </a: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8" name="Tabella 7">
            <a:extLst>
              <a:ext uri="{FF2B5EF4-FFF2-40B4-BE49-F238E27FC236}">
                <a16:creationId xmlns:a16="http://schemas.microsoft.com/office/drawing/2014/main" id="{057079B7-690D-4A88-B202-6E6290663CA9}"/>
              </a:ext>
            </a:extLst>
          </p:cNvPr>
          <p:cNvGraphicFramePr>
            <a:graphicFrameLocks noGrp="1"/>
          </p:cNvGraphicFramePr>
          <p:nvPr>
            <p:extLst>
              <p:ext uri="{D42A27DB-BD31-4B8C-83A1-F6EECF244321}">
                <p14:modId xmlns:p14="http://schemas.microsoft.com/office/powerpoint/2010/main" val="3693817734"/>
              </p:ext>
            </p:extLst>
          </p:nvPr>
        </p:nvGraphicFramePr>
        <p:xfrm>
          <a:off x="8220768" y="2562938"/>
          <a:ext cx="2680404" cy="2962208"/>
        </p:xfrm>
        <a:graphic>
          <a:graphicData uri="http://schemas.openxmlformats.org/drawingml/2006/table">
            <a:tbl>
              <a:tblPr firstRow="1" bandRow="1">
                <a:tableStyleId>{5C22544A-7EE6-4342-B048-85BDC9FD1C3A}</a:tableStyleId>
              </a:tblPr>
              <a:tblGrid>
                <a:gridCol w="1340202">
                  <a:extLst>
                    <a:ext uri="{9D8B030D-6E8A-4147-A177-3AD203B41FA5}">
                      <a16:colId xmlns:a16="http://schemas.microsoft.com/office/drawing/2014/main" val="2234921742"/>
                    </a:ext>
                  </a:extLst>
                </a:gridCol>
                <a:gridCol w="1340202">
                  <a:extLst>
                    <a:ext uri="{9D8B030D-6E8A-4147-A177-3AD203B41FA5}">
                      <a16:colId xmlns:a16="http://schemas.microsoft.com/office/drawing/2014/main" val="2500185377"/>
                    </a:ext>
                  </a:extLst>
                </a:gridCol>
              </a:tblGrid>
              <a:tr h="370276">
                <a:tc>
                  <a:txBody>
                    <a:bodyPr/>
                    <a:lstStyle/>
                    <a:p>
                      <a:pPr algn="ctr" rtl="0">
                        <a:lnSpc>
                          <a:spcPct val="120000"/>
                        </a:lnSpc>
                      </a:pPr>
                      <a:r>
                        <a:rPr lang="it-IT" sz="1200" b="1" dirty="0">
                          <a:effectLst/>
                          <a:latin typeface="Times New Roman, serif"/>
                        </a:rPr>
                        <a:t>Pagina</a:t>
                      </a:r>
                      <a:endParaRPr lang="it-IT" dirty="0">
                        <a:effectLst/>
                      </a:endParaRPr>
                    </a:p>
                  </a:txBody>
                  <a:tcPr marL="38100" marR="38100" marT="38100" marB="38100"/>
                </a:tc>
                <a:tc>
                  <a:txBody>
                    <a:bodyPr/>
                    <a:lstStyle/>
                    <a:p>
                      <a:pPr algn="ctr" rtl="0">
                        <a:lnSpc>
                          <a:spcPct val="120000"/>
                        </a:lnSpc>
                      </a:pPr>
                      <a:r>
                        <a:rPr lang="it-IT" sz="1200" b="1">
                          <a:effectLst/>
                          <a:latin typeface="Times New Roman, serif"/>
                        </a:rPr>
                        <a:t>R</a:t>
                      </a:r>
                      <a:endParaRPr lang="it-IT">
                        <a:effectLst/>
                      </a:endParaRPr>
                    </a:p>
                  </a:txBody>
                  <a:tcPr marL="38100" marR="38100" marT="38100" marB="38100"/>
                </a:tc>
                <a:extLst>
                  <a:ext uri="{0D108BD9-81ED-4DB2-BD59-A6C34878D82A}">
                    <a16:rowId xmlns:a16="http://schemas.microsoft.com/office/drawing/2014/main" val="3501385589"/>
                  </a:ext>
                </a:extLst>
              </a:tr>
              <a:tr h="370276">
                <a:tc>
                  <a:txBody>
                    <a:bodyPr/>
                    <a:lstStyle/>
                    <a:p>
                      <a:pPr algn="ctr" rtl="0">
                        <a:lnSpc>
                          <a:spcPct val="120000"/>
                        </a:lnSpc>
                      </a:pPr>
                      <a:r>
                        <a:rPr lang="it-IT" sz="1200">
                          <a:effectLst/>
                          <a:latin typeface="Times New Roman, serif"/>
                        </a:rPr>
                        <a:t>A</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1</a:t>
                      </a:r>
                      <a:endParaRPr lang="it-IT" dirty="0">
                        <a:effectLst/>
                      </a:endParaRPr>
                    </a:p>
                  </a:txBody>
                  <a:tcPr marL="38100" marR="38100" marT="38100" marB="38100"/>
                </a:tc>
                <a:extLst>
                  <a:ext uri="{0D108BD9-81ED-4DB2-BD59-A6C34878D82A}">
                    <a16:rowId xmlns:a16="http://schemas.microsoft.com/office/drawing/2014/main" val="1057106217"/>
                  </a:ext>
                </a:extLst>
              </a:tr>
              <a:tr h="370276">
                <a:tc>
                  <a:txBody>
                    <a:bodyPr/>
                    <a:lstStyle/>
                    <a:p>
                      <a:pPr algn="ctr" rtl="0">
                        <a:lnSpc>
                          <a:spcPct val="120000"/>
                        </a:lnSpc>
                      </a:pPr>
                      <a:r>
                        <a:rPr lang="it-IT" sz="1200">
                          <a:effectLst/>
                          <a:latin typeface="Times New Roman, serif"/>
                        </a:rPr>
                        <a:t>B</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2605497057"/>
                  </a:ext>
                </a:extLst>
              </a:tr>
              <a:tr h="370276">
                <a:tc>
                  <a:txBody>
                    <a:bodyPr/>
                    <a:lstStyle/>
                    <a:p>
                      <a:pPr algn="ctr" rtl="0">
                        <a:lnSpc>
                          <a:spcPct val="120000"/>
                        </a:lnSpc>
                      </a:pPr>
                      <a:r>
                        <a:rPr lang="it-IT" sz="1200" dirty="0">
                          <a:effectLst/>
                          <a:latin typeface="Times New Roman, serif"/>
                        </a:rPr>
                        <a:t>C</a:t>
                      </a:r>
                      <a:endParaRPr lang="it-IT" dirty="0">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669115270"/>
                  </a:ext>
                </a:extLst>
              </a:tr>
              <a:tr h="370276">
                <a:tc>
                  <a:txBody>
                    <a:bodyPr/>
                    <a:lstStyle/>
                    <a:p>
                      <a:pPr algn="ctr" rtl="0">
                        <a:lnSpc>
                          <a:spcPct val="120000"/>
                        </a:lnSpc>
                      </a:pPr>
                      <a:r>
                        <a:rPr lang="it-IT" sz="1200">
                          <a:effectLst/>
                          <a:latin typeface="Times New Roman, serif"/>
                        </a:rPr>
                        <a:t>D</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0</a:t>
                      </a:r>
                      <a:endParaRPr lang="it-IT" dirty="0">
                        <a:effectLst/>
                      </a:endParaRPr>
                    </a:p>
                  </a:txBody>
                  <a:tcPr marL="38100" marR="38100" marT="38100" marB="38100"/>
                </a:tc>
                <a:extLst>
                  <a:ext uri="{0D108BD9-81ED-4DB2-BD59-A6C34878D82A}">
                    <a16:rowId xmlns:a16="http://schemas.microsoft.com/office/drawing/2014/main" val="2635656350"/>
                  </a:ext>
                </a:extLst>
              </a:tr>
              <a:tr h="370276">
                <a:tc>
                  <a:txBody>
                    <a:bodyPr/>
                    <a:lstStyle/>
                    <a:p>
                      <a:pPr algn="ctr" rtl="0">
                        <a:lnSpc>
                          <a:spcPct val="120000"/>
                        </a:lnSpc>
                      </a:pPr>
                      <a:r>
                        <a:rPr lang="it-IT" sz="1200">
                          <a:effectLst/>
                          <a:latin typeface="Times New Roman, serif"/>
                        </a:rPr>
                        <a:t>E</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365956189"/>
                  </a:ext>
                </a:extLst>
              </a:tr>
              <a:tr h="370276">
                <a:tc>
                  <a:txBody>
                    <a:bodyPr/>
                    <a:lstStyle/>
                    <a:p>
                      <a:pPr algn="ctr" rtl="0">
                        <a:lnSpc>
                          <a:spcPct val="120000"/>
                        </a:lnSpc>
                      </a:pPr>
                      <a:r>
                        <a:rPr lang="it-IT" sz="1200">
                          <a:effectLst/>
                          <a:latin typeface="Times New Roman, serif"/>
                        </a:rPr>
                        <a:t>F</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3052511235"/>
                  </a:ext>
                </a:extLst>
              </a:tr>
              <a:tr h="370276">
                <a:tc>
                  <a:txBody>
                    <a:bodyPr/>
                    <a:lstStyle/>
                    <a:p>
                      <a:pPr algn="ctr" rtl="0">
                        <a:lnSpc>
                          <a:spcPct val="120000"/>
                        </a:lnSpc>
                      </a:pPr>
                      <a:r>
                        <a:rPr lang="it-IT" sz="1200">
                          <a:effectLst/>
                          <a:latin typeface="Times New Roman, serif"/>
                        </a:rPr>
                        <a:t>G</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1</a:t>
                      </a:r>
                      <a:endParaRPr lang="it-IT" dirty="0">
                        <a:effectLst/>
                      </a:endParaRPr>
                    </a:p>
                  </a:txBody>
                  <a:tcPr marL="38100" marR="38100" marT="38100" marB="38100"/>
                </a:tc>
                <a:extLst>
                  <a:ext uri="{0D108BD9-81ED-4DB2-BD59-A6C34878D82A}">
                    <a16:rowId xmlns:a16="http://schemas.microsoft.com/office/drawing/2014/main" val="1013082311"/>
                  </a:ext>
                </a:extLst>
              </a:tr>
            </a:tbl>
          </a:graphicData>
        </a:graphic>
      </p:graphicFrame>
      <p:pic>
        <p:nvPicPr>
          <p:cNvPr id="5" name="Immagine 4">
            <a:extLst>
              <a:ext uri="{FF2B5EF4-FFF2-40B4-BE49-F238E27FC236}">
                <a16:creationId xmlns:a16="http://schemas.microsoft.com/office/drawing/2014/main" id="{2B006E06-F1EE-4F20-AB08-4F748B4231EF}"/>
              </a:ext>
            </a:extLst>
          </p:cNvPr>
          <p:cNvPicPr>
            <a:picLocks noChangeAspect="1"/>
          </p:cNvPicPr>
          <p:nvPr/>
        </p:nvPicPr>
        <p:blipFill>
          <a:blip r:embed="rId2"/>
          <a:stretch>
            <a:fillRect/>
          </a:stretch>
        </p:blipFill>
        <p:spPr>
          <a:xfrm>
            <a:off x="3431650" y="3927619"/>
            <a:ext cx="2202818" cy="2202818"/>
          </a:xfrm>
          <a:prstGeom prst="rect">
            <a:avLst/>
          </a:prstGeom>
        </p:spPr>
      </p:pic>
    </p:spTree>
    <p:extLst>
      <p:ext uri="{BB962C8B-B14F-4D97-AF65-F5344CB8AC3E}">
        <p14:creationId xmlns:p14="http://schemas.microsoft.com/office/powerpoint/2010/main" val="2658892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(2) - Soluzioni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a:t>orologio</a:t>
            </a:r>
            <a:r>
              <a:rPr lang="it-IT" dirty="0"/>
              <a:t> (Clock):</a:t>
            </a:r>
          </a:p>
          <a:p>
            <a:pPr lvl="1"/>
            <a:r>
              <a:rPr lang="it-IT" dirty="0"/>
              <a:t>Come </a:t>
            </a:r>
            <a:r>
              <a:rPr lang="it-IT" i="1" dirty="0"/>
              <a:t>second chance</a:t>
            </a:r>
            <a:r>
              <a:rPr lang="it-IT" dirty="0"/>
              <a:t> per gestione bit R</a:t>
            </a:r>
          </a:p>
          <a:p>
            <a:pPr lvl="1"/>
            <a:r>
              <a:rPr lang="it-IT" dirty="0"/>
              <a:t>Lista circolare, no reinserimenti in fondo.</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1480921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(2) - Soluzioni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Soluzione:</a:t>
            </a:r>
          </a:p>
          <a:p>
            <a:pPr lvl="1"/>
            <a:r>
              <a:rPr lang="it-IT" dirty="0"/>
              <a:t>D: è la prima pagina incontrata con R=0.</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3637139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(3)</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8915400" cy="3820885"/>
          </a:xfrm>
        </p:spPr>
        <p:txBody>
          <a:bodyPr>
            <a:normAutofit/>
          </a:bodyPr>
          <a:lstStyle/>
          <a:p>
            <a:pPr marL="0" indent="0">
              <a:buNone/>
            </a:pPr>
            <a:r>
              <a:rPr lang="it-IT" b="1" dirty="0">
                <a:latin typeface="+Corpo"/>
              </a:rPr>
              <a:t>4) </a:t>
            </a:r>
            <a:r>
              <a:rPr lang="it-IT" b="1" dirty="0"/>
              <a:t>Utilizzando l’algoritmo di paginazione </a:t>
            </a:r>
            <a:r>
              <a:rPr lang="it-IT" b="1" dirty="0" err="1"/>
              <a:t>Aging</a:t>
            </a:r>
            <a:r>
              <a:rPr lang="it-IT" b="1" dirty="0"/>
              <a:t> (con contatore a 8 bit), si considerino le seguenti 4 pagine, con valore di bit R, rispettivamente, 1000. Ai cicli successivi, i valori sono 0111, 0011, 1101, 1100, 0001, 1010 e 1110. Si forniscano i valori dei 4 contatori dopo l’ultimo intervallo, specificando quale pagina viene spostata su disco.</a:t>
            </a:r>
            <a:endParaRPr lang="it-IT" dirty="0"/>
          </a:p>
          <a:p>
            <a:pPr marL="0" indent="0">
              <a:buNone/>
            </a:pP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2172955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(3) - Soluzioni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err="1"/>
              <a:t>Aging</a:t>
            </a:r>
            <a:r>
              <a:rPr lang="it-IT" dirty="0"/>
              <a:t>:</a:t>
            </a:r>
          </a:p>
          <a:p>
            <a:pPr lvl="1"/>
            <a:r>
              <a:rPr lang="it-IT" dirty="0"/>
              <a:t>Tabella con andamento dei bit R per ogni pagina.</a:t>
            </a:r>
          </a:p>
          <a:p>
            <a:pPr lvl="1"/>
            <a:r>
              <a:rPr lang="it-IT" dirty="0"/>
              <a:t>Ad ogni nuova scrittura, shift verso destra.</a:t>
            </a:r>
          </a:p>
          <a:p>
            <a:pPr lvl="1"/>
            <a:r>
              <a:rPr lang="it-IT" dirty="0"/>
              <a:t>Swap di pagina con valore binario minore nella riga.</a:t>
            </a:r>
          </a:p>
          <a:p>
            <a:pPr marL="0" indent="0">
              <a:buNone/>
            </a:pPr>
            <a:endParaRPr lang="it-IT" dirty="0"/>
          </a:p>
          <a:p>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812454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(3) - Soluzioni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434855"/>
          </a:xfrm>
        </p:spPr>
        <p:txBody>
          <a:bodyPr>
            <a:normAutofit/>
          </a:bodyPr>
          <a:lstStyle/>
          <a:p>
            <a:r>
              <a:rPr lang="it-IT" dirty="0"/>
              <a:t>Algoritmo </a:t>
            </a:r>
            <a:r>
              <a:rPr lang="it-IT" b="1" dirty="0" err="1"/>
              <a:t>Aging</a:t>
            </a:r>
            <a:r>
              <a:rPr lang="it-IT" dirty="0"/>
              <a:t>: soluzione</a:t>
            </a:r>
          </a:p>
          <a:p>
            <a:pPr marL="0" indent="0">
              <a:buNone/>
            </a:pPr>
            <a:endParaRPr lang="it-IT" dirty="0"/>
          </a:p>
          <a:p>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E8170565-1777-48F9-B14B-F2ED6211868C}"/>
              </a:ext>
            </a:extLst>
          </p:cNvPr>
          <p:cNvGraphicFramePr>
            <a:graphicFrameLocks noGrp="1"/>
          </p:cNvGraphicFramePr>
          <p:nvPr>
            <p:extLst>
              <p:ext uri="{D42A27DB-BD31-4B8C-83A1-F6EECF244321}">
                <p14:modId xmlns:p14="http://schemas.microsoft.com/office/powerpoint/2010/main" val="126813875"/>
              </p:ext>
            </p:extLst>
          </p:nvPr>
        </p:nvGraphicFramePr>
        <p:xfrm>
          <a:off x="2589212" y="2568456"/>
          <a:ext cx="8127999" cy="2356104"/>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2012064457"/>
                    </a:ext>
                  </a:extLst>
                </a:gridCol>
                <a:gridCol w="903111">
                  <a:extLst>
                    <a:ext uri="{9D8B030D-6E8A-4147-A177-3AD203B41FA5}">
                      <a16:colId xmlns:a16="http://schemas.microsoft.com/office/drawing/2014/main" val="457033754"/>
                    </a:ext>
                  </a:extLst>
                </a:gridCol>
                <a:gridCol w="903111">
                  <a:extLst>
                    <a:ext uri="{9D8B030D-6E8A-4147-A177-3AD203B41FA5}">
                      <a16:colId xmlns:a16="http://schemas.microsoft.com/office/drawing/2014/main" val="3360131433"/>
                    </a:ext>
                  </a:extLst>
                </a:gridCol>
                <a:gridCol w="903111">
                  <a:extLst>
                    <a:ext uri="{9D8B030D-6E8A-4147-A177-3AD203B41FA5}">
                      <a16:colId xmlns:a16="http://schemas.microsoft.com/office/drawing/2014/main" val="1310284242"/>
                    </a:ext>
                  </a:extLst>
                </a:gridCol>
                <a:gridCol w="903111">
                  <a:extLst>
                    <a:ext uri="{9D8B030D-6E8A-4147-A177-3AD203B41FA5}">
                      <a16:colId xmlns:a16="http://schemas.microsoft.com/office/drawing/2014/main" val="1786387016"/>
                    </a:ext>
                  </a:extLst>
                </a:gridCol>
                <a:gridCol w="903111">
                  <a:extLst>
                    <a:ext uri="{9D8B030D-6E8A-4147-A177-3AD203B41FA5}">
                      <a16:colId xmlns:a16="http://schemas.microsoft.com/office/drawing/2014/main" val="459136513"/>
                    </a:ext>
                  </a:extLst>
                </a:gridCol>
                <a:gridCol w="903111">
                  <a:extLst>
                    <a:ext uri="{9D8B030D-6E8A-4147-A177-3AD203B41FA5}">
                      <a16:colId xmlns:a16="http://schemas.microsoft.com/office/drawing/2014/main" val="30927681"/>
                    </a:ext>
                  </a:extLst>
                </a:gridCol>
                <a:gridCol w="903111">
                  <a:extLst>
                    <a:ext uri="{9D8B030D-6E8A-4147-A177-3AD203B41FA5}">
                      <a16:colId xmlns:a16="http://schemas.microsoft.com/office/drawing/2014/main" val="2022602000"/>
                    </a:ext>
                  </a:extLst>
                </a:gridCol>
                <a:gridCol w="903111">
                  <a:extLst>
                    <a:ext uri="{9D8B030D-6E8A-4147-A177-3AD203B41FA5}">
                      <a16:colId xmlns:a16="http://schemas.microsoft.com/office/drawing/2014/main" val="1650051364"/>
                    </a:ext>
                  </a:extLst>
                </a:gridCol>
              </a:tblGrid>
              <a:tr h="0">
                <a:tc>
                  <a:txBody>
                    <a:bodyPr/>
                    <a:lstStyle/>
                    <a:p>
                      <a:pPr algn="ctr" rtl="0">
                        <a:lnSpc>
                          <a:spcPct val="120000"/>
                        </a:lnSpc>
                      </a:pPr>
                      <a:r>
                        <a:rPr lang="it-IT" b="1" dirty="0" err="1">
                          <a:effectLst/>
                          <a:latin typeface="Times New Roman, serif"/>
                        </a:rPr>
                        <a:t>Pag</a:t>
                      </a:r>
                      <a:endParaRPr lang="it-IT" dirty="0">
                        <a:effectLst/>
                      </a:endParaRPr>
                    </a:p>
                  </a:txBody>
                  <a:tcPr marL="38100" marR="38100" marT="38100" marB="38100"/>
                </a:tc>
                <a:tc>
                  <a:txBody>
                    <a:bodyPr/>
                    <a:lstStyle/>
                    <a:p>
                      <a:pPr algn="ctr" rtl="0">
                        <a:lnSpc>
                          <a:spcPct val="120000"/>
                        </a:lnSpc>
                      </a:pPr>
                      <a:r>
                        <a:rPr lang="it-IT" dirty="0">
                          <a:effectLst/>
                        </a:rPr>
                        <a:t/>
                      </a:r>
                      <a:br>
                        <a:rPr lang="it-IT" dirty="0">
                          <a:effectLst/>
                        </a:rPr>
                      </a:br>
                      <a:endParaRPr lang="it-IT" dirty="0">
                        <a:effectLst/>
                      </a:endParaRPr>
                    </a:p>
                  </a:txBody>
                  <a:tcPr marL="38100" marR="38100" marT="38100" marB="38100"/>
                </a:tc>
                <a:tc>
                  <a:txBody>
                    <a:bodyPr/>
                    <a:lstStyle/>
                    <a:p>
                      <a:pPr algn="ctr" rtl="0">
                        <a:lnSpc>
                          <a:spcPct val="120000"/>
                        </a:lnSpc>
                      </a:pPr>
                      <a:r>
                        <a:rPr lang="it-IT" dirty="0">
                          <a:effectLst/>
                        </a:rPr>
                        <a:t/>
                      </a:r>
                      <a:br>
                        <a:rPr lang="it-IT" dirty="0">
                          <a:effectLst/>
                        </a:rPr>
                      </a:br>
                      <a:endParaRPr lang="it-IT" dirty="0">
                        <a:effectLst/>
                      </a:endParaRPr>
                    </a:p>
                  </a:txBody>
                  <a:tcPr marL="38100" marR="38100" marT="38100" marB="38100"/>
                </a:tc>
                <a:tc>
                  <a:txBody>
                    <a:bodyPr/>
                    <a:lstStyle/>
                    <a:p>
                      <a:pPr algn="ctr" rtl="0">
                        <a:lnSpc>
                          <a:spcPct val="120000"/>
                        </a:lnSpc>
                      </a:pPr>
                      <a:r>
                        <a:rPr lang="it-IT" dirty="0">
                          <a:effectLst/>
                        </a:rPr>
                        <a:t/>
                      </a:r>
                      <a:br>
                        <a:rPr lang="it-IT" dirty="0">
                          <a:effectLst/>
                        </a:rPr>
                      </a:br>
                      <a:endParaRPr lang="it-IT" dirty="0">
                        <a:effectLst/>
                      </a:endParaRPr>
                    </a:p>
                  </a:txBody>
                  <a:tcPr marL="38100" marR="38100" marT="38100" marB="38100"/>
                </a:tc>
                <a:tc>
                  <a:txBody>
                    <a:bodyPr/>
                    <a:lstStyle/>
                    <a:p>
                      <a:pPr algn="ctr" rtl="0">
                        <a:lnSpc>
                          <a:spcPct val="120000"/>
                        </a:lnSpc>
                      </a:pPr>
                      <a:r>
                        <a:rPr lang="it-IT" dirty="0">
                          <a:effectLst/>
                        </a:rPr>
                        <a:t/>
                      </a:r>
                      <a:br>
                        <a:rPr lang="it-IT" dirty="0">
                          <a:effectLst/>
                        </a:rPr>
                      </a:br>
                      <a:endParaRPr lang="it-IT" dirty="0">
                        <a:effectLst/>
                      </a:endParaRPr>
                    </a:p>
                  </a:txBody>
                  <a:tcPr marL="38100" marR="38100" marT="38100" marB="38100"/>
                </a:tc>
                <a:tc>
                  <a:txBody>
                    <a:bodyPr/>
                    <a:lstStyle/>
                    <a:p>
                      <a:pPr algn="ctr" rtl="0">
                        <a:lnSpc>
                          <a:spcPct val="120000"/>
                        </a:lnSpc>
                      </a:pPr>
                      <a:r>
                        <a:rPr lang="it-IT">
                          <a:effectLst/>
                        </a:rPr>
                        <a:t/>
                      </a:r>
                      <a:br>
                        <a:rPr lang="it-IT">
                          <a:effectLst/>
                        </a:rPr>
                      </a:br>
                      <a:endParaRPr lang="it-IT">
                        <a:effectLst/>
                      </a:endParaRPr>
                    </a:p>
                  </a:txBody>
                  <a:tcPr marL="38100" marR="38100" marT="38100" marB="38100"/>
                </a:tc>
                <a:tc>
                  <a:txBody>
                    <a:bodyPr/>
                    <a:lstStyle/>
                    <a:p>
                      <a:pPr algn="ctr" rtl="0">
                        <a:lnSpc>
                          <a:spcPct val="120000"/>
                        </a:lnSpc>
                      </a:pPr>
                      <a:r>
                        <a:rPr lang="it-IT">
                          <a:effectLst/>
                        </a:rPr>
                        <a:t/>
                      </a:r>
                      <a:br>
                        <a:rPr lang="it-IT">
                          <a:effectLst/>
                        </a:rPr>
                      </a:br>
                      <a:endParaRPr lang="it-IT">
                        <a:effectLst/>
                      </a:endParaRPr>
                    </a:p>
                  </a:txBody>
                  <a:tcPr marL="38100" marR="38100" marT="38100" marB="38100"/>
                </a:tc>
                <a:tc>
                  <a:txBody>
                    <a:bodyPr/>
                    <a:lstStyle/>
                    <a:p>
                      <a:pPr algn="ctr" rtl="0">
                        <a:lnSpc>
                          <a:spcPct val="120000"/>
                        </a:lnSpc>
                      </a:pPr>
                      <a:r>
                        <a:rPr lang="it-IT">
                          <a:effectLst/>
                        </a:rPr>
                        <a:t/>
                      </a:r>
                      <a:br>
                        <a:rPr lang="it-IT">
                          <a:effectLst/>
                        </a:rPr>
                      </a:br>
                      <a:endParaRPr lang="it-IT">
                        <a:effectLst/>
                      </a:endParaRPr>
                    </a:p>
                  </a:txBody>
                  <a:tcPr marL="38100" marR="38100" marT="38100" marB="38100"/>
                </a:tc>
                <a:tc>
                  <a:txBody>
                    <a:bodyPr/>
                    <a:lstStyle/>
                    <a:p>
                      <a:pPr algn="ctr" rtl="0">
                        <a:lnSpc>
                          <a:spcPct val="120000"/>
                        </a:lnSpc>
                      </a:pPr>
                      <a:r>
                        <a:rPr lang="it-IT">
                          <a:effectLst/>
                        </a:rPr>
                        <a:t/>
                      </a:r>
                      <a:br>
                        <a:rPr lang="it-IT">
                          <a:effectLst/>
                        </a:rPr>
                      </a:br>
                      <a:endParaRPr lang="it-IT">
                        <a:effectLst/>
                      </a:endParaRPr>
                    </a:p>
                  </a:txBody>
                  <a:tcPr marL="38100" marR="38100" marT="38100" marB="38100"/>
                </a:tc>
                <a:extLst>
                  <a:ext uri="{0D108BD9-81ED-4DB2-BD59-A6C34878D82A}">
                    <a16:rowId xmlns:a16="http://schemas.microsoft.com/office/drawing/2014/main" val="1016250070"/>
                  </a:ext>
                </a:extLst>
              </a:tr>
              <a:tr h="370840">
                <a:tc>
                  <a:txBody>
                    <a:bodyPr/>
                    <a:lstStyle/>
                    <a:p>
                      <a:pPr algn="ctr" rtl="0">
                        <a:lnSpc>
                          <a:spcPct val="120000"/>
                        </a:lnSpc>
                      </a:pPr>
                      <a:r>
                        <a:rPr lang="it-IT" dirty="0">
                          <a:effectLst/>
                          <a:latin typeface="Times New Roman, serif"/>
                        </a:rPr>
                        <a:t>P</a:t>
                      </a:r>
                      <a:r>
                        <a:rPr lang="it-IT" baseline="-25000" dirty="0">
                          <a:effectLst/>
                          <a:latin typeface="Times New Roman, serif"/>
                        </a:rPr>
                        <a:t>0</a:t>
                      </a:r>
                      <a:endParaRPr lang="it-IT" dirty="0">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267422899"/>
                  </a:ext>
                </a:extLst>
              </a:tr>
              <a:tr h="370840">
                <a:tc>
                  <a:txBody>
                    <a:bodyPr/>
                    <a:lstStyle/>
                    <a:p>
                      <a:pPr algn="ctr" rtl="0">
                        <a:lnSpc>
                          <a:spcPct val="120000"/>
                        </a:lnSpc>
                      </a:pPr>
                      <a:r>
                        <a:rPr lang="it-IT">
                          <a:effectLst/>
                          <a:latin typeface="Times New Roman, serif"/>
                        </a:rPr>
                        <a:t>P</a:t>
                      </a:r>
                      <a:r>
                        <a:rPr lang="it-IT" baseline="-25000">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3870233694"/>
                  </a:ext>
                </a:extLst>
              </a:tr>
              <a:tr h="370840">
                <a:tc>
                  <a:txBody>
                    <a:bodyPr/>
                    <a:lstStyle/>
                    <a:p>
                      <a:pPr algn="ctr" rtl="0">
                        <a:lnSpc>
                          <a:spcPct val="120000"/>
                        </a:lnSpc>
                      </a:pPr>
                      <a:r>
                        <a:rPr lang="it-IT">
                          <a:effectLst/>
                          <a:latin typeface="Times New Roman, serif"/>
                        </a:rPr>
                        <a:t>P</a:t>
                      </a:r>
                      <a:r>
                        <a:rPr lang="it-IT" baseline="-25000">
                          <a:effectLst/>
                          <a:latin typeface="Times New Roman, serif"/>
                        </a:rPr>
                        <a:t>2</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3712342955"/>
                  </a:ext>
                </a:extLst>
              </a:tr>
              <a:tr h="370840">
                <a:tc>
                  <a:txBody>
                    <a:bodyPr/>
                    <a:lstStyle/>
                    <a:p>
                      <a:pPr algn="ctr" rtl="0">
                        <a:lnSpc>
                          <a:spcPct val="120000"/>
                        </a:lnSpc>
                      </a:pPr>
                      <a:r>
                        <a:rPr lang="it-IT" dirty="0">
                          <a:effectLst/>
                          <a:latin typeface="Times New Roman, serif"/>
                        </a:rPr>
                        <a:t>P</a:t>
                      </a:r>
                      <a:r>
                        <a:rPr lang="it-IT" baseline="-25000" dirty="0">
                          <a:effectLst/>
                          <a:latin typeface="Times New Roman, serif"/>
                        </a:rPr>
                        <a:t>3</a:t>
                      </a:r>
                      <a:endParaRPr lang="it-IT" dirty="0">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0</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a:effectLst/>
                          <a:latin typeface="Times New Roman, serif"/>
                        </a:rPr>
                        <a:t>1</a:t>
                      </a:r>
                      <a:endParaRPr lang="it-IT">
                        <a:effectLst/>
                      </a:endParaRPr>
                    </a:p>
                  </a:txBody>
                  <a:tcPr marL="38100" marR="38100" marT="38100" marB="38100"/>
                </a:tc>
                <a:tc>
                  <a:txBody>
                    <a:bodyPr/>
                    <a:lstStyle/>
                    <a:p>
                      <a:pPr algn="ctr" rtl="0">
                        <a:lnSpc>
                          <a:spcPct val="120000"/>
                        </a:lnSpc>
                      </a:pPr>
                      <a:r>
                        <a:rPr lang="it-IT" dirty="0">
                          <a:effectLst/>
                          <a:latin typeface="Times New Roman, serif"/>
                        </a:rPr>
                        <a:t>0</a:t>
                      </a:r>
                      <a:endParaRPr lang="it-IT" dirty="0">
                        <a:effectLst/>
                      </a:endParaRPr>
                    </a:p>
                  </a:txBody>
                  <a:tcPr marL="38100" marR="38100" marT="38100" marB="38100"/>
                </a:tc>
                <a:extLst>
                  <a:ext uri="{0D108BD9-81ED-4DB2-BD59-A6C34878D82A}">
                    <a16:rowId xmlns:a16="http://schemas.microsoft.com/office/drawing/2014/main" val="3272168152"/>
                  </a:ext>
                </a:extLst>
              </a:tr>
            </a:tbl>
          </a:graphicData>
        </a:graphic>
      </p:graphicFrame>
      <p:sp>
        <p:nvSpPr>
          <p:cNvPr id="5" name="CasellaDiTesto 4">
            <a:extLst>
              <a:ext uri="{FF2B5EF4-FFF2-40B4-BE49-F238E27FC236}">
                <a16:creationId xmlns:a16="http://schemas.microsoft.com/office/drawing/2014/main" id="{CC9EFB8D-683C-4353-B99A-D12995D03F6E}"/>
              </a:ext>
            </a:extLst>
          </p:cNvPr>
          <p:cNvSpPr txBox="1"/>
          <p:nvPr/>
        </p:nvSpPr>
        <p:spPr>
          <a:xfrm>
            <a:off x="2589212" y="4892112"/>
            <a:ext cx="8127999" cy="369332"/>
          </a:xfrm>
          <a:prstGeom prst="rect">
            <a:avLst/>
          </a:prstGeom>
          <a:noFill/>
        </p:spPr>
        <p:txBody>
          <a:bodyPr wrap="square" rtlCol="0">
            <a:spAutoFit/>
          </a:bodyPr>
          <a:lstStyle/>
          <a:p>
            <a:r>
              <a:rPr lang="it-IT" dirty="0"/>
              <a:t>Valore binario minore: </a:t>
            </a:r>
            <a:r>
              <a:rPr lang="it-IT" dirty="0">
                <a:latin typeface="Times New Roman, serif"/>
              </a:rPr>
              <a:t>P</a:t>
            </a:r>
            <a:r>
              <a:rPr lang="it-IT" baseline="-25000" dirty="0">
                <a:latin typeface="Times New Roman, serif"/>
              </a:rPr>
              <a:t>3</a:t>
            </a:r>
            <a:r>
              <a:rPr lang="it-IT" dirty="0"/>
              <a:t>. </a:t>
            </a:r>
            <a:r>
              <a:rPr lang="it-IT" dirty="0">
                <a:latin typeface="Times New Roman, serif"/>
              </a:rPr>
              <a:t>P</a:t>
            </a:r>
            <a:r>
              <a:rPr lang="it-IT" baseline="-25000" dirty="0">
                <a:latin typeface="Times New Roman, serif"/>
              </a:rPr>
              <a:t>3  </a:t>
            </a:r>
            <a:r>
              <a:rPr lang="it-IT" dirty="0"/>
              <a:t>spostata su disco</a:t>
            </a:r>
          </a:p>
        </p:txBody>
      </p:sp>
    </p:spTree>
    <p:extLst>
      <p:ext uri="{BB962C8B-B14F-4D97-AF65-F5344CB8AC3E}">
        <p14:creationId xmlns:p14="http://schemas.microsoft.com/office/powerpoint/2010/main" val="2005190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8915400" cy="3820885"/>
          </a:xfrm>
        </p:spPr>
        <p:txBody>
          <a:bodyPr>
            <a:normAutofit/>
          </a:bodyPr>
          <a:lstStyle/>
          <a:p>
            <a:pPr marL="0" indent="0">
              <a:buNone/>
            </a:pPr>
            <a:r>
              <a:rPr lang="it-IT" b="1" dirty="0">
                <a:latin typeface="+Corpo"/>
              </a:rPr>
              <a:t>5) </a:t>
            </a:r>
            <a:r>
              <a:rPr lang="it-IT" b="1" dirty="0"/>
              <a:t>Usando l’algoritmo di paginazione LRU (</a:t>
            </a:r>
            <a:r>
              <a:rPr lang="it-IT" b="1" dirty="0" err="1"/>
              <a:t>least</a:t>
            </a:r>
            <a:r>
              <a:rPr lang="it-IT" b="1" dirty="0"/>
              <a:t> </a:t>
            </a:r>
            <a:r>
              <a:rPr lang="it-IT" b="1" dirty="0" err="1"/>
              <a:t>recently</a:t>
            </a:r>
            <a:r>
              <a:rPr lang="it-IT" b="1" dirty="0"/>
              <a:t> </a:t>
            </a:r>
            <a:r>
              <a:rPr lang="it-IT" b="1" dirty="0" err="1"/>
              <a:t>userd</a:t>
            </a:r>
            <a:r>
              <a:rPr lang="it-IT" b="1" dirty="0"/>
              <a:t>), nel caso in cui la macchina abbia 4 pagine fisiche, e nel caso in cui le pagine siano usate nell’ordine:</a:t>
            </a:r>
            <a:endParaRPr lang="it-IT" dirty="0"/>
          </a:p>
          <a:p>
            <a:pPr marL="0" indent="0">
              <a:buNone/>
            </a:pPr>
            <a:r>
              <a:rPr lang="it-IT" b="1" dirty="0"/>
              <a:t>0 1 2 3 1 0 3 2 </a:t>
            </a:r>
            <a:endParaRPr lang="it-IT" dirty="0"/>
          </a:p>
          <a:p>
            <a:pPr marL="0" indent="0">
              <a:buNone/>
            </a:pPr>
            <a:r>
              <a:rPr lang="it-IT" b="1" dirty="0"/>
              <a:t>Stabilire quale pagina verrà spostata su disco, tenendo presente la matrice delle pagine.</a:t>
            </a:r>
            <a:endParaRPr lang="it-IT" dirty="0"/>
          </a:p>
          <a:p>
            <a:pPr marL="0" indent="0">
              <a:buNone/>
            </a:pP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294996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 - Soluzioni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a:t>LRU</a:t>
            </a:r>
            <a:r>
              <a:rPr lang="it-IT" dirty="0"/>
              <a:t> (</a:t>
            </a:r>
            <a:r>
              <a:rPr lang="it-IT" dirty="0" err="1"/>
              <a:t>Least</a:t>
            </a:r>
            <a:r>
              <a:rPr lang="it-IT" dirty="0"/>
              <a:t> </a:t>
            </a:r>
            <a:r>
              <a:rPr lang="it-IT" dirty="0" err="1"/>
              <a:t>Recently</a:t>
            </a:r>
            <a:r>
              <a:rPr lang="it-IT" dirty="0"/>
              <a:t> </a:t>
            </a:r>
            <a:r>
              <a:rPr lang="it-IT" dirty="0" err="1"/>
              <a:t>Used</a:t>
            </a:r>
            <a:r>
              <a:rPr lang="it-IT" dirty="0"/>
              <a:t>):</a:t>
            </a:r>
          </a:p>
          <a:p>
            <a:pPr lvl="1"/>
            <a:r>
              <a:rPr lang="it-IT" dirty="0"/>
              <a:t>Estrarre la pagina usata più lontana nel passato</a:t>
            </a:r>
          </a:p>
          <a:p>
            <a:pPr lvl="1"/>
            <a:r>
              <a:rPr lang="it-IT" dirty="0"/>
              <a:t>Creare tabella con entrambe le dimensioni pari al numero di pagine</a:t>
            </a:r>
          </a:p>
          <a:p>
            <a:pPr lvl="1"/>
            <a:r>
              <a:rPr lang="it-IT" dirty="0"/>
              <a:t>Inizializzazione della tabella con tutti valori 0,</a:t>
            </a:r>
          </a:p>
          <a:p>
            <a:pPr lvl="1"/>
            <a:r>
              <a:rPr lang="it-IT" dirty="0"/>
              <a:t>All’uso di una pagina:</a:t>
            </a:r>
          </a:p>
          <a:p>
            <a:pPr lvl="2"/>
            <a:r>
              <a:rPr lang="it-IT" dirty="0"/>
              <a:t>Porre a 1 tutta la riga corrispondente alla pagina</a:t>
            </a:r>
          </a:p>
          <a:p>
            <a:pPr lvl="2"/>
            <a:r>
              <a:rPr lang="it-IT" dirty="0"/>
              <a:t>Porre a 0 tutta la colonna corrispondente alla pagina</a:t>
            </a:r>
          </a:p>
          <a:p>
            <a:pPr lvl="1"/>
            <a:r>
              <a:rPr lang="it-IT" dirty="0"/>
              <a:t>Estrarre la pagina corrispondente al valore binario minore sulla riga.</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2255720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 - Soluzioni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834188"/>
          </a:xfrm>
        </p:spPr>
        <p:txBody>
          <a:bodyPr>
            <a:normAutofit/>
          </a:bodyPr>
          <a:lstStyle/>
          <a:p>
            <a:r>
              <a:rPr lang="it-IT" dirty="0"/>
              <a:t>Algoritmo </a:t>
            </a:r>
            <a:r>
              <a:rPr lang="it-IT" b="1" dirty="0"/>
              <a:t>LRU</a:t>
            </a:r>
            <a:r>
              <a:rPr lang="it-IT" dirty="0"/>
              <a:t> (</a:t>
            </a:r>
            <a:r>
              <a:rPr lang="it-IT" dirty="0" err="1"/>
              <a:t>Least</a:t>
            </a:r>
            <a:r>
              <a:rPr lang="it-IT" dirty="0"/>
              <a:t> </a:t>
            </a:r>
            <a:r>
              <a:rPr lang="it-IT" dirty="0" err="1"/>
              <a:t>Recently</a:t>
            </a:r>
            <a:r>
              <a:rPr lang="it-IT" dirty="0"/>
              <a:t> </a:t>
            </a:r>
            <a:r>
              <a:rPr lang="it-IT" dirty="0" err="1"/>
              <a:t>Used</a:t>
            </a:r>
            <a:r>
              <a:rPr lang="it-IT" dirty="0"/>
              <a:t>):</a:t>
            </a:r>
          </a:p>
          <a:p>
            <a:pPr lvl="1"/>
            <a:r>
              <a:rPr lang="it-IT" dirty="0"/>
              <a:t>Svolgimento</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64A09F68-26BE-4982-8D0C-C4559FF56459}"/>
              </a:ext>
            </a:extLst>
          </p:cNvPr>
          <p:cNvGraphicFramePr>
            <a:graphicFrameLocks noGrp="1"/>
          </p:cNvGraphicFramePr>
          <p:nvPr>
            <p:extLst>
              <p:ext uri="{D42A27DB-BD31-4B8C-83A1-F6EECF244321}">
                <p14:modId xmlns:p14="http://schemas.microsoft.com/office/powerpoint/2010/main" val="1386315747"/>
              </p:ext>
            </p:extLst>
          </p:nvPr>
        </p:nvGraphicFramePr>
        <p:xfrm>
          <a:off x="2589212" y="3429000"/>
          <a:ext cx="8128000" cy="18542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362141046"/>
                    </a:ext>
                  </a:extLst>
                </a:gridCol>
                <a:gridCol w="1625600">
                  <a:extLst>
                    <a:ext uri="{9D8B030D-6E8A-4147-A177-3AD203B41FA5}">
                      <a16:colId xmlns:a16="http://schemas.microsoft.com/office/drawing/2014/main" val="2918524467"/>
                    </a:ext>
                  </a:extLst>
                </a:gridCol>
                <a:gridCol w="1625600">
                  <a:extLst>
                    <a:ext uri="{9D8B030D-6E8A-4147-A177-3AD203B41FA5}">
                      <a16:colId xmlns:a16="http://schemas.microsoft.com/office/drawing/2014/main" val="352573012"/>
                    </a:ext>
                  </a:extLst>
                </a:gridCol>
                <a:gridCol w="1625600">
                  <a:extLst>
                    <a:ext uri="{9D8B030D-6E8A-4147-A177-3AD203B41FA5}">
                      <a16:colId xmlns:a16="http://schemas.microsoft.com/office/drawing/2014/main" val="3343981717"/>
                    </a:ext>
                  </a:extLst>
                </a:gridCol>
                <a:gridCol w="1625600">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spTree>
    <p:extLst>
      <p:ext uri="{BB962C8B-B14F-4D97-AF65-F5344CB8AC3E}">
        <p14:creationId xmlns:p14="http://schemas.microsoft.com/office/powerpoint/2010/main" val="50554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 - Soluzioni (3)</a:t>
            </a: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64A09F68-26BE-4982-8D0C-C4559FF56459}"/>
              </a:ext>
            </a:extLst>
          </p:cNvPr>
          <p:cNvGraphicFramePr>
            <a:graphicFrameLocks noGrp="1"/>
          </p:cNvGraphicFramePr>
          <p:nvPr>
            <p:extLst>
              <p:ext uri="{D42A27DB-BD31-4B8C-83A1-F6EECF244321}">
                <p14:modId xmlns:p14="http://schemas.microsoft.com/office/powerpoint/2010/main" val="25715516"/>
              </p:ext>
            </p:extLst>
          </p:nvPr>
        </p:nvGraphicFramePr>
        <p:xfrm>
          <a:off x="2589210" y="2501900"/>
          <a:ext cx="3506790" cy="1854200"/>
        </p:xfrm>
        <a:graphic>
          <a:graphicData uri="http://schemas.openxmlformats.org/drawingml/2006/table">
            <a:tbl>
              <a:tblPr firstRow="1" bandRow="1">
                <a:tableStyleId>{5C22544A-7EE6-4342-B048-85BDC9FD1C3A}</a:tableStyleId>
              </a:tblPr>
              <a:tblGrid>
                <a:gridCol w="701358">
                  <a:extLst>
                    <a:ext uri="{9D8B030D-6E8A-4147-A177-3AD203B41FA5}">
                      <a16:colId xmlns:a16="http://schemas.microsoft.com/office/drawing/2014/main" val="2362141046"/>
                    </a:ext>
                  </a:extLst>
                </a:gridCol>
                <a:gridCol w="701358">
                  <a:extLst>
                    <a:ext uri="{9D8B030D-6E8A-4147-A177-3AD203B41FA5}">
                      <a16:colId xmlns:a16="http://schemas.microsoft.com/office/drawing/2014/main" val="2918524467"/>
                    </a:ext>
                  </a:extLst>
                </a:gridCol>
                <a:gridCol w="701358">
                  <a:extLst>
                    <a:ext uri="{9D8B030D-6E8A-4147-A177-3AD203B41FA5}">
                      <a16:colId xmlns:a16="http://schemas.microsoft.com/office/drawing/2014/main" val="352573012"/>
                    </a:ext>
                  </a:extLst>
                </a:gridCol>
                <a:gridCol w="701358">
                  <a:extLst>
                    <a:ext uri="{9D8B030D-6E8A-4147-A177-3AD203B41FA5}">
                      <a16:colId xmlns:a16="http://schemas.microsoft.com/office/drawing/2014/main" val="3343981717"/>
                    </a:ext>
                  </a:extLst>
                </a:gridCol>
                <a:gridCol w="701358">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1</a:t>
                      </a:r>
                    </a:p>
                  </a:txBody>
                  <a:tcPr/>
                </a:tc>
                <a:tc>
                  <a:txBody>
                    <a:bodyPr/>
                    <a:lstStyle/>
                    <a:p>
                      <a:r>
                        <a:rPr lang="it-IT" dirty="0"/>
                        <a:t>1</a:t>
                      </a:r>
                    </a:p>
                  </a:txBody>
                  <a:tcPr/>
                </a:tc>
                <a:tc>
                  <a:txBody>
                    <a:bodyPr/>
                    <a:lstStyle/>
                    <a:p>
                      <a:r>
                        <a:rPr lang="it-IT" dirty="0"/>
                        <a:t>1</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graphicFrame>
        <p:nvGraphicFramePr>
          <p:cNvPr id="10" name="Tabella 9">
            <a:extLst>
              <a:ext uri="{FF2B5EF4-FFF2-40B4-BE49-F238E27FC236}">
                <a16:creationId xmlns:a16="http://schemas.microsoft.com/office/drawing/2014/main" id="{CCB8495E-3748-40D9-BD6F-40A211CBEC3B}"/>
              </a:ext>
            </a:extLst>
          </p:cNvPr>
          <p:cNvGraphicFramePr>
            <a:graphicFrameLocks noGrp="1"/>
          </p:cNvGraphicFramePr>
          <p:nvPr>
            <p:extLst>
              <p:ext uri="{D42A27DB-BD31-4B8C-83A1-F6EECF244321}">
                <p14:modId xmlns:p14="http://schemas.microsoft.com/office/powerpoint/2010/main" val="35044829"/>
              </p:ext>
            </p:extLst>
          </p:nvPr>
        </p:nvGraphicFramePr>
        <p:xfrm>
          <a:off x="7427963" y="2501900"/>
          <a:ext cx="3506790" cy="1854200"/>
        </p:xfrm>
        <a:graphic>
          <a:graphicData uri="http://schemas.openxmlformats.org/drawingml/2006/table">
            <a:tbl>
              <a:tblPr firstRow="1" bandRow="1">
                <a:tableStyleId>{5C22544A-7EE6-4342-B048-85BDC9FD1C3A}</a:tableStyleId>
              </a:tblPr>
              <a:tblGrid>
                <a:gridCol w="701358">
                  <a:extLst>
                    <a:ext uri="{9D8B030D-6E8A-4147-A177-3AD203B41FA5}">
                      <a16:colId xmlns:a16="http://schemas.microsoft.com/office/drawing/2014/main" val="2362141046"/>
                    </a:ext>
                  </a:extLst>
                </a:gridCol>
                <a:gridCol w="701358">
                  <a:extLst>
                    <a:ext uri="{9D8B030D-6E8A-4147-A177-3AD203B41FA5}">
                      <a16:colId xmlns:a16="http://schemas.microsoft.com/office/drawing/2014/main" val="2918524467"/>
                    </a:ext>
                  </a:extLst>
                </a:gridCol>
                <a:gridCol w="701358">
                  <a:extLst>
                    <a:ext uri="{9D8B030D-6E8A-4147-A177-3AD203B41FA5}">
                      <a16:colId xmlns:a16="http://schemas.microsoft.com/office/drawing/2014/main" val="352573012"/>
                    </a:ext>
                  </a:extLst>
                </a:gridCol>
                <a:gridCol w="701358">
                  <a:extLst>
                    <a:ext uri="{9D8B030D-6E8A-4147-A177-3AD203B41FA5}">
                      <a16:colId xmlns:a16="http://schemas.microsoft.com/office/drawing/2014/main" val="3343981717"/>
                    </a:ext>
                  </a:extLst>
                </a:gridCol>
                <a:gridCol w="701358">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1</a:t>
                      </a:r>
                    </a:p>
                  </a:txBody>
                  <a:tcPr/>
                </a:tc>
                <a:tc>
                  <a:txBody>
                    <a:bodyPr/>
                    <a:lstStyle/>
                    <a:p>
                      <a:r>
                        <a:rPr lang="it-IT" dirty="0"/>
                        <a:t>1</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1</a:t>
                      </a:r>
                    </a:p>
                  </a:txBody>
                  <a:tcPr/>
                </a:tc>
                <a:tc>
                  <a:txBody>
                    <a:bodyPr/>
                    <a:lstStyle/>
                    <a:p>
                      <a:r>
                        <a:rPr lang="it-IT" dirty="0"/>
                        <a:t>0</a:t>
                      </a:r>
                    </a:p>
                  </a:txBody>
                  <a:tcPr/>
                </a:tc>
                <a:tc>
                  <a:txBody>
                    <a:bodyPr/>
                    <a:lstStyle/>
                    <a:p>
                      <a:r>
                        <a:rPr lang="it-IT" dirty="0"/>
                        <a:t>1</a:t>
                      </a:r>
                    </a:p>
                  </a:txBody>
                  <a:tcPr/>
                </a:tc>
                <a:tc>
                  <a:txBody>
                    <a:bodyPr/>
                    <a:lstStyle/>
                    <a:p>
                      <a:r>
                        <a:rPr lang="it-IT" dirty="0"/>
                        <a:t>1</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sp>
        <p:nvSpPr>
          <p:cNvPr id="7" name="CasellaDiTesto 6">
            <a:extLst>
              <a:ext uri="{FF2B5EF4-FFF2-40B4-BE49-F238E27FC236}">
                <a16:creationId xmlns:a16="http://schemas.microsoft.com/office/drawing/2014/main" id="{C32B95B5-A366-4D15-A755-40F02408C893}"/>
              </a:ext>
            </a:extLst>
          </p:cNvPr>
          <p:cNvSpPr txBox="1"/>
          <p:nvPr/>
        </p:nvSpPr>
        <p:spPr>
          <a:xfrm>
            <a:off x="2589210" y="1905000"/>
            <a:ext cx="8345543" cy="369332"/>
          </a:xfrm>
          <a:prstGeom prst="rect">
            <a:avLst/>
          </a:prstGeom>
          <a:noFill/>
        </p:spPr>
        <p:txBody>
          <a:bodyPr wrap="square" rtlCol="0">
            <a:spAutoFit/>
          </a:bodyPr>
          <a:lstStyle/>
          <a:p>
            <a:r>
              <a:rPr lang="it-IT" dirty="0"/>
              <a:t>PAG 0										PAG 1</a:t>
            </a:r>
          </a:p>
        </p:txBody>
      </p:sp>
    </p:spTree>
    <p:extLst>
      <p:ext uri="{BB962C8B-B14F-4D97-AF65-F5344CB8AC3E}">
        <p14:creationId xmlns:p14="http://schemas.microsoft.com/office/powerpoint/2010/main" val="2367332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 - Soluzioni (4)</a:t>
            </a: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64A09F68-26BE-4982-8D0C-C4559FF56459}"/>
              </a:ext>
            </a:extLst>
          </p:cNvPr>
          <p:cNvGraphicFramePr>
            <a:graphicFrameLocks noGrp="1"/>
          </p:cNvGraphicFramePr>
          <p:nvPr>
            <p:extLst>
              <p:ext uri="{D42A27DB-BD31-4B8C-83A1-F6EECF244321}">
                <p14:modId xmlns:p14="http://schemas.microsoft.com/office/powerpoint/2010/main" val="1405896070"/>
              </p:ext>
            </p:extLst>
          </p:nvPr>
        </p:nvGraphicFramePr>
        <p:xfrm>
          <a:off x="2589210" y="2501900"/>
          <a:ext cx="3506790" cy="1854200"/>
        </p:xfrm>
        <a:graphic>
          <a:graphicData uri="http://schemas.openxmlformats.org/drawingml/2006/table">
            <a:tbl>
              <a:tblPr firstRow="1" bandRow="1">
                <a:tableStyleId>{5C22544A-7EE6-4342-B048-85BDC9FD1C3A}</a:tableStyleId>
              </a:tblPr>
              <a:tblGrid>
                <a:gridCol w="701358">
                  <a:extLst>
                    <a:ext uri="{9D8B030D-6E8A-4147-A177-3AD203B41FA5}">
                      <a16:colId xmlns:a16="http://schemas.microsoft.com/office/drawing/2014/main" val="2362141046"/>
                    </a:ext>
                  </a:extLst>
                </a:gridCol>
                <a:gridCol w="701358">
                  <a:extLst>
                    <a:ext uri="{9D8B030D-6E8A-4147-A177-3AD203B41FA5}">
                      <a16:colId xmlns:a16="http://schemas.microsoft.com/office/drawing/2014/main" val="2918524467"/>
                    </a:ext>
                  </a:extLst>
                </a:gridCol>
                <a:gridCol w="701358">
                  <a:extLst>
                    <a:ext uri="{9D8B030D-6E8A-4147-A177-3AD203B41FA5}">
                      <a16:colId xmlns:a16="http://schemas.microsoft.com/office/drawing/2014/main" val="352573012"/>
                    </a:ext>
                  </a:extLst>
                </a:gridCol>
                <a:gridCol w="701358">
                  <a:extLst>
                    <a:ext uri="{9D8B030D-6E8A-4147-A177-3AD203B41FA5}">
                      <a16:colId xmlns:a16="http://schemas.microsoft.com/office/drawing/2014/main" val="3343981717"/>
                    </a:ext>
                  </a:extLst>
                </a:gridCol>
                <a:gridCol w="701358">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1</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1</a:t>
                      </a:r>
                    </a:p>
                  </a:txBody>
                  <a:tcPr/>
                </a:tc>
                <a:tc>
                  <a:txBody>
                    <a:bodyPr/>
                    <a:lstStyle/>
                    <a:p>
                      <a:r>
                        <a:rPr lang="it-IT" dirty="0"/>
                        <a:t>0</a:t>
                      </a:r>
                    </a:p>
                  </a:txBody>
                  <a:tcPr/>
                </a:tc>
                <a:tc>
                  <a:txBody>
                    <a:bodyPr/>
                    <a:lstStyle/>
                    <a:p>
                      <a:r>
                        <a:rPr lang="it-IT" dirty="0"/>
                        <a:t>0</a:t>
                      </a:r>
                    </a:p>
                  </a:txBody>
                  <a:tcPr/>
                </a:tc>
                <a:tc>
                  <a:txBody>
                    <a:bodyPr/>
                    <a:lstStyle/>
                    <a:p>
                      <a:r>
                        <a:rPr lang="it-IT" dirty="0"/>
                        <a:t>1</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1</a:t>
                      </a:r>
                    </a:p>
                  </a:txBody>
                  <a:tcPr/>
                </a:tc>
                <a:tc>
                  <a:txBody>
                    <a:bodyPr/>
                    <a:lstStyle/>
                    <a:p>
                      <a:r>
                        <a:rPr lang="it-IT" dirty="0"/>
                        <a:t>1</a:t>
                      </a:r>
                    </a:p>
                  </a:txBody>
                  <a:tcPr/>
                </a:tc>
                <a:tc>
                  <a:txBody>
                    <a:bodyPr/>
                    <a:lstStyle/>
                    <a:p>
                      <a:r>
                        <a:rPr lang="it-IT" dirty="0"/>
                        <a:t>0</a:t>
                      </a:r>
                    </a:p>
                  </a:txBody>
                  <a:tcPr/>
                </a:tc>
                <a:tc>
                  <a:txBody>
                    <a:bodyPr/>
                    <a:lstStyle/>
                    <a:p>
                      <a:r>
                        <a:rPr lang="it-IT" dirty="0"/>
                        <a:t>1</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graphicFrame>
        <p:nvGraphicFramePr>
          <p:cNvPr id="10" name="Tabella 9">
            <a:extLst>
              <a:ext uri="{FF2B5EF4-FFF2-40B4-BE49-F238E27FC236}">
                <a16:creationId xmlns:a16="http://schemas.microsoft.com/office/drawing/2014/main" id="{CCB8495E-3748-40D9-BD6F-40A211CBEC3B}"/>
              </a:ext>
            </a:extLst>
          </p:cNvPr>
          <p:cNvGraphicFramePr>
            <a:graphicFrameLocks noGrp="1"/>
          </p:cNvGraphicFramePr>
          <p:nvPr>
            <p:extLst>
              <p:ext uri="{D42A27DB-BD31-4B8C-83A1-F6EECF244321}">
                <p14:modId xmlns:p14="http://schemas.microsoft.com/office/powerpoint/2010/main" val="3456298407"/>
              </p:ext>
            </p:extLst>
          </p:nvPr>
        </p:nvGraphicFramePr>
        <p:xfrm>
          <a:off x="7427963" y="2501900"/>
          <a:ext cx="3506790" cy="1854200"/>
        </p:xfrm>
        <a:graphic>
          <a:graphicData uri="http://schemas.openxmlformats.org/drawingml/2006/table">
            <a:tbl>
              <a:tblPr firstRow="1" bandRow="1">
                <a:tableStyleId>{5C22544A-7EE6-4342-B048-85BDC9FD1C3A}</a:tableStyleId>
              </a:tblPr>
              <a:tblGrid>
                <a:gridCol w="701358">
                  <a:extLst>
                    <a:ext uri="{9D8B030D-6E8A-4147-A177-3AD203B41FA5}">
                      <a16:colId xmlns:a16="http://schemas.microsoft.com/office/drawing/2014/main" val="2362141046"/>
                    </a:ext>
                  </a:extLst>
                </a:gridCol>
                <a:gridCol w="701358">
                  <a:extLst>
                    <a:ext uri="{9D8B030D-6E8A-4147-A177-3AD203B41FA5}">
                      <a16:colId xmlns:a16="http://schemas.microsoft.com/office/drawing/2014/main" val="2918524467"/>
                    </a:ext>
                  </a:extLst>
                </a:gridCol>
                <a:gridCol w="701358">
                  <a:extLst>
                    <a:ext uri="{9D8B030D-6E8A-4147-A177-3AD203B41FA5}">
                      <a16:colId xmlns:a16="http://schemas.microsoft.com/office/drawing/2014/main" val="352573012"/>
                    </a:ext>
                  </a:extLst>
                </a:gridCol>
                <a:gridCol w="701358">
                  <a:extLst>
                    <a:ext uri="{9D8B030D-6E8A-4147-A177-3AD203B41FA5}">
                      <a16:colId xmlns:a16="http://schemas.microsoft.com/office/drawing/2014/main" val="3343981717"/>
                    </a:ext>
                  </a:extLst>
                </a:gridCol>
                <a:gridCol w="701358">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1</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1</a:t>
                      </a:r>
                    </a:p>
                  </a:txBody>
                  <a:tcPr/>
                </a:tc>
                <a:tc>
                  <a:txBody>
                    <a:bodyPr/>
                    <a:lstStyle/>
                    <a:p>
                      <a:r>
                        <a:rPr lang="it-IT" dirty="0"/>
                        <a:t>1</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1</a:t>
                      </a:r>
                    </a:p>
                  </a:txBody>
                  <a:tcPr/>
                </a:tc>
                <a:tc>
                  <a:txBody>
                    <a:bodyPr/>
                    <a:lstStyle/>
                    <a:p>
                      <a:r>
                        <a:rPr lang="it-IT" dirty="0"/>
                        <a:t>1</a:t>
                      </a:r>
                    </a:p>
                  </a:txBody>
                  <a:tcPr/>
                </a:tc>
                <a:tc>
                  <a:txBody>
                    <a:bodyPr/>
                    <a:lstStyle/>
                    <a:p>
                      <a:r>
                        <a:rPr lang="it-IT" dirty="0"/>
                        <a:t>1</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sp>
        <p:nvSpPr>
          <p:cNvPr id="8" name="CasellaDiTesto 7">
            <a:extLst>
              <a:ext uri="{FF2B5EF4-FFF2-40B4-BE49-F238E27FC236}">
                <a16:creationId xmlns:a16="http://schemas.microsoft.com/office/drawing/2014/main" id="{76578C76-1E14-4DF7-994F-30DD07E5F796}"/>
              </a:ext>
            </a:extLst>
          </p:cNvPr>
          <p:cNvSpPr txBox="1"/>
          <p:nvPr/>
        </p:nvSpPr>
        <p:spPr>
          <a:xfrm>
            <a:off x="2589210" y="1905000"/>
            <a:ext cx="8345543" cy="369332"/>
          </a:xfrm>
          <a:prstGeom prst="rect">
            <a:avLst/>
          </a:prstGeom>
          <a:noFill/>
        </p:spPr>
        <p:txBody>
          <a:bodyPr wrap="square" rtlCol="0">
            <a:spAutoFit/>
          </a:bodyPr>
          <a:lstStyle/>
          <a:p>
            <a:r>
              <a:rPr lang="it-IT" dirty="0"/>
              <a:t>PAG 2										PAG 3</a:t>
            </a:r>
          </a:p>
        </p:txBody>
      </p:sp>
    </p:spTree>
    <p:extLst>
      <p:ext uri="{BB962C8B-B14F-4D97-AF65-F5344CB8AC3E}">
        <p14:creationId xmlns:p14="http://schemas.microsoft.com/office/powerpoint/2010/main" val="3492675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 - Soluzioni (5)</a:t>
            </a: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64A09F68-26BE-4982-8D0C-C4559FF56459}"/>
              </a:ext>
            </a:extLst>
          </p:cNvPr>
          <p:cNvGraphicFramePr>
            <a:graphicFrameLocks noGrp="1"/>
          </p:cNvGraphicFramePr>
          <p:nvPr>
            <p:extLst>
              <p:ext uri="{D42A27DB-BD31-4B8C-83A1-F6EECF244321}">
                <p14:modId xmlns:p14="http://schemas.microsoft.com/office/powerpoint/2010/main" val="1320459502"/>
              </p:ext>
            </p:extLst>
          </p:nvPr>
        </p:nvGraphicFramePr>
        <p:xfrm>
          <a:off x="2589210" y="2501900"/>
          <a:ext cx="3506790" cy="1854200"/>
        </p:xfrm>
        <a:graphic>
          <a:graphicData uri="http://schemas.openxmlformats.org/drawingml/2006/table">
            <a:tbl>
              <a:tblPr firstRow="1" bandRow="1">
                <a:tableStyleId>{5C22544A-7EE6-4342-B048-85BDC9FD1C3A}</a:tableStyleId>
              </a:tblPr>
              <a:tblGrid>
                <a:gridCol w="701358">
                  <a:extLst>
                    <a:ext uri="{9D8B030D-6E8A-4147-A177-3AD203B41FA5}">
                      <a16:colId xmlns:a16="http://schemas.microsoft.com/office/drawing/2014/main" val="2362141046"/>
                    </a:ext>
                  </a:extLst>
                </a:gridCol>
                <a:gridCol w="701358">
                  <a:extLst>
                    <a:ext uri="{9D8B030D-6E8A-4147-A177-3AD203B41FA5}">
                      <a16:colId xmlns:a16="http://schemas.microsoft.com/office/drawing/2014/main" val="2918524467"/>
                    </a:ext>
                  </a:extLst>
                </a:gridCol>
                <a:gridCol w="701358">
                  <a:extLst>
                    <a:ext uri="{9D8B030D-6E8A-4147-A177-3AD203B41FA5}">
                      <a16:colId xmlns:a16="http://schemas.microsoft.com/office/drawing/2014/main" val="352573012"/>
                    </a:ext>
                  </a:extLst>
                </a:gridCol>
                <a:gridCol w="701358">
                  <a:extLst>
                    <a:ext uri="{9D8B030D-6E8A-4147-A177-3AD203B41FA5}">
                      <a16:colId xmlns:a16="http://schemas.microsoft.com/office/drawing/2014/main" val="3343981717"/>
                    </a:ext>
                  </a:extLst>
                </a:gridCol>
                <a:gridCol w="701358">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1</a:t>
                      </a:r>
                    </a:p>
                  </a:txBody>
                  <a:tcPr/>
                </a:tc>
                <a:tc>
                  <a:txBody>
                    <a:bodyPr/>
                    <a:lstStyle/>
                    <a:p>
                      <a:r>
                        <a:rPr lang="it-IT" dirty="0"/>
                        <a:t>0</a:t>
                      </a:r>
                    </a:p>
                  </a:txBody>
                  <a:tcPr/>
                </a:tc>
                <a:tc>
                  <a:txBody>
                    <a:bodyPr/>
                    <a:lstStyle/>
                    <a:p>
                      <a:r>
                        <a:rPr lang="it-IT" dirty="0"/>
                        <a:t>1</a:t>
                      </a:r>
                    </a:p>
                  </a:txBody>
                  <a:tcPr/>
                </a:tc>
                <a:tc>
                  <a:txBody>
                    <a:bodyPr/>
                    <a:lstStyle/>
                    <a:p>
                      <a:r>
                        <a:rPr lang="it-IT" dirty="0"/>
                        <a:t>1</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1</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1</a:t>
                      </a:r>
                    </a:p>
                  </a:txBody>
                  <a:tcPr/>
                </a:tc>
                <a:tc>
                  <a:txBody>
                    <a:bodyPr/>
                    <a:lstStyle/>
                    <a:p>
                      <a:r>
                        <a:rPr lang="it-IT" dirty="0"/>
                        <a:t>0</a:t>
                      </a:r>
                    </a:p>
                  </a:txBody>
                  <a:tcPr/>
                </a:tc>
                <a:tc>
                  <a:txBody>
                    <a:bodyPr/>
                    <a:lstStyle/>
                    <a:p>
                      <a:r>
                        <a:rPr lang="it-IT" dirty="0"/>
                        <a:t>1</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graphicFrame>
        <p:nvGraphicFramePr>
          <p:cNvPr id="10" name="Tabella 9">
            <a:extLst>
              <a:ext uri="{FF2B5EF4-FFF2-40B4-BE49-F238E27FC236}">
                <a16:creationId xmlns:a16="http://schemas.microsoft.com/office/drawing/2014/main" id="{CCB8495E-3748-40D9-BD6F-40A211CBEC3B}"/>
              </a:ext>
            </a:extLst>
          </p:cNvPr>
          <p:cNvGraphicFramePr>
            <a:graphicFrameLocks noGrp="1"/>
          </p:cNvGraphicFramePr>
          <p:nvPr>
            <p:extLst>
              <p:ext uri="{D42A27DB-BD31-4B8C-83A1-F6EECF244321}">
                <p14:modId xmlns:p14="http://schemas.microsoft.com/office/powerpoint/2010/main" val="2711319475"/>
              </p:ext>
            </p:extLst>
          </p:nvPr>
        </p:nvGraphicFramePr>
        <p:xfrm>
          <a:off x="7427963" y="2501900"/>
          <a:ext cx="3506790" cy="1854200"/>
        </p:xfrm>
        <a:graphic>
          <a:graphicData uri="http://schemas.openxmlformats.org/drawingml/2006/table">
            <a:tbl>
              <a:tblPr firstRow="1" bandRow="1">
                <a:tableStyleId>{5C22544A-7EE6-4342-B048-85BDC9FD1C3A}</a:tableStyleId>
              </a:tblPr>
              <a:tblGrid>
                <a:gridCol w="701358">
                  <a:extLst>
                    <a:ext uri="{9D8B030D-6E8A-4147-A177-3AD203B41FA5}">
                      <a16:colId xmlns:a16="http://schemas.microsoft.com/office/drawing/2014/main" val="2362141046"/>
                    </a:ext>
                  </a:extLst>
                </a:gridCol>
                <a:gridCol w="701358">
                  <a:extLst>
                    <a:ext uri="{9D8B030D-6E8A-4147-A177-3AD203B41FA5}">
                      <a16:colId xmlns:a16="http://schemas.microsoft.com/office/drawing/2014/main" val="2918524467"/>
                    </a:ext>
                  </a:extLst>
                </a:gridCol>
                <a:gridCol w="701358">
                  <a:extLst>
                    <a:ext uri="{9D8B030D-6E8A-4147-A177-3AD203B41FA5}">
                      <a16:colId xmlns:a16="http://schemas.microsoft.com/office/drawing/2014/main" val="352573012"/>
                    </a:ext>
                  </a:extLst>
                </a:gridCol>
                <a:gridCol w="701358">
                  <a:extLst>
                    <a:ext uri="{9D8B030D-6E8A-4147-A177-3AD203B41FA5}">
                      <a16:colId xmlns:a16="http://schemas.microsoft.com/office/drawing/2014/main" val="3343981717"/>
                    </a:ext>
                  </a:extLst>
                </a:gridCol>
                <a:gridCol w="701358">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1</a:t>
                      </a:r>
                    </a:p>
                  </a:txBody>
                  <a:tcPr/>
                </a:tc>
                <a:tc>
                  <a:txBody>
                    <a:bodyPr/>
                    <a:lstStyle/>
                    <a:p>
                      <a:r>
                        <a:rPr lang="it-IT" dirty="0"/>
                        <a:t>1</a:t>
                      </a:r>
                    </a:p>
                  </a:txBody>
                  <a:tcPr/>
                </a:tc>
                <a:tc>
                  <a:txBody>
                    <a:bodyPr/>
                    <a:lstStyle/>
                    <a:p>
                      <a:r>
                        <a:rPr lang="it-IT" dirty="0"/>
                        <a:t>1</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0</a:t>
                      </a:r>
                    </a:p>
                  </a:txBody>
                  <a:tcPr/>
                </a:tc>
                <a:tc>
                  <a:txBody>
                    <a:bodyPr/>
                    <a:lstStyle/>
                    <a:p>
                      <a:r>
                        <a:rPr lang="it-IT" dirty="0"/>
                        <a:t>0</a:t>
                      </a:r>
                    </a:p>
                  </a:txBody>
                  <a:tcPr/>
                </a:tc>
                <a:tc>
                  <a:txBody>
                    <a:bodyPr/>
                    <a:lstStyle/>
                    <a:p>
                      <a:r>
                        <a:rPr lang="it-IT" dirty="0"/>
                        <a:t>1</a:t>
                      </a:r>
                    </a:p>
                  </a:txBody>
                  <a:tcPr/>
                </a:tc>
                <a:tc>
                  <a:txBody>
                    <a:bodyPr/>
                    <a:lstStyle/>
                    <a:p>
                      <a:r>
                        <a:rPr lang="it-IT" dirty="0"/>
                        <a:t>1</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0</a:t>
                      </a:r>
                    </a:p>
                  </a:txBody>
                  <a:tcPr/>
                </a:tc>
                <a:tc>
                  <a:txBody>
                    <a:bodyPr/>
                    <a:lstStyle/>
                    <a:p>
                      <a:r>
                        <a:rPr lang="it-IT" dirty="0"/>
                        <a:t>0</a:t>
                      </a:r>
                    </a:p>
                  </a:txBody>
                  <a:tcPr/>
                </a:tc>
                <a:tc>
                  <a:txBody>
                    <a:bodyPr/>
                    <a:lstStyle/>
                    <a:p>
                      <a:r>
                        <a:rPr lang="it-IT" dirty="0"/>
                        <a:t>1</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sp>
        <p:nvSpPr>
          <p:cNvPr id="8" name="CasellaDiTesto 7">
            <a:extLst>
              <a:ext uri="{FF2B5EF4-FFF2-40B4-BE49-F238E27FC236}">
                <a16:creationId xmlns:a16="http://schemas.microsoft.com/office/drawing/2014/main" id="{5F8356AA-36BF-4D80-A18D-D5B7A32A6353}"/>
              </a:ext>
            </a:extLst>
          </p:cNvPr>
          <p:cNvSpPr txBox="1"/>
          <p:nvPr/>
        </p:nvSpPr>
        <p:spPr>
          <a:xfrm>
            <a:off x="2589210" y="1905000"/>
            <a:ext cx="8345543" cy="369332"/>
          </a:xfrm>
          <a:prstGeom prst="rect">
            <a:avLst/>
          </a:prstGeom>
          <a:noFill/>
        </p:spPr>
        <p:txBody>
          <a:bodyPr wrap="square" rtlCol="0">
            <a:spAutoFit/>
          </a:bodyPr>
          <a:lstStyle/>
          <a:p>
            <a:r>
              <a:rPr lang="it-IT" dirty="0"/>
              <a:t>PAG 1										PAG 0</a:t>
            </a:r>
          </a:p>
        </p:txBody>
      </p:sp>
    </p:spTree>
    <p:extLst>
      <p:ext uri="{BB962C8B-B14F-4D97-AF65-F5344CB8AC3E}">
        <p14:creationId xmlns:p14="http://schemas.microsoft.com/office/powerpoint/2010/main" val="1127965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 - Soluzioni (6)</a:t>
            </a: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64A09F68-26BE-4982-8D0C-C4559FF56459}"/>
              </a:ext>
            </a:extLst>
          </p:cNvPr>
          <p:cNvGraphicFramePr>
            <a:graphicFrameLocks noGrp="1"/>
          </p:cNvGraphicFramePr>
          <p:nvPr>
            <p:extLst>
              <p:ext uri="{D42A27DB-BD31-4B8C-83A1-F6EECF244321}">
                <p14:modId xmlns:p14="http://schemas.microsoft.com/office/powerpoint/2010/main" val="3413345880"/>
              </p:ext>
            </p:extLst>
          </p:nvPr>
        </p:nvGraphicFramePr>
        <p:xfrm>
          <a:off x="2589210" y="2501900"/>
          <a:ext cx="3506790" cy="1854200"/>
        </p:xfrm>
        <a:graphic>
          <a:graphicData uri="http://schemas.openxmlformats.org/drawingml/2006/table">
            <a:tbl>
              <a:tblPr firstRow="1" bandRow="1">
                <a:tableStyleId>{5C22544A-7EE6-4342-B048-85BDC9FD1C3A}</a:tableStyleId>
              </a:tblPr>
              <a:tblGrid>
                <a:gridCol w="701358">
                  <a:extLst>
                    <a:ext uri="{9D8B030D-6E8A-4147-A177-3AD203B41FA5}">
                      <a16:colId xmlns:a16="http://schemas.microsoft.com/office/drawing/2014/main" val="2362141046"/>
                    </a:ext>
                  </a:extLst>
                </a:gridCol>
                <a:gridCol w="701358">
                  <a:extLst>
                    <a:ext uri="{9D8B030D-6E8A-4147-A177-3AD203B41FA5}">
                      <a16:colId xmlns:a16="http://schemas.microsoft.com/office/drawing/2014/main" val="2918524467"/>
                    </a:ext>
                  </a:extLst>
                </a:gridCol>
                <a:gridCol w="701358">
                  <a:extLst>
                    <a:ext uri="{9D8B030D-6E8A-4147-A177-3AD203B41FA5}">
                      <a16:colId xmlns:a16="http://schemas.microsoft.com/office/drawing/2014/main" val="352573012"/>
                    </a:ext>
                  </a:extLst>
                </a:gridCol>
                <a:gridCol w="701358">
                  <a:extLst>
                    <a:ext uri="{9D8B030D-6E8A-4147-A177-3AD203B41FA5}">
                      <a16:colId xmlns:a16="http://schemas.microsoft.com/office/drawing/2014/main" val="3343981717"/>
                    </a:ext>
                  </a:extLst>
                </a:gridCol>
                <a:gridCol w="701358">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1</a:t>
                      </a:r>
                    </a:p>
                  </a:txBody>
                  <a:tcPr/>
                </a:tc>
                <a:tc>
                  <a:txBody>
                    <a:bodyPr/>
                    <a:lstStyle/>
                    <a:p>
                      <a:r>
                        <a:rPr lang="it-IT" dirty="0"/>
                        <a:t>1</a:t>
                      </a:r>
                    </a:p>
                  </a:txBody>
                  <a:tcPr/>
                </a:tc>
                <a:tc>
                  <a:txBody>
                    <a:bodyPr/>
                    <a:lstStyle/>
                    <a:p>
                      <a:r>
                        <a:rPr lang="it-IT" dirty="0"/>
                        <a:t>0</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0</a:t>
                      </a:r>
                    </a:p>
                  </a:txBody>
                  <a:tcPr/>
                </a:tc>
                <a:tc>
                  <a:txBody>
                    <a:bodyPr/>
                    <a:lstStyle/>
                    <a:p>
                      <a:r>
                        <a:rPr lang="it-IT" dirty="0"/>
                        <a:t>0</a:t>
                      </a:r>
                    </a:p>
                  </a:txBody>
                  <a:tcPr/>
                </a:tc>
                <a:tc>
                  <a:txBody>
                    <a:bodyPr/>
                    <a:lstStyle/>
                    <a:p>
                      <a:r>
                        <a:rPr lang="it-IT" dirty="0"/>
                        <a:t>1</a:t>
                      </a:r>
                    </a:p>
                  </a:txBody>
                  <a:tcPr/>
                </a:tc>
                <a:tc>
                  <a:txBody>
                    <a:bodyPr/>
                    <a:lstStyle/>
                    <a:p>
                      <a:r>
                        <a:rPr lang="it-IT" dirty="0"/>
                        <a:t>0</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1</a:t>
                      </a:r>
                    </a:p>
                  </a:txBody>
                  <a:tcPr/>
                </a:tc>
                <a:tc>
                  <a:txBody>
                    <a:bodyPr/>
                    <a:lstStyle/>
                    <a:p>
                      <a:r>
                        <a:rPr lang="it-IT" dirty="0"/>
                        <a:t>1</a:t>
                      </a:r>
                    </a:p>
                  </a:txBody>
                  <a:tcPr/>
                </a:tc>
                <a:tc>
                  <a:txBody>
                    <a:bodyPr/>
                    <a:lstStyle/>
                    <a:p>
                      <a:r>
                        <a:rPr lang="it-IT" dirty="0"/>
                        <a:t>1</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graphicFrame>
        <p:nvGraphicFramePr>
          <p:cNvPr id="10" name="Tabella 9">
            <a:extLst>
              <a:ext uri="{FF2B5EF4-FFF2-40B4-BE49-F238E27FC236}">
                <a16:creationId xmlns:a16="http://schemas.microsoft.com/office/drawing/2014/main" id="{CCB8495E-3748-40D9-BD6F-40A211CBEC3B}"/>
              </a:ext>
            </a:extLst>
          </p:cNvPr>
          <p:cNvGraphicFramePr>
            <a:graphicFrameLocks noGrp="1"/>
          </p:cNvGraphicFramePr>
          <p:nvPr>
            <p:extLst>
              <p:ext uri="{D42A27DB-BD31-4B8C-83A1-F6EECF244321}">
                <p14:modId xmlns:p14="http://schemas.microsoft.com/office/powerpoint/2010/main" val="20382778"/>
              </p:ext>
            </p:extLst>
          </p:nvPr>
        </p:nvGraphicFramePr>
        <p:xfrm>
          <a:off x="7427963" y="2501900"/>
          <a:ext cx="3506790" cy="1854200"/>
        </p:xfrm>
        <a:graphic>
          <a:graphicData uri="http://schemas.openxmlformats.org/drawingml/2006/table">
            <a:tbl>
              <a:tblPr firstRow="1" bandRow="1">
                <a:tableStyleId>{5C22544A-7EE6-4342-B048-85BDC9FD1C3A}</a:tableStyleId>
              </a:tblPr>
              <a:tblGrid>
                <a:gridCol w="701358">
                  <a:extLst>
                    <a:ext uri="{9D8B030D-6E8A-4147-A177-3AD203B41FA5}">
                      <a16:colId xmlns:a16="http://schemas.microsoft.com/office/drawing/2014/main" val="2362141046"/>
                    </a:ext>
                  </a:extLst>
                </a:gridCol>
                <a:gridCol w="701358">
                  <a:extLst>
                    <a:ext uri="{9D8B030D-6E8A-4147-A177-3AD203B41FA5}">
                      <a16:colId xmlns:a16="http://schemas.microsoft.com/office/drawing/2014/main" val="2918524467"/>
                    </a:ext>
                  </a:extLst>
                </a:gridCol>
                <a:gridCol w="701358">
                  <a:extLst>
                    <a:ext uri="{9D8B030D-6E8A-4147-A177-3AD203B41FA5}">
                      <a16:colId xmlns:a16="http://schemas.microsoft.com/office/drawing/2014/main" val="352573012"/>
                    </a:ext>
                  </a:extLst>
                </a:gridCol>
                <a:gridCol w="701358">
                  <a:extLst>
                    <a:ext uri="{9D8B030D-6E8A-4147-A177-3AD203B41FA5}">
                      <a16:colId xmlns:a16="http://schemas.microsoft.com/office/drawing/2014/main" val="3343981717"/>
                    </a:ext>
                  </a:extLst>
                </a:gridCol>
                <a:gridCol w="701358">
                  <a:extLst>
                    <a:ext uri="{9D8B030D-6E8A-4147-A177-3AD203B41FA5}">
                      <a16:colId xmlns:a16="http://schemas.microsoft.com/office/drawing/2014/main" val="2322553278"/>
                    </a:ext>
                  </a:extLst>
                </a:gridCol>
              </a:tblGrid>
              <a:tr h="370840">
                <a:tc>
                  <a:txBody>
                    <a:bodyPr/>
                    <a:lstStyle/>
                    <a:p>
                      <a:r>
                        <a:rPr lang="it-IT" dirty="0"/>
                        <a:t>ID</a:t>
                      </a:r>
                    </a:p>
                  </a:txBody>
                  <a:tcPr/>
                </a:tc>
                <a:tc>
                  <a:txBody>
                    <a:bodyPr/>
                    <a:lstStyle/>
                    <a:p>
                      <a:r>
                        <a:rPr lang="it-IT" dirty="0"/>
                        <a:t>0</a:t>
                      </a:r>
                    </a:p>
                  </a:txBody>
                  <a:tcPr/>
                </a:tc>
                <a:tc>
                  <a:txBody>
                    <a:bodyPr/>
                    <a:lstStyle/>
                    <a:p>
                      <a:r>
                        <a:rPr lang="it-IT" dirty="0"/>
                        <a:t>1</a:t>
                      </a:r>
                    </a:p>
                  </a:txBody>
                  <a:tcPr/>
                </a:tc>
                <a:tc>
                  <a:txBody>
                    <a:bodyPr/>
                    <a:lstStyle/>
                    <a:p>
                      <a:r>
                        <a:rPr lang="it-IT" dirty="0"/>
                        <a:t>2</a:t>
                      </a:r>
                    </a:p>
                  </a:txBody>
                  <a:tcPr/>
                </a:tc>
                <a:tc>
                  <a:txBody>
                    <a:bodyPr/>
                    <a:lstStyle/>
                    <a:p>
                      <a:r>
                        <a:rPr lang="it-IT" dirty="0"/>
                        <a:t>3</a:t>
                      </a:r>
                    </a:p>
                  </a:txBody>
                  <a:tcPr/>
                </a:tc>
                <a:extLst>
                  <a:ext uri="{0D108BD9-81ED-4DB2-BD59-A6C34878D82A}">
                    <a16:rowId xmlns:a16="http://schemas.microsoft.com/office/drawing/2014/main" val="468271384"/>
                  </a:ext>
                </a:extLst>
              </a:tr>
              <a:tr h="370840">
                <a:tc>
                  <a:txBody>
                    <a:bodyPr/>
                    <a:lstStyle/>
                    <a:p>
                      <a:r>
                        <a:rPr lang="it-IT" dirty="0"/>
                        <a:t>0</a:t>
                      </a:r>
                    </a:p>
                  </a:txBody>
                  <a:tcPr/>
                </a:tc>
                <a:tc>
                  <a:txBody>
                    <a:bodyPr/>
                    <a:lstStyle/>
                    <a:p>
                      <a:r>
                        <a:rPr lang="it-IT" dirty="0"/>
                        <a:t>0</a:t>
                      </a:r>
                    </a:p>
                  </a:txBody>
                  <a:tcPr/>
                </a:tc>
                <a:tc>
                  <a:txBody>
                    <a:bodyPr/>
                    <a:lstStyle/>
                    <a:p>
                      <a:r>
                        <a:rPr lang="it-IT" dirty="0"/>
                        <a:t>1</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2014311648"/>
                  </a:ext>
                </a:extLst>
              </a:tr>
              <a:tr h="370840">
                <a:tc>
                  <a:txBody>
                    <a:bodyPr/>
                    <a:lstStyle/>
                    <a:p>
                      <a:r>
                        <a:rPr lang="it-IT" dirty="0"/>
                        <a:t>1</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816802187"/>
                  </a:ext>
                </a:extLst>
              </a:tr>
              <a:tr h="370840">
                <a:tc>
                  <a:txBody>
                    <a:bodyPr/>
                    <a:lstStyle/>
                    <a:p>
                      <a:r>
                        <a:rPr lang="it-IT" dirty="0"/>
                        <a:t>2</a:t>
                      </a:r>
                    </a:p>
                  </a:txBody>
                  <a:tcPr/>
                </a:tc>
                <a:tc>
                  <a:txBody>
                    <a:bodyPr/>
                    <a:lstStyle/>
                    <a:p>
                      <a:r>
                        <a:rPr lang="it-IT" dirty="0"/>
                        <a:t>1</a:t>
                      </a:r>
                    </a:p>
                  </a:txBody>
                  <a:tcPr/>
                </a:tc>
                <a:tc>
                  <a:txBody>
                    <a:bodyPr/>
                    <a:lstStyle/>
                    <a:p>
                      <a:r>
                        <a:rPr lang="it-IT" dirty="0"/>
                        <a:t>1</a:t>
                      </a:r>
                    </a:p>
                  </a:txBody>
                  <a:tcPr/>
                </a:tc>
                <a:tc>
                  <a:txBody>
                    <a:bodyPr/>
                    <a:lstStyle/>
                    <a:p>
                      <a:r>
                        <a:rPr lang="it-IT" dirty="0"/>
                        <a:t>0</a:t>
                      </a:r>
                    </a:p>
                  </a:txBody>
                  <a:tcPr/>
                </a:tc>
                <a:tc>
                  <a:txBody>
                    <a:bodyPr/>
                    <a:lstStyle/>
                    <a:p>
                      <a:r>
                        <a:rPr lang="it-IT" dirty="0"/>
                        <a:t>1</a:t>
                      </a:r>
                    </a:p>
                  </a:txBody>
                  <a:tcPr/>
                </a:tc>
                <a:extLst>
                  <a:ext uri="{0D108BD9-81ED-4DB2-BD59-A6C34878D82A}">
                    <a16:rowId xmlns:a16="http://schemas.microsoft.com/office/drawing/2014/main" val="2159995364"/>
                  </a:ext>
                </a:extLst>
              </a:tr>
              <a:tr h="370840">
                <a:tc>
                  <a:txBody>
                    <a:bodyPr/>
                    <a:lstStyle/>
                    <a:p>
                      <a:r>
                        <a:rPr lang="it-IT" dirty="0"/>
                        <a:t>3</a:t>
                      </a:r>
                    </a:p>
                  </a:txBody>
                  <a:tcPr/>
                </a:tc>
                <a:tc>
                  <a:txBody>
                    <a:bodyPr/>
                    <a:lstStyle/>
                    <a:p>
                      <a:r>
                        <a:rPr lang="it-IT" dirty="0"/>
                        <a:t>1</a:t>
                      </a:r>
                    </a:p>
                  </a:txBody>
                  <a:tcPr/>
                </a:tc>
                <a:tc>
                  <a:txBody>
                    <a:bodyPr/>
                    <a:lstStyle/>
                    <a:p>
                      <a:r>
                        <a:rPr lang="it-IT" dirty="0"/>
                        <a:t>1</a:t>
                      </a:r>
                    </a:p>
                  </a:txBody>
                  <a:tcPr/>
                </a:tc>
                <a:tc>
                  <a:txBody>
                    <a:bodyPr/>
                    <a:lstStyle/>
                    <a:p>
                      <a:r>
                        <a:rPr lang="it-IT" dirty="0"/>
                        <a:t>0</a:t>
                      </a:r>
                    </a:p>
                  </a:txBody>
                  <a:tcPr/>
                </a:tc>
                <a:tc>
                  <a:txBody>
                    <a:bodyPr/>
                    <a:lstStyle/>
                    <a:p>
                      <a:r>
                        <a:rPr lang="it-IT" dirty="0"/>
                        <a:t>0</a:t>
                      </a:r>
                    </a:p>
                  </a:txBody>
                  <a:tcPr/>
                </a:tc>
                <a:extLst>
                  <a:ext uri="{0D108BD9-81ED-4DB2-BD59-A6C34878D82A}">
                    <a16:rowId xmlns:a16="http://schemas.microsoft.com/office/drawing/2014/main" val="128538737"/>
                  </a:ext>
                </a:extLst>
              </a:tr>
            </a:tbl>
          </a:graphicData>
        </a:graphic>
      </p:graphicFrame>
      <p:sp>
        <p:nvSpPr>
          <p:cNvPr id="8" name="CasellaDiTesto 7">
            <a:extLst>
              <a:ext uri="{FF2B5EF4-FFF2-40B4-BE49-F238E27FC236}">
                <a16:creationId xmlns:a16="http://schemas.microsoft.com/office/drawing/2014/main" id="{5F8356AA-36BF-4D80-A18D-D5B7A32A6353}"/>
              </a:ext>
            </a:extLst>
          </p:cNvPr>
          <p:cNvSpPr txBox="1"/>
          <p:nvPr/>
        </p:nvSpPr>
        <p:spPr>
          <a:xfrm>
            <a:off x="2589210" y="1905000"/>
            <a:ext cx="8345543" cy="369332"/>
          </a:xfrm>
          <a:prstGeom prst="rect">
            <a:avLst/>
          </a:prstGeom>
          <a:noFill/>
        </p:spPr>
        <p:txBody>
          <a:bodyPr wrap="square" rtlCol="0">
            <a:spAutoFit/>
          </a:bodyPr>
          <a:lstStyle/>
          <a:p>
            <a:r>
              <a:rPr lang="it-IT" dirty="0"/>
              <a:t>PAG 3										PAG 2</a:t>
            </a:r>
          </a:p>
        </p:txBody>
      </p:sp>
      <p:sp>
        <p:nvSpPr>
          <p:cNvPr id="3" name="CasellaDiTesto 2">
            <a:extLst>
              <a:ext uri="{FF2B5EF4-FFF2-40B4-BE49-F238E27FC236}">
                <a16:creationId xmlns:a16="http://schemas.microsoft.com/office/drawing/2014/main" id="{C223FF5B-B954-41C0-ADBC-071255C215F3}"/>
              </a:ext>
            </a:extLst>
          </p:cNvPr>
          <p:cNvSpPr txBox="1"/>
          <p:nvPr/>
        </p:nvSpPr>
        <p:spPr>
          <a:xfrm>
            <a:off x="2589210" y="4668253"/>
            <a:ext cx="8345543" cy="369332"/>
          </a:xfrm>
          <a:prstGeom prst="rect">
            <a:avLst/>
          </a:prstGeom>
          <a:noFill/>
        </p:spPr>
        <p:txBody>
          <a:bodyPr wrap="square" rtlCol="0">
            <a:spAutoFit/>
          </a:bodyPr>
          <a:lstStyle/>
          <a:p>
            <a:r>
              <a:rPr lang="it-IT" dirty="0"/>
              <a:t>Pagina da estrarre: Pagina 1, con </a:t>
            </a:r>
            <a:r>
              <a:rPr lang="it-IT"/>
              <a:t>valore binario 0000 </a:t>
            </a:r>
            <a:endParaRPr lang="it-IT" dirty="0"/>
          </a:p>
        </p:txBody>
      </p:sp>
    </p:spTree>
    <p:extLst>
      <p:ext uri="{BB962C8B-B14F-4D97-AF65-F5344CB8AC3E}">
        <p14:creationId xmlns:p14="http://schemas.microsoft.com/office/powerpoint/2010/main" val="78983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(5)</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4057773" cy="3996837"/>
          </a:xfrm>
        </p:spPr>
        <p:txBody>
          <a:bodyPr>
            <a:normAutofit/>
          </a:bodyPr>
          <a:lstStyle/>
          <a:p>
            <a:pPr marL="0" indent="0">
              <a:buNone/>
            </a:pPr>
            <a:r>
              <a:rPr lang="it-IT" b="1" dirty="0">
                <a:latin typeface="+Corpo"/>
              </a:rPr>
              <a:t>6) </a:t>
            </a:r>
            <a:r>
              <a:rPr lang="it-IT" b="1" dirty="0"/>
              <a:t>Usando l’algoritmo di rimpiazzamento delle pagine  WS (</a:t>
            </a:r>
            <a:r>
              <a:rPr lang="it-IT" b="1" i="1" dirty="0" err="1"/>
              <a:t>Working</a:t>
            </a:r>
            <a:r>
              <a:rPr lang="it-IT" b="1" i="1" dirty="0"/>
              <a:t> Set</a:t>
            </a:r>
            <a:r>
              <a:rPr lang="it-IT" b="1" dirty="0"/>
              <a:t>), nel caso in cui la tabella delle pagine sia quella illustrata in figura e </a:t>
            </a:r>
            <a:r>
              <a:rPr lang="el-GR" b="1" dirty="0"/>
              <a:t>τ</a:t>
            </a:r>
            <a:r>
              <a:rPr lang="it-IT" b="1" dirty="0"/>
              <a:t> = 400, quale pagina sarà rimossa?</a:t>
            </a:r>
          </a:p>
          <a:p>
            <a:pPr marL="0" indent="0">
              <a:buNone/>
            </a:pPr>
            <a:r>
              <a:rPr lang="it-IT" b="1" dirty="0"/>
              <a:t>Cosa succederebbe, invece, se l’algoritmo fosse </a:t>
            </a:r>
            <a:r>
              <a:rPr lang="it-IT" b="1" dirty="0" err="1"/>
              <a:t>WSClock</a:t>
            </a:r>
            <a:r>
              <a:rPr lang="it-IT" b="1" dirty="0"/>
              <a:t> e la lancetta puntasse la pagina con ID=E? </a:t>
            </a:r>
          </a:p>
          <a:p>
            <a:pPr marL="0" indent="0">
              <a:buNone/>
            </a:pPr>
            <a:r>
              <a:rPr lang="it-IT" b="1" dirty="0"/>
              <a:t>Si consideri il tempo virtuale corrente = 2204</a:t>
            </a:r>
          </a:p>
          <a:p>
            <a:pPr marL="0" indent="0">
              <a:buNone/>
            </a:pP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A48D5A63-80AB-411E-B02B-8CCF9223F993}"/>
              </a:ext>
            </a:extLst>
          </p:cNvPr>
          <p:cNvGraphicFramePr>
            <a:graphicFrameLocks noGrp="1"/>
          </p:cNvGraphicFramePr>
          <p:nvPr>
            <p:extLst>
              <p:ext uri="{D42A27DB-BD31-4B8C-83A1-F6EECF244321}">
                <p14:modId xmlns:p14="http://schemas.microsoft.com/office/powerpoint/2010/main" val="873758336"/>
              </p:ext>
            </p:extLst>
          </p:nvPr>
        </p:nvGraphicFramePr>
        <p:xfrm>
          <a:off x="7048768" y="2133601"/>
          <a:ext cx="4316412" cy="3291840"/>
        </p:xfrm>
        <a:graphic>
          <a:graphicData uri="http://schemas.openxmlformats.org/drawingml/2006/table">
            <a:tbl>
              <a:tblPr firstRow="1" bandRow="1">
                <a:tableStyleId>{5C22544A-7EE6-4342-B048-85BDC9FD1C3A}</a:tableStyleId>
              </a:tblPr>
              <a:tblGrid>
                <a:gridCol w="1438804">
                  <a:extLst>
                    <a:ext uri="{9D8B030D-6E8A-4147-A177-3AD203B41FA5}">
                      <a16:colId xmlns:a16="http://schemas.microsoft.com/office/drawing/2014/main" val="1676338834"/>
                    </a:ext>
                  </a:extLst>
                </a:gridCol>
                <a:gridCol w="1438804">
                  <a:extLst>
                    <a:ext uri="{9D8B030D-6E8A-4147-A177-3AD203B41FA5}">
                      <a16:colId xmlns:a16="http://schemas.microsoft.com/office/drawing/2014/main" val="2347493426"/>
                    </a:ext>
                  </a:extLst>
                </a:gridCol>
                <a:gridCol w="1438804">
                  <a:extLst>
                    <a:ext uri="{9D8B030D-6E8A-4147-A177-3AD203B41FA5}">
                      <a16:colId xmlns:a16="http://schemas.microsoft.com/office/drawing/2014/main" val="376173612"/>
                    </a:ext>
                  </a:extLst>
                </a:gridCol>
              </a:tblGrid>
              <a:tr h="240974">
                <a:tc>
                  <a:txBody>
                    <a:bodyPr/>
                    <a:lstStyle/>
                    <a:p>
                      <a:r>
                        <a:rPr lang="it-IT" dirty="0"/>
                        <a:t>ID</a:t>
                      </a:r>
                    </a:p>
                  </a:txBody>
                  <a:tcPr/>
                </a:tc>
                <a:tc>
                  <a:txBody>
                    <a:bodyPr/>
                    <a:lstStyle/>
                    <a:p>
                      <a:r>
                        <a:rPr lang="it-IT" dirty="0"/>
                        <a:t>Ultimo uso</a:t>
                      </a:r>
                    </a:p>
                  </a:txBody>
                  <a:tcPr/>
                </a:tc>
                <a:tc>
                  <a:txBody>
                    <a:bodyPr/>
                    <a:lstStyle/>
                    <a:p>
                      <a:r>
                        <a:rPr lang="it-IT" dirty="0"/>
                        <a:t>R</a:t>
                      </a:r>
                    </a:p>
                  </a:txBody>
                  <a:tcPr/>
                </a:tc>
                <a:extLst>
                  <a:ext uri="{0D108BD9-81ED-4DB2-BD59-A6C34878D82A}">
                    <a16:rowId xmlns:a16="http://schemas.microsoft.com/office/drawing/2014/main" val="2680104836"/>
                  </a:ext>
                </a:extLst>
              </a:tr>
              <a:tr h="240974">
                <a:tc>
                  <a:txBody>
                    <a:bodyPr/>
                    <a:lstStyle/>
                    <a:p>
                      <a:r>
                        <a:rPr lang="it-IT" dirty="0"/>
                        <a:t>A</a:t>
                      </a:r>
                    </a:p>
                  </a:txBody>
                  <a:tcPr/>
                </a:tc>
                <a:tc>
                  <a:txBody>
                    <a:bodyPr/>
                    <a:lstStyle/>
                    <a:p>
                      <a:r>
                        <a:rPr lang="it-IT" dirty="0"/>
                        <a:t>1620</a:t>
                      </a:r>
                    </a:p>
                  </a:txBody>
                  <a:tcPr/>
                </a:tc>
                <a:tc>
                  <a:txBody>
                    <a:bodyPr/>
                    <a:lstStyle/>
                    <a:p>
                      <a:r>
                        <a:rPr lang="it-IT" dirty="0"/>
                        <a:t>0</a:t>
                      </a:r>
                    </a:p>
                  </a:txBody>
                  <a:tcPr/>
                </a:tc>
                <a:extLst>
                  <a:ext uri="{0D108BD9-81ED-4DB2-BD59-A6C34878D82A}">
                    <a16:rowId xmlns:a16="http://schemas.microsoft.com/office/drawing/2014/main" val="63169391"/>
                  </a:ext>
                </a:extLst>
              </a:tr>
              <a:tr h="240974">
                <a:tc>
                  <a:txBody>
                    <a:bodyPr/>
                    <a:lstStyle/>
                    <a:p>
                      <a:r>
                        <a:rPr lang="it-IT" dirty="0"/>
                        <a:t>B</a:t>
                      </a:r>
                    </a:p>
                  </a:txBody>
                  <a:tcPr/>
                </a:tc>
                <a:tc>
                  <a:txBody>
                    <a:bodyPr/>
                    <a:lstStyle/>
                    <a:p>
                      <a:r>
                        <a:rPr lang="it-IT" dirty="0"/>
                        <a:t>2032</a:t>
                      </a:r>
                    </a:p>
                  </a:txBody>
                  <a:tcPr/>
                </a:tc>
                <a:tc>
                  <a:txBody>
                    <a:bodyPr/>
                    <a:lstStyle/>
                    <a:p>
                      <a:r>
                        <a:rPr lang="it-IT" dirty="0"/>
                        <a:t>1</a:t>
                      </a:r>
                    </a:p>
                  </a:txBody>
                  <a:tcPr/>
                </a:tc>
                <a:extLst>
                  <a:ext uri="{0D108BD9-81ED-4DB2-BD59-A6C34878D82A}">
                    <a16:rowId xmlns:a16="http://schemas.microsoft.com/office/drawing/2014/main" val="531097592"/>
                  </a:ext>
                </a:extLst>
              </a:tr>
              <a:tr h="240974">
                <a:tc>
                  <a:txBody>
                    <a:bodyPr/>
                    <a:lstStyle/>
                    <a:p>
                      <a:r>
                        <a:rPr lang="it-IT" dirty="0"/>
                        <a:t>C</a:t>
                      </a:r>
                    </a:p>
                  </a:txBody>
                  <a:tcPr/>
                </a:tc>
                <a:tc>
                  <a:txBody>
                    <a:bodyPr/>
                    <a:lstStyle/>
                    <a:p>
                      <a:r>
                        <a:rPr lang="it-IT" dirty="0"/>
                        <a:t>2020</a:t>
                      </a:r>
                    </a:p>
                  </a:txBody>
                  <a:tcPr/>
                </a:tc>
                <a:tc>
                  <a:txBody>
                    <a:bodyPr/>
                    <a:lstStyle/>
                    <a:p>
                      <a:r>
                        <a:rPr lang="it-IT" dirty="0"/>
                        <a:t>1</a:t>
                      </a:r>
                    </a:p>
                  </a:txBody>
                  <a:tcPr/>
                </a:tc>
                <a:extLst>
                  <a:ext uri="{0D108BD9-81ED-4DB2-BD59-A6C34878D82A}">
                    <a16:rowId xmlns:a16="http://schemas.microsoft.com/office/drawing/2014/main" val="1571806519"/>
                  </a:ext>
                </a:extLst>
              </a:tr>
              <a:tr h="240974">
                <a:tc>
                  <a:txBody>
                    <a:bodyPr/>
                    <a:lstStyle/>
                    <a:p>
                      <a:r>
                        <a:rPr lang="it-IT" dirty="0"/>
                        <a:t>D</a:t>
                      </a:r>
                    </a:p>
                  </a:txBody>
                  <a:tcPr/>
                </a:tc>
                <a:tc>
                  <a:txBody>
                    <a:bodyPr/>
                    <a:lstStyle/>
                    <a:p>
                      <a:r>
                        <a:rPr lang="it-IT" dirty="0"/>
                        <a:t>2014</a:t>
                      </a:r>
                    </a:p>
                  </a:txBody>
                  <a:tcPr/>
                </a:tc>
                <a:tc>
                  <a:txBody>
                    <a:bodyPr/>
                    <a:lstStyle/>
                    <a:p>
                      <a:r>
                        <a:rPr lang="it-IT" dirty="0"/>
                        <a:t>1</a:t>
                      </a:r>
                    </a:p>
                  </a:txBody>
                  <a:tcPr/>
                </a:tc>
                <a:extLst>
                  <a:ext uri="{0D108BD9-81ED-4DB2-BD59-A6C34878D82A}">
                    <a16:rowId xmlns:a16="http://schemas.microsoft.com/office/drawing/2014/main" val="2394322332"/>
                  </a:ext>
                </a:extLst>
              </a:tr>
              <a:tr h="240974">
                <a:tc>
                  <a:txBody>
                    <a:bodyPr/>
                    <a:lstStyle/>
                    <a:p>
                      <a:r>
                        <a:rPr lang="it-IT" dirty="0"/>
                        <a:t>E</a:t>
                      </a:r>
                    </a:p>
                  </a:txBody>
                  <a:tcPr/>
                </a:tc>
                <a:tc>
                  <a:txBody>
                    <a:bodyPr/>
                    <a:lstStyle/>
                    <a:p>
                      <a:r>
                        <a:rPr lang="it-IT" dirty="0"/>
                        <a:t>1213</a:t>
                      </a:r>
                    </a:p>
                  </a:txBody>
                  <a:tcPr/>
                </a:tc>
                <a:tc>
                  <a:txBody>
                    <a:bodyPr/>
                    <a:lstStyle/>
                    <a:p>
                      <a:r>
                        <a:rPr lang="it-IT" dirty="0"/>
                        <a:t>0</a:t>
                      </a:r>
                    </a:p>
                  </a:txBody>
                  <a:tcPr/>
                </a:tc>
                <a:extLst>
                  <a:ext uri="{0D108BD9-81ED-4DB2-BD59-A6C34878D82A}">
                    <a16:rowId xmlns:a16="http://schemas.microsoft.com/office/drawing/2014/main" val="3199381466"/>
                  </a:ext>
                </a:extLst>
              </a:tr>
              <a:tr h="240974">
                <a:tc>
                  <a:txBody>
                    <a:bodyPr/>
                    <a:lstStyle/>
                    <a:p>
                      <a:r>
                        <a:rPr lang="it-IT" dirty="0"/>
                        <a:t>F</a:t>
                      </a:r>
                    </a:p>
                  </a:txBody>
                  <a:tcPr/>
                </a:tc>
                <a:tc>
                  <a:txBody>
                    <a:bodyPr/>
                    <a:lstStyle/>
                    <a:p>
                      <a:r>
                        <a:rPr lang="it-IT" dirty="0"/>
                        <a:t>1980</a:t>
                      </a:r>
                    </a:p>
                  </a:txBody>
                  <a:tcPr/>
                </a:tc>
                <a:tc>
                  <a:txBody>
                    <a:bodyPr/>
                    <a:lstStyle/>
                    <a:p>
                      <a:r>
                        <a:rPr lang="it-IT" dirty="0"/>
                        <a:t>1</a:t>
                      </a:r>
                    </a:p>
                  </a:txBody>
                  <a:tcPr/>
                </a:tc>
                <a:extLst>
                  <a:ext uri="{0D108BD9-81ED-4DB2-BD59-A6C34878D82A}">
                    <a16:rowId xmlns:a16="http://schemas.microsoft.com/office/drawing/2014/main" val="3118330428"/>
                  </a:ext>
                </a:extLst>
              </a:tr>
              <a:tr h="240974">
                <a:tc>
                  <a:txBody>
                    <a:bodyPr/>
                    <a:lstStyle/>
                    <a:p>
                      <a:r>
                        <a:rPr lang="it-IT" dirty="0"/>
                        <a:t>G</a:t>
                      </a:r>
                    </a:p>
                  </a:txBody>
                  <a:tcPr/>
                </a:tc>
                <a:tc>
                  <a:txBody>
                    <a:bodyPr/>
                    <a:lstStyle/>
                    <a:p>
                      <a:r>
                        <a:rPr lang="it-IT" dirty="0"/>
                        <a:t>2003</a:t>
                      </a:r>
                    </a:p>
                  </a:txBody>
                  <a:tcPr/>
                </a:tc>
                <a:tc>
                  <a:txBody>
                    <a:bodyPr/>
                    <a:lstStyle/>
                    <a:p>
                      <a:r>
                        <a:rPr lang="it-IT" dirty="0"/>
                        <a:t>1</a:t>
                      </a:r>
                    </a:p>
                  </a:txBody>
                  <a:tcPr/>
                </a:tc>
                <a:extLst>
                  <a:ext uri="{0D108BD9-81ED-4DB2-BD59-A6C34878D82A}">
                    <a16:rowId xmlns:a16="http://schemas.microsoft.com/office/drawing/2014/main" val="3176620430"/>
                  </a:ext>
                </a:extLst>
              </a:tr>
              <a:tr h="240974">
                <a:tc>
                  <a:txBody>
                    <a:bodyPr/>
                    <a:lstStyle/>
                    <a:p>
                      <a:r>
                        <a:rPr lang="it-IT" dirty="0"/>
                        <a:t>H</a:t>
                      </a:r>
                    </a:p>
                  </a:txBody>
                  <a:tcPr/>
                </a:tc>
                <a:tc>
                  <a:txBody>
                    <a:bodyPr/>
                    <a:lstStyle/>
                    <a:p>
                      <a:r>
                        <a:rPr lang="it-IT" dirty="0"/>
                        <a:t>2084</a:t>
                      </a:r>
                    </a:p>
                  </a:txBody>
                  <a:tcPr/>
                </a:tc>
                <a:tc>
                  <a:txBody>
                    <a:bodyPr/>
                    <a:lstStyle/>
                    <a:p>
                      <a:r>
                        <a:rPr lang="it-IT" dirty="0"/>
                        <a:t>1</a:t>
                      </a:r>
                    </a:p>
                  </a:txBody>
                  <a:tcPr/>
                </a:tc>
                <a:extLst>
                  <a:ext uri="{0D108BD9-81ED-4DB2-BD59-A6C34878D82A}">
                    <a16:rowId xmlns:a16="http://schemas.microsoft.com/office/drawing/2014/main" val="2567815814"/>
                  </a:ext>
                </a:extLst>
              </a:tr>
            </a:tbl>
          </a:graphicData>
        </a:graphic>
      </p:graphicFrame>
    </p:spTree>
    <p:extLst>
      <p:ext uri="{BB962C8B-B14F-4D97-AF65-F5344CB8AC3E}">
        <p14:creationId xmlns:p14="http://schemas.microsoft.com/office/powerpoint/2010/main" val="2542144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(5) - Soluzioni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a:t>WS</a:t>
            </a:r>
            <a:r>
              <a:rPr lang="it-IT" dirty="0"/>
              <a:t> (</a:t>
            </a:r>
            <a:r>
              <a:rPr lang="it-IT" i="1" dirty="0" err="1"/>
              <a:t>Working</a:t>
            </a:r>
            <a:r>
              <a:rPr lang="it-IT" i="1" dirty="0"/>
              <a:t> Set</a:t>
            </a:r>
            <a:r>
              <a:rPr lang="it-IT" dirty="0"/>
              <a:t>):</a:t>
            </a:r>
          </a:p>
          <a:p>
            <a:pPr lvl="1"/>
            <a:r>
              <a:rPr lang="it-IT" dirty="0"/>
              <a:t>M e R gestiti come visto in precedenza, R azzerato ad ogni </a:t>
            </a:r>
            <a:r>
              <a:rPr lang="it-IT" dirty="0" err="1"/>
              <a:t>tick</a:t>
            </a:r>
            <a:r>
              <a:rPr lang="it-IT" dirty="0"/>
              <a:t> del clock</a:t>
            </a:r>
          </a:p>
          <a:p>
            <a:pPr lvl="1"/>
            <a:r>
              <a:rPr lang="el-GR" dirty="0"/>
              <a:t>τ</a:t>
            </a:r>
            <a:r>
              <a:rPr lang="it-IT" dirty="0"/>
              <a:t> misura tempo di non utilizzo necessario per essere considerati fuori dal </a:t>
            </a:r>
            <a:r>
              <a:rPr lang="it-IT" dirty="0" err="1"/>
              <a:t>working</a:t>
            </a:r>
            <a:r>
              <a:rPr lang="it-IT" dirty="0"/>
              <a:t> set</a:t>
            </a:r>
          </a:p>
          <a:p>
            <a:pPr lvl="1"/>
            <a:r>
              <a:rPr lang="it-IT" dirty="0"/>
              <a:t>Analizzata tutta tabella pagine:</a:t>
            </a:r>
          </a:p>
          <a:p>
            <a:pPr lvl="2"/>
            <a:r>
              <a:rPr lang="it-IT" dirty="0"/>
              <a:t>Se R=1, pagina non candidata a rimozione,</a:t>
            </a:r>
          </a:p>
          <a:p>
            <a:pPr lvl="2"/>
            <a:r>
              <a:rPr lang="it-IT" dirty="0"/>
              <a:t>Se R=0, si calcola età: tempo virtuale corrente – ultimo tempo di utilizzo</a:t>
            </a:r>
          </a:p>
          <a:p>
            <a:pPr lvl="2"/>
            <a:r>
              <a:rPr lang="it-IT" dirty="0"/>
              <a:t>Se R = 0 e età &gt; </a:t>
            </a:r>
            <a:r>
              <a:rPr lang="el-GR" dirty="0"/>
              <a:t>τ</a:t>
            </a:r>
            <a:r>
              <a:rPr lang="it-IT" dirty="0"/>
              <a:t>, pagina rimpiazzata e continua aggiornamento</a:t>
            </a:r>
          </a:p>
          <a:p>
            <a:pPr lvl="2"/>
            <a:r>
              <a:rPr lang="it-IT" dirty="0"/>
              <a:t>Se R = 0 e età &lt; </a:t>
            </a:r>
            <a:r>
              <a:rPr lang="el-GR" dirty="0"/>
              <a:t>τ</a:t>
            </a:r>
            <a:r>
              <a:rPr lang="it-IT" dirty="0"/>
              <a:t>, pagina con età maggiore segnata. Se nessuna pagina capita in caso precedente, rimpiazzata quella con età maggiore.</a:t>
            </a:r>
          </a:p>
          <a:p>
            <a:pPr lvl="1"/>
            <a:r>
              <a:rPr lang="it-IT" dirty="0"/>
              <a:t>Se nessuna pagina rimpiazzabile (tutte con R=1), rimpiazza una a caso.</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3218974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(5) - Soluzioni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4057773" cy="3757301"/>
          </a:xfrm>
        </p:spPr>
        <p:txBody>
          <a:bodyPr>
            <a:normAutofit lnSpcReduction="10000"/>
          </a:bodyPr>
          <a:lstStyle/>
          <a:p>
            <a:r>
              <a:rPr lang="it-IT" dirty="0"/>
              <a:t>A: età = 2204-1620 = 584 &gt; </a:t>
            </a:r>
            <a:r>
              <a:rPr lang="el-GR" dirty="0"/>
              <a:t>τ</a:t>
            </a:r>
            <a:endParaRPr lang="it-IT" dirty="0"/>
          </a:p>
          <a:p>
            <a:r>
              <a:rPr lang="it-IT" dirty="0"/>
              <a:t>B: R=1</a:t>
            </a:r>
          </a:p>
          <a:p>
            <a:r>
              <a:rPr lang="it-IT" dirty="0"/>
              <a:t>C: R=1</a:t>
            </a:r>
          </a:p>
          <a:p>
            <a:r>
              <a:rPr lang="it-IT" dirty="0"/>
              <a:t>D: R=1</a:t>
            </a:r>
          </a:p>
          <a:p>
            <a:r>
              <a:rPr lang="it-IT" dirty="0"/>
              <a:t>E: età = 2204 – 1213 = 991 &gt; </a:t>
            </a:r>
            <a:r>
              <a:rPr lang="el-GR" dirty="0"/>
              <a:t>τ</a:t>
            </a:r>
            <a:endParaRPr lang="it-IT" dirty="0"/>
          </a:p>
          <a:p>
            <a:r>
              <a:rPr lang="it-IT" dirty="0"/>
              <a:t>F: R=1</a:t>
            </a:r>
          </a:p>
          <a:p>
            <a:r>
              <a:rPr lang="it-IT" dirty="0"/>
              <a:t>G: R=1</a:t>
            </a:r>
          </a:p>
          <a:p>
            <a:r>
              <a:rPr lang="it-IT" dirty="0"/>
              <a:t>H: R=1</a:t>
            </a:r>
          </a:p>
          <a:p>
            <a:pPr marL="0" indent="0">
              <a:buNone/>
            </a:pPr>
            <a:r>
              <a:rPr lang="it-IT" dirty="0"/>
              <a:t>Rimuovo A: prima incontrata fuori da WS.</a:t>
            </a:r>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A48D5A63-80AB-411E-B02B-8CCF9223F993}"/>
              </a:ext>
            </a:extLst>
          </p:cNvPr>
          <p:cNvGraphicFramePr>
            <a:graphicFrameLocks noGrp="1"/>
          </p:cNvGraphicFramePr>
          <p:nvPr/>
        </p:nvGraphicFramePr>
        <p:xfrm>
          <a:off x="7048768" y="2133601"/>
          <a:ext cx="4316412" cy="3291840"/>
        </p:xfrm>
        <a:graphic>
          <a:graphicData uri="http://schemas.openxmlformats.org/drawingml/2006/table">
            <a:tbl>
              <a:tblPr firstRow="1" bandRow="1">
                <a:tableStyleId>{5C22544A-7EE6-4342-B048-85BDC9FD1C3A}</a:tableStyleId>
              </a:tblPr>
              <a:tblGrid>
                <a:gridCol w="1438804">
                  <a:extLst>
                    <a:ext uri="{9D8B030D-6E8A-4147-A177-3AD203B41FA5}">
                      <a16:colId xmlns:a16="http://schemas.microsoft.com/office/drawing/2014/main" val="1676338834"/>
                    </a:ext>
                  </a:extLst>
                </a:gridCol>
                <a:gridCol w="1438804">
                  <a:extLst>
                    <a:ext uri="{9D8B030D-6E8A-4147-A177-3AD203B41FA5}">
                      <a16:colId xmlns:a16="http://schemas.microsoft.com/office/drawing/2014/main" val="2347493426"/>
                    </a:ext>
                  </a:extLst>
                </a:gridCol>
                <a:gridCol w="1438804">
                  <a:extLst>
                    <a:ext uri="{9D8B030D-6E8A-4147-A177-3AD203B41FA5}">
                      <a16:colId xmlns:a16="http://schemas.microsoft.com/office/drawing/2014/main" val="376173612"/>
                    </a:ext>
                  </a:extLst>
                </a:gridCol>
              </a:tblGrid>
              <a:tr h="240974">
                <a:tc>
                  <a:txBody>
                    <a:bodyPr/>
                    <a:lstStyle/>
                    <a:p>
                      <a:r>
                        <a:rPr lang="it-IT" dirty="0"/>
                        <a:t>ID</a:t>
                      </a:r>
                    </a:p>
                  </a:txBody>
                  <a:tcPr/>
                </a:tc>
                <a:tc>
                  <a:txBody>
                    <a:bodyPr/>
                    <a:lstStyle/>
                    <a:p>
                      <a:r>
                        <a:rPr lang="it-IT" dirty="0"/>
                        <a:t>Ultimo uso</a:t>
                      </a:r>
                    </a:p>
                  </a:txBody>
                  <a:tcPr/>
                </a:tc>
                <a:tc>
                  <a:txBody>
                    <a:bodyPr/>
                    <a:lstStyle/>
                    <a:p>
                      <a:r>
                        <a:rPr lang="it-IT" dirty="0"/>
                        <a:t>R</a:t>
                      </a:r>
                    </a:p>
                  </a:txBody>
                  <a:tcPr/>
                </a:tc>
                <a:extLst>
                  <a:ext uri="{0D108BD9-81ED-4DB2-BD59-A6C34878D82A}">
                    <a16:rowId xmlns:a16="http://schemas.microsoft.com/office/drawing/2014/main" val="2680104836"/>
                  </a:ext>
                </a:extLst>
              </a:tr>
              <a:tr h="240974">
                <a:tc>
                  <a:txBody>
                    <a:bodyPr/>
                    <a:lstStyle/>
                    <a:p>
                      <a:r>
                        <a:rPr lang="it-IT" dirty="0"/>
                        <a:t>A</a:t>
                      </a:r>
                    </a:p>
                  </a:txBody>
                  <a:tcPr/>
                </a:tc>
                <a:tc>
                  <a:txBody>
                    <a:bodyPr/>
                    <a:lstStyle/>
                    <a:p>
                      <a:r>
                        <a:rPr lang="it-IT" dirty="0"/>
                        <a:t>1620</a:t>
                      </a:r>
                    </a:p>
                  </a:txBody>
                  <a:tcPr/>
                </a:tc>
                <a:tc>
                  <a:txBody>
                    <a:bodyPr/>
                    <a:lstStyle/>
                    <a:p>
                      <a:r>
                        <a:rPr lang="it-IT" dirty="0"/>
                        <a:t>0</a:t>
                      </a:r>
                    </a:p>
                  </a:txBody>
                  <a:tcPr/>
                </a:tc>
                <a:extLst>
                  <a:ext uri="{0D108BD9-81ED-4DB2-BD59-A6C34878D82A}">
                    <a16:rowId xmlns:a16="http://schemas.microsoft.com/office/drawing/2014/main" val="63169391"/>
                  </a:ext>
                </a:extLst>
              </a:tr>
              <a:tr h="240974">
                <a:tc>
                  <a:txBody>
                    <a:bodyPr/>
                    <a:lstStyle/>
                    <a:p>
                      <a:r>
                        <a:rPr lang="it-IT" dirty="0"/>
                        <a:t>B</a:t>
                      </a:r>
                    </a:p>
                  </a:txBody>
                  <a:tcPr/>
                </a:tc>
                <a:tc>
                  <a:txBody>
                    <a:bodyPr/>
                    <a:lstStyle/>
                    <a:p>
                      <a:r>
                        <a:rPr lang="it-IT" dirty="0"/>
                        <a:t>2032</a:t>
                      </a:r>
                    </a:p>
                  </a:txBody>
                  <a:tcPr/>
                </a:tc>
                <a:tc>
                  <a:txBody>
                    <a:bodyPr/>
                    <a:lstStyle/>
                    <a:p>
                      <a:r>
                        <a:rPr lang="it-IT" dirty="0"/>
                        <a:t>1</a:t>
                      </a:r>
                    </a:p>
                  </a:txBody>
                  <a:tcPr/>
                </a:tc>
                <a:extLst>
                  <a:ext uri="{0D108BD9-81ED-4DB2-BD59-A6C34878D82A}">
                    <a16:rowId xmlns:a16="http://schemas.microsoft.com/office/drawing/2014/main" val="531097592"/>
                  </a:ext>
                </a:extLst>
              </a:tr>
              <a:tr h="240974">
                <a:tc>
                  <a:txBody>
                    <a:bodyPr/>
                    <a:lstStyle/>
                    <a:p>
                      <a:r>
                        <a:rPr lang="it-IT" dirty="0"/>
                        <a:t>C</a:t>
                      </a:r>
                    </a:p>
                  </a:txBody>
                  <a:tcPr/>
                </a:tc>
                <a:tc>
                  <a:txBody>
                    <a:bodyPr/>
                    <a:lstStyle/>
                    <a:p>
                      <a:r>
                        <a:rPr lang="it-IT" dirty="0"/>
                        <a:t>2020</a:t>
                      </a:r>
                    </a:p>
                  </a:txBody>
                  <a:tcPr/>
                </a:tc>
                <a:tc>
                  <a:txBody>
                    <a:bodyPr/>
                    <a:lstStyle/>
                    <a:p>
                      <a:r>
                        <a:rPr lang="it-IT" dirty="0"/>
                        <a:t>1</a:t>
                      </a:r>
                    </a:p>
                  </a:txBody>
                  <a:tcPr/>
                </a:tc>
                <a:extLst>
                  <a:ext uri="{0D108BD9-81ED-4DB2-BD59-A6C34878D82A}">
                    <a16:rowId xmlns:a16="http://schemas.microsoft.com/office/drawing/2014/main" val="1571806519"/>
                  </a:ext>
                </a:extLst>
              </a:tr>
              <a:tr h="240974">
                <a:tc>
                  <a:txBody>
                    <a:bodyPr/>
                    <a:lstStyle/>
                    <a:p>
                      <a:r>
                        <a:rPr lang="it-IT" dirty="0"/>
                        <a:t>D</a:t>
                      </a:r>
                    </a:p>
                  </a:txBody>
                  <a:tcPr/>
                </a:tc>
                <a:tc>
                  <a:txBody>
                    <a:bodyPr/>
                    <a:lstStyle/>
                    <a:p>
                      <a:r>
                        <a:rPr lang="it-IT" dirty="0"/>
                        <a:t>2014</a:t>
                      </a:r>
                    </a:p>
                  </a:txBody>
                  <a:tcPr/>
                </a:tc>
                <a:tc>
                  <a:txBody>
                    <a:bodyPr/>
                    <a:lstStyle/>
                    <a:p>
                      <a:r>
                        <a:rPr lang="it-IT" dirty="0"/>
                        <a:t>1</a:t>
                      </a:r>
                    </a:p>
                  </a:txBody>
                  <a:tcPr/>
                </a:tc>
                <a:extLst>
                  <a:ext uri="{0D108BD9-81ED-4DB2-BD59-A6C34878D82A}">
                    <a16:rowId xmlns:a16="http://schemas.microsoft.com/office/drawing/2014/main" val="2394322332"/>
                  </a:ext>
                </a:extLst>
              </a:tr>
              <a:tr h="240974">
                <a:tc>
                  <a:txBody>
                    <a:bodyPr/>
                    <a:lstStyle/>
                    <a:p>
                      <a:r>
                        <a:rPr lang="it-IT" dirty="0"/>
                        <a:t>E</a:t>
                      </a:r>
                    </a:p>
                  </a:txBody>
                  <a:tcPr/>
                </a:tc>
                <a:tc>
                  <a:txBody>
                    <a:bodyPr/>
                    <a:lstStyle/>
                    <a:p>
                      <a:r>
                        <a:rPr lang="it-IT" dirty="0"/>
                        <a:t>1213</a:t>
                      </a:r>
                    </a:p>
                  </a:txBody>
                  <a:tcPr/>
                </a:tc>
                <a:tc>
                  <a:txBody>
                    <a:bodyPr/>
                    <a:lstStyle/>
                    <a:p>
                      <a:r>
                        <a:rPr lang="it-IT" dirty="0"/>
                        <a:t>0</a:t>
                      </a:r>
                    </a:p>
                  </a:txBody>
                  <a:tcPr/>
                </a:tc>
                <a:extLst>
                  <a:ext uri="{0D108BD9-81ED-4DB2-BD59-A6C34878D82A}">
                    <a16:rowId xmlns:a16="http://schemas.microsoft.com/office/drawing/2014/main" val="3199381466"/>
                  </a:ext>
                </a:extLst>
              </a:tr>
              <a:tr h="240974">
                <a:tc>
                  <a:txBody>
                    <a:bodyPr/>
                    <a:lstStyle/>
                    <a:p>
                      <a:r>
                        <a:rPr lang="it-IT" dirty="0"/>
                        <a:t>F</a:t>
                      </a:r>
                    </a:p>
                  </a:txBody>
                  <a:tcPr/>
                </a:tc>
                <a:tc>
                  <a:txBody>
                    <a:bodyPr/>
                    <a:lstStyle/>
                    <a:p>
                      <a:r>
                        <a:rPr lang="it-IT" dirty="0"/>
                        <a:t>1980</a:t>
                      </a:r>
                    </a:p>
                  </a:txBody>
                  <a:tcPr/>
                </a:tc>
                <a:tc>
                  <a:txBody>
                    <a:bodyPr/>
                    <a:lstStyle/>
                    <a:p>
                      <a:r>
                        <a:rPr lang="it-IT" dirty="0"/>
                        <a:t>1</a:t>
                      </a:r>
                    </a:p>
                  </a:txBody>
                  <a:tcPr/>
                </a:tc>
                <a:extLst>
                  <a:ext uri="{0D108BD9-81ED-4DB2-BD59-A6C34878D82A}">
                    <a16:rowId xmlns:a16="http://schemas.microsoft.com/office/drawing/2014/main" val="3118330428"/>
                  </a:ext>
                </a:extLst>
              </a:tr>
              <a:tr h="240974">
                <a:tc>
                  <a:txBody>
                    <a:bodyPr/>
                    <a:lstStyle/>
                    <a:p>
                      <a:r>
                        <a:rPr lang="it-IT" dirty="0"/>
                        <a:t>G</a:t>
                      </a:r>
                    </a:p>
                  </a:txBody>
                  <a:tcPr/>
                </a:tc>
                <a:tc>
                  <a:txBody>
                    <a:bodyPr/>
                    <a:lstStyle/>
                    <a:p>
                      <a:r>
                        <a:rPr lang="it-IT" dirty="0"/>
                        <a:t>2003</a:t>
                      </a:r>
                    </a:p>
                  </a:txBody>
                  <a:tcPr/>
                </a:tc>
                <a:tc>
                  <a:txBody>
                    <a:bodyPr/>
                    <a:lstStyle/>
                    <a:p>
                      <a:r>
                        <a:rPr lang="it-IT" dirty="0"/>
                        <a:t>1</a:t>
                      </a:r>
                    </a:p>
                  </a:txBody>
                  <a:tcPr/>
                </a:tc>
                <a:extLst>
                  <a:ext uri="{0D108BD9-81ED-4DB2-BD59-A6C34878D82A}">
                    <a16:rowId xmlns:a16="http://schemas.microsoft.com/office/drawing/2014/main" val="3176620430"/>
                  </a:ext>
                </a:extLst>
              </a:tr>
              <a:tr h="240974">
                <a:tc>
                  <a:txBody>
                    <a:bodyPr/>
                    <a:lstStyle/>
                    <a:p>
                      <a:r>
                        <a:rPr lang="it-IT" dirty="0"/>
                        <a:t>H</a:t>
                      </a:r>
                    </a:p>
                  </a:txBody>
                  <a:tcPr/>
                </a:tc>
                <a:tc>
                  <a:txBody>
                    <a:bodyPr/>
                    <a:lstStyle/>
                    <a:p>
                      <a:r>
                        <a:rPr lang="it-IT" dirty="0"/>
                        <a:t>2084</a:t>
                      </a:r>
                    </a:p>
                  </a:txBody>
                  <a:tcPr/>
                </a:tc>
                <a:tc>
                  <a:txBody>
                    <a:bodyPr/>
                    <a:lstStyle/>
                    <a:p>
                      <a:r>
                        <a:rPr lang="it-IT" dirty="0"/>
                        <a:t>1</a:t>
                      </a:r>
                    </a:p>
                  </a:txBody>
                  <a:tcPr/>
                </a:tc>
                <a:extLst>
                  <a:ext uri="{0D108BD9-81ED-4DB2-BD59-A6C34878D82A}">
                    <a16:rowId xmlns:a16="http://schemas.microsoft.com/office/drawing/2014/main" val="2567815814"/>
                  </a:ext>
                </a:extLst>
              </a:tr>
            </a:tbl>
          </a:graphicData>
        </a:graphic>
      </p:graphicFrame>
      <p:sp>
        <p:nvSpPr>
          <p:cNvPr id="5" name="CasellaDiTesto 4">
            <a:extLst>
              <a:ext uri="{FF2B5EF4-FFF2-40B4-BE49-F238E27FC236}">
                <a16:creationId xmlns:a16="http://schemas.microsoft.com/office/drawing/2014/main" id="{B32E83ED-A5B1-42BC-B3B6-8CD867A15D6A}"/>
              </a:ext>
            </a:extLst>
          </p:cNvPr>
          <p:cNvSpPr txBox="1"/>
          <p:nvPr/>
        </p:nvSpPr>
        <p:spPr>
          <a:xfrm>
            <a:off x="7048768" y="5521569"/>
            <a:ext cx="4316412" cy="369332"/>
          </a:xfrm>
          <a:prstGeom prst="rect">
            <a:avLst/>
          </a:prstGeom>
          <a:noFill/>
        </p:spPr>
        <p:txBody>
          <a:bodyPr wrap="square" rtlCol="0">
            <a:spAutoFit/>
          </a:bodyPr>
          <a:lstStyle/>
          <a:p>
            <a:r>
              <a:rPr lang="it-IT" dirty="0"/>
              <a:t>Tempo virtuale corrente = 2204</a:t>
            </a:r>
          </a:p>
        </p:txBody>
      </p:sp>
    </p:spTree>
    <p:extLst>
      <p:ext uri="{BB962C8B-B14F-4D97-AF65-F5344CB8AC3E}">
        <p14:creationId xmlns:p14="http://schemas.microsoft.com/office/powerpoint/2010/main" val="3595280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(5) - Soluzioni (3)</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err="1"/>
              <a:t>WSClock</a:t>
            </a:r>
            <a:r>
              <a:rPr lang="it-IT" dirty="0"/>
              <a:t> (</a:t>
            </a:r>
            <a:r>
              <a:rPr lang="it-IT" i="1" dirty="0" err="1"/>
              <a:t>Working</a:t>
            </a:r>
            <a:r>
              <a:rPr lang="it-IT" i="1" dirty="0"/>
              <a:t> Set</a:t>
            </a:r>
            <a:r>
              <a:rPr lang="it-IT" dirty="0"/>
              <a:t>):</a:t>
            </a:r>
          </a:p>
          <a:p>
            <a:pPr lvl="1"/>
            <a:r>
              <a:rPr lang="it-IT" dirty="0"/>
              <a:t>Deriva da WS e da algoritmo orologio</a:t>
            </a:r>
          </a:p>
          <a:p>
            <a:pPr lvl="1"/>
            <a:r>
              <a:rPr lang="it-IT" dirty="0"/>
              <a:t>Lista circolare con ‘lancetta’</a:t>
            </a:r>
          </a:p>
          <a:p>
            <a:pPr lvl="1"/>
            <a:r>
              <a:rPr lang="it-IT" dirty="0"/>
              <a:t>Se lancetta punta pagina con R=1, pone R=0 e va avanti</a:t>
            </a:r>
          </a:p>
          <a:p>
            <a:pPr lvl="1"/>
            <a:r>
              <a:rPr lang="it-IT" dirty="0"/>
              <a:t>Se lancetta punta pagina con R=0 e età &gt; </a:t>
            </a:r>
            <a:r>
              <a:rPr lang="el-GR" dirty="0"/>
              <a:t>τ</a:t>
            </a:r>
            <a:r>
              <a:rPr lang="it-IT" dirty="0"/>
              <a:t>, pagina rilasciata</a:t>
            </a:r>
          </a:p>
          <a:p>
            <a:pPr lvl="1"/>
            <a:r>
              <a:rPr lang="it-IT" dirty="0"/>
              <a:t>Altrimenti, pagina schedulata per scrittura su disco</a:t>
            </a:r>
          </a:p>
          <a:p>
            <a:pPr lvl="1"/>
            <a:r>
              <a:rPr lang="it-IT" dirty="0"/>
              <a:t>Se si torna a punto di partenza,  si rimuove prima pagina disponibile che si incontra (quando esiste almeno una pagina schedulata)</a:t>
            </a:r>
          </a:p>
          <a:p>
            <a:pPr lvl="1"/>
            <a:r>
              <a:rPr lang="it-IT" dirty="0"/>
              <a:t>Se non c’è nessuna pagina schedulata, si rimuove la pagina successiva</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967883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(5) - Soluzioni (4)</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4057773" cy="3757301"/>
          </a:xfrm>
        </p:spPr>
        <p:txBody>
          <a:bodyPr>
            <a:normAutofit/>
          </a:bodyPr>
          <a:lstStyle/>
          <a:p>
            <a:r>
              <a:rPr lang="el-GR" dirty="0"/>
              <a:t>τ</a:t>
            </a:r>
            <a:r>
              <a:rPr lang="it-IT" dirty="0"/>
              <a:t> = 400: Rimuovo immediatamente la prima pagina.</a:t>
            </a:r>
          </a:p>
          <a:p>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
        <p:nvSpPr>
          <p:cNvPr id="5" name="CasellaDiTesto 4">
            <a:extLst>
              <a:ext uri="{FF2B5EF4-FFF2-40B4-BE49-F238E27FC236}">
                <a16:creationId xmlns:a16="http://schemas.microsoft.com/office/drawing/2014/main" id="{B32E83ED-A5B1-42BC-B3B6-8CD867A15D6A}"/>
              </a:ext>
            </a:extLst>
          </p:cNvPr>
          <p:cNvSpPr txBox="1"/>
          <p:nvPr/>
        </p:nvSpPr>
        <p:spPr>
          <a:xfrm>
            <a:off x="7048768" y="5521569"/>
            <a:ext cx="4316412" cy="369332"/>
          </a:xfrm>
          <a:prstGeom prst="rect">
            <a:avLst/>
          </a:prstGeom>
          <a:noFill/>
        </p:spPr>
        <p:txBody>
          <a:bodyPr wrap="square" rtlCol="0">
            <a:spAutoFit/>
          </a:bodyPr>
          <a:lstStyle/>
          <a:p>
            <a:r>
              <a:rPr lang="it-IT" dirty="0"/>
              <a:t>Tempo virtuale corrente = 2204</a:t>
            </a:r>
          </a:p>
        </p:txBody>
      </p:sp>
      <p:pic>
        <p:nvPicPr>
          <p:cNvPr id="7" name="Immagine 6">
            <a:extLst>
              <a:ext uri="{FF2B5EF4-FFF2-40B4-BE49-F238E27FC236}">
                <a16:creationId xmlns:a16="http://schemas.microsoft.com/office/drawing/2014/main" id="{9D7F6A8A-E64C-4975-B4FC-CAF01ED49851}"/>
              </a:ext>
            </a:extLst>
          </p:cNvPr>
          <p:cNvPicPr>
            <a:picLocks noChangeAspect="1"/>
          </p:cNvPicPr>
          <p:nvPr/>
        </p:nvPicPr>
        <p:blipFill>
          <a:blip r:embed="rId2"/>
          <a:stretch>
            <a:fillRect/>
          </a:stretch>
        </p:blipFill>
        <p:spPr>
          <a:xfrm>
            <a:off x="7328323" y="1834634"/>
            <a:ext cx="3757301" cy="3757301"/>
          </a:xfrm>
          <a:prstGeom prst="rect">
            <a:avLst/>
          </a:prstGeom>
        </p:spPr>
      </p:pic>
    </p:spTree>
    <p:extLst>
      <p:ext uri="{BB962C8B-B14F-4D97-AF65-F5344CB8AC3E}">
        <p14:creationId xmlns:p14="http://schemas.microsoft.com/office/powerpoint/2010/main" val="3027312363"/>
      </p:ext>
    </p:extLst>
  </p:cSld>
  <p:clrMapOvr>
    <a:masterClrMapping/>
  </p:clrMapOvr>
</p:sld>
</file>

<file path=ppt/theme/theme1.xml><?xml version="1.0" encoding="utf-8"?>
<a:theme xmlns:a="http://schemas.openxmlformats.org/drawingml/2006/main" name="Filo">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3034</TotalTime>
  <Words>1623</Words>
  <Application>Microsoft Office PowerPoint</Application>
  <PresentationFormat>Widescreen</PresentationFormat>
  <Paragraphs>521</Paragraphs>
  <Slides>25</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25</vt:i4>
      </vt:variant>
    </vt:vector>
  </HeadingPairs>
  <TitlesOfParts>
    <vt:vector size="32" baseType="lpstr">
      <vt:lpstr>+Corpo</vt:lpstr>
      <vt:lpstr>Arial</vt:lpstr>
      <vt:lpstr>Calibri</vt:lpstr>
      <vt:lpstr>Century Gothic</vt:lpstr>
      <vt:lpstr>Times New Roman, serif</vt:lpstr>
      <vt:lpstr>Wingdings 3</vt:lpstr>
      <vt:lpstr>Filo</vt:lpstr>
      <vt:lpstr>ESERCITAZIONE 8 - Soluzioni</vt:lpstr>
      <vt:lpstr>Algoritmi di rimpiazzamento delle pagine</vt:lpstr>
      <vt:lpstr>Algoritmi di rimpiazzamento delle pagine (1)</vt:lpstr>
      <vt:lpstr>Algoritmi di rimpiazzamento delle pagine (1)- Soluzioni (1)</vt:lpstr>
      <vt:lpstr>Algoritmi di rimpiazzamento delle pagine (1) - Soluzioni (2)</vt:lpstr>
      <vt:lpstr>Algoritmi di rimpiazzamento delle pagine (1) - Soluzioni (3)</vt:lpstr>
      <vt:lpstr>Algoritmi di rimpiazzamento delle pagine (1) - Soluzioni (4)</vt:lpstr>
      <vt:lpstr>Algoritmi di rimpiazzamento delle pagine (2)</vt:lpstr>
      <vt:lpstr>Algoritmi di rimpiazzamento delle pagine (2) - Soluzioni (1)</vt:lpstr>
      <vt:lpstr>Algoritmi di rimpiazzamento delle pagine (2) - Soluzioni (2)</vt:lpstr>
      <vt:lpstr>Algoritmi di rimpiazzamento delle pagine (3)</vt:lpstr>
      <vt:lpstr>Algoritmi di rimpiazzamento delle pagine (3) - Soluzioni (1)</vt:lpstr>
      <vt:lpstr>Algoritmi di rimpiazzamento delle pagine (3) - Soluzioni (2)</vt:lpstr>
      <vt:lpstr>Algoritmi di rimpiazzamento delle pagine (4)</vt:lpstr>
      <vt:lpstr>Algoritmi di rimpiazzamento delle pagine (4) - Soluzioni (1)</vt:lpstr>
      <vt:lpstr>Algoritmi di rimpiazzamento delle pagine (4) - Soluzioni (2)</vt:lpstr>
      <vt:lpstr>Algoritmi di rimpiazzamento delle pagine (4) - Soluzioni (3)</vt:lpstr>
      <vt:lpstr>Algoritmi di rimpiazzamento delle pagine (4) - Soluzioni (4)</vt:lpstr>
      <vt:lpstr>Algoritmi di rimpiazzamento delle pagine (4) - Soluzioni (5)</vt:lpstr>
      <vt:lpstr>Algoritmi di rimpiazzamento delle pagine (4) - Soluzioni (6)</vt:lpstr>
      <vt:lpstr>Algoritmi di rimpiazzamento delle pagine (5)</vt:lpstr>
      <vt:lpstr>Algoritmi di rimpiazzamento delle pagine (5) - Soluzioni (1)</vt:lpstr>
      <vt:lpstr>Algoritmi di rimpiazzamento delle pagine (5) - Soluzioni (2)</vt:lpstr>
      <vt:lpstr>Algoritmi di rimpiazzamento delle pagine (5) - Soluzioni (3)</vt:lpstr>
      <vt:lpstr>Algoritmi di rimpiazzamento delle pagine (5) - Soluzioni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ESERCITAZIONE 1- Soluzioni</dc:title>
  <dc:creator>Andrea</dc:creator>
  <cp:lastModifiedBy>Simonetta Alessandro</cp:lastModifiedBy>
  <cp:revision>188</cp:revision>
  <dcterms:created xsi:type="dcterms:W3CDTF">2017-10-29T11:29:02Z</dcterms:created>
  <dcterms:modified xsi:type="dcterms:W3CDTF">2019-02-07T14:41:27Z</dcterms:modified>
</cp:coreProperties>
</file>