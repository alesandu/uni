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8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91" r:id="rId32"/>
    <p:sldId id="292" r:id="rId33"/>
    <p:sldId id="293" r:id="rId34"/>
    <p:sldId id="294" r:id="rId35"/>
    <p:sldId id="295" r:id="rId36"/>
    <p:sldId id="302" r:id="rId37"/>
    <p:sldId id="296" r:id="rId38"/>
    <p:sldId id="297" r:id="rId39"/>
    <p:sldId id="298" r:id="rId40"/>
    <p:sldId id="299" r:id="rId41"/>
    <p:sldId id="300" r:id="rId42"/>
    <p:sldId id="30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09/11/2017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09/11/2017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1- Soluzioni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Sistemi di numerazione e cambiamenti di base</a:t>
            </a:r>
          </a:p>
          <a:p>
            <a:r>
              <a:rPr lang="it-IT" b="1" dirty="0"/>
              <a:t>Algebre di Boole e funzioni logiche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33C43EE5-16C9-4C1E-8EB5-544FE6A6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/>
              <a:t>Sistemi di numerazione e cambiamenti di base (1)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1) Convertire i seguenti numeri in binario, esadecimale e ottale: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37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148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225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1023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026AEB49-B691-46C5-B3A6-5B7C1A53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4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FDEF9-9DF0-4EEC-B0D2-05A0E440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EEFFDA-A1F3-4A26-9B88-2487FDBD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Condurre numero in base 10 alla base </a:t>
            </a:r>
            <a:r>
              <a:rPr lang="it-IT" i="1" dirty="0"/>
              <a:t>k</a:t>
            </a:r>
            <a:r>
              <a:rPr lang="it-IT" dirty="0"/>
              <a:t>.</a:t>
            </a:r>
          </a:p>
          <a:p>
            <a:pPr>
              <a:buFont typeface="+mj-lt"/>
              <a:buAutoNum type="arabicParenR"/>
            </a:pPr>
            <a:r>
              <a:rPr lang="it-IT" dirty="0"/>
              <a:t>Dividere il numero per </a:t>
            </a:r>
            <a:r>
              <a:rPr lang="it-IT" i="1" dirty="0"/>
              <a:t>k</a:t>
            </a:r>
            <a:r>
              <a:rPr lang="it-IT" dirty="0"/>
              <a:t>, ottenendo così un quoziente Q e un resto R;</a:t>
            </a:r>
          </a:p>
          <a:p>
            <a:pPr>
              <a:buFont typeface="+mj-lt"/>
              <a:buAutoNum type="arabicParenR"/>
            </a:pPr>
            <a:r>
              <a:rPr lang="it-IT" dirty="0"/>
              <a:t>Memorizzare il resto R;</a:t>
            </a:r>
          </a:p>
          <a:p>
            <a:pPr>
              <a:buFont typeface="+mj-lt"/>
              <a:buAutoNum type="arabicParenR"/>
            </a:pPr>
            <a:r>
              <a:rPr lang="it-IT" dirty="0"/>
              <a:t>Ripetere i punti 1) e 2) fino a che non si ottiene un quoziente Q = 0;</a:t>
            </a:r>
          </a:p>
          <a:p>
            <a:pPr>
              <a:buFont typeface="+mj-lt"/>
              <a:buAutoNum type="arabicParenR"/>
            </a:pPr>
            <a:r>
              <a:rPr lang="it-IT" dirty="0"/>
              <a:t>Scrivere i resti nell’ordine inverso rispetto a quello della memorizzazione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88A38F-6497-41E8-A1A4-91086EED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15A530-60A7-412D-BE89-AA74CA40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396CC95C-BF5C-4B88-803F-172E8B6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7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3CCF1-15A0-4800-B980-F3984B9B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4904"/>
          </a:xfrm>
        </p:spPr>
        <p:txBody>
          <a:bodyPr/>
          <a:lstStyle/>
          <a:p>
            <a:r>
              <a:rPr lang="it-IT" b="1" dirty="0"/>
              <a:t>Sistemi di numerazione e cambiamenti di base (1) Soluzione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2F88DA-0B23-4B42-AFFD-9EA5A405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C000"/>
                </a:solidFill>
              </a:rPr>
              <a:t>a)</a:t>
            </a:r>
          </a:p>
          <a:p>
            <a:pPr lvl="1"/>
            <a:r>
              <a:rPr lang="pt-BR" dirty="0"/>
              <a:t>(37)</a:t>
            </a:r>
            <a:r>
              <a:rPr lang="pt-BR" baseline="-25000" dirty="0"/>
              <a:t>10</a:t>
            </a:r>
            <a:r>
              <a:rPr lang="pt-BR" dirty="0"/>
              <a:t> in base 2</a:t>
            </a:r>
          </a:p>
          <a:p>
            <a:pPr lvl="1"/>
            <a:r>
              <a:rPr lang="pt-BR" dirty="0"/>
              <a:t>		37 ÷ 2 = 18, R=1;</a:t>
            </a:r>
          </a:p>
          <a:p>
            <a:pPr lvl="1"/>
            <a:r>
              <a:rPr lang="pt-BR" dirty="0"/>
              <a:t>		18 ÷ 2 = 9, R=0;</a:t>
            </a:r>
          </a:p>
          <a:p>
            <a:pPr lvl="1"/>
            <a:r>
              <a:rPr lang="pt-BR" dirty="0"/>
              <a:t>		9 ÷ 2 = 4, R=1;</a:t>
            </a:r>
          </a:p>
          <a:p>
            <a:pPr lvl="1"/>
            <a:r>
              <a:rPr lang="pt-BR" dirty="0"/>
              <a:t>		4 ÷ 2 = 2, R=0;</a:t>
            </a:r>
          </a:p>
          <a:p>
            <a:pPr lvl="1"/>
            <a:r>
              <a:rPr lang="pt-BR" dirty="0"/>
              <a:t>		2 ÷ 2 = 1, R=0;</a:t>
            </a:r>
          </a:p>
          <a:p>
            <a:pPr lvl="1"/>
            <a:r>
              <a:rPr lang="pt-BR" dirty="0"/>
              <a:t>		1 ÷ 2 = 0, R=1.</a:t>
            </a:r>
          </a:p>
          <a:p>
            <a:pPr marL="0" indent="0">
              <a:buNone/>
            </a:pPr>
            <a:r>
              <a:rPr lang="pt-BR" dirty="0"/>
              <a:t>(37)</a:t>
            </a:r>
            <a:r>
              <a:rPr lang="pt-BR" baseline="-25000" dirty="0"/>
              <a:t>10</a:t>
            </a:r>
            <a:r>
              <a:rPr lang="pt-BR" dirty="0"/>
              <a:t> = (100101)</a:t>
            </a:r>
            <a:r>
              <a:rPr lang="pt-BR" baseline="-25000" dirty="0"/>
              <a:t>2</a:t>
            </a:r>
            <a:endParaRPr lang="it-IT" baseline="-250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1C88F7-6B5D-4135-A5A1-14A7038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69FAF4-2496-4DCF-B5A3-4B90D35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DEB0834-A1E7-4040-BD83-580392E9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20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C55102-428E-4C05-B486-D53C8B0F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96DBBF-9D38-4373-976B-303CB1F67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(37)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in base 8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37 ÷ 8 = 4, R=5;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4 ÷ 8 = 0, R=4.</a:t>
            </a:r>
          </a:p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Quindi, (37)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= (45)</a:t>
            </a:r>
            <a:r>
              <a:rPr lang="it-IT" baseline="-25000" dirty="0">
                <a:solidFill>
                  <a:schemeClr val="tx1"/>
                </a:solidFill>
              </a:rPr>
              <a:t>8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63E4961-EF1D-4656-80B7-0525809453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(37)</a:t>
            </a:r>
            <a:r>
              <a:rPr lang="it-IT" baseline="-25000" dirty="0"/>
              <a:t>10</a:t>
            </a:r>
            <a:r>
              <a:rPr lang="it-IT" dirty="0"/>
              <a:t> in base 16</a:t>
            </a:r>
          </a:p>
          <a:p>
            <a:pPr lvl="2"/>
            <a:r>
              <a:rPr lang="it-IT" dirty="0"/>
              <a:t>	37 ÷ 16 = 2, R=5;</a:t>
            </a:r>
          </a:p>
          <a:p>
            <a:pPr lvl="2"/>
            <a:r>
              <a:rPr lang="it-IT" dirty="0"/>
              <a:t>	2 ÷16 = 0, R=2.</a:t>
            </a:r>
          </a:p>
          <a:p>
            <a:pPr marL="0" indent="0">
              <a:buNone/>
            </a:pPr>
            <a:r>
              <a:rPr lang="it-IT" dirty="0"/>
              <a:t>Quindi, (37)</a:t>
            </a:r>
            <a:r>
              <a:rPr lang="it-IT" baseline="-25000" dirty="0"/>
              <a:t>10</a:t>
            </a:r>
            <a:r>
              <a:rPr lang="it-IT" dirty="0"/>
              <a:t> = (25)</a:t>
            </a:r>
            <a:r>
              <a:rPr lang="it-IT" baseline="-25000" dirty="0"/>
              <a:t>16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09980C-F770-468E-816E-67702FBA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70C403-C06D-454D-9CED-B199458C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A50D9C-D7A0-4BDC-BF13-29478CBB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3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5AB23-53C1-4D2B-9979-0C3428B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A6382F-EE6F-4B2E-806A-67A68763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FFC000"/>
                </a:solidFill>
              </a:rPr>
              <a:t>b)</a:t>
            </a:r>
          </a:p>
          <a:p>
            <a:pPr lvl="1"/>
            <a:r>
              <a:rPr lang="pt-BR" dirty="0"/>
              <a:t>(148)</a:t>
            </a:r>
            <a:r>
              <a:rPr lang="pt-BR" baseline="-25000" dirty="0"/>
              <a:t>10</a:t>
            </a:r>
            <a:r>
              <a:rPr lang="pt-BR" dirty="0"/>
              <a:t> in base 2</a:t>
            </a:r>
          </a:p>
          <a:p>
            <a:pPr lvl="1"/>
            <a:r>
              <a:rPr lang="pt-BR" dirty="0"/>
              <a:t>		148 ÷  2 = 74, R=0;</a:t>
            </a:r>
          </a:p>
          <a:p>
            <a:pPr lvl="1"/>
            <a:r>
              <a:rPr lang="pt-BR" dirty="0"/>
              <a:t>		74 ÷  2 = 37, R=0;</a:t>
            </a:r>
          </a:p>
          <a:p>
            <a:pPr lvl="1"/>
            <a:r>
              <a:rPr lang="pt-BR" dirty="0"/>
              <a:t>		37 ÷  2 = 18, R=1;</a:t>
            </a:r>
          </a:p>
          <a:p>
            <a:pPr lvl="1"/>
            <a:r>
              <a:rPr lang="pt-BR" dirty="0"/>
              <a:t>		18 ÷  2 = 9, R = 0;</a:t>
            </a:r>
          </a:p>
          <a:p>
            <a:pPr lvl="1"/>
            <a:r>
              <a:rPr lang="pt-BR" dirty="0"/>
              <a:t>		9 ÷  2 = 4, R=1;</a:t>
            </a:r>
          </a:p>
          <a:p>
            <a:pPr lvl="1"/>
            <a:r>
              <a:rPr lang="pt-BR" dirty="0"/>
              <a:t>		4 ÷  2 = 2, R=0;</a:t>
            </a:r>
          </a:p>
          <a:p>
            <a:pPr lvl="1"/>
            <a:r>
              <a:rPr lang="pt-BR" dirty="0"/>
              <a:t>		2 ÷  2 = 1, R=0;</a:t>
            </a:r>
          </a:p>
          <a:p>
            <a:pPr lvl="1"/>
            <a:r>
              <a:rPr lang="pt-BR" dirty="0"/>
              <a:t>		1 ÷  2 = 0, R=1. </a:t>
            </a:r>
          </a:p>
          <a:p>
            <a:pPr lvl="1"/>
            <a:r>
              <a:rPr lang="pt-BR" dirty="0"/>
              <a:t>(148)</a:t>
            </a:r>
            <a:r>
              <a:rPr lang="pt-BR" baseline="-25000" dirty="0"/>
              <a:t>10</a:t>
            </a:r>
            <a:r>
              <a:rPr lang="pt-BR" dirty="0"/>
              <a:t> = (10010100)</a:t>
            </a:r>
            <a:r>
              <a:rPr lang="pt-BR" baseline="-25000" dirty="0"/>
              <a:t>2</a:t>
            </a:r>
            <a:endParaRPr lang="it-IT" baseline="-25000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7FFDCF-0097-4098-A77C-1510AF7F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EFBEF8-4A33-46D4-995A-088C6982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28BC4BC2-61F2-4C03-BC57-4A6FE716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5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A8FD42-4E67-48A7-9746-19BA4523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(5)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A7888-E5C8-49D1-9610-45914DE7D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(148)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in base 8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148 ÷ 8 = 18, R=3;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18 ÷ 8 = 2, R=2;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2 ÷ 8 = 0, R=2 </a:t>
            </a:r>
          </a:p>
          <a:p>
            <a:pPr marL="914400" lvl="2" indent="0">
              <a:buNone/>
            </a:pPr>
            <a:r>
              <a:rPr lang="it-IT" dirty="0">
                <a:solidFill>
                  <a:schemeClr val="tx1"/>
                </a:solidFill>
              </a:rPr>
              <a:t>Quindi, (148)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= (224)</a:t>
            </a:r>
            <a:r>
              <a:rPr lang="it-IT" baseline="-25000" dirty="0">
                <a:solidFill>
                  <a:schemeClr val="tx1"/>
                </a:solidFill>
              </a:rPr>
              <a:t>8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9EFC85-C8EE-4007-9675-BCA012BA76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(148)</a:t>
            </a:r>
            <a:r>
              <a:rPr lang="it-IT" baseline="-25000" dirty="0"/>
              <a:t>10</a:t>
            </a:r>
            <a:r>
              <a:rPr lang="it-IT" dirty="0"/>
              <a:t> in base 16</a:t>
            </a:r>
          </a:p>
          <a:p>
            <a:pPr lvl="2"/>
            <a:r>
              <a:rPr lang="pt-BR" dirty="0"/>
              <a:t>148 ÷ 16 = 9, R=4;</a:t>
            </a:r>
          </a:p>
          <a:p>
            <a:pPr lvl="2"/>
            <a:r>
              <a:rPr lang="pt-BR" dirty="0"/>
              <a:t>9 ÷ 16 = 0, R=9</a:t>
            </a:r>
          </a:p>
          <a:p>
            <a:pPr marL="914400" lvl="2" indent="0">
              <a:buNone/>
            </a:pPr>
            <a:r>
              <a:rPr lang="it-IT" dirty="0"/>
              <a:t>Quindi, (148)</a:t>
            </a:r>
            <a:r>
              <a:rPr lang="it-IT" baseline="-25000" dirty="0"/>
              <a:t>10</a:t>
            </a:r>
            <a:r>
              <a:rPr lang="it-IT" dirty="0"/>
              <a:t> = (94)</a:t>
            </a:r>
            <a:r>
              <a:rPr lang="it-IT" baseline="-25000" dirty="0"/>
              <a:t>16</a:t>
            </a:r>
          </a:p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839492-482F-4997-9F81-B116200A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84E8C7-E23F-4500-A49B-EF650F25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117834B-6B53-4793-8BD2-57C5AF683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4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5AB23-53C1-4D2B-9979-0C3428B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(6)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A6382F-EE6F-4B2E-806A-67A68763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FFC000"/>
                </a:solidFill>
              </a:rPr>
              <a:t>c)</a:t>
            </a:r>
          </a:p>
          <a:p>
            <a:pPr lvl="1"/>
            <a:r>
              <a:rPr lang="pt-BR" dirty="0"/>
              <a:t>(255)</a:t>
            </a:r>
            <a:r>
              <a:rPr lang="pt-BR" baseline="-25000" dirty="0"/>
              <a:t>10</a:t>
            </a:r>
            <a:r>
              <a:rPr lang="pt-BR" dirty="0"/>
              <a:t> in base 2</a:t>
            </a:r>
          </a:p>
          <a:p>
            <a:pPr lvl="1"/>
            <a:r>
              <a:rPr lang="pt-BR" dirty="0"/>
              <a:t>		255 ÷  2 = 127, R=1;</a:t>
            </a:r>
          </a:p>
          <a:p>
            <a:pPr lvl="1"/>
            <a:r>
              <a:rPr lang="pt-BR" dirty="0"/>
              <a:t>		127 ÷  2 = 63, R=1;</a:t>
            </a:r>
          </a:p>
          <a:p>
            <a:pPr lvl="1"/>
            <a:r>
              <a:rPr lang="pt-BR" dirty="0"/>
              <a:t>		63 ÷  2 = 31, R=1;</a:t>
            </a:r>
          </a:p>
          <a:p>
            <a:pPr lvl="1"/>
            <a:r>
              <a:rPr lang="pt-BR" dirty="0"/>
              <a:t>		31 ÷  2 = 15, R = 1;</a:t>
            </a:r>
          </a:p>
          <a:p>
            <a:pPr lvl="1"/>
            <a:r>
              <a:rPr lang="pt-BR" dirty="0"/>
              <a:t>		15 ÷  2 = 7, R=1;</a:t>
            </a:r>
          </a:p>
          <a:p>
            <a:pPr lvl="1"/>
            <a:r>
              <a:rPr lang="pt-BR" dirty="0"/>
              <a:t>		7 ÷  2 = 3, R=1;</a:t>
            </a:r>
          </a:p>
          <a:p>
            <a:pPr lvl="1"/>
            <a:r>
              <a:rPr lang="pt-BR" dirty="0"/>
              <a:t>		3 ÷  2 = 1, R=1;</a:t>
            </a:r>
          </a:p>
          <a:p>
            <a:pPr lvl="1"/>
            <a:r>
              <a:rPr lang="pt-BR" dirty="0"/>
              <a:t>		1 ÷  2 = 0, R=1. </a:t>
            </a:r>
          </a:p>
          <a:p>
            <a:pPr lvl="1"/>
            <a:r>
              <a:rPr lang="pt-BR" dirty="0"/>
              <a:t>(255)</a:t>
            </a:r>
            <a:r>
              <a:rPr lang="pt-BR" baseline="-25000" dirty="0"/>
              <a:t>10</a:t>
            </a:r>
            <a:r>
              <a:rPr lang="pt-BR" dirty="0"/>
              <a:t> = (11111111)</a:t>
            </a:r>
            <a:r>
              <a:rPr lang="pt-BR" baseline="-25000" dirty="0"/>
              <a:t>2</a:t>
            </a:r>
            <a:endParaRPr lang="it-IT" baseline="-25000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7FFDCF-0097-4098-A77C-1510AF7F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EFBEF8-4A33-46D4-995A-088C6982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EA2681E-392B-4F8F-84FD-096D1397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0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A8FD42-4E67-48A7-9746-19BA4523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(7)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A7888-E5C8-49D1-9610-45914DE7D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(255)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in base 8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255 ÷ 8 = 31, R=7;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31 ÷ 8 = 3, R=7;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3 ÷ 8 = 0, R=3</a:t>
            </a:r>
          </a:p>
          <a:p>
            <a:pPr marL="914400" lvl="2" indent="0">
              <a:buNone/>
            </a:pPr>
            <a:r>
              <a:rPr lang="it-IT" dirty="0">
                <a:solidFill>
                  <a:schemeClr val="tx1"/>
                </a:solidFill>
              </a:rPr>
              <a:t>Quindi, (255)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= (377)</a:t>
            </a:r>
            <a:r>
              <a:rPr lang="it-IT" baseline="-25000" dirty="0">
                <a:solidFill>
                  <a:schemeClr val="tx1"/>
                </a:solidFill>
              </a:rPr>
              <a:t>8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9EFC85-C8EE-4007-9675-BCA012BA76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(255)</a:t>
            </a:r>
            <a:r>
              <a:rPr lang="it-IT" baseline="-25000" dirty="0"/>
              <a:t>10</a:t>
            </a:r>
            <a:r>
              <a:rPr lang="it-IT" dirty="0"/>
              <a:t> in base 16</a:t>
            </a:r>
          </a:p>
          <a:p>
            <a:pPr lvl="2"/>
            <a:r>
              <a:rPr lang="pt-BR" dirty="0"/>
              <a:t>255 ÷ 16 = 15, R=15;</a:t>
            </a:r>
          </a:p>
          <a:p>
            <a:pPr lvl="2"/>
            <a:r>
              <a:rPr lang="pt-BR" dirty="0"/>
              <a:t>15 ÷ 16 = 0, R=15</a:t>
            </a:r>
          </a:p>
          <a:p>
            <a:pPr marL="914400" lvl="2" indent="0">
              <a:buNone/>
            </a:pPr>
            <a:r>
              <a:rPr lang="it-IT" dirty="0"/>
              <a:t>Quindi, (255)</a:t>
            </a:r>
            <a:r>
              <a:rPr lang="it-IT" baseline="-25000" dirty="0"/>
              <a:t>10</a:t>
            </a:r>
            <a:r>
              <a:rPr lang="it-IT" dirty="0"/>
              <a:t> = (FF)</a:t>
            </a:r>
            <a:r>
              <a:rPr lang="it-IT" baseline="-25000" dirty="0"/>
              <a:t>16</a:t>
            </a:r>
          </a:p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839492-482F-4997-9F81-B116200A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84E8C7-E23F-4500-A49B-EF650F25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7DE8726-2B95-404A-A52F-88617CED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5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5AB23-53C1-4D2B-9979-0C3428B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(8)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A6382F-EE6F-4B2E-806A-67A687631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rgbClr val="FFC000"/>
                </a:solidFill>
              </a:rPr>
              <a:t>d)</a:t>
            </a:r>
          </a:p>
          <a:p>
            <a:pPr lvl="1"/>
            <a:r>
              <a:rPr lang="pt-BR" dirty="0"/>
              <a:t>(1023)</a:t>
            </a:r>
            <a:r>
              <a:rPr lang="pt-BR" baseline="-25000" dirty="0"/>
              <a:t>10</a:t>
            </a:r>
            <a:r>
              <a:rPr lang="pt-BR" dirty="0"/>
              <a:t> in base 2</a:t>
            </a:r>
          </a:p>
          <a:p>
            <a:pPr lvl="1"/>
            <a:r>
              <a:rPr lang="pt-BR" dirty="0"/>
              <a:t>		1023 ÷ 2 = 511, R=1;</a:t>
            </a:r>
          </a:p>
          <a:p>
            <a:pPr lvl="1"/>
            <a:r>
              <a:rPr lang="pt-BR" dirty="0"/>
              <a:t>		511 ÷ 2 = 255, R=1;</a:t>
            </a:r>
          </a:p>
          <a:p>
            <a:pPr lvl="1"/>
            <a:r>
              <a:rPr lang="pt-BR" dirty="0"/>
              <a:t>		255 ÷  2 = 127, R=1;</a:t>
            </a:r>
          </a:p>
          <a:p>
            <a:pPr lvl="1"/>
            <a:r>
              <a:rPr lang="pt-BR" dirty="0"/>
              <a:t>		127 ÷  2 = 63, R=1;</a:t>
            </a:r>
          </a:p>
          <a:p>
            <a:pPr lvl="1"/>
            <a:r>
              <a:rPr lang="pt-BR" dirty="0"/>
              <a:t>		63 ÷  2 = 31, R=1;</a:t>
            </a:r>
          </a:p>
          <a:p>
            <a:pPr lvl="1"/>
            <a:r>
              <a:rPr lang="pt-BR" dirty="0"/>
              <a:t>		31 ÷  2 = 15, R = 1;</a:t>
            </a:r>
          </a:p>
          <a:p>
            <a:pPr lvl="1"/>
            <a:r>
              <a:rPr lang="pt-BR" dirty="0"/>
              <a:t>		15 ÷  2 = 7, R=1;</a:t>
            </a:r>
          </a:p>
          <a:p>
            <a:pPr lvl="1"/>
            <a:r>
              <a:rPr lang="pt-BR" dirty="0"/>
              <a:t>		7 ÷  2 = 3, R=1;</a:t>
            </a:r>
          </a:p>
          <a:p>
            <a:pPr lvl="1"/>
            <a:r>
              <a:rPr lang="pt-BR" dirty="0"/>
              <a:t>		3 ÷  2 = 1, R=1;</a:t>
            </a:r>
          </a:p>
          <a:p>
            <a:pPr lvl="1"/>
            <a:r>
              <a:rPr lang="pt-BR" dirty="0"/>
              <a:t>		1 ÷  2 = 0, R=1. </a:t>
            </a:r>
          </a:p>
          <a:p>
            <a:pPr lvl="1"/>
            <a:r>
              <a:rPr lang="pt-BR" dirty="0"/>
              <a:t>(1023)</a:t>
            </a:r>
            <a:r>
              <a:rPr lang="pt-BR" baseline="-25000" dirty="0"/>
              <a:t>10</a:t>
            </a:r>
            <a:r>
              <a:rPr lang="pt-BR" dirty="0"/>
              <a:t> = 1111111111)</a:t>
            </a:r>
            <a:r>
              <a:rPr lang="pt-BR" baseline="-25000" dirty="0"/>
              <a:t>2</a:t>
            </a:r>
            <a:endParaRPr lang="it-IT" baseline="-25000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7FFDCF-0097-4098-A77C-1510AF7F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EFBEF8-4A33-46D4-995A-088C6982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CD0AADA2-1237-45F3-862B-6DB27AFE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54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A8FD42-4E67-48A7-9746-19BA4523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(9)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A7888-E5C8-49D1-9610-45914DE7D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(1023)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in base 8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1023 ÷ 8 = 127, R=7;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127 ÷ 8 = 15, R=7;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15 ÷ 8 = 1, R=7;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1 ÷ 8 = 0, R=1</a:t>
            </a:r>
          </a:p>
          <a:p>
            <a:pPr marL="914400" lvl="2" indent="0">
              <a:buNone/>
            </a:pPr>
            <a:r>
              <a:rPr lang="it-IT" dirty="0">
                <a:solidFill>
                  <a:schemeClr val="tx1"/>
                </a:solidFill>
              </a:rPr>
              <a:t>Quindi, (1023)</a:t>
            </a:r>
            <a:r>
              <a:rPr lang="it-IT" baseline="-25000" dirty="0">
                <a:solidFill>
                  <a:schemeClr val="tx1"/>
                </a:solidFill>
              </a:rPr>
              <a:t>10</a:t>
            </a:r>
            <a:r>
              <a:rPr lang="it-IT" dirty="0">
                <a:solidFill>
                  <a:schemeClr val="tx1"/>
                </a:solidFill>
              </a:rPr>
              <a:t> = (1777)</a:t>
            </a:r>
            <a:r>
              <a:rPr lang="it-IT" baseline="-25000" dirty="0">
                <a:solidFill>
                  <a:schemeClr val="tx1"/>
                </a:solidFill>
              </a:rPr>
              <a:t>8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9EFC85-C8EE-4007-9675-BCA012BA76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(1023)</a:t>
            </a:r>
            <a:r>
              <a:rPr lang="it-IT" baseline="-25000" dirty="0"/>
              <a:t>10</a:t>
            </a:r>
            <a:r>
              <a:rPr lang="it-IT" dirty="0"/>
              <a:t> in base 16</a:t>
            </a:r>
          </a:p>
          <a:p>
            <a:pPr lvl="2"/>
            <a:r>
              <a:rPr lang="pt-BR" dirty="0"/>
              <a:t>1023 ÷ 16 = 63, R=15;</a:t>
            </a:r>
          </a:p>
          <a:p>
            <a:pPr lvl="2"/>
            <a:r>
              <a:rPr lang="pt-BR" dirty="0"/>
              <a:t>63 ÷ 16 = 3, R=15;</a:t>
            </a:r>
          </a:p>
          <a:p>
            <a:pPr lvl="2"/>
            <a:r>
              <a:rPr lang="pt-BR" dirty="0"/>
              <a:t>3 ÷16 = 0, R=3.</a:t>
            </a:r>
          </a:p>
          <a:p>
            <a:pPr marL="914400" lvl="2" indent="0">
              <a:buNone/>
            </a:pPr>
            <a:r>
              <a:rPr lang="it-IT" dirty="0"/>
              <a:t>Quindi, (1023)</a:t>
            </a:r>
            <a:r>
              <a:rPr lang="it-IT" baseline="-25000" dirty="0"/>
              <a:t>10</a:t>
            </a:r>
            <a:r>
              <a:rPr lang="it-IT" dirty="0"/>
              <a:t> = (3FF)</a:t>
            </a:r>
            <a:r>
              <a:rPr lang="it-IT" baseline="-25000" dirty="0"/>
              <a:t>16</a:t>
            </a:r>
          </a:p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839492-482F-4997-9F81-B116200A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84E8C7-E23F-4500-A49B-EF650F25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DC35FC9-9B1B-4B0C-8A9B-DECB97A5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88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7BF15-B4D9-408F-92C4-8EDDA10C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Soluzione (10)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4DC7EE-A011-42ED-BE52-7292D924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93044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Attenzione: possono essere usate alcune accortezze per velocizzare questo procedimento. Esistono due modi molto semplici per trasformare un qualsiasi numero in base 2 in base 8 o16. 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C8940F-9270-416C-AC58-BC8B9C87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091887-EAFD-485E-8209-F4885416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9D56E3-1D25-4B3F-80FA-3AD987910200}"/>
              </a:ext>
            </a:extLst>
          </p:cNvPr>
          <p:cNvSpPr txBox="1"/>
          <p:nvPr/>
        </p:nvSpPr>
        <p:spPr>
          <a:xfrm>
            <a:off x="2589212" y="3292642"/>
            <a:ext cx="47420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8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Ogni tripletta di bit del numero in base 2 corrisponde a una cifra nel numero in base 8, esattamente alla suo valore binario in base 10.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Esempio: 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/>
              <a:t>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100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4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101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5</a:t>
            </a:r>
          </a:p>
          <a:p>
            <a:pPr lvl="1"/>
            <a:r>
              <a:rPr lang="it-IT" dirty="0"/>
              <a:t>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4</a:t>
            </a:r>
            <a:r>
              <a:rPr lang="it-IT" dirty="0">
                <a:solidFill>
                  <a:srgbClr val="0070C0"/>
                </a:solidFill>
              </a:rPr>
              <a:t>5</a:t>
            </a:r>
            <a:r>
              <a:rPr lang="it-IT" dirty="0"/>
              <a:t>)</a:t>
            </a:r>
            <a:r>
              <a:rPr lang="it-IT" baseline="-25000" dirty="0"/>
              <a:t>8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E47E3DC-0C88-4DB5-BFC8-D7B61F6EBBE9}"/>
              </a:ext>
            </a:extLst>
          </p:cNvPr>
          <p:cNvSpPr txBox="1"/>
          <p:nvPr/>
        </p:nvSpPr>
        <p:spPr>
          <a:xfrm>
            <a:off x="7331242" y="3292642"/>
            <a:ext cx="47420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16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Ogni quartetto di bit del numero in base 2 corrisponde a una cifra nel numero in base 8, esattamente alla suo valore binario in base 10.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Esempio: 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0010</a:t>
            </a:r>
            <a:r>
              <a:rPr lang="it-IT" dirty="0">
                <a:solidFill>
                  <a:srgbClr val="0070C0"/>
                </a:solidFill>
              </a:rPr>
              <a:t>0101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/>
              <a:t>16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0010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0101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5</a:t>
            </a:r>
          </a:p>
          <a:p>
            <a:pPr lvl="1"/>
            <a:r>
              <a:rPr lang="it-IT" dirty="0"/>
              <a:t>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0070C0"/>
                </a:solidFill>
              </a:rPr>
              <a:t>5</a:t>
            </a:r>
            <a:r>
              <a:rPr lang="it-IT" dirty="0"/>
              <a:t>)</a:t>
            </a:r>
            <a:r>
              <a:rPr lang="it-IT" baseline="-25000" dirty="0"/>
              <a:t>16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76D2F871-4FAB-449B-ADCD-19A8ADCF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1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/>
              <a:t>Sistemi di numerazione e cambiamenti di base (2)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2) Qual è la rappresentazione decimale, ottale e esadecimale della stringa binaria 1001101001?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9F1EAAE-FA44-4F37-ACE8-554CC709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3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FDEF9-9DF0-4EEC-B0D2-05A0E440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(2) Soluzione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EEFFDA-A1F3-4A26-9B88-2487FDBD2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Condurre numero in base</a:t>
                </a:r>
                <a:r>
                  <a:rPr lang="it-IT" i="1" dirty="0"/>
                  <a:t> k </a:t>
                </a:r>
                <a:r>
                  <a:rPr lang="it-IT" dirty="0"/>
                  <a:t>alla base 10.</a:t>
                </a:r>
              </a:p>
              <a:p>
                <a:pPr>
                  <a:buFont typeface="+mj-lt"/>
                  <a:buAutoNum type="arabicParenR"/>
                </a:pPr>
                <a:r>
                  <a:rPr lang="it-IT" dirty="0"/>
                  <a:t>Per ogni cifra </a:t>
                </a:r>
                <a:r>
                  <a:rPr lang="it-IT" i="1" dirty="0"/>
                  <a:t>i</a:t>
                </a:r>
                <a:r>
                  <a:rPr lang="it-IT" dirty="0"/>
                  <a:t>, in posizione </a:t>
                </a:r>
                <a:r>
                  <a:rPr lang="it-IT" i="1" dirty="0"/>
                  <a:t>j</a:t>
                </a:r>
                <a:r>
                  <a:rPr lang="it-IT" dirty="0"/>
                  <a:t> del numero in base </a:t>
                </a:r>
                <a:r>
                  <a:rPr lang="it-IT" i="1" dirty="0"/>
                  <a:t>k</a:t>
                </a:r>
                <a:r>
                  <a:rPr lang="it-IT" dirty="0"/>
                  <a:t> (con </a:t>
                </a:r>
                <a:r>
                  <a:rPr lang="it-IT" i="1" dirty="0"/>
                  <a:t>j</a:t>
                </a:r>
                <a:r>
                  <a:rPr lang="it-IT" dirty="0"/>
                  <a:t>=0 la cifra meno significativa):</a:t>
                </a:r>
              </a:p>
              <a:p>
                <a:pPr lvl="1">
                  <a:buFont typeface="+mj-lt"/>
                  <a:buAutoNum type="arabicParenR"/>
                </a:pPr>
                <a:r>
                  <a:rPr lang="it-IT" dirty="0"/>
                  <a:t>Ottenere il valore </a:t>
                </a:r>
                <a:r>
                  <a:rPr lang="it-IT" dirty="0" err="1"/>
                  <a:t>n</a:t>
                </a:r>
                <a:r>
                  <a:rPr lang="it-IT" baseline="-25000" dirty="0" err="1"/>
                  <a:t>j</a:t>
                </a:r>
                <a:r>
                  <a:rPr lang="it-IT" dirty="0"/>
                  <a:t> = </a:t>
                </a:r>
                <a:r>
                  <a:rPr lang="it-IT" i="1" dirty="0"/>
                  <a:t>i*</a:t>
                </a:r>
                <a:r>
                  <a:rPr lang="it-IT" i="1" dirty="0" err="1"/>
                  <a:t>k</a:t>
                </a:r>
                <a:r>
                  <a:rPr lang="it-IT" i="1" baseline="30000" dirty="0" err="1"/>
                  <a:t>j</a:t>
                </a:r>
                <a:endParaRPr lang="it-IT" dirty="0"/>
              </a:p>
              <a:p>
                <a:pPr>
                  <a:buFont typeface="+mj-lt"/>
                  <a:buAutoNum type="arabicParenR"/>
                </a:pPr>
                <a:r>
                  <a:rPr lang="it-IT" dirty="0"/>
                  <a:t>Sommare gli </a:t>
                </a:r>
                <a:r>
                  <a:rPr lang="it-IT" dirty="0" err="1"/>
                  <a:t>n</a:t>
                </a:r>
                <a:r>
                  <a:rPr lang="it-IT" baseline="-25000" dirty="0" err="1"/>
                  <a:t>j</a:t>
                </a:r>
                <a:r>
                  <a:rPr lang="it-IT" dirty="0"/>
                  <a:t> per ottenere il valore</a:t>
                </a:r>
              </a:p>
              <a:p>
                <a:pPr>
                  <a:buFont typeface="+mj-lt"/>
                  <a:buAutoNum type="arabi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nor/>
                          </m:rPr>
                          <a:rPr lang="it-IT" dirty="0"/>
                          <m:t>n</m:t>
                        </m:r>
                        <m:r>
                          <m:rPr>
                            <m:nor/>
                          </m:rPr>
                          <a:rPr lang="it-IT" baseline="-25000" dirty="0"/>
                          <m:t>j</m:t>
                        </m:r>
                      </m:e>
                    </m:nary>
                  </m:oMath>
                </a14:m>
                <a:r>
                  <a:rPr lang="it-IT" dirty="0"/>
                  <a:t>, con </a:t>
                </a:r>
                <a:r>
                  <a:rPr lang="it-IT" i="1" dirty="0"/>
                  <a:t>m </a:t>
                </a:r>
                <a:r>
                  <a:rPr lang="it-IT" dirty="0"/>
                  <a:t>numero di cifre del numero in base </a:t>
                </a:r>
                <a:r>
                  <a:rPr lang="it-IT" i="1" dirty="0"/>
                  <a:t>k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EEFFDA-A1F3-4A26-9B88-2487FDBD2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88A38F-6497-41E8-A1A4-91086EED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15A530-60A7-412D-BE89-AA74CA40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2D49251-116E-4F8F-A8DB-15EDE094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46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FDEF9-9DF0-4EEC-B0D2-05A0E440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(2) Soluzione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EEFFDA-A1F3-4A26-9B88-2487FDBD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(1001101001)</a:t>
            </a:r>
            <a:r>
              <a:rPr lang="it-IT" baseline="-25000" dirty="0"/>
              <a:t>2</a:t>
            </a:r>
            <a:r>
              <a:rPr lang="it-IT" dirty="0"/>
              <a:t> = </a:t>
            </a:r>
          </a:p>
          <a:p>
            <a:pPr marL="0" indent="0">
              <a:buNone/>
            </a:pPr>
            <a:r>
              <a:rPr lang="it-IT" dirty="0"/>
              <a:t>= 1*2</a:t>
            </a:r>
            <a:r>
              <a:rPr lang="it-IT" baseline="30000" dirty="0"/>
              <a:t>0</a:t>
            </a:r>
            <a:r>
              <a:rPr lang="it-IT" dirty="0"/>
              <a:t>+0*2</a:t>
            </a:r>
            <a:r>
              <a:rPr lang="it-IT" baseline="30000" dirty="0"/>
              <a:t>1</a:t>
            </a:r>
            <a:r>
              <a:rPr lang="it-IT" dirty="0"/>
              <a:t>+0*2</a:t>
            </a:r>
            <a:r>
              <a:rPr lang="it-IT" baseline="30000" dirty="0"/>
              <a:t>2</a:t>
            </a:r>
            <a:r>
              <a:rPr lang="it-IT" dirty="0"/>
              <a:t>+1*2</a:t>
            </a:r>
            <a:r>
              <a:rPr lang="it-IT" baseline="30000" dirty="0"/>
              <a:t>3</a:t>
            </a:r>
            <a:r>
              <a:rPr lang="it-IT" dirty="0"/>
              <a:t>+0*2</a:t>
            </a:r>
            <a:r>
              <a:rPr lang="it-IT" baseline="30000" dirty="0"/>
              <a:t>4</a:t>
            </a:r>
            <a:r>
              <a:rPr lang="it-IT" dirty="0"/>
              <a:t>+1*2</a:t>
            </a:r>
            <a:r>
              <a:rPr lang="it-IT" baseline="30000" dirty="0"/>
              <a:t>5</a:t>
            </a:r>
            <a:r>
              <a:rPr lang="it-IT" dirty="0"/>
              <a:t>+1*2</a:t>
            </a:r>
            <a:r>
              <a:rPr lang="it-IT" baseline="30000" dirty="0"/>
              <a:t>6</a:t>
            </a:r>
            <a:r>
              <a:rPr lang="it-IT" dirty="0"/>
              <a:t>+0*2</a:t>
            </a:r>
            <a:r>
              <a:rPr lang="it-IT" baseline="30000" dirty="0"/>
              <a:t>7</a:t>
            </a:r>
            <a:r>
              <a:rPr lang="it-IT" dirty="0"/>
              <a:t>+0*2</a:t>
            </a:r>
            <a:r>
              <a:rPr lang="it-IT" baseline="30000" dirty="0"/>
              <a:t>8</a:t>
            </a:r>
            <a:r>
              <a:rPr lang="it-IT" dirty="0"/>
              <a:t>+1*2</a:t>
            </a:r>
            <a:r>
              <a:rPr lang="it-IT" baseline="30000" dirty="0"/>
              <a:t>9</a:t>
            </a:r>
            <a:r>
              <a:rPr lang="it-IT" dirty="0"/>
              <a:t> =</a:t>
            </a:r>
          </a:p>
          <a:p>
            <a:pPr marL="0" indent="0">
              <a:buNone/>
            </a:pPr>
            <a:r>
              <a:rPr lang="it-IT" dirty="0"/>
              <a:t>= 1+8+32+64+512=(617)</a:t>
            </a:r>
            <a:r>
              <a:rPr lang="it-IT" baseline="-25000" dirty="0"/>
              <a:t>10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88A38F-6497-41E8-A1A4-91086EED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15A530-60A7-412D-BE89-AA74CA40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7EA85D0-542F-4D4C-8B11-63562D56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71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7BF15-B4D9-408F-92C4-8EDDA10C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(2) 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4DC7EE-A011-42ED-BE52-7292D924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93044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Usiamo lo stesso procedimento illustrato alla slide 12.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C8940F-9270-416C-AC58-BC8B9C87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091887-EAFD-485E-8209-F4885416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9D56E3-1D25-4B3F-80FA-3AD987910200}"/>
              </a:ext>
            </a:extLst>
          </p:cNvPr>
          <p:cNvSpPr txBox="1"/>
          <p:nvPr/>
        </p:nvSpPr>
        <p:spPr>
          <a:xfrm>
            <a:off x="2589212" y="2767887"/>
            <a:ext cx="47420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8</a:t>
            </a:r>
          </a:p>
          <a:p>
            <a:r>
              <a:rPr lang="it-IT" dirty="0">
                <a:solidFill>
                  <a:sysClr val="windowText" lastClr="000000"/>
                </a:solidFill>
              </a:rPr>
              <a:t>(1001101001)</a:t>
            </a:r>
            <a:r>
              <a:rPr lang="it-IT" baseline="-25000" dirty="0"/>
              <a:t> 2</a:t>
            </a:r>
            <a:r>
              <a:rPr lang="it-IT" dirty="0">
                <a:solidFill>
                  <a:sysClr val="windowText" lastClr="000000"/>
                </a:solidFill>
              </a:rPr>
              <a:t> = (?)</a:t>
            </a:r>
            <a:r>
              <a:rPr lang="it-IT" baseline="-25000" dirty="0"/>
              <a:t> 8</a:t>
            </a:r>
            <a:endParaRPr lang="it-IT" dirty="0">
              <a:solidFill>
                <a:sysClr val="windowText" lastClr="000000"/>
              </a:solidFill>
            </a:endParaRPr>
          </a:p>
          <a:p>
            <a:r>
              <a:rPr lang="it-IT" dirty="0"/>
              <a:t>(</a:t>
            </a:r>
            <a:r>
              <a:rPr lang="it-IT" dirty="0">
                <a:solidFill>
                  <a:srgbClr val="FF0000"/>
                </a:solidFill>
              </a:rPr>
              <a:t>001</a:t>
            </a:r>
            <a:r>
              <a:rPr lang="it-IT" dirty="0">
                <a:solidFill>
                  <a:srgbClr val="0070C0"/>
                </a:solidFill>
              </a:rPr>
              <a:t>001</a:t>
            </a:r>
            <a:r>
              <a:rPr lang="it-IT" dirty="0">
                <a:solidFill>
                  <a:srgbClr val="7030A0"/>
                </a:solidFill>
              </a:rPr>
              <a:t>101</a:t>
            </a:r>
            <a:r>
              <a:rPr lang="it-IT" dirty="0">
                <a:solidFill>
                  <a:sysClr val="windowText" lastClr="000000"/>
                </a:solidFill>
              </a:rPr>
              <a:t>001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/>
              <a:t>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001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1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001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1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7030A0"/>
                </a:solidFill>
              </a:rPr>
              <a:t>101 </a:t>
            </a:r>
            <a:r>
              <a:rPr lang="it-IT" dirty="0"/>
              <a:t>=</a:t>
            </a:r>
            <a:r>
              <a:rPr lang="it-IT" dirty="0">
                <a:solidFill>
                  <a:srgbClr val="7030A0"/>
                </a:solidFill>
              </a:rPr>
              <a:t> 5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/>
              <a:t>001 = 1</a:t>
            </a:r>
          </a:p>
          <a:p>
            <a:pPr lvl="1"/>
            <a:r>
              <a:rPr lang="it-IT" dirty="0">
                <a:solidFill>
                  <a:srgbClr val="7030A0"/>
                </a:solidFill>
              </a:rPr>
              <a:t> </a:t>
            </a:r>
          </a:p>
          <a:p>
            <a:pPr lvl="1"/>
            <a:r>
              <a:rPr lang="it-IT" dirty="0"/>
              <a:t>(</a:t>
            </a:r>
            <a:r>
              <a:rPr lang="it-IT" dirty="0">
                <a:solidFill>
                  <a:srgbClr val="FF0000"/>
                </a:solidFill>
              </a:rPr>
              <a:t>001</a:t>
            </a:r>
            <a:r>
              <a:rPr lang="it-IT" dirty="0">
                <a:solidFill>
                  <a:srgbClr val="0070C0"/>
                </a:solidFill>
              </a:rPr>
              <a:t>001</a:t>
            </a:r>
            <a:r>
              <a:rPr lang="it-IT" dirty="0">
                <a:solidFill>
                  <a:srgbClr val="7030A0"/>
                </a:solidFill>
              </a:rPr>
              <a:t>101</a:t>
            </a:r>
            <a:r>
              <a:rPr lang="it-IT" dirty="0">
                <a:solidFill>
                  <a:sysClr val="windowText" lastClr="000000"/>
                </a:solidFill>
              </a:rPr>
              <a:t>001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0070C0"/>
                </a:solidFill>
              </a:rPr>
              <a:t>1</a:t>
            </a:r>
            <a:r>
              <a:rPr lang="it-IT" dirty="0">
                <a:solidFill>
                  <a:srgbClr val="7030A0"/>
                </a:solidFill>
              </a:rPr>
              <a:t>5</a:t>
            </a:r>
            <a:r>
              <a:rPr lang="it-IT" dirty="0"/>
              <a:t>1)</a:t>
            </a:r>
            <a:r>
              <a:rPr lang="it-IT" baseline="-25000" dirty="0"/>
              <a:t>8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7120875-68DE-46EE-AB1B-A3CA03808605}"/>
              </a:ext>
            </a:extLst>
          </p:cNvPr>
          <p:cNvSpPr txBox="1"/>
          <p:nvPr/>
        </p:nvSpPr>
        <p:spPr>
          <a:xfrm>
            <a:off x="6762582" y="2767886"/>
            <a:ext cx="47420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16</a:t>
            </a:r>
          </a:p>
          <a:p>
            <a:r>
              <a:rPr lang="it-IT" dirty="0">
                <a:solidFill>
                  <a:sysClr val="windowText" lastClr="000000"/>
                </a:solidFill>
              </a:rPr>
              <a:t>(1001101001)</a:t>
            </a:r>
            <a:r>
              <a:rPr lang="it-IT" baseline="-25000" dirty="0"/>
              <a:t> 2</a:t>
            </a:r>
            <a:r>
              <a:rPr lang="it-IT" dirty="0">
                <a:solidFill>
                  <a:sysClr val="windowText" lastClr="000000"/>
                </a:solidFill>
              </a:rPr>
              <a:t> = (?)</a:t>
            </a:r>
            <a:r>
              <a:rPr lang="it-IT" baseline="-25000" dirty="0">
                <a:solidFill>
                  <a:sysClr val="windowText" lastClr="000000"/>
                </a:solidFill>
              </a:rPr>
              <a:t>1</a:t>
            </a:r>
            <a:r>
              <a:rPr lang="it-IT" baseline="-25000" dirty="0"/>
              <a:t>6</a:t>
            </a:r>
            <a:endParaRPr lang="it-IT" dirty="0">
              <a:solidFill>
                <a:sysClr val="windowText" lastClr="000000"/>
              </a:solidFill>
            </a:endParaRPr>
          </a:p>
          <a:p>
            <a:r>
              <a:rPr lang="it-IT" dirty="0"/>
              <a:t>(</a:t>
            </a:r>
            <a:r>
              <a:rPr lang="it-IT" dirty="0">
                <a:solidFill>
                  <a:srgbClr val="FF0000"/>
                </a:solidFill>
              </a:rPr>
              <a:t>0010</a:t>
            </a:r>
            <a:r>
              <a:rPr lang="it-IT" dirty="0">
                <a:solidFill>
                  <a:srgbClr val="0070C0"/>
                </a:solidFill>
              </a:rPr>
              <a:t>0110</a:t>
            </a:r>
            <a:r>
              <a:rPr lang="it-IT" dirty="0"/>
              <a:t>1</a:t>
            </a:r>
            <a:r>
              <a:rPr lang="it-IT" dirty="0">
                <a:solidFill>
                  <a:sysClr val="windowText" lastClr="000000"/>
                </a:solidFill>
              </a:rPr>
              <a:t>001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>
                <a:solidFill>
                  <a:sysClr val="windowText" lastClr="000000"/>
                </a:solidFill>
              </a:rPr>
              <a:t>1</a:t>
            </a:r>
            <a:r>
              <a:rPr lang="it-IT" baseline="-25000" dirty="0"/>
              <a:t>6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0010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0110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6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/>
              <a:t>1001 = 9</a:t>
            </a:r>
          </a:p>
          <a:p>
            <a:pPr lvl="1"/>
            <a:r>
              <a:rPr lang="it-IT" dirty="0">
                <a:solidFill>
                  <a:srgbClr val="7030A0"/>
                </a:solidFill>
              </a:rPr>
              <a:t> </a:t>
            </a:r>
          </a:p>
          <a:p>
            <a:pPr lvl="1"/>
            <a:r>
              <a:rPr lang="it-IT" dirty="0"/>
              <a:t>(</a:t>
            </a:r>
            <a:r>
              <a:rPr lang="it-IT" dirty="0">
                <a:solidFill>
                  <a:srgbClr val="FF0000"/>
                </a:solidFill>
              </a:rPr>
              <a:t>0010</a:t>
            </a:r>
            <a:r>
              <a:rPr lang="it-IT" dirty="0">
                <a:solidFill>
                  <a:srgbClr val="0070C0"/>
                </a:solidFill>
              </a:rPr>
              <a:t>0110</a:t>
            </a:r>
            <a:r>
              <a:rPr lang="it-IT" dirty="0"/>
              <a:t>1</a:t>
            </a:r>
            <a:r>
              <a:rPr lang="it-IT" dirty="0">
                <a:solidFill>
                  <a:sysClr val="windowText" lastClr="000000"/>
                </a:solidFill>
              </a:rPr>
              <a:t>001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0070C0"/>
                </a:solidFill>
              </a:rPr>
              <a:t>6</a:t>
            </a:r>
            <a:r>
              <a:rPr lang="it-IT" dirty="0"/>
              <a:t>9)</a:t>
            </a:r>
            <a:r>
              <a:rPr lang="it-IT" baseline="-25000" dirty="0"/>
              <a:t>16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F1771E9-88CB-4BC1-83EA-79D0F0C2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33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1E782-10FD-4612-9CE4-488249F8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E466F1-1A3F-4D97-93F0-819E5CAA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3) Convertire, se possibile, in decimale i seguenti numeri esadecimali:</a:t>
            </a:r>
          </a:p>
          <a:p>
            <a:pPr lvl="1"/>
            <a:r>
              <a:rPr lang="it-IT" b="1" dirty="0"/>
              <a:t>BARBA</a:t>
            </a:r>
          </a:p>
          <a:p>
            <a:pPr lvl="1"/>
            <a:r>
              <a:rPr lang="it-IT" b="1" dirty="0"/>
              <a:t>DECADE</a:t>
            </a:r>
          </a:p>
          <a:p>
            <a:pPr lvl="1"/>
            <a:r>
              <a:rPr lang="it-IT" b="1" dirty="0"/>
              <a:t>CACCIA</a:t>
            </a:r>
          </a:p>
          <a:p>
            <a:pPr lvl="1"/>
            <a:r>
              <a:rPr lang="it-IT" b="1" dirty="0"/>
              <a:t>EFFE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86821D-3775-4398-932D-2B982C2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9B1BCD-F894-49D0-85B6-20214F7C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8C37FD11-E259-4D93-8A7E-46BB1C49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659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37BFB6-155B-48DD-8D4D-CD751C42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(3) Soluzione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BA37C4-9543-49F4-90F2-9DF92E65E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709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Cifre per codifica esadecimale: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286667-F52D-4912-9080-38561318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F86F72F-51AD-4231-8482-4172E320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57D1890-CFA1-431A-B407-7C4202437534}"/>
              </a:ext>
            </a:extLst>
          </p:cNvPr>
          <p:cNvSpPr txBox="1"/>
          <p:nvPr/>
        </p:nvSpPr>
        <p:spPr>
          <a:xfrm>
            <a:off x="2727158" y="2823411"/>
            <a:ext cx="34330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7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B33375-96E2-4CD6-941C-7A8257093D4D}"/>
              </a:ext>
            </a:extLst>
          </p:cNvPr>
          <p:cNvSpPr txBox="1"/>
          <p:nvPr/>
        </p:nvSpPr>
        <p:spPr>
          <a:xfrm>
            <a:off x="6890084" y="2823410"/>
            <a:ext cx="34330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</a:t>
            </a:r>
          </a:p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937F119-3C1C-4FDA-AEBC-6B8A4FE7A1E9}"/>
              </a:ext>
            </a:extLst>
          </p:cNvPr>
          <p:cNvSpPr txBox="1"/>
          <p:nvPr/>
        </p:nvSpPr>
        <p:spPr>
          <a:xfrm>
            <a:off x="2727158" y="5261811"/>
            <a:ext cx="7595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 un numero presenta cifre diverse da quelle elencate, non è in rappresentazione esadecimale e non può essere convertito.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832B327C-8F63-4C36-B4B8-0536D48F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542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3CCF1-15A0-4800-B980-F3984B9B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4904"/>
          </a:xfrm>
        </p:spPr>
        <p:txBody>
          <a:bodyPr/>
          <a:lstStyle/>
          <a:p>
            <a:r>
              <a:rPr lang="it-IT" b="1" dirty="0"/>
              <a:t>Sistemi di numerazione e cambiamenti di base (3) Soluzione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2F88DA-0B23-4B42-AFFD-9EA5A405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C000"/>
                </a:solidFill>
              </a:rPr>
              <a:t>a)</a:t>
            </a:r>
          </a:p>
          <a:p>
            <a:pPr lvl="1"/>
            <a:r>
              <a:rPr lang="pt-BR" dirty="0"/>
              <a:t>BARBA</a:t>
            </a:r>
          </a:p>
          <a:p>
            <a:pPr lvl="2"/>
            <a:r>
              <a:rPr lang="it-IT" dirty="0"/>
              <a:t>Contiene il carattere R, che non è una cifra della codifica esadecimale. </a:t>
            </a:r>
          </a:p>
          <a:p>
            <a:pPr lvl="2"/>
            <a:r>
              <a:rPr lang="it-IT" dirty="0"/>
              <a:t>Non è convertibile.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1C88F7-6B5D-4135-A5A1-14A7038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69FAF4-2496-4DCF-B5A3-4B90D35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4E962A76-3747-4B55-BD98-6439015D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52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3CCF1-15A0-4800-B980-F3984B9B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4904"/>
          </a:xfrm>
        </p:spPr>
        <p:txBody>
          <a:bodyPr/>
          <a:lstStyle/>
          <a:p>
            <a:r>
              <a:rPr lang="it-IT" b="1" dirty="0"/>
              <a:t>Sistemi di numerazione e cambiamenti di base (3) Soluzione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2F88DA-0B23-4B42-AFFD-9EA5A405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C000"/>
                </a:solidFill>
              </a:rPr>
              <a:t>b)</a:t>
            </a:r>
          </a:p>
          <a:p>
            <a:pPr lvl="1"/>
            <a:r>
              <a:rPr lang="pt-BR" dirty="0"/>
              <a:t>DECADE</a:t>
            </a:r>
          </a:p>
          <a:p>
            <a:pPr lvl="2"/>
            <a:r>
              <a:rPr lang="it-IT" dirty="0"/>
              <a:t>È convertibile</a:t>
            </a:r>
          </a:p>
          <a:p>
            <a:pPr lvl="2"/>
            <a:r>
              <a:rPr lang="pt-BR" dirty="0"/>
              <a:t>(DECADE)</a:t>
            </a:r>
            <a:r>
              <a:rPr lang="it-IT" baseline="-25000" dirty="0"/>
              <a:t> 16</a:t>
            </a:r>
            <a:r>
              <a:rPr lang="pt-BR" dirty="0"/>
              <a:t> = (?)</a:t>
            </a:r>
            <a:r>
              <a:rPr lang="it-IT" baseline="-25000" dirty="0"/>
              <a:t> 10</a:t>
            </a:r>
            <a:endParaRPr lang="pt-BR" dirty="0"/>
          </a:p>
          <a:p>
            <a:pPr lvl="2"/>
            <a:r>
              <a:rPr lang="it-IT" dirty="0"/>
              <a:t>(DECADE)</a:t>
            </a:r>
            <a:r>
              <a:rPr lang="it-IT" baseline="-25000" dirty="0"/>
              <a:t>16</a:t>
            </a:r>
            <a:r>
              <a:rPr lang="it-IT" dirty="0"/>
              <a:t>=14*16</a:t>
            </a:r>
            <a:r>
              <a:rPr lang="it-IT" baseline="30000" dirty="0"/>
              <a:t>0</a:t>
            </a:r>
            <a:r>
              <a:rPr lang="it-IT" dirty="0"/>
              <a:t>+13*16</a:t>
            </a:r>
            <a:r>
              <a:rPr lang="it-IT" baseline="30000" dirty="0"/>
              <a:t>1</a:t>
            </a:r>
            <a:r>
              <a:rPr lang="it-IT" dirty="0"/>
              <a:t>+10*16</a:t>
            </a:r>
            <a:r>
              <a:rPr lang="it-IT" baseline="30000" dirty="0"/>
              <a:t>2</a:t>
            </a:r>
            <a:r>
              <a:rPr lang="it-IT" dirty="0"/>
              <a:t>+12*16</a:t>
            </a:r>
            <a:r>
              <a:rPr lang="it-IT" baseline="30000" dirty="0"/>
              <a:t>3</a:t>
            </a:r>
            <a:r>
              <a:rPr lang="it-IT" dirty="0"/>
              <a:t>+14*16</a:t>
            </a:r>
            <a:r>
              <a:rPr lang="it-IT" baseline="30000" dirty="0"/>
              <a:t>4</a:t>
            </a:r>
            <a:r>
              <a:rPr lang="it-IT" dirty="0"/>
              <a:t>+13*16</a:t>
            </a:r>
            <a:r>
              <a:rPr lang="it-IT" baseline="30000" dirty="0"/>
              <a:t>5</a:t>
            </a:r>
            <a:r>
              <a:rPr lang="it-IT" dirty="0"/>
              <a:t>=(14.600.926)</a:t>
            </a:r>
            <a:r>
              <a:rPr lang="it-IT" baseline="-25000" dirty="0"/>
              <a:t>10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1C88F7-6B5D-4135-A5A1-14A7038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69FAF4-2496-4DCF-B5A3-4B90D35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6BF754B5-F991-43E8-B7BC-0F8D6DDC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542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3CCF1-15A0-4800-B980-F3984B9B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4904"/>
          </a:xfrm>
        </p:spPr>
        <p:txBody>
          <a:bodyPr/>
          <a:lstStyle/>
          <a:p>
            <a:r>
              <a:rPr lang="it-IT" b="1" dirty="0"/>
              <a:t>Sistemi di numerazione e cambiamenti di base (3) 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2F88DA-0B23-4B42-AFFD-9EA5A405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C000"/>
                </a:solidFill>
              </a:rPr>
              <a:t>c)</a:t>
            </a:r>
          </a:p>
          <a:p>
            <a:pPr lvl="1"/>
            <a:r>
              <a:rPr lang="it-IT" dirty="0"/>
              <a:t>CACCIA</a:t>
            </a:r>
          </a:p>
          <a:p>
            <a:pPr lvl="2"/>
            <a:r>
              <a:rPr lang="it-IT" dirty="0"/>
              <a:t>Contiene il carattere I, che non è una cifra della codifica esadecimale. </a:t>
            </a:r>
          </a:p>
          <a:p>
            <a:pPr lvl="2"/>
            <a:r>
              <a:rPr lang="it-IT" dirty="0"/>
              <a:t>Non è convertibile.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1C88F7-6B5D-4135-A5A1-14A7038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69FAF4-2496-4DCF-B5A3-4B90D35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9AF4D9A-F22C-4A0D-A3C4-CA1E2FF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3CCF1-15A0-4800-B980-F3984B9B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4904"/>
          </a:xfrm>
        </p:spPr>
        <p:txBody>
          <a:bodyPr/>
          <a:lstStyle/>
          <a:p>
            <a:r>
              <a:rPr lang="it-IT" b="1" dirty="0"/>
              <a:t>Sistemi di numerazione e cambiamenti di base (3) 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2F88DA-0B23-4B42-AFFD-9EA5A405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C000"/>
                </a:solidFill>
              </a:rPr>
              <a:t>d)</a:t>
            </a:r>
          </a:p>
          <a:p>
            <a:pPr lvl="1"/>
            <a:r>
              <a:rPr lang="it-IT" dirty="0"/>
              <a:t>EFFE</a:t>
            </a:r>
          </a:p>
          <a:p>
            <a:pPr lvl="2"/>
            <a:r>
              <a:rPr lang="it-IT" dirty="0"/>
              <a:t>È convertibile</a:t>
            </a:r>
          </a:p>
          <a:p>
            <a:pPr lvl="2"/>
            <a:r>
              <a:rPr lang="pt-BR" dirty="0"/>
              <a:t>(EFFE)</a:t>
            </a:r>
            <a:r>
              <a:rPr lang="it-IT" baseline="-25000" dirty="0"/>
              <a:t> 16</a:t>
            </a:r>
            <a:r>
              <a:rPr lang="pt-BR" dirty="0"/>
              <a:t> = (?)</a:t>
            </a:r>
            <a:r>
              <a:rPr lang="it-IT" baseline="-25000" dirty="0"/>
              <a:t> 10</a:t>
            </a:r>
            <a:endParaRPr lang="pt-BR" baseline="-25000" dirty="0"/>
          </a:p>
          <a:p>
            <a:pPr lvl="2"/>
            <a:r>
              <a:rPr lang="it-IT" dirty="0"/>
              <a:t>(EFFE)</a:t>
            </a:r>
            <a:r>
              <a:rPr lang="it-IT" baseline="-25000" dirty="0"/>
              <a:t>16</a:t>
            </a:r>
            <a:r>
              <a:rPr lang="it-IT" dirty="0"/>
              <a:t>=14*16</a:t>
            </a:r>
            <a:r>
              <a:rPr lang="it-IT" baseline="30000" dirty="0"/>
              <a:t>0</a:t>
            </a:r>
            <a:r>
              <a:rPr lang="it-IT" dirty="0"/>
              <a:t>+15*16</a:t>
            </a:r>
            <a:r>
              <a:rPr lang="it-IT" baseline="30000" dirty="0"/>
              <a:t>1</a:t>
            </a:r>
            <a:r>
              <a:rPr lang="it-IT" dirty="0"/>
              <a:t>+15*16</a:t>
            </a:r>
            <a:r>
              <a:rPr lang="it-IT" baseline="30000" dirty="0"/>
              <a:t>2</a:t>
            </a:r>
            <a:r>
              <a:rPr lang="it-IT" dirty="0"/>
              <a:t>+14*16</a:t>
            </a:r>
            <a:r>
              <a:rPr lang="it-IT" baseline="30000" dirty="0"/>
              <a:t>3</a:t>
            </a:r>
            <a:r>
              <a:rPr lang="it-IT" dirty="0"/>
              <a:t>=(61.438)</a:t>
            </a:r>
            <a:r>
              <a:rPr lang="it-IT" baseline="-25000" dirty="0"/>
              <a:t>10</a:t>
            </a:r>
            <a:endParaRPr lang="it-IT" b="0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11C88F7-6B5D-4135-A5A1-14A7038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E69FAF4-2496-4DCF-B5A3-4B90D35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4C150A1-FE6D-4C79-959C-95C3824E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64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1E782-10FD-4612-9CE4-488249F8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E466F1-1A3F-4D97-93F0-819E5CAA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4. Quanti numeri diversi si possono rappresentare con </a:t>
            </a:r>
            <a:r>
              <a:rPr lang="it-IT" b="1" i="1" dirty="0"/>
              <a:t>k </a:t>
            </a:r>
            <a:r>
              <a:rPr lang="it-IT" b="1" dirty="0"/>
              <a:t>cifre in base </a:t>
            </a:r>
            <a:r>
              <a:rPr lang="it-IT" b="1" i="1" dirty="0"/>
              <a:t>b</a:t>
            </a:r>
            <a:r>
              <a:rPr lang="it-IT" b="1" dirty="0"/>
              <a:t>?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Se ne possono rappresentare esattamente </a:t>
            </a:r>
            <a:r>
              <a:rPr lang="it-IT" dirty="0" err="1"/>
              <a:t>b</a:t>
            </a:r>
            <a:r>
              <a:rPr lang="it-IT" baseline="30000" dirty="0" err="1"/>
              <a:t>k</a:t>
            </a:r>
            <a:r>
              <a:rPr lang="it-IT" dirty="0"/>
              <a:t>, che corrispondono a tutte le possibili combinazioni delle </a:t>
            </a:r>
            <a:r>
              <a:rPr lang="it-IT" i="1" dirty="0"/>
              <a:t>b</a:t>
            </a:r>
            <a:r>
              <a:rPr lang="it-IT" dirty="0"/>
              <a:t> cifre in k modi diversi.</a:t>
            </a:r>
          </a:p>
          <a:p>
            <a:pPr marL="457200" lvl="1" indent="0">
              <a:buNone/>
            </a:pPr>
            <a:endParaRPr lang="it-IT" b="1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86821D-3775-4398-932D-2B982C2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9B1BCD-F894-49D0-85B6-20214F7C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72B2F44-FD7F-4113-BEA4-477AA7F8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3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BEC820D-EBE6-4C7B-AB46-9E44A7B8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71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1) Semplificare le seguenti espressioni logiche:</a:t>
                </a:r>
                <a:endParaRPr lang="it-IT" dirty="0"/>
              </a:p>
              <a:p>
                <a:pPr lvl="1"/>
                <a:r>
                  <a:rPr lang="it-IT" b="1" dirty="0"/>
                  <a:t>AB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̿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CD+ABCD</a:t>
                </a:r>
                <a:endParaRPr lang="it-IT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9FD03739-D0C9-412E-A065-F4666269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0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640B1-4FE2-4B4B-88B2-EB1ACACB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Soluzioni (1)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6C47CA9-91A6-4810-802B-E5AD55D920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589211" y="2855494"/>
                <a:ext cx="4313865" cy="3055727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it-IT" u="sng" dirty="0"/>
                  <a:t>Commutativa</a:t>
                </a:r>
                <a:endParaRPr lang="it-IT" dirty="0"/>
              </a:p>
              <a:p>
                <a:pPr lvl="1"/>
                <a:r>
                  <a:rPr lang="it-IT" dirty="0" err="1"/>
                  <a:t>a+b</a:t>
                </a:r>
                <a:r>
                  <a:rPr lang="it-IT" dirty="0"/>
                  <a:t>=</a:t>
                </a:r>
                <a:r>
                  <a:rPr lang="it-IT" dirty="0" err="1"/>
                  <a:t>b+a</a:t>
                </a:r>
                <a:r>
                  <a:rPr lang="it-IT" dirty="0"/>
                  <a:t>, a*b=b*a</a:t>
                </a:r>
              </a:p>
              <a:p>
                <a:pPr>
                  <a:buFont typeface="+mj-lt"/>
                  <a:buAutoNum type="arabicPeriod"/>
                </a:pPr>
                <a:r>
                  <a:rPr lang="it-IT" u="sng" dirty="0"/>
                  <a:t>Associativa</a:t>
                </a:r>
                <a:endParaRPr lang="it-IT" dirty="0"/>
              </a:p>
              <a:p>
                <a:pPr lvl="1"/>
                <a:r>
                  <a:rPr lang="it-IT" dirty="0"/>
                  <a:t>a+(</a:t>
                </a:r>
                <a:r>
                  <a:rPr lang="it-IT" dirty="0" err="1"/>
                  <a:t>b+c</a:t>
                </a:r>
                <a:r>
                  <a:rPr lang="it-IT" dirty="0"/>
                  <a:t>)=(</a:t>
                </a:r>
                <a:r>
                  <a:rPr lang="it-IT" dirty="0" err="1"/>
                  <a:t>a+b</a:t>
                </a:r>
                <a:r>
                  <a:rPr lang="it-IT" dirty="0"/>
                  <a:t>)+c, a*(b*c)=(a*b)*c</a:t>
                </a:r>
              </a:p>
              <a:p>
                <a:pPr>
                  <a:buFont typeface="+mj-lt"/>
                  <a:buAutoNum type="arabicPeriod"/>
                </a:pPr>
                <a:r>
                  <a:rPr lang="it-IT" u="sng" dirty="0"/>
                  <a:t>Assorbimento(1)</a:t>
                </a:r>
                <a:endParaRPr lang="it-IT" dirty="0"/>
              </a:p>
              <a:p>
                <a:pPr lvl="1"/>
                <a:r>
                  <a:rPr lang="it-IT" dirty="0"/>
                  <a:t>a+(a*b) = a, a*(</a:t>
                </a:r>
                <a:r>
                  <a:rPr lang="it-IT" dirty="0" err="1"/>
                  <a:t>a+b</a:t>
                </a:r>
                <a:r>
                  <a:rPr lang="it-IT" dirty="0"/>
                  <a:t>)=a</a:t>
                </a:r>
              </a:p>
              <a:p>
                <a:pPr>
                  <a:buFont typeface="+mj-lt"/>
                  <a:buAutoNum type="arabicPeriod"/>
                </a:pPr>
                <a:r>
                  <a:rPr lang="it-IT" u="sng" dirty="0"/>
                  <a:t>Assorbimento(2)</a:t>
                </a:r>
                <a:endParaRPr lang="it-IT" dirty="0"/>
              </a:p>
              <a:p>
                <a:pPr lvl="1"/>
                <a:r>
                  <a:rPr lang="es-ES" dirty="0"/>
                  <a:t>a +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s-ES" dirty="0"/>
                  <a:t> </a:t>
                </a:r>
                <a:r>
                  <a:rPr lang="es-ES" baseline="30000" dirty="0"/>
                  <a:t>.</a:t>
                </a:r>
                <a:r>
                  <a:rPr lang="es-ES" dirty="0"/>
                  <a:t> b =  a + </a:t>
                </a:r>
                <a:r>
                  <a:rPr lang="it-IT" dirty="0"/>
                  <a:t>b, </a:t>
                </a:r>
              </a:p>
              <a:p>
                <a:pPr>
                  <a:buFont typeface="+mj-lt"/>
                  <a:buAutoNum type="arabicPeriod"/>
                </a:pPr>
                <a:r>
                  <a:rPr lang="it-IT" u="sng" dirty="0"/>
                  <a:t>Distributiva</a:t>
                </a:r>
                <a:endParaRPr lang="it-IT" dirty="0"/>
              </a:p>
              <a:p>
                <a:pPr lvl="1"/>
                <a:r>
                  <a:rPr lang="it-IT" dirty="0"/>
                  <a:t>a*(</a:t>
                </a:r>
                <a:r>
                  <a:rPr lang="it-IT" dirty="0" err="1"/>
                  <a:t>b+c</a:t>
                </a:r>
                <a:r>
                  <a:rPr lang="it-IT" dirty="0"/>
                  <a:t>)=(a*b)+(a*c), a+(b*c)=(</a:t>
                </a:r>
                <a:r>
                  <a:rPr lang="it-IT" dirty="0" err="1"/>
                  <a:t>a+b</a:t>
                </a:r>
                <a:r>
                  <a:rPr lang="it-IT" dirty="0"/>
                  <a:t>)*(</a:t>
                </a:r>
                <a:r>
                  <a:rPr lang="it-IT" dirty="0" err="1"/>
                  <a:t>a+c</a:t>
                </a:r>
                <a:r>
                  <a:rPr lang="it-IT" dirty="0"/>
                  <a:t>)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6C47CA9-91A6-4810-802B-E5AD55D920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589211" y="2855494"/>
                <a:ext cx="4313865" cy="3055727"/>
              </a:xfrm>
              <a:blipFill>
                <a:blip r:embed="rId2"/>
                <a:stretch>
                  <a:fillRect l="-424" t="-15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E9B21DA-F738-4576-AEE1-EED8FE6EB5E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934073" y="2855494"/>
                <a:ext cx="4313864" cy="304835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Idempotenza</a:t>
                </a:r>
                <a:endParaRPr lang="it-IT" dirty="0"/>
              </a:p>
              <a:p>
                <a:pPr lvl="1"/>
                <a:r>
                  <a:rPr lang="it-IT" dirty="0" err="1"/>
                  <a:t>a+a</a:t>
                </a:r>
                <a:r>
                  <a:rPr lang="it-IT" dirty="0"/>
                  <a:t>=a, a*a=a</a:t>
                </a:r>
                <a:endParaRPr lang="it-IT" u="sng" dirty="0"/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minimo e massimo</a:t>
                </a:r>
                <a:endParaRPr lang="it-IT" dirty="0"/>
              </a:p>
              <a:p>
                <a:pPr lvl="1"/>
                <a:r>
                  <a:rPr lang="it-IT" dirty="0"/>
                  <a:t>a*0 = 0, a+1=1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complemento</a:t>
                </a:r>
                <a:endParaRPr lang="it-IT" dirty="0"/>
              </a:p>
              <a:p>
                <a:pPr lvl="1"/>
                <a:r>
                  <a:rPr lang="it-IT" dirty="0"/>
                  <a:t>a*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it-IT" dirty="0"/>
                  <a:t>=0, a+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=1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elemento neutro</a:t>
                </a:r>
                <a:endParaRPr lang="it-IT" dirty="0"/>
              </a:p>
              <a:p>
                <a:pPr lvl="1"/>
                <a:r>
                  <a:rPr lang="it-IT" dirty="0"/>
                  <a:t>a+0=a, a*1=a 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Doppia negazione</a:t>
                </a:r>
                <a:endParaRPr lang="it-IT" dirty="0"/>
              </a:p>
              <a:p>
                <a:pPr lvl="1"/>
                <a:r>
                  <a:rPr lang="it-IT" dirty="0"/>
                  <a:t>a =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E9B21DA-F738-4576-AEE1-EED8FE6EB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934073" y="2855494"/>
                <a:ext cx="4313864" cy="3048350"/>
              </a:xfrm>
              <a:blipFill>
                <a:blip r:embed="rId3"/>
                <a:stretch>
                  <a:fillRect l="-282" t="-16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B26D74-8938-4EC7-A257-7FCE28F8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5BE58-99B6-4D2A-ACDE-BAD10A04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6B1FA77-BA29-44E2-A389-3308DFB8F972}"/>
              </a:ext>
            </a:extLst>
          </p:cNvPr>
          <p:cNvSpPr txBox="1"/>
          <p:nvPr/>
        </p:nvSpPr>
        <p:spPr>
          <a:xfrm>
            <a:off x="2589212" y="1905000"/>
            <a:ext cx="891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Un’ algebra di Boole è una tripla (K, +, *), in cui K è un insieme e + e * sono delle operazioni tra gli elementi dell’insieme K. Per le operazioni, valgono le seguenti proprietà:</a:t>
            </a:r>
          </a:p>
          <a:p>
            <a:pPr marL="342900" indent="-342900">
              <a:buFont typeface="+mj-lt"/>
              <a:buAutoNum type="arabicParenR"/>
            </a:pPr>
            <a:endParaRPr lang="it-IT" dirty="0"/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DBD25F23-76C8-4782-9487-6025529A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252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Per semplificare, si intende una espressione equivalente a quella proposta in esercizio e non immediatamente riconducibile a una più semplice. Si tenga presente che la soluzione proposta non è l’unica. Applicheremo le proprietà appena illustrate.</a:t>
            </a:r>
          </a:p>
          <a:p>
            <a:pPr marL="0" indent="0">
              <a:buNone/>
            </a:pPr>
            <a:endParaRPr lang="it-IT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7D6063D-A900-438A-A0BD-6A65BAD0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48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Soluzioni (3)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6538746" cy="37776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a) AB +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</a:t>
                </a:r>
              </a:p>
              <a:p>
                <a:r>
                  <a:rPr lang="it-IT" dirty="0"/>
                  <a:t>= A(B +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C) =			 					per (5)</a:t>
                </a:r>
              </a:p>
              <a:p>
                <a:r>
                  <a:rPr lang="it-IT" dirty="0"/>
                  <a:t>= A(B + C) =									per (4)</a:t>
                </a:r>
              </a:p>
              <a:p>
                <a:r>
                  <a:rPr lang="it-IT" dirty="0"/>
                  <a:t>= AB +AC 									per (5)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6538746" cy="3777622"/>
              </a:xfrm>
              <a:blipFill>
                <a:blip r:embed="rId2"/>
                <a:stretch>
                  <a:fillRect l="-840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4473935F-528D-4B7B-B930-1A854D66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460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Soluzioni (4)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752556" cy="3777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b)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it-IT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CD+ABCD</a:t>
                </a:r>
              </a:p>
              <a:p>
                <a:r>
                  <a:rPr lang="it-IT" dirty="0"/>
                  <a:t>= CD(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 + AB) = 											per (5)</a:t>
                </a:r>
              </a:p>
              <a:p>
                <a:r>
                  <a:rPr lang="it-IT" dirty="0"/>
                  <a:t>= CD(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B) + AB) =											per (5)</a:t>
                </a:r>
              </a:p>
              <a:p>
                <a:r>
                  <a:rPr lang="it-IT" dirty="0"/>
                  <a:t>= CD(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(1) + AB) = 												per (7)</a:t>
                </a:r>
              </a:p>
              <a:p>
                <a:r>
                  <a:rPr lang="it-IT" dirty="0"/>
                  <a:t>= CD(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AB) =													per (8)</a:t>
                </a:r>
              </a:p>
              <a:p>
                <a:r>
                  <a:rPr lang="it-IT" dirty="0"/>
                  <a:t>= CD(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B) =														per (4)</a:t>
                </a:r>
              </a:p>
              <a:p>
                <a:r>
                  <a:rPr lang="it-IT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CD + BCD														per (5)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752556" cy="3777622"/>
              </a:xfrm>
              <a:blipFill>
                <a:blip r:embed="rId2"/>
                <a:stretch>
                  <a:fillRect l="-627" t="-11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6D26CF69-C5E2-4E8C-9644-F0C27656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03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2) Dimostrare la validità o meno delle seguenti uguaglianze logiche: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AB+AC = A(B+C)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+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+BC=1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+CB=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B=0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A = (ABC) + (A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𝑩𝑪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it-IT" b="1" dirty="0"/>
                  <a:t>)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dirty="0"/>
                          <m:t>(</m:t>
                        </m:r>
                        <m:r>
                          <m:rPr>
                            <m:nor/>
                          </m:rPr>
                          <a:rPr lang="it-IT" b="1" dirty="0"/>
                          <m:t>A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B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C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D</m:t>
                        </m:r>
                        <m:r>
                          <m:rPr>
                            <m:nor/>
                          </m:rPr>
                          <a:rPr lang="it-IT" b="1" dirty="0"/>
                          <m:t>)</m:t>
                        </m:r>
                      </m:e>
                    </m:acc>
                  </m:oMath>
                </a14:m>
                <a:r>
                  <a:rPr lang="it-IT" b="1" dirty="0"/>
                  <a:t>= A B C D</a:t>
                </a:r>
                <a:endParaRPr lang="it-IT" dirty="0">
                  <a:effectLst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84B6EEB-F862-4096-B005-448DC121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34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66CF61-1AE7-476B-8FB7-02FF8BC2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752556" cy="3777622"/>
          </a:xfrm>
        </p:spPr>
        <p:txBody>
          <a:bodyPr>
            <a:normAutofit/>
          </a:bodyPr>
          <a:lstStyle/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3813AD2-CC28-4CB7-937E-A14B76F705FA}"/>
              </a:ext>
            </a:extLst>
          </p:cNvPr>
          <p:cNvSpPr txBox="1"/>
          <p:nvPr/>
        </p:nvSpPr>
        <p:spPr>
          <a:xfrm>
            <a:off x="2727158" y="2245895"/>
            <a:ext cx="7482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Dimostrare l’equivalenza tra due espressioni booleane: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Utilizzare le proprietà per trasformare un’espressione nell’altra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Confrontare le tavole di verità delle due espressioni.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1AA32CE5-BB53-42FC-82CA-A93DE614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996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66CF61-1AE7-476B-8FB7-02FF8BC2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54952"/>
            <a:ext cx="6538746" cy="46522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a) AB+AC = A(B+C)</a:t>
            </a:r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E9C59B9-AF41-4355-AA64-F3B9A4465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91005"/>
              </p:ext>
            </p:extLst>
          </p:nvPr>
        </p:nvGraphicFramePr>
        <p:xfrm>
          <a:off x="2589212" y="2487352"/>
          <a:ext cx="8128000" cy="364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531994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63457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760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330198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09852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 dirty="0">
                          <a:effectLst/>
                        </a:rPr>
                        <a:t>A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 dirty="0">
                          <a:effectLst/>
                        </a:rPr>
                        <a:t>C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F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G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6679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5745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282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0633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3971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787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312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019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835547036"/>
                  </a:ext>
                </a:extLst>
              </a:tr>
            </a:tbl>
          </a:graphicData>
        </a:graphic>
      </p:graphicFrame>
      <p:sp>
        <p:nvSpPr>
          <p:cNvPr id="6" name="Segnaposto data 5">
            <a:extLst>
              <a:ext uri="{FF2B5EF4-FFF2-40B4-BE49-F238E27FC236}">
                <a16:creationId xmlns:a16="http://schemas.microsoft.com/office/drawing/2014/main" id="{B5573A38-E297-41D9-9B1C-59E89D76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50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66CF61-1AE7-476B-8FB7-02FF8BC2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6538746" cy="3632299"/>
          </a:xfrm>
        </p:spPr>
        <p:txBody>
          <a:bodyPr>
            <a:normAutofit/>
          </a:bodyPr>
          <a:lstStyle/>
          <a:p>
            <a:pPr>
              <a:buAutoNum type="alphaLcParenR"/>
            </a:pPr>
            <a:r>
              <a:rPr lang="it-IT" dirty="0"/>
              <a:t>AB+AC = A(B+C) </a:t>
            </a:r>
          </a:p>
          <a:p>
            <a:pPr marL="0" indent="0">
              <a:buNone/>
            </a:pPr>
            <a:r>
              <a:rPr lang="it-IT" dirty="0"/>
              <a:t>Con F = AB+AC e G = A(B+C) </a:t>
            </a:r>
          </a:p>
          <a:p>
            <a:pPr marL="0" indent="0">
              <a:buNone/>
            </a:pPr>
            <a:r>
              <a:rPr lang="it-IT" dirty="0"/>
              <a:t>VERO</a:t>
            </a:r>
          </a:p>
          <a:p>
            <a:pPr marL="0" indent="0">
              <a:buNone/>
            </a:pPr>
            <a:r>
              <a:rPr lang="it-IT" dirty="0"/>
              <a:t>Le due espressioni hanno la stessa tabella di verità e, dunque, sono equivalenti.</a:t>
            </a:r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D5B089F-3B65-4E04-9634-8D778D1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21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(4)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963565"/>
                <a:ext cx="6538746" cy="365125"/>
              </a:xfrm>
            </p:spPr>
            <p:txBody>
              <a:bodyPr/>
              <a:lstStyle/>
              <a:p>
                <a:pPr marL="457200" lvl="1" indent="0">
                  <a:buNone/>
                </a:pPr>
                <a:r>
                  <a:rPr lang="it-IT" dirty="0"/>
                  <a:t>b)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+BC=1</a:t>
                </a:r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963565"/>
                <a:ext cx="6538746" cy="365125"/>
              </a:xfrm>
              <a:blipFill>
                <a:blip r:embed="rId2"/>
                <a:stretch>
                  <a:fillRect t="-5000"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8E88432-E2E4-4043-91F7-2F0711E9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96B1E1F-8DAA-44E5-9BC9-80FA71A2E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208992"/>
              </p:ext>
            </p:extLst>
          </p:nvPr>
        </p:nvGraphicFramePr>
        <p:xfrm>
          <a:off x="2806753" y="2531673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917417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81428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8305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166975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63763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3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4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47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85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66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79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1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40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608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87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8BAD91-21F8-4BB6-84CF-5D4D45BD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(5)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423D2D-4714-4FC5-B1CB-8186FE130D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lphaLcParenR" startAt="2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+BC=1</a:t>
                </a:r>
              </a:p>
              <a:p>
                <a:pPr marL="0" indent="0">
                  <a:buNone/>
                </a:pPr>
                <a:r>
                  <a:rPr lang="it-IT" dirty="0"/>
                  <a:t>Con F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+BC e G =1</a:t>
                </a:r>
              </a:p>
              <a:p>
                <a:pPr marL="0" indent="0">
                  <a:buNone/>
                </a:pPr>
                <a:r>
                  <a:rPr lang="it-IT" dirty="0"/>
                  <a:t>FALSO</a:t>
                </a:r>
              </a:p>
              <a:p>
                <a:pPr marL="0" indent="0">
                  <a:buNone/>
                </a:pPr>
                <a:r>
                  <a:rPr lang="it-IT" dirty="0"/>
                  <a:t>Le due espressioni non hanno la stessa tabella di verità e, dunque, </a:t>
                </a:r>
                <a:r>
                  <a:rPr lang="it-IT" u="sng" dirty="0"/>
                  <a:t>non</a:t>
                </a:r>
                <a:r>
                  <a:rPr lang="it-IT" dirty="0"/>
                  <a:t> sono equivalenti.</a:t>
                </a:r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423D2D-4714-4FC5-B1CB-8186FE130D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E1F818-07ED-4175-B17F-2ECEF92A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C9DB7A-A1D1-4A32-A326-D83BBED5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0E4B07-230A-4A3E-B1E1-242C1E70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57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(6)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854952"/>
                <a:ext cx="6538746" cy="465221"/>
              </a:xfrm>
            </p:spPr>
            <p:txBody>
              <a:bodyPr/>
              <a:lstStyle/>
              <a:p>
                <a:pPr marL="457200" lvl="1" indent="0">
                  <a:buNone/>
                </a:pPr>
                <a:r>
                  <a:rPr lang="it-IT" dirty="0"/>
                  <a:t>c)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+CB=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854952"/>
                <a:ext cx="6538746" cy="465221"/>
              </a:xfrm>
              <a:blipFill>
                <a:blip r:embed="rId2"/>
                <a:stretch>
                  <a:fillRect t="-38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E9C59B9-AF41-4355-AA64-F3B9A4465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852790"/>
              </p:ext>
            </p:extLst>
          </p:nvPr>
        </p:nvGraphicFramePr>
        <p:xfrm>
          <a:off x="2589212" y="2487352"/>
          <a:ext cx="8128000" cy="364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531994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63457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76031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330198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09852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A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F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b="1">
                          <a:effectLst/>
                        </a:rPr>
                        <a:t>G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6679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5745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282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0633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00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00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3971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787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312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019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0000"/>
                          </a:highlight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dirty="0">
                          <a:effectLst/>
                          <a:highlight>
                            <a:srgbClr val="FF0000"/>
                          </a:highlight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835547036"/>
                  </a:ext>
                </a:extLst>
              </a:tr>
            </a:tbl>
          </a:graphicData>
        </a:graphic>
      </p:graphicFrame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63A8EC1-836F-499B-ABD6-1296B7C2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82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(7)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6538746" cy="3632299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lphaLcParenR" startAt="3"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+CB=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Con F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+CB e G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FALSO</a:t>
                </a:r>
              </a:p>
              <a:p>
                <a:pPr marL="0" indent="0">
                  <a:buNone/>
                </a:pPr>
                <a:r>
                  <a:rPr lang="it-IT" dirty="0"/>
                  <a:t>Le due espressioni non hanno la stessa tabella di verità e, dunque, </a:t>
                </a:r>
                <a:r>
                  <a:rPr lang="it-IT" u="sng" dirty="0"/>
                  <a:t>non</a:t>
                </a:r>
                <a:r>
                  <a:rPr lang="it-IT" dirty="0"/>
                  <a:t> sono equivalenti.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6538746" cy="3632299"/>
              </a:xfrm>
              <a:blipFill>
                <a:blip r:embed="rId2"/>
                <a:stretch>
                  <a:fillRect l="-840" t="-839" r="-14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BAA1976E-1032-414F-8D1A-81F65281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361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(8)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963565"/>
                <a:ext cx="6538746" cy="3442624"/>
              </a:xfrm>
            </p:spPr>
            <p:txBody>
              <a:bodyPr/>
              <a:lstStyle/>
              <a:p>
                <a:pPr marL="457200" lvl="1" indent="0">
                  <a:buNone/>
                </a:pPr>
                <a:r>
                  <a:rPr lang="it-IT" dirty="0"/>
                  <a:t>d)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B=0</a:t>
                </a:r>
              </a:p>
              <a:p>
                <a:endParaRPr lang="it-IT" dirty="0"/>
              </a:p>
              <a:p>
                <a:pPr lvl="1"/>
                <a:r>
                  <a:rPr lang="it-IT" dirty="0"/>
                  <a:t>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B=</a:t>
                </a:r>
              </a:p>
              <a:p>
                <a:pPr lvl="1"/>
                <a:r>
                  <a:rPr lang="it-IT" dirty="0"/>
                  <a:t>=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it-IT" dirty="0"/>
                  <a:t>= 										per (3)</a:t>
                </a:r>
              </a:p>
              <a:p>
                <a:pPr lvl="1"/>
                <a:r>
                  <a:rPr lang="it-IT" dirty="0"/>
                  <a:t>!= 0										</a:t>
                </a:r>
              </a:p>
              <a:p>
                <a:pPr marL="457200" lvl="1" indent="0">
                  <a:buNone/>
                </a:pPr>
                <a:r>
                  <a:rPr lang="it-IT" dirty="0"/>
                  <a:t>FALSO</a:t>
                </a:r>
              </a:p>
              <a:p>
                <a:pPr marL="457200" lvl="1" indent="0">
                  <a:buNone/>
                </a:pPr>
                <a:r>
                  <a:rPr lang="it-IT" dirty="0"/>
                  <a:t>NON è possibile trasformare la prima espressione nella seconda.</a:t>
                </a:r>
              </a:p>
              <a:p>
                <a:pPr marL="457200" lvl="1" indent="0">
                  <a:buNone/>
                </a:pPr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963565"/>
                <a:ext cx="6538746" cy="3442624"/>
              </a:xfrm>
              <a:blipFill>
                <a:blip r:embed="rId2"/>
                <a:stretch>
                  <a:fillRect t="-5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F63F385D-6AD5-4C52-A47E-C08A88E6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8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(9)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963565"/>
                <a:ext cx="6538746" cy="3988056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it-IT" dirty="0"/>
                  <a:t>e) A = (ABC) + (A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it-IT" dirty="0"/>
                  <a:t>)</a:t>
                </a:r>
              </a:p>
              <a:p>
                <a:pPr marL="457200" lvl="1" indent="0">
                  <a:buNone/>
                </a:pPr>
                <a:endParaRPr lang="it-IT" dirty="0"/>
              </a:p>
              <a:p>
                <a:pPr lvl="1"/>
                <a:r>
                  <a:rPr lang="it-IT" dirty="0"/>
                  <a:t>(ABC) + (A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it-IT" dirty="0"/>
                  <a:t>) =</a:t>
                </a:r>
              </a:p>
              <a:p>
                <a:pPr lvl="1"/>
                <a:r>
                  <a:rPr lang="it-IT" dirty="0"/>
                  <a:t>= A(BC) +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= 							per (2)</a:t>
                </a:r>
              </a:p>
              <a:p>
                <a:pPr lvl="1"/>
                <a:r>
                  <a:rPr lang="it-IT" dirty="0"/>
                  <a:t>= A(BC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it-IT" dirty="0"/>
                  <a:t>) =							per (4)</a:t>
                </a:r>
              </a:p>
              <a:p>
                <a:pPr lvl="1"/>
                <a:r>
                  <a:rPr lang="it-IT" dirty="0"/>
                  <a:t>= A(1) = 									per (7)</a:t>
                </a:r>
              </a:p>
              <a:p>
                <a:pPr lvl="1"/>
                <a:r>
                  <a:rPr lang="it-IT" dirty="0"/>
                  <a:t>= A 										per (8)</a:t>
                </a:r>
              </a:p>
              <a:p>
                <a:pPr marL="457200" lvl="1" indent="0">
                  <a:buNone/>
                </a:pPr>
                <a:r>
                  <a:rPr lang="it-IT" dirty="0"/>
                  <a:t>VERO</a:t>
                </a:r>
              </a:p>
              <a:p>
                <a:pPr marL="457200" lvl="1" indent="0">
                  <a:buNone/>
                </a:pPr>
                <a:r>
                  <a:rPr lang="it-IT" dirty="0"/>
                  <a:t>È possibile trasformare la seconda espressione nella prima.</a:t>
                </a:r>
              </a:p>
              <a:p>
                <a:pPr marL="457200" lvl="1" indent="0">
                  <a:buNone/>
                </a:pPr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963565"/>
                <a:ext cx="6538746" cy="3988056"/>
              </a:xfrm>
              <a:blipFill>
                <a:blip r:embed="rId2"/>
                <a:stretch>
                  <a:fillRect t="-3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59125C8-87B6-4DC9-AFF2-41C81BEB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89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(10)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854952"/>
                <a:ext cx="6538746" cy="4652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f)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dirty="0"/>
                          <m:t>(</m:t>
                        </m:r>
                        <m:r>
                          <m:rPr>
                            <m:nor/>
                          </m:rPr>
                          <a:rPr lang="it-IT" dirty="0"/>
                          <m:t>A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B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C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D</m:t>
                        </m:r>
                        <m:r>
                          <m:rPr>
                            <m:nor/>
                          </m:rPr>
                          <a:rPr lang="it-IT" dirty="0"/>
                          <m:t>)</m:t>
                        </m:r>
                      </m:e>
                    </m:acc>
                  </m:oMath>
                </a14:m>
                <a:r>
                  <a:rPr lang="it-IT" dirty="0"/>
                  <a:t>= A B C D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854952"/>
                <a:ext cx="6538746" cy="465221"/>
              </a:xfrm>
              <a:blipFill>
                <a:blip r:embed="rId2"/>
                <a:stretch>
                  <a:fillRect l="-840" t="-2597" b="-25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62C38C12-6DFC-4269-B745-7F1EEDD8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E088CD6-EE6B-404B-ABB2-10F1BD7B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559" y="2321903"/>
            <a:ext cx="3776051" cy="38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29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Soluzioni (11)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6538746" cy="3632299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lphaLcParenR" startAt="6"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dirty="0"/>
                          <m:t>(</m:t>
                        </m:r>
                        <m:r>
                          <m:rPr>
                            <m:nor/>
                          </m:rPr>
                          <a:rPr lang="it-IT" dirty="0"/>
                          <m:t>A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B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C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D</m:t>
                        </m:r>
                        <m:r>
                          <m:rPr>
                            <m:nor/>
                          </m:rPr>
                          <a:rPr lang="it-IT" dirty="0"/>
                          <m:t>)</m:t>
                        </m:r>
                      </m:e>
                    </m:acc>
                  </m:oMath>
                </a14:m>
                <a:r>
                  <a:rPr lang="it-IT" dirty="0"/>
                  <a:t>= A B C D</a:t>
                </a:r>
              </a:p>
              <a:p>
                <a:pPr marL="0" indent="0">
                  <a:buNone/>
                </a:pPr>
                <a:r>
                  <a:rPr lang="it-IT" dirty="0"/>
                  <a:t>Con F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dirty="0"/>
                          <m:t>(</m:t>
                        </m:r>
                        <m:r>
                          <m:rPr>
                            <m:nor/>
                          </m:rPr>
                          <a:rPr lang="it-IT" dirty="0"/>
                          <m:t>A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B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C</m:t>
                        </m:r>
                        <m:r>
                          <m:rPr>
                            <m:nor/>
                          </m:rPr>
                          <a:rPr lang="it-IT" dirty="0"/>
                          <m:t>+</m:t>
                        </m:r>
                        <m:r>
                          <m:rPr>
                            <m:nor/>
                          </m:rPr>
                          <a:rPr lang="it-IT" dirty="0"/>
                          <m:t>D</m:t>
                        </m:r>
                        <m:r>
                          <m:rPr>
                            <m:nor/>
                          </m:rPr>
                          <a:rPr lang="it-IT" dirty="0"/>
                          <m:t>)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e G =A B C D</a:t>
                </a:r>
              </a:p>
              <a:p>
                <a:pPr marL="0" indent="0">
                  <a:buNone/>
                </a:pPr>
                <a:r>
                  <a:rPr lang="it-IT" dirty="0"/>
                  <a:t>VERO</a:t>
                </a:r>
              </a:p>
              <a:p>
                <a:pPr marL="0" indent="0">
                  <a:buNone/>
                </a:pPr>
                <a:r>
                  <a:rPr lang="it-IT" dirty="0"/>
                  <a:t>Le due espressioni hanno la stessa tabella di verità e, dunque, sono equivalenti.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6CF61-1AE7-476B-8FB7-02FF8BC2C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6538746" cy="3632299"/>
              </a:xfrm>
              <a:blipFill>
                <a:blip r:embed="rId2"/>
                <a:stretch>
                  <a:fillRect l="-840" t="-3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9E09B4A1-2637-4410-9D9B-2742B5BAA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648741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432</TotalTime>
  <Words>2626</Words>
  <Application>Microsoft Office PowerPoint</Application>
  <PresentationFormat>Widescreen</PresentationFormat>
  <Paragraphs>561</Paragraphs>
  <Slides>42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Century Gothic</vt:lpstr>
      <vt:lpstr>Wingdings</vt:lpstr>
      <vt:lpstr>Wingdings 3</vt:lpstr>
      <vt:lpstr>Filo</vt:lpstr>
      <vt:lpstr>ESERCITAZIONE 1- Soluzioni</vt:lpstr>
      <vt:lpstr>Sistemi di numerazione e cambiamenti di base</vt:lpstr>
      <vt:lpstr>Sistemi di numerazione e cambiamenti di base (1) </vt:lpstr>
      <vt:lpstr>Sistemi di numerazione e cambiamenti di base (1) Soluzione (1)</vt:lpstr>
      <vt:lpstr>Sistemi di numerazione e cambiamenti di base (1) Soluzione (2)</vt:lpstr>
      <vt:lpstr>Sistemi di numerazione e cambiamenti di base (1) Soluzione (3)</vt:lpstr>
      <vt:lpstr>Sistemi di numerazione e cambiamenti di base (1) Soluzione (4)</vt:lpstr>
      <vt:lpstr>Sistemi di numerazione e cambiamenti di base (1) Soluzione (5)</vt:lpstr>
      <vt:lpstr>Sistemi di numerazione e cambiamenti di base (1) Soluzione (6)</vt:lpstr>
      <vt:lpstr>Sistemi di numerazione e cambiamenti di base (1) Soluzione (7)</vt:lpstr>
      <vt:lpstr>Sistemi di numerazione e cambiamenti di base (1) Soluzione (8)</vt:lpstr>
      <vt:lpstr>Sistemi di numerazione e cambiamenti di base (1) Soluzione (9)</vt:lpstr>
      <vt:lpstr>Sistemi di numerazione e cambiamenti di base (1) Soluzione (10)</vt:lpstr>
      <vt:lpstr>Sistemi di numerazione e cambiamenti di base (2) </vt:lpstr>
      <vt:lpstr>Sistemi di numerazione e cambiamenti di base (2) Soluzione (1)</vt:lpstr>
      <vt:lpstr>Sistemi di numerazione e cambiamenti di base (2) Soluzione (2)</vt:lpstr>
      <vt:lpstr>Sistemi di numerazione e cambiamenti di base (2) Soluzione (3)</vt:lpstr>
      <vt:lpstr>Sistemi di numerazione e cambiamenti di base (3)</vt:lpstr>
      <vt:lpstr>Sistemi di numerazione e cambiamenti di base (3) Soluzione (1)</vt:lpstr>
      <vt:lpstr>Sistemi di numerazione e cambiamenti di base (3) Soluzione (2)</vt:lpstr>
      <vt:lpstr>Sistemi di numerazione e cambiamenti di base (3) Soluzione (2)</vt:lpstr>
      <vt:lpstr>Sistemi di numerazione e cambiamenti di base (3) Soluzione (3)</vt:lpstr>
      <vt:lpstr>Sistemi di numerazione e cambiamenti di base (3) Soluzione (3)</vt:lpstr>
      <vt:lpstr>Sistemi di numerazione e cambiamenti di base (4)</vt:lpstr>
      <vt:lpstr>Algebre di Boole e funzioni logiche</vt:lpstr>
      <vt:lpstr>Algebre di Boole e funzioni logiche (1) </vt:lpstr>
      <vt:lpstr>Algebre di Boole e funzioni logiche (1) Soluzioni (1)</vt:lpstr>
      <vt:lpstr>Algebre di Boole e funzioni logiche (1) Soluzioni (2)</vt:lpstr>
      <vt:lpstr>Algebre di Boole e funzioni logiche (1) Soluzioni (3)</vt:lpstr>
      <vt:lpstr>Algebre di Boole e funzioni logiche (1) Soluzioni (4)</vt:lpstr>
      <vt:lpstr>Algebre di Boole e funzioni logiche (2) </vt:lpstr>
      <vt:lpstr>Algebre di Boole e funzioni logiche (2) Soluzioni (1)</vt:lpstr>
      <vt:lpstr>Algebre di Boole e funzioni logiche (2) Soluzioni (2)</vt:lpstr>
      <vt:lpstr>Algebre di Boole e funzioni logiche (2) Soluzioni (3)</vt:lpstr>
      <vt:lpstr>Algebre di Boole e funzioni logiche (2) Soluzioni (4)</vt:lpstr>
      <vt:lpstr>Algebre di Boole e funzioni logiche (2) Soluzioni (5)</vt:lpstr>
      <vt:lpstr>Algebre di Boole e funzioni logiche (2) Soluzioni (6)</vt:lpstr>
      <vt:lpstr>Algebre di Boole e funzioni logiche (2) Soluzioni (7)</vt:lpstr>
      <vt:lpstr>Algebre di Boole e funzioni logiche (2) Soluzioni (8)</vt:lpstr>
      <vt:lpstr>Algebre di Boole e funzioni logiche (2) Soluzioni (9)</vt:lpstr>
      <vt:lpstr>Algebre di Boole e funzioni logiche (2) Soluzioni (10)</vt:lpstr>
      <vt:lpstr>Algebre di Boole e funzioni logiche (2) Soluzioni (11)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47</cp:revision>
  <dcterms:created xsi:type="dcterms:W3CDTF">2017-10-29T11:29:02Z</dcterms:created>
  <dcterms:modified xsi:type="dcterms:W3CDTF">2017-11-09T12:25:31Z</dcterms:modified>
</cp:coreProperties>
</file>