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66" r:id="rId5"/>
    <p:sldId id="270" r:id="rId6"/>
    <p:sldId id="271" r:id="rId7"/>
    <p:sldId id="273" r:id="rId8"/>
    <p:sldId id="277" r:id="rId9"/>
    <p:sldId id="278" r:id="rId10"/>
    <p:sldId id="269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24/11/2017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24/11/2017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4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Livello d’architettura dell’insieme di istruzioni</a:t>
            </a:r>
          </a:p>
          <a:p>
            <a:r>
              <a:rPr lang="it-IT" b="1" dirty="0"/>
              <a:t>Decodifica dell’indirizzo</a:t>
            </a:r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Livello d’architettura dell’insieme di istruzioni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Livello d’architettura dell’insieme di istruzioni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</a:t>
            </a:r>
            <a:r>
              <a:rPr lang="it-IT" dirty="0"/>
              <a:t> </a:t>
            </a:r>
            <a:r>
              <a:rPr lang="it-IT" b="1" dirty="0"/>
              <a:t>Si scrivano in notazione polacca inversa le seguenti espressioni</a:t>
            </a:r>
            <a:endParaRPr lang="it-IT" dirty="0"/>
          </a:p>
          <a:p>
            <a:pPr lvl="1">
              <a:buFont typeface="+mj-lt"/>
              <a:buAutoNum type="alphaLcParenR"/>
            </a:pPr>
            <a:r>
              <a:rPr lang="it-IT" b="1" dirty="0"/>
              <a:t>6*(4-3)</a:t>
            </a:r>
            <a:endParaRPr lang="it-IT" dirty="0"/>
          </a:p>
          <a:p>
            <a:pPr lvl="1">
              <a:buFont typeface="+mj-lt"/>
              <a:buAutoNum type="alphaLcParenR"/>
            </a:pPr>
            <a:r>
              <a:rPr lang="it-IT" b="1" dirty="0"/>
              <a:t>(7/3)/((1-4)*2)+1</a:t>
            </a:r>
            <a:endParaRPr lang="it-IT" dirty="0"/>
          </a:p>
          <a:p>
            <a:pPr lvl="1">
              <a:buFont typeface="+mj-lt"/>
              <a:buAutoNum type="alphaLcParenR"/>
            </a:pPr>
            <a:r>
              <a:rPr lang="it-IT" b="1" dirty="0"/>
              <a:t>(5*2+7)-4/2+1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506788" cy="1702420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Notazione Tradizionale</a:t>
            </a:r>
          </a:p>
          <a:p>
            <a:pPr marL="0" indent="0">
              <a:buNone/>
            </a:pPr>
            <a:r>
              <a:rPr lang="it-IT" dirty="0"/>
              <a:t>       2 		 +		  3</a:t>
            </a:r>
          </a:p>
          <a:p>
            <a:pPr marL="0" indent="0">
              <a:buNone/>
            </a:pPr>
            <a:r>
              <a:rPr lang="it-IT" sz="1400" dirty="0"/>
              <a:t>Operando1 Operatore Operando2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0E3E70B3-43E5-4A1C-9E22-008E5DA9615A}"/>
              </a:ext>
            </a:extLst>
          </p:cNvPr>
          <p:cNvSpPr txBox="1">
            <a:spLocks/>
          </p:cNvSpPr>
          <p:nvPr/>
        </p:nvSpPr>
        <p:spPr>
          <a:xfrm>
            <a:off x="6702423" y="2133600"/>
            <a:ext cx="3506788" cy="170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it-IT" b="1" dirty="0"/>
              <a:t>Notazione Polacca Inversa </a:t>
            </a:r>
          </a:p>
          <a:p>
            <a:pPr marL="0" indent="0">
              <a:buFont typeface="Wingdings 3" charset="2"/>
              <a:buNone/>
            </a:pPr>
            <a:r>
              <a:rPr lang="it-IT" dirty="0"/>
              <a:t>       2 		3		   +</a:t>
            </a:r>
          </a:p>
          <a:p>
            <a:pPr marL="0" indent="0">
              <a:buNone/>
            </a:pPr>
            <a:r>
              <a:rPr lang="it-IT" sz="1400" dirty="0"/>
              <a:t>Operando1 Operando2  Operatore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5C3374D-6E0E-4C8E-B92A-09822BFF2740}"/>
              </a:ext>
            </a:extLst>
          </p:cNvPr>
          <p:cNvSpPr txBox="1"/>
          <p:nvPr/>
        </p:nvSpPr>
        <p:spPr>
          <a:xfrm>
            <a:off x="2274849" y="4047893"/>
            <a:ext cx="793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Operazioni scritte da sinistra verso destro, considerando le priorità.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052D4C-F545-4C0E-A0CE-8856EFA8A6EC}"/>
              </a:ext>
            </a:extLst>
          </p:cNvPr>
          <p:cNvSpPr txBox="1"/>
          <p:nvPr/>
        </p:nvSpPr>
        <p:spPr>
          <a:xfrm>
            <a:off x="2274849" y="4772722"/>
            <a:ext cx="761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Riferimento su </a:t>
            </a:r>
            <a:r>
              <a:rPr lang="it-IT" dirty="0" err="1"/>
              <a:t>Tanembaum</a:t>
            </a:r>
            <a:r>
              <a:rPr lang="it-IT" dirty="0"/>
              <a:t>: </a:t>
            </a:r>
            <a:r>
              <a:rPr lang="it-IT" dirty="0" err="1"/>
              <a:t>pag</a:t>
            </a:r>
            <a:r>
              <a:rPr lang="it-IT" dirty="0"/>
              <a:t> 355 e seguenti.</a:t>
            </a:r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6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Livello d’architettura dell’insieme di istruzioni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2)</a:t>
            </a:r>
            <a:r>
              <a:rPr lang="it-IT" dirty="0"/>
              <a:t> </a:t>
            </a:r>
            <a:r>
              <a:rPr lang="it-IT" b="1" dirty="0"/>
              <a:t>Indicare il tipo di indirizzamento delle seguenti istruzioni</a:t>
            </a:r>
            <a:endParaRPr lang="it-IT" dirty="0"/>
          </a:p>
          <a:p>
            <a:r>
              <a:rPr lang="it-IT" b="1" dirty="0"/>
              <a:t>CMP R2,R4</a:t>
            </a:r>
            <a:endParaRPr lang="it-IT" dirty="0"/>
          </a:p>
          <a:p>
            <a:r>
              <a:rPr lang="it-IT" b="1" dirty="0"/>
              <a:t>MOV R2,#2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650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(2)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A9548C32-0A99-4370-AF4A-16A3E7DE4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Modalità di indirizzamento</a:t>
            </a:r>
          </a:p>
          <a:p>
            <a:r>
              <a:rPr lang="it-IT" b="1" dirty="0"/>
              <a:t>Indirizzamento immediato</a:t>
            </a:r>
          </a:p>
          <a:p>
            <a:r>
              <a:rPr lang="it-IT" b="1" dirty="0"/>
              <a:t>Indirizzamento diretto</a:t>
            </a:r>
          </a:p>
          <a:p>
            <a:r>
              <a:rPr lang="it-IT" b="1" dirty="0"/>
              <a:t>Indirizzamento a registro</a:t>
            </a:r>
          </a:p>
          <a:p>
            <a:r>
              <a:rPr lang="it-IT" b="1" dirty="0"/>
              <a:t>Indirizzamento a registro indiretto</a:t>
            </a:r>
          </a:p>
          <a:p>
            <a:r>
              <a:rPr lang="it-IT" b="1" dirty="0"/>
              <a:t>Indirizzamento indicizzato</a:t>
            </a:r>
          </a:p>
          <a:p>
            <a:r>
              <a:rPr lang="it-IT" b="1" dirty="0"/>
              <a:t>Indirizzamento indicizzato esteso</a:t>
            </a:r>
          </a:p>
          <a:p>
            <a:r>
              <a:rPr lang="it-IT" b="1" dirty="0"/>
              <a:t>Indirizzamento a </a:t>
            </a:r>
            <a:r>
              <a:rPr lang="it-IT" b="1" dirty="0" err="1"/>
              <a:t>stack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334123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Livello d’architettura dell’insieme di istruzioni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3)</a:t>
            </a:r>
            <a:r>
              <a:rPr lang="it-IT" dirty="0"/>
              <a:t> </a:t>
            </a:r>
            <a:r>
              <a:rPr lang="it-IT" b="1" dirty="0"/>
              <a:t>Scrivere le istruzioni Assembly utili per ottimizzare l’utilizzo della CPU per il calcolo della moltiplicazione tra il numero 19 e un valore </a:t>
            </a:r>
            <a:r>
              <a:rPr lang="it-IT" b="1" i="1" dirty="0"/>
              <a:t>n</a:t>
            </a:r>
            <a:r>
              <a:rPr lang="it-IT" b="1" dirty="0"/>
              <a:t> intero e non negativo. Verificare , ponendo </a:t>
            </a:r>
            <a:r>
              <a:rPr lang="it-IT" b="1" i="1" dirty="0"/>
              <a:t>n</a:t>
            </a:r>
            <a:r>
              <a:rPr lang="it-IT" b="1" dirty="0"/>
              <a:t>=3, che l’operazione proposta sia corretta.</a:t>
            </a:r>
            <a:endParaRPr lang="it-IT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A9548C32-0A99-4370-AF4A-16A3E7D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1" dirty="0"/>
              <a:t>Istruzioni Principali</a:t>
            </a:r>
          </a:p>
          <a:p>
            <a:pPr marL="0" indent="0">
              <a:buNone/>
            </a:pPr>
            <a:endParaRPr lang="it-IT" b="1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41266C6-CED9-488E-AD18-486E69A76A5F}"/>
              </a:ext>
            </a:extLst>
          </p:cNvPr>
          <p:cNvGraphicFramePr>
            <a:graphicFrameLocks noGrp="1"/>
          </p:cNvGraphicFramePr>
          <p:nvPr/>
        </p:nvGraphicFramePr>
        <p:xfrm>
          <a:off x="2589212" y="2534359"/>
          <a:ext cx="908027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40137">
                  <a:extLst>
                    <a:ext uri="{9D8B030D-6E8A-4147-A177-3AD203B41FA5}">
                      <a16:colId xmlns:a16="http://schemas.microsoft.com/office/drawing/2014/main" val="1254903478"/>
                    </a:ext>
                  </a:extLst>
                </a:gridCol>
                <a:gridCol w="4540137">
                  <a:extLst>
                    <a:ext uri="{9D8B030D-6E8A-4147-A177-3AD203B41FA5}">
                      <a16:colId xmlns:a16="http://schemas.microsoft.com/office/drawing/2014/main" val="258901301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Trasferimenti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43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MOV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Sposta SRC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469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Aritmetica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ADD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Somma SRC a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1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SUB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Sottrae SRC da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25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MUL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Moltiplica EAX con SRC (no segno)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677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DIV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Divide EDX:EAX per SRC(no segno)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463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252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Idea (2)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A2FE7953-7004-424E-871E-ADB25D20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A9548C32-0A99-4370-AF4A-16A3E7DE4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1" dirty="0"/>
              <a:t>Istruzioni Principali</a:t>
            </a:r>
          </a:p>
          <a:p>
            <a:pPr marL="0" indent="0">
              <a:buNone/>
            </a:pPr>
            <a:endParaRPr lang="it-IT" b="1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41266C6-CED9-488E-AD18-486E69A76A5F}"/>
              </a:ext>
            </a:extLst>
          </p:cNvPr>
          <p:cNvGraphicFramePr>
            <a:graphicFrameLocks noGrp="1"/>
          </p:cNvGraphicFramePr>
          <p:nvPr/>
        </p:nvGraphicFramePr>
        <p:xfrm>
          <a:off x="2589212" y="2534359"/>
          <a:ext cx="908027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40137">
                  <a:extLst>
                    <a:ext uri="{9D8B030D-6E8A-4147-A177-3AD203B41FA5}">
                      <a16:colId xmlns:a16="http://schemas.microsoft.com/office/drawing/2014/main" val="1254903478"/>
                    </a:ext>
                  </a:extLst>
                </a:gridCol>
                <a:gridCol w="4540137">
                  <a:extLst>
                    <a:ext uri="{9D8B030D-6E8A-4147-A177-3AD203B41FA5}">
                      <a16:colId xmlns:a16="http://schemas.microsoft.com/office/drawing/2014/main" val="258901301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Scorrimento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43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SHL / SHR DST, #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Shift logico verso s/d di SRC di # bit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469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it-IT" b="1" dirty="0"/>
                        <a:t>Booleane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AND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AND di SRC e DST, res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1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OR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OR di SRC e DST, res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25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XOR DST, SRC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OR esclusivo di SRC e DST, res in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677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NOT DST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Rimpiazza DST con complemento a 1.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463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48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45230"/>
            <a:ext cx="8915400" cy="3490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La moltiplicazione tra un qualsiasi numero </a:t>
            </a:r>
            <a:r>
              <a:rPr lang="it-IT" i="1" dirty="0"/>
              <a:t>n</a:t>
            </a:r>
            <a:r>
              <a:rPr lang="it-IT" dirty="0"/>
              <a:t> e un numero come </a:t>
            </a:r>
            <a:r>
              <a:rPr lang="it-IT" i="1" dirty="0"/>
              <a:t>2</a:t>
            </a:r>
            <a:r>
              <a:rPr lang="it-IT" i="1" baseline="30000" dirty="0"/>
              <a:t>k</a:t>
            </a:r>
            <a:r>
              <a:rPr lang="it-IT" dirty="0"/>
              <a:t>, può essere ottimizzato come uno shift del numero verso sinistra di </a:t>
            </a:r>
            <a:r>
              <a:rPr lang="it-IT" i="1" dirty="0"/>
              <a:t>k</a:t>
            </a:r>
            <a:r>
              <a:rPr lang="it-IT" dirty="0"/>
              <a:t> cifre.</a:t>
            </a:r>
          </a:p>
          <a:p>
            <a:pPr marL="0" indent="0">
              <a:buNone/>
            </a:pPr>
            <a:r>
              <a:rPr lang="it-IT" b="0" u="none" strike="noStrike" dirty="0">
                <a:effectLst/>
              </a:rPr>
              <a:t>Esempio: </a:t>
            </a:r>
          </a:p>
          <a:p>
            <a:r>
              <a:rPr lang="it-IT" dirty="0"/>
              <a:t>3 x 2 = ?</a:t>
            </a:r>
          </a:p>
          <a:p>
            <a:r>
              <a:rPr lang="it-IT" dirty="0"/>
              <a:t>3 = (00000011)</a:t>
            </a:r>
            <a:r>
              <a:rPr lang="it-IT" baseline="-25000" dirty="0"/>
              <a:t>2</a:t>
            </a:r>
            <a:r>
              <a:rPr lang="it-IT" dirty="0"/>
              <a:t> (rappresentazione a 8 bit)</a:t>
            </a:r>
          </a:p>
          <a:p>
            <a:r>
              <a:rPr lang="it-IT" dirty="0"/>
              <a:t>2 = 2</a:t>
            </a:r>
            <a:r>
              <a:rPr lang="it-IT" baseline="30000" dirty="0"/>
              <a:t>1</a:t>
            </a:r>
          </a:p>
          <a:p>
            <a:r>
              <a:rPr lang="it-IT" dirty="0"/>
              <a:t>Shift 1 cifra a </a:t>
            </a:r>
            <a:r>
              <a:rPr lang="it-IT" dirty="0" err="1"/>
              <a:t>sx</a:t>
            </a:r>
            <a:endParaRPr lang="it-IT" dirty="0"/>
          </a:p>
          <a:p>
            <a:r>
              <a:rPr lang="it-IT" dirty="0"/>
              <a:t>3 x 2 = (00000110)</a:t>
            </a:r>
            <a:r>
              <a:rPr lang="it-IT" baseline="-25000" dirty="0"/>
              <a:t>2</a:t>
            </a:r>
            <a:r>
              <a:rPr lang="it-IT" dirty="0"/>
              <a:t> = 6</a:t>
            </a:r>
          </a:p>
          <a:p>
            <a:endParaRPr lang="it-IT" b="0" u="none" strike="noStrike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Livello d’architettura dell’insieme di istruzioni (3)</a:t>
            </a:r>
            <a:br>
              <a:rPr lang="it-IT" b="1" dirty="0"/>
            </a:br>
            <a:r>
              <a:rPr lang="it-IT" b="1" dirty="0"/>
              <a:t>Idea (3)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299BE86-3980-4E79-9253-AB23F835128C}"/>
              </a:ext>
            </a:extLst>
          </p:cNvPr>
          <p:cNvSpPr txBox="1"/>
          <p:nvPr/>
        </p:nvSpPr>
        <p:spPr>
          <a:xfrm>
            <a:off x="2471057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Riferimento sul libro: paragrafo 5.5.3, </a:t>
            </a:r>
            <a:r>
              <a:rPr lang="it-IT" i="1" dirty="0" err="1"/>
              <a:t>pag</a:t>
            </a:r>
            <a:r>
              <a:rPr lang="it-IT" i="1" dirty="0"/>
              <a:t> 367 e seguenti</a:t>
            </a:r>
          </a:p>
        </p:txBody>
      </p:sp>
    </p:spTree>
    <p:extLst>
      <p:ext uri="{BB962C8B-B14F-4D97-AF65-F5344CB8AC3E}">
        <p14:creationId xmlns:p14="http://schemas.microsoft.com/office/powerpoint/2010/main" val="144297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Decodifica dell’indirizzo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132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 </a:t>
            </a:r>
            <a:r>
              <a:rPr lang="en-US" b="1" dirty="0"/>
              <a:t>Si </a:t>
            </a:r>
            <a:r>
              <a:rPr lang="en-US" b="1" dirty="0" err="1"/>
              <a:t>supponga</a:t>
            </a:r>
            <a:r>
              <a:rPr lang="en-US" b="1" dirty="0"/>
              <a:t> di </a:t>
            </a:r>
            <a:r>
              <a:rPr lang="en-US" b="1" dirty="0" err="1"/>
              <a:t>avere</a:t>
            </a:r>
            <a:r>
              <a:rPr lang="en-US" b="1" dirty="0"/>
              <a:t> un </a:t>
            </a:r>
            <a:r>
              <a:rPr lang="en-US" b="1" dirty="0" err="1"/>
              <a:t>calcolatore</a:t>
            </a:r>
            <a:r>
              <a:rPr lang="en-US" b="1" dirty="0"/>
              <a:t> </a:t>
            </a:r>
            <a:r>
              <a:rPr lang="en-US" b="1" dirty="0" err="1"/>
              <a:t>monoprocessore</a:t>
            </a:r>
            <a:r>
              <a:rPr lang="en-US" b="1" dirty="0"/>
              <a:t> con 16-bit di </a:t>
            </a:r>
            <a:r>
              <a:rPr lang="en-US" b="1" dirty="0" err="1"/>
              <a:t>indirizzamento</a:t>
            </a:r>
            <a:r>
              <a:rPr lang="en-US" b="1" dirty="0"/>
              <a:t> (A0÷A15), </a:t>
            </a:r>
            <a:r>
              <a:rPr lang="en-US" b="1" dirty="0" err="1"/>
              <a:t>una</a:t>
            </a:r>
            <a:r>
              <a:rPr lang="en-US" b="1" dirty="0"/>
              <a:t> EPROM di 2 KB × 8 byte per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programma</a:t>
            </a:r>
            <a:r>
              <a:rPr lang="en-US" b="1" dirty="0"/>
              <a:t>, </a:t>
            </a:r>
            <a:r>
              <a:rPr lang="en-US" b="1" dirty="0" err="1"/>
              <a:t>una</a:t>
            </a:r>
            <a:r>
              <a:rPr lang="en-US" b="1" dirty="0"/>
              <a:t> RAM di 2 KB × 8 byte per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dati</a:t>
            </a:r>
            <a:r>
              <a:rPr lang="en-US" b="1" dirty="0"/>
              <a:t>, </a:t>
            </a:r>
            <a:r>
              <a:rPr lang="en-US" b="1" dirty="0" err="1"/>
              <a:t>una</a:t>
            </a:r>
            <a:r>
              <a:rPr lang="en-US" b="1" dirty="0"/>
              <a:t> PIO </a:t>
            </a:r>
            <a:r>
              <a:rPr lang="en-US" b="1" dirty="0" err="1"/>
              <a:t>tipo</a:t>
            </a:r>
            <a:r>
              <a:rPr lang="en-US" b="1" dirty="0"/>
              <a:t> Intel 8255A con 24 </a:t>
            </a:r>
            <a:r>
              <a:rPr lang="en-US" b="1" dirty="0" err="1"/>
              <a:t>porte</a:t>
            </a:r>
            <a:r>
              <a:rPr lang="en-US" b="1" dirty="0"/>
              <a:t> e un </a:t>
            </a:r>
            <a:r>
              <a:rPr lang="en-US" b="1" dirty="0" err="1"/>
              <a:t>registro</a:t>
            </a:r>
            <a:r>
              <a:rPr lang="en-US" b="1" dirty="0"/>
              <a:t> di </a:t>
            </a:r>
            <a:r>
              <a:rPr lang="en-US" b="1" dirty="0" err="1"/>
              <a:t>controllo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b="1" dirty="0" err="1"/>
              <a:t>Descrivere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circuito</a:t>
            </a:r>
            <a:r>
              <a:rPr lang="en-US" b="1" dirty="0"/>
              <a:t> </a:t>
            </a:r>
            <a:r>
              <a:rPr lang="en-US" b="1" dirty="0" err="1"/>
              <a:t>che</a:t>
            </a:r>
            <a:r>
              <a:rPr lang="en-US" b="1" dirty="0"/>
              <a:t> </a:t>
            </a:r>
            <a:r>
              <a:rPr lang="en-US" b="1" dirty="0" err="1"/>
              <a:t>abilita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chip di I/O in </a:t>
            </a:r>
            <a:r>
              <a:rPr lang="en-US" b="1" dirty="0" err="1"/>
              <a:t>modalità</a:t>
            </a:r>
            <a:r>
              <a:rPr lang="en-US" b="1" dirty="0"/>
              <a:t> Memory-Mapped I/O, se la PIO è </a:t>
            </a:r>
            <a:r>
              <a:rPr lang="en-US" b="1" dirty="0" err="1"/>
              <a:t>posizionata</a:t>
            </a:r>
            <a:r>
              <a:rPr lang="en-US" b="1" dirty="0"/>
              <a:t> a </a:t>
            </a:r>
            <a:r>
              <a:rPr lang="en-US" b="1" dirty="0" err="1"/>
              <a:t>partire</a:t>
            </a:r>
            <a:r>
              <a:rPr lang="en-US" b="1" dirty="0"/>
              <a:t> </a:t>
            </a:r>
            <a:r>
              <a:rPr lang="en-US" b="1" dirty="0" err="1"/>
              <a:t>dall’indirizzo</a:t>
            </a:r>
            <a:r>
              <a:rPr lang="en-US" b="1" dirty="0"/>
              <a:t> FFFCH </a:t>
            </a:r>
            <a:r>
              <a:rPr lang="en-US" b="1" dirty="0" err="1"/>
              <a:t>della</a:t>
            </a:r>
            <a:r>
              <a:rPr lang="en-US" b="1" dirty="0"/>
              <a:t> </a:t>
            </a:r>
            <a:r>
              <a:rPr lang="en-US" b="1" dirty="0" err="1"/>
              <a:t>memoria</a:t>
            </a:r>
            <a:r>
              <a:rPr lang="en-US" b="1" dirty="0"/>
              <a:t>. </a:t>
            </a:r>
          </a:p>
          <a:p>
            <a:pPr marL="0" indent="0">
              <a:buNone/>
            </a:pPr>
            <a:r>
              <a:rPr lang="en-US" b="1" dirty="0" err="1"/>
              <a:t>Suggerimento</a:t>
            </a:r>
            <a:r>
              <a:rPr lang="en-US" b="1" dirty="0"/>
              <a:t>: </a:t>
            </a:r>
            <a:r>
              <a:rPr lang="en-US" b="1" dirty="0" err="1"/>
              <a:t>porre</a:t>
            </a:r>
            <a:r>
              <a:rPr lang="en-US" b="1" dirty="0"/>
              <a:t> la EPROM </a:t>
            </a:r>
            <a:r>
              <a:rPr lang="en-US" b="1" dirty="0" err="1"/>
              <a:t>all'indirizzo</a:t>
            </a:r>
            <a:r>
              <a:rPr lang="en-US" b="1" dirty="0"/>
              <a:t> 0 </a:t>
            </a:r>
            <a:r>
              <a:rPr lang="en-US" b="1" dirty="0" err="1"/>
              <a:t>dello</a:t>
            </a:r>
            <a:r>
              <a:rPr lang="en-US" b="1" dirty="0"/>
              <a:t> </a:t>
            </a:r>
            <a:r>
              <a:rPr lang="en-US" b="1" dirty="0" err="1"/>
              <a:t>spazio</a:t>
            </a:r>
            <a:r>
              <a:rPr lang="en-US" b="1" dirty="0"/>
              <a:t> di </a:t>
            </a:r>
            <a:r>
              <a:rPr lang="en-US" b="1" dirty="0" err="1"/>
              <a:t>indirizzamento</a:t>
            </a:r>
            <a:r>
              <a:rPr lang="en-US" b="1" dirty="0"/>
              <a:t> e la RAM </a:t>
            </a:r>
            <a:r>
              <a:rPr lang="en-US" b="1" dirty="0" err="1"/>
              <a:t>all'indirizzo</a:t>
            </a:r>
            <a:r>
              <a:rPr lang="en-US" b="1" dirty="0"/>
              <a:t> 8000H.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68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645230"/>
                <a:ext cx="8915400" cy="34905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16 bit di </a:t>
                </a:r>
                <a:r>
                  <a:rPr lang="en-US" dirty="0" err="1"/>
                  <a:t>indirizzamento</a:t>
                </a:r>
                <a:r>
                  <a:rPr lang="en-US" dirty="0"/>
                  <a:t> A0÷A15</a:t>
                </a:r>
              </a:p>
              <a:p>
                <a:r>
                  <a:rPr lang="en-US" dirty="0"/>
                  <a:t>EPROM e RAM </a:t>
                </a:r>
                <a:r>
                  <a:rPr lang="en-US" dirty="0" err="1"/>
                  <a:t>richiedono</a:t>
                </a:r>
                <a:r>
                  <a:rPr lang="en-US" dirty="0"/>
                  <a:t> </a:t>
                </a:r>
                <a:r>
                  <a:rPr lang="en-US" dirty="0" err="1"/>
                  <a:t>uno</a:t>
                </a:r>
                <a:r>
                  <a:rPr lang="en-US" dirty="0"/>
                  <a:t> </a:t>
                </a:r>
                <a:r>
                  <a:rPr lang="en-US" dirty="0" err="1"/>
                  <a:t>spazio</a:t>
                </a:r>
                <a:r>
                  <a:rPr lang="en-US" dirty="0"/>
                  <a:t> </a:t>
                </a:r>
                <a:r>
                  <a:rPr lang="en-US" dirty="0" err="1"/>
                  <a:t>degli</a:t>
                </a:r>
                <a:r>
                  <a:rPr lang="en-US" dirty="0"/>
                  <a:t> </a:t>
                </a:r>
                <a:r>
                  <a:rPr lang="en-US" dirty="0" err="1"/>
                  <a:t>indirizzi</a:t>
                </a:r>
                <a:r>
                  <a:rPr lang="en-US" dirty="0"/>
                  <a:t> di 2KB</a:t>
                </a:r>
              </a:p>
              <a:p>
                <a:r>
                  <a:rPr lang="en-US" dirty="0"/>
                  <a:t>PIO </a:t>
                </a:r>
                <a:r>
                  <a:rPr lang="en-US" dirty="0" err="1"/>
                  <a:t>richiede</a:t>
                </a:r>
                <a:r>
                  <a:rPr lang="en-US" dirty="0"/>
                  <a:t> 4 byte</a:t>
                </a:r>
              </a:p>
              <a:p>
                <a:pPr marL="0" indent="0">
                  <a:buNone/>
                </a:pPr>
                <a:r>
                  <a:rPr lang="en-US" dirty="0"/>
                  <a:t>→ </a:t>
                </a:r>
                <a:r>
                  <a:rPr lang="en-US" dirty="0" err="1"/>
                  <a:t>indirizzi</a:t>
                </a:r>
                <a:r>
                  <a:rPr lang="en-US" dirty="0"/>
                  <a:t> 00000xxxxxxxxxxx </a:t>
                </a:r>
                <a:r>
                  <a:rPr lang="en-US" dirty="0" err="1"/>
                  <a:t>sono</a:t>
                </a:r>
                <a:r>
                  <a:rPr lang="en-US" dirty="0"/>
                  <a:t> </a:t>
                </a:r>
                <a:r>
                  <a:rPr lang="en-US" dirty="0" err="1"/>
                  <a:t>destinati</a:t>
                </a:r>
                <a:r>
                  <a:rPr lang="en-US" dirty="0"/>
                  <a:t> </a:t>
                </a:r>
                <a:r>
                  <a:rPr lang="en-US" dirty="0" err="1"/>
                  <a:t>alla</a:t>
                </a:r>
                <a:r>
                  <a:rPr lang="en-US" dirty="0"/>
                  <a:t> EPROM</a:t>
                </a:r>
              </a:p>
              <a:p>
                <a:pPr marL="0" indent="0">
                  <a:buNone/>
                </a:pPr>
                <a:r>
                  <a:rPr lang="en-US" dirty="0"/>
                  <a:t>→ </a:t>
                </a:r>
                <a:r>
                  <a:rPr lang="en-US" dirty="0" err="1"/>
                  <a:t>indirizzi</a:t>
                </a:r>
                <a:r>
                  <a:rPr lang="en-US" dirty="0"/>
                  <a:t> 10000xxxxxxxxxxx </a:t>
                </a:r>
                <a:r>
                  <a:rPr lang="en-US" dirty="0" err="1"/>
                  <a:t>sono</a:t>
                </a:r>
                <a:r>
                  <a:rPr lang="en-US" dirty="0"/>
                  <a:t> </a:t>
                </a:r>
                <a:r>
                  <a:rPr lang="en-US" dirty="0" err="1"/>
                  <a:t>destinati</a:t>
                </a:r>
                <a:r>
                  <a:rPr lang="en-US" dirty="0"/>
                  <a:t> </a:t>
                </a:r>
                <a:r>
                  <a:rPr lang="en-US" dirty="0" err="1"/>
                  <a:t>alla</a:t>
                </a:r>
                <a:r>
                  <a:rPr lang="en-US" dirty="0"/>
                  <a:t> RAM</a:t>
                </a:r>
              </a:p>
              <a:p>
                <a:pPr marL="0" indent="0">
                  <a:buNone/>
                </a:pPr>
                <a:r>
                  <a:rPr lang="en-US" dirty="0"/>
                  <a:t>→ </a:t>
                </a:r>
                <a:r>
                  <a:rPr lang="en-US" dirty="0" err="1"/>
                  <a:t>indirizzi</a:t>
                </a:r>
                <a:r>
                  <a:rPr lang="en-US" dirty="0"/>
                  <a:t> 11111111111111xx </a:t>
                </a:r>
                <a:r>
                  <a:rPr lang="en-US" dirty="0" err="1"/>
                  <a:t>alla</a:t>
                </a:r>
                <a:r>
                  <a:rPr lang="en-US" dirty="0"/>
                  <a:t> PIO</a:t>
                </a:r>
              </a:p>
              <a:p>
                <a:r>
                  <a:rPr lang="en-US" dirty="0"/>
                  <a:t>Per </a:t>
                </a:r>
                <a:r>
                  <a:rPr lang="en-US" dirty="0" err="1"/>
                  <a:t>ogni</a:t>
                </a:r>
                <a:r>
                  <a:rPr lang="en-US" dirty="0"/>
                  <a:t> </a:t>
                </a:r>
                <a:r>
                  <a:rPr lang="en-US" dirty="0" err="1"/>
                  <a:t>componente</a:t>
                </a:r>
                <a:r>
                  <a:rPr lang="en-US" dirty="0"/>
                  <a:t> </a:t>
                </a:r>
                <a:r>
                  <a:rPr lang="en-US" dirty="0" err="1"/>
                  <a:t>va</a:t>
                </a:r>
                <a:r>
                  <a:rPr lang="en-US" dirty="0"/>
                  <a:t> </a:t>
                </a:r>
                <a:r>
                  <a:rPr lang="en-US" dirty="0" err="1"/>
                  <a:t>attivata</a:t>
                </a:r>
                <a:r>
                  <a:rPr lang="en-US" dirty="0"/>
                  <a:t> (con </a:t>
                </a:r>
                <a:r>
                  <a:rPr lang="en-US" dirty="0" err="1"/>
                  <a:t>valore</a:t>
                </a:r>
                <a:r>
                  <a:rPr lang="en-US" dirty="0"/>
                  <a:t> 0) </a:t>
                </a:r>
                <a:r>
                  <a:rPr lang="en-US"/>
                  <a:t>la porta </a:t>
                </a:r>
                <a:r>
                  <a:rPr lang="en-US" dirty="0"/>
                  <a:t>di </a:t>
                </a:r>
                <a:r>
                  <a:rPr lang="en-US" dirty="0" err="1"/>
                  <a:t>controllo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𝐶𝑆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it-IT" b="0" u="none" strike="noStrike" dirty="0">
                  <a:effectLst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645230"/>
                <a:ext cx="8915400" cy="3490578"/>
              </a:xfrm>
              <a:blipFill>
                <a:blip r:embed="rId2"/>
                <a:stretch>
                  <a:fillRect l="-616" t="-10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92A309-2A7E-42F7-87B8-EB40CB33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0376EDD-7B5A-4909-84A5-9D22C709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49" y="624110"/>
            <a:ext cx="9686963" cy="1280890"/>
          </a:xfrm>
        </p:spPr>
        <p:txBody>
          <a:bodyPr>
            <a:normAutofit/>
          </a:bodyPr>
          <a:lstStyle/>
          <a:p>
            <a:r>
              <a:rPr lang="it-IT" b="1" dirty="0"/>
              <a:t>Decodifica dell’indirizzo(1)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299BE86-3980-4E79-9253-AB23F835128C}"/>
              </a:ext>
            </a:extLst>
          </p:cNvPr>
          <p:cNvSpPr txBox="1"/>
          <p:nvPr/>
        </p:nvSpPr>
        <p:spPr>
          <a:xfrm>
            <a:off x="2471057" y="190500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Riferimento sul libro </a:t>
            </a:r>
            <a:r>
              <a:rPr lang="it-IT" i="1" dirty="0" err="1"/>
              <a:t>pag</a:t>
            </a:r>
            <a:r>
              <a:rPr lang="it-IT" i="1" dirty="0"/>
              <a:t> 215 e seguenti</a:t>
            </a:r>
          </a:p>
        </p:txBody>
      </p:sp>
    </p:spTree>
    <p:extLst>
      <p:ext uri="{BB962C8B-B14F-4D97-AF65-F5344CB8AC3E}">
        <p14:creationId xmlns:p14="http://schemas.microsoft.com/office/powerpoint/2010/main" val="502759751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1365</TotalTime>
  <Words>753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Wingdings 3</vt:lpstr>
      <vt:lpstr>Filo</vt:lpstr>
      <vt:lpstr>ESERCITAZIONE 4</vt:lpstr>
      <vt:lpstr>Livello d’architettura dell’insieme di istruzioni</vt:lpstr>
      <vt:lpstr>Livello d’architettura dell’insieme di istruzioni (1)</vt:lpstr>
      <vt:lpstr>Livello d’architettura dell’insieme di istruzioni (1) Idea (1)</vt:lpstr>
      <vt:lpstr>Livello d’architettura dell’insieme di istruzioni (2)</vt:lpstr>
      <vt:lpstr>Livello d’architettura dell’insieme di istruzioni (2) Idea (1)</vt:lpstr>
      <vt:lpstr>Livello d’architettura dell’insieme di istruzioni (3)</vt:lpstr>
      <vt:lpstr>Livello d’architettura dell’insieme di istruzioni (3) Idea (1)</vt:lpstr>
      <vt:lpstr>Livello d’architettura dell’insieme di istruzioni (3) Idea (2)</vt:lpstr>
      <vt:lpstr>Livello d’architettura dell’insieme di istruzioni (3) Idea (3)</vt:lpstr>
      <vt:lpstr>Decodifica dell’indirizzo</vt:lpstr>
      <vt:lpstr>Decodifica dell’indirizzo(1)</vt:lpstr>
      <vt:lpstr>Decodifica dell’indirizzo(1) Idea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91</cp:revision>
  <dcterms:created xsi:type="dcterms:W3CDTF">2017-10-29T11:29:02Z</dcterms:created>
  <dcterms:modified xsi:type="dcterms:W3CDTF">2017-11-24T14:18:35Z</dcterms:modified>
</cp:coreProperties>
</file>