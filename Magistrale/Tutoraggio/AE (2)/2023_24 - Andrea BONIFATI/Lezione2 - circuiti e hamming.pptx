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1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A7B4D-485D-0191-A3FC-E3D3A9728D5D}" v="507" dt="2024-03-02T00:52:17.765"/>
    <p1510:client id="{3F5568C7-D041-9731-B378-2F093652C52A}" v="4793" dt="2024-03-03T00:41:29.282"/>
    <p1510:client id="{A03F467A-F662-1A7C-AFCC-8AB5DB0EE677}" v="46" dt="2024-03-02T00:23:27.645"/>
    <p1510:client id="{D9AFB481-080B-2778-ECD2-6CE6F3C8DF59}" v="1061" dt="2024-03-03T20:16:30.683"/>
    <p1510:client id="{EA3DEC77-CA26-D09C-35CA-EC75E88A3063}" v="1466" dt="2024-03-02T11:27:54.1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17.03.25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c 10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sellaDiTesto 3">
            <a:extLst>
              <a:ext uri="{FF2B5EF4-FFF2-40B4-BE49-F238E27FC236}">
                <a16:creationId xmlns:a16="http://schemas.microsoft.com/office/drawing/2014/main" id="{622BE375-2B9F-2B29-D380-35E3BCA4FB7A}"/>
              </a:ext>
            </a:extLst>
          </p:cNvPr>
          <p:cNvSpPr txBox="1"/>
          <p:nvPr/>
        </p:nvSpPr>
        <p:spPr>
          <a:xfrm>
            <a:off x="642938" y="642938"/>
            <a:ext cx="5451475" cy="557053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it-IT" sz="2800">
                <a:ea typeface="Calibri"/>
                <a:cs typeface="Calibri"/>
              </a:rPr>
              <a:t>Architettura dei sistemi di elaborazione</a:t>
            </a:r>
            <a:endParaRPr lang="it-IT" sz="280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3BB60E41-58A0-7889-0D8A-EDFF49FB7BEE}"/>
              </a:ext>
            </a:extLst>
          </p:cNvPr>
          <p:cNvSpPr>
            <a:spLocks noGrp="1"/>
          </p:cNvSpPr>
          <p:nvPr/>
        </p:nvSpPr>
        <p:spPr>
          <a:xfrm>
            <a:off x="6417732" y="957715"/>
            <a:ext cx="5130798" cy="2750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FFFFFF"/>
                </a:solidFill>
                <a:ea typeface="Calibri Light"/>
                <a:cs typeface="Calibri Light"/>
              </a:rPr>
              <a:t>Esercitazione</a:t>
            </a:r>
            <a:r>
              <a:rPr lang="de-DE" dirty="0">
                <a:solidFill>
                  <a:srgbClr val="FFFFFF"/>
                </a:solidFill>
                <a:ea typeface="Calibri Light"/>
                <a:cs typeface="Calibri Light"/>
              </a:rPr>
              <a:t> 2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977039BB-7371-8D8B-5A2F-096A384DF446}"/>
              </a:ext>
            </a:extLst>
          </p:cNvPr>
          <p:cNvSpPr>
            <a:spLocks noGrp="1"/>
          </p:cNvSpPr>
          <p:nvPr/>
        </p:nvSpPr>
        <p:spPr>
          <a:xfrm>
            <a:off x="6417732" y="3800209"/>
            <a:ext cx="5130798" cy="23070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>
                <a:solidFill>
                  <a:srgbClr val="FFFFFF"/>
                </a:solidFill>
                <a:ea typeface="Calibri"/>
                <a:cs typeface="Calibri"/>
              </a:rPr>
              <a:t>andrea.bonifati@students.uniroma2.eu</a:t>
            </a:r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97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magine 6" descr="Immagine che contiene testo, schermata, aqua, grafica&#10;&#10;Descrizione generata automaticamente">
            <a:extLst>
              <a:ext uri="{FF2B5EF4-FFF2-40B4-BE49-F238E27FC236}">
                <a16:creationId xmlns:a16="http://schemas.microsoft.com/office/drawing/2014/main" id="{589C2766-5D6E-6FEE-8DCC-AAE1ACB1F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53" y="1725098"/>
            <a:ext cx="3044129" cy="446535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CasellaDiTesto 4">
            <a:extLst>
              <a:ext uri="{FF2B5EF4-FFF2-40B4-BE49-F238E27FC236}">
                <a16:creationId xmlns:a16="http://schemas.microsoft.com/office/drawing/2014/main" id="{E327A6A1-1342-6CD3-3672-9E517CB2AFD8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err="1"/>
              <a:t>Capitoli</a:t>
            </a:r>
            <a:r>
              <a:rPr lang="en-US" dirty="0"/>
              <a:t>:</a:t>
            </a:r>
            <a:endParaRPr lang="it-IT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err="1"/>
              <a:t>Sistemi</a:t>
            </a:r>
            <a:r>
              <a:rPr lang="en-US" dirty="0"/>
              <a:t> di </a:t>
            </a:r>
            <a:r>
              <a:rPr lang="en-US" err="1"/>
              <a:t>numerazioni</a:t>
            </a:r>
            <a:r>
              <a:rPr lang="en-US" dirty="0"/>
              <a:t> ed algebra di Boole.</a:t>
            </a:r>
            <a:endParaRPr lang="en-US" dirty="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  </a:t>
            </a:r>
            <a:r>
              <a:rPr lang="en-US" err="1">
                <a:solidFill>
                  <a:schemeClr val="accent2"/>
                </a:solidFill>
              </a:rPr>
              <a:t>Sistemi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err="1">
                <a:solidFill>
                  <a:schemeClr val="accent2"/>
                </a:solidFill>
              </a:rPr>
              <a:t>digitali</a:t>
            </a:r>
            <a:r>
              <a:rPr lang="en-US" dirty="0">
                <a:solidFill>
                  <a:schemeClr val="accent2"/>
                </a:solidFill>
              </a:rPr>
              <a:t> e </a:t>
            </a:r>
            <a:r>
              <a:rPr lang="en-US" err="1">
                <a:solidFill>
                  <a:schemeClr val="accent2"/>
                </a:solidFill>
              </a:rPr>
              <a:t>codifica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dirty="0"/>
              <a:t>  Architettura ARM.</a:t>
            </a:r>
            <a:endParaRPr lang="en-US" dirty="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dirty="0"/>
              <a:t>  </a:t>
            </a:r>
            <a:r>
              <a:rPr lang="en-US" dirty="0" err="1"/>
              <a:t>Programmazione</a:t>
            </a:r>
            <a:r>
              <a:rPr lang="en-US" dirty="0"/>
              <a:t> in ARM.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9" name="CasellaDiTesto 5">
            <a:extLst>
              <a:ext uri="{FF2B5EF4-FFF2-40B4-BE49-F238E27FC236}">
                <a16:creationId xmlns:a16="http://schemas.microsoft.com/office/drawing/2014/main" id="{D873A4E1-0C1C-3755-4B99-92450FC7B465}"/>
              </a:ext>
            </a:extLst>
          </p:cNvPr>
          <p:cNvSpPr txBox="1"/>
          <p:nvPr/>
        </p:nvSpPr>
        <p:spPr>
          <a:xfrm>
            <a:off x="4066247" y="674336"/>
            <a:ext cx="3660295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3200">
                <a:ea typeface="Calibri"/>
                <a:cs typeface="Calibri"/>
              </a:rPr>
              <a:t>Testo di riferimento</a:t>
            </a:r>
            <a:endParaRPr lang="it-IT" sz="3200"/>
          </a:p>
        </p:txBody>
      </p:sp>
    </p:spTree>
    <p:extLst>
      <p:ext uri="{BB962C8B-B14F-4D97-AF65-F5344CB8AC3E}">
        <p14:creationId xmlns:p14="http://schemas.microsoft.com/office/powerpoint/2010/main" val="214671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azione dei dati sul monitor di un computer">
            <a:extLst>
              <a:ext uri="{FF2B5EF4-FFF2-40B4-BE49-F238E27FC236}">
                <a16:creationId xmlns:a16="http://schemas.microsoft.com/office/drawing/2014/main" id="{755D49AC-05DA-E0C2-545A-79B310F064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11" t="744" r="8" b="8354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5648C8D-CE10-1607-561C-0AB2F6FD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Sistemi digitali e codifica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75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4D74BC-749A-9B5E-406E-95AA8268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8023A1A-FB36-5131-2DCB-10DAB6677243}"/>
              </a:ext>
            </a:extLst>
          </p:cNvPr>
          <p:cNvSpPr txBox="1"/>
          <p:nvPr/>
        </p:nvSpPr>
        <p:spPr>
          <a:xfrm>
            <a:off x="100263" y="1143000"/>
            <a:ext cx="120015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Semplificare algebricamente la seguente espressione logica, utilizzando le proprietà dell'algebra di Boole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F= A C + B (A+C) + B + C</a:t>
            </a: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3E8F61DE-ECFB-427F-0124-BA6FF8F09142}"/>
              </a:ext>
            </a:extLst>
          </p:cNvPr>
          <p:cNvCxnSpPr>
            <a:cxnSpLocks/>
          </p:cNvCxnSpPr>
          <p:nvPr/>
        </p:nvCxnSpPr>
        <p:spPr>
          <a:xfrm flipV="1">
            <a:off x="612865" y="171000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3E8F61DE-ECFB-427F-0124-BA6FF8F09142}"/>
              </a:ext>
            </a:extLst>
          </p:cNvPr>
          <p:cNvCxnSpPr>
            <a:cxnSpLocks/>
          </p:cNvCxnSpPr>
          <p:nvPr/>
        </p:nvCxnSpPr>
        <p:spPr>
          <a:xfrm flipV="1">
            <a:off x="1186872" y="170248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E8F61DE-ECFB-427F-0124-BA6FF8F09142}"/>
              </a:ext>
            </a:extLst>
          </p:cNvPr>
          <p:cNvCxnSpPr>
            <a:cxnSpLocks/>
          </p:cNvCxnSpPr>
          <p:nvPr/>
        </p:nvCxnSpPr>
        <p:spPr>
          <a:xfrm flipV="1">
            <a:off x="1821036" y="1704991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E8F61DE-ECFB-427F-0124-BA6FF8F09142}"/>
              </a:ext>
            </a:extLst>
          </p:cNvPr>
          <p:cNvCxnSpPr>
            <a:cxnSpLocks/>
          </p:cNvCxnSpPr>
          <p:nvPr/>
        </p:nvCxnSpPr>
        <p:spPr>
          <a:xfrm flipV="1">
            <a:off x="971306" y="1647339"/>
            <a:ext cx="68056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E8F61DE-ECFB-427F-0124-BA6FF8F09142}"/>
              </a:ext>
            </a:extLst>
          </p:cNvPr>
          <p:cNvCxnSpPr>
            <a:cxnSpLocks/>
          </p:cNvCxnSpPr>
          <p:nvPr/>
        </p:nvCxnSpPr>
        <p:spPr>
          <a:xfrm flipV="1">
            <a:off x="1826049" y="1649846"/>
            <a:ext cx="53016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8C4BBFC-71B5-1624-168E-2F9D4FCC54A0}"/>
              </a:ext>
            </a:extLst>
          </p:cNvPr>
          <p:cNvSpPr txBox="1"/>
          <p:nvPr/>
        </p:nvSpPr>
        <p:spPr>
          <a:xfrm>
            <a:off x="3238498" y="1343525"/>
            <a:ext cx="6356685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F= A C +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B (A+C)</a:t>
            </a:r>
            <a:r>
              <a:rPr lang="it-IT" dirty="0">
                <a:ea typeface="Calibri"/>
                <a:cs typeface="Calibri"/>
              </a:rPr>
              <a:t> + B + C       (De Morgan)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 = A C + B +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A+C </a:t>
            </a:r>
            <a:r>
              <a:rPr lang="it-IT" dirty="0">
                <a:ea typeface="Calibri"/>
                <a:cs typeface="Calibri"/>
              </a:rPr>
              <a:t>+ B + C        (De Morgan) 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= A C + B +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   </a:t>
            </a:r>
            <a:r>
              <a:rPr lang="it-IT" dirty="0">
                <a:ea typeface="Calibri"/>
                <a:cs typeface="Calibri"/>
              </a:rPr>
              <a:t>A C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 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it-IT" dirty="0">
                <a:ea typeface="Calibri"/>
                <a:cs typeface="Calibri"/>
              </a:rPr>
              <a:t>+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B + C </a:t>
            </a:r>
            <a:r>
              <a:rPr lang="it-IT" dirty="0">
                <a:ea typeface="Calibri"/>
                <a:cs typeface="Calibri"/>
              </a:rPr>
              <a:t>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      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(De Morgan)</a:t>
            </a:r>
          </a:p>
          <a:p>
            <a:endParaRPr lang="it-IT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=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A C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 + B +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A C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 + </a:t>
            </a:r>
            <a:r>
              <a:rPr lang="it-IT" dirty="0">
                <a:ea typeface="Calibri"/>
                <a:cs typeface="Calibri"/>
              </a:rPr>
              <a:t>B C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 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            (Idempotenza dell'OR)</a:t>
            </a:r>
          </a:p>
          <a:p>
            <a:endParaRPr lang="it-IT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= A C +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B 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+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B 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C    (Secondo teorema assorbimento)</a:t>
            </a:r>
          </a:p>
          <a:p>
            <a:endParaRPr lang="it-IT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=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A C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 + B +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C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     (Proprietà distributiva dell'AND nell'OR)</a:t>
            </a:r>
          </a:p>
          <a:p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             </a:t>
            </a:r>
          </a:p>
          <a:p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= C (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A + 1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) + B    (Elemento assorbente dell'OR)</a:t>
            </a:r>
          </a:p>
          <a:p>
            <a:endParaRPr lang="it-IT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= </a:t>
            </a:r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C 1</a:t>
            </a:r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 + B       (Elemento neutro nell'AND)</a:t>
            </a:r>
          </a:p>
          <a:p>
            <a:endParaRPr lang="it-IT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it-IT" dirty="0">
                <a:solidFill>
                  <a:srgbClr val="000000"/>
                </a:solidFill>
                <a:ea typeface="Calibri"/>
                <a:cs typeface="Calibri"/>
              </a:rPr>
              <a:t>= C + B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4922CCAB-2AAD-3858-57AC-58C8AB47436A}"/>
              </a:ext>
            </a:extLst>
          </p:cNvPr>
          <p:cNvCxnSpPr>
            <a:cxnSpLocks/>
          </p:cNvCxnSpPr>
          <p:nvPr/>
        </p:nvCxnSpPr>
        <p:spPr>
          <a:xfrm flipV="1">
            <a:off x="3771154" y="192055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F12BAB5-CF48-B5C8-7140-49342D02BB98}"/>
              </a:ext>
            </a:extLst>
          </p:cNvPr>
          <p:cNvCxnSpPr>
            <a:cxnSpLocks/>
          </p:cNvCxnSpPr>
          <p:nvPr/>
        </p:nvCxnSpPr>
        <p:spPr>
          <a:xfrm flipV="1">
            <a:off x="4345161" y="191303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02D3E58D-2B4A-3BE7-AC8F-38615F38D661}"/>
              </a:ext>
            </a:extLst>
          </p:cNvPr>
          <p:cNvCxnSpPr>
            <a:cxnSpLocks/>
          </p:cNvCxnSpPr>
          <p:nvPr/>
        </p:nvCxnSpPr>
        <p:spPr>
          <a:xfrm flipV="1">
            <a:off x="4979325" y="191554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85D4F51-1EC5-4405-0C64-7AD75E69DE84}"/>
              </a:ext>
            </a:extLst>
          </p:cNvPr>
          <p:cNvCxnSpPr>
            <a:cxnSpLocks/>
          </p:cNvCxnSpPr>
          <p:nvPr/>
        </p:nvCxnSpPr>
        <p:spPr>
          <a:xfrm flipV="1">
            <a:off x="4129595" y="1857891"/>
            <a:ext cx="68056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E22252C-18B4-93E8-CCEF-C8DB44E444D5}"/>
              </a:ext>
            </a:extLst>
          </p:cNvPr>
          <p:cNvCxnSpPr>
            <a:cxnSpLocks/>
          </p:cNvCxnSpPr>
          <p:nvPr/>
        </p:nvCxnSpPr>
        <p:spPr>
          <a:xfrm flipV="1">
            <a:off x="4984338" y="1860398"/>
            <a:ext cx="53016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48E7C663-C8A4-BA0F-5837-65E60169231A}"/>
              </a:ext>
            </a:extLst>
          </p:cNvPr>
          <p:cNvCxnSpPr>
            <a:cxnSpLocks/>
          </p:cNvCxnSpPr>
          <p:nvPr/>
        </p:nvCxnSpPr>
        <p:spPr>
          <a:xfrm flipV="1">
            <a:off x="3731048" y="2461977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E89E295-29A4-2D32-FB29-0531CDE5E3A3}"/>
              </a:ext>
            </a:extLst>
          </p:cNvPr>
          <p:cNvCxnSpPr>
            <a:cxnSpLocks/>
          </p:cNvCxnSpPr>
          <p:nvPr/>
        </p:nvCxnSpPr>
        <p:spPr>
          <a:xfrm flipV="1">
            <a:off x="4400305" y="2459470"/>
            <a:ext cx="4098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26BA25BA-170C-CF59-AA40-5A177F308803}"/>
              </a:ext>
            </a:extLst>
          </p:cNvPr>
          <p:cNvCxnSpPr>
            <a:cxnSpLocks/>
          </p:cNvCxnSpPr>
          <p:nvPr/>
        </p:nvCxnSpPr>
        <p:spPr>
          <a:xfrm flipV="1">
            <a:off x="4422864" y="2512109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31886F0B-A742-B2D6-6AF9-B8F9BCF55223}"/>
              </a:ext>
            </a:extLst>
          </p:cNvPr>
          <p:cNvCxnSpPr>
            <a:cxnSpLocks/>
          </p:cNvCxnSpPr>
          <p:nvPr/>
        </p:nvCxnSpPr>
        <p:spPr>
          <a:xfrm flipV="1">
            <a:off x="4031837" y="246197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930DF073-F570-9894-7643-32C3DFB2357F}"/>
              </a:ext>
            </a:extLst>
          </p:cNvPr>
          <p:cNvCxnSpPr>
            <a:cxnSpLocks/>
          </p:cNvCxnSpPr>
          <p:nvPr/>
        </p:nvCxnSpPr>
        <p:spPr>
          <a:xfrm flipV="1">
            <a:off x="4984337" y="2461977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FD9EC4C6-B2B1-565F-63F3-6EEC922A6329}"/>
              </a:ext>
            </a:extLst>
          </p:cNvPr>
          <p:cNvCxnSpPr>
            <a:cxnSpLocks/>
          </p:cNvCxnSpPr>
          <p:nvPr/>
        </p:nvCxnSpPr>
        <p:spPr>
          <a:xfrm flipV="1">
            <a:off x="4984338" y="2411845"/>
            <a:ext cx="53016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F5F27F6F-AAE6-17E2-2EBA-E8CFC0EC9A9B}"/>
              </a:ext>
            </a:extLst>
          </p:cNvPr>
          <p:cNvCxnSpPr>
            <a:cxnSpLocks/>
          </p:cNvCxnSpPr>
          <p:nvPr/>
        </p:nvCxnSpPr>
        <p:spPr>
          <a:xfrm flipV="1">
            <a:off x="3640811" y="2993371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328B0598-11A3-33D8-6465-5A67FB8CEBE5}"/>
              </a:ext>
            </a:extLst>
          </p:cNvPr>
          <p:cNvCxnSpPr>
            <a:cxnSpLocks/>
          </p:cNvCxnSpPr>
          <p:nvPr/>
        </p:nvCxnSpPr>
        <p:spPr>
          <a:xfrm flipV="1">
            <a:off x="4021810" y="2993370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8B4E493-FDE4-2611-F259-9CE40502BB98}"/>
              </a:ext>
            </a:extLst>
          </p:cNvPr>
          <p:cNvCxnSpPr>
            <a:cxnSpLocks/>
          </p:cNvCxnSpPr>
          <p:nvPr/>
        </p:nvCxnSpPr>
        <p:spPr>
          <a:xfrm flipV="1">
            <a:off x="4984338" y="2993371"/>
            <a:ext cx="53016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6A2216B8-8F8E-B060-8F64-DE1565BC5CA4}"/>
              </a:ext>
            </a:extLst>
          </p:cNvPr>
          <p:cNvCxnSpPr>
            <a:cxnSpLocks/>
          </p:cNvCxnSpPr>
          <p:nvPr/>
        </p:nvCxnSpPr>
        <p:spPr>
          <a:xfrm flipV="1">
            <a:off x="4979325" y="305854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4C499B09-5227-440D-8F1E-F8F5B70091F9}"/>
              </a:ext>
            </a:extLst>
          </p:cNvPr>
          <p:cNvCxnSpPr>
            <a:cxnSpLocks/>
          </p:cNvCxnSpPr>
          <p:nvPr/>
        </p:nvCxnSpPr>
        <p:spPr>
          <a:xfrm flipV="1">
            <a:off x="3650837" y="3574897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FE9FB4DF-413F-3551-7E33-812B48385DA9}"/>
              </a:ext>
            </a:extLst>
          </p:cNvPr>
          <p:cNvCxnSpPr>
            <a:cxnSpLocks/>
          </p:cNvCxnSpPr>
          <p:nvPr/>
        </p:nvCxnSpPr>
        <p:spPr>
          <a:xfrm flipV="1">
            <a:off x="4031836" y="357489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93F52B3C-156C-9E2F-4D3D-D3BB2E08468D}"/>
              </a:ext>
            </a:extLst>
          </p:cNvPr>
          <p:cNvCxnSpPr>
            <a:cxnSpLocks/>
          </p:cNvCxnSpPr>
          <p:nvPr/>
        </p:nvCxnSpPr>
        <p:spPr>
          <a:xfrm flipV="1">
            <a:off x="5074574" y="3574898"/>
            <a:ext cx="15919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35011E95-F544-DD5F-AE70-40BD2BDA5EDF}"/>
              </a:ext>
            </a:extLst>
          </p:cNvPr>
          <p:cNvCxnSpPr>
            <a:cxnSpLocks/>
          </p:cNvCxnSpPr>
          <p:nvPr/>
        </p:nvCxnSpPr>
        <p:spPr>
          <a:xfrm flipV="1">
            <a:off x="4508088" y="3569885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036F5936-DEB8-5726-F8AC-6E004C032EC3}"/>
              </a:ext>
            </a:extLst>
          </p:cNvPr>
          <p:cNvCxnSpPr>
            <a:cxnSpLocks/>
          </p:cNvCxnSpPr>
          <p:nvPr/>
        </p:nvCxnSpPr>
        <p:spPr>
          <a:xfrm flipV="1">
            <a:off x="4623389" y="3013422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1B03D4CE-95F3-AAAA-AEB0-26FC8A2B40E9}"/>
              </a:ext>
            </a:extLst>
          </p:cNvPr>
          <p:cNvCxnSpPr>
            <a:cxnSpLocks/>
          </p:cNvCxnSpPr>
          <p:nvPr/>
        </p:nvCxnSpPr>
        <p:spPr>
          <a:xfrm flipV="1">
            <a:off x="3670890" y="4086239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2B023A76-BE32-C26F-FBB7-0289B2D86750}"/>
              </a:ext>
            </a:extLst>
          </p:cNvPr>
          <p:cNvCxnSpPr>
            <a:cxnSpLocks/>
          </p:cNvCxnSpPr>
          <p:nvPr/>
        </p:nvCxnSpPr>
        <p:spPr>
          <a:xfrm flipV="1">
            <a:off x="3991731" y="4086238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5E3A191-0466-2012-294E-396BF34D7011}"/>
              </a:ext>
            </a:extLst>
          </p:cNvPr>
          <p:cNvCxnSpPr>
            <a:cxnSpLocks/>
          </p:cNvCxnSpPr>
          <p:nvPr/>
        </p:nvCxnSpPr>
        <p:spPr>
          <a:xfrm flipV="1">
            <a:off x="4518115" y="4081227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1B03D4CE-95F3-AAAA-AEB0-26FC8A2B40E9}"/>
              </a:ext>
            </a:extLst>
          </p:cNvPr>
          <p:cNvCxnSpPr>
            <a:cxnSpLocks/>
          </p:cNvCxnSpPr>
          <p:nvPr/>
        </p:nvCxnSpPr>
        <p:spPr>
          <a:xfrm flipV="1">
            <a:off x="3593186" y="464019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2B023A76-BE32-C26F-FBB7-0289B2D86750}"/>
              </a:ext>
            </a:extLst>
          </p:cNvPr>
          <p:cNvCxnSpPr>
            <a:cxnSpLocks/>
          </p:cNvCxnSpPr>
          <p:nvPr/>
        </p:nvCxnSpPr>
        <p:spPr>
          <a:xfrm flipV="1">
            <a:off x="3974185" y="4640192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54E8CE4-AF5F-C040-21DB-4D7693502AB5}"/>
              </a:ext>
            </a:extLst>
          </p:cNvPr>
          <p:cNvCxnSpPr>
            <a:cxnSpLocks/>
          </p:cNvCxnSpPr>
          <p:nvPr/>
        </p:nvCxnSpPr>
        <p:spPr>
          <a:xfrm flipV="1">
            <a:off x="3452819" y="5181615"/>
            <a:ext cx="18926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65E3A191-0466-2012-294E-396BF34D7011}"/>
              </a:ext>
            </a:extLst>
          </p:cNvPr>
          <p:cNvCxnSpPr>
            <a:cxnSpLocks/>
          </p:cNvCxnSpPr>
          <p:nvPr/>
        </p:nvCxnSpPr>
        <p:spPr>
          <a:xfrm flipV="1">
            <a:off x="4330121" y="4635181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B1D2C4D6-8B1A-89FC-271E-E53C5749C798}"/>
              </a:ext>
            </a:extLst>
          </p:cNvPr>
          <p:cNvCxnSpPr>
            <a:cxnSpLocks/>
          </p:cNvCxnSpPr>
          <p:nvPr/>
        </p:nvCxnSpPr>
        <p:spPr>
          <a:xfrm flipV="1">
            <a:off x="4475503" y="5181615"/>
            <a:ext cx="18926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95A58958-86F7-10B5-43EB-8008474C2F8F}"/>
              </a:ext>
            </a:extLst>
          </p:cNvPr>
          <p:cNvCxnSpPr>
            <a:cxnSpLocks/>
          </p:cNvCxnSpPr>
          <p:nvPr/>
        </p:nvCxnSpPr>
        <p:spPr>
          <a:xfrm flipV="1">
            <a:off x="3452818" y="5702983"/>
            <a:ext cx="18926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0DF97432-F448-C02E-6AA2-36C75F57DED6}"/>
              </a:ext>
            </a:extLst>
          </p:cNvPr>
          <p:cNvCxnSpPr>
            <a:cxnSpLocks/>
          </p:cNvCxnSpPr>
          <p:nvPr/>
        </p:nvCxnSpPr>
        <p:spPr>
          <a:xfrm flipV="1">
            <a:off x="3994240" y="5702983"/>
            <a:ext cx="18926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7DD46AD8-1B91-A76C-8162-9471A7147332}"/>
              </a:ext>
            </a:extLst>
          </p:cNvPr>
          <p:cNvCxnSpPr>
            <a:cxnSpLocks/>
          </p:cNvCxnSpPr>
          <p:nvPr/>
        </p:nvCxnSpPr>
        <p:spPr>
          <a:xfrm flipV="1">
            <a:off x="3482897" y="6224351"/>
            <a:ext cx="18926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CC528571-FB6B-B0EC-D7EA-09FA10A6C681}"/>
              </a:ext>
            </a:extLst>
          </p:cNvPr>
          <p:cNvCxnSpPr>
            <a:cxnSpLocks/>
          </p:cNvCxnSpPr>
          <p:nvPr/>
        </p:nvCxnSpPr>
        <p:spPr>
          <a:xfrm flipV="1">
            <a:off x="3783687" y="6224352"/>
            <a:ext cx="18926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23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4CDC7C71-272A-8D2E-8F32-04A7F12A5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3A7726A-73D9-491D-74CD-E0855A805F30}"/>
              </a:ext>
            </a:extLst>
          </p:cNvPr>
          <p:cNvSpPr txBox="1"/>
          <p:nvPr/>
        </p:nvSpPr>
        <p:spPr>
          <a:xfrm>
            <a:off x="100263" y="1143000"/>
            <a:ext cx="120015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Semplificare algebricamente la seguente espressione logica, utilizzando le proprietà dell'algebra di Boole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F= A C + B (A+C) + B + C</a:t>
            </a: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CD22AE2-22BE-8F7E-A04D-85435122B4CB}"/>
              </a:ext>
            </a:extLst>
          </p:cNvPr>
          <p:cNvCxnSpPr>
            <a:cxnSpLocks/>
          </p:cNvCxnSpPr>
          <p:nvPr/>
        </p:nvCxnSpPr>
        <p:spPr>
          <a:xfrm flipV="1">
            <a:off x="612865" y="171000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1F40D525-CB52-4F40-1C75-FB02FA263EA6}"/>
              </a:ext>
            </a:extLst>
          </p:cNvPr>
          <p:cNvCxnSpPr>
            <a:cxnSpLocks/>
          </p:cNvCxnSpPr>
          <p:nvPr/>
        </p:nvCxnSpPr>
        <p:spPr>
          <a:xfrm flipV="1">
            <a:off x="1186872" y="170248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683A6ED-4441-2E86-58E7-672054257C0F}"/>
              </a:ext>
            </a:extLst>
          </p:cNvPr>
          <p:cNvCxnSpPr>
            <a:cxnSpLocks/>
          </p:cNvCxnSpPr>
          <p:nvPr/>
        </p:nvCxnSpPr>
        <p:spPr>
          <a:xfrm flipV="1">
            <a:off x="1821036" y="1704991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08B85F6E-A0E3-BF93-F6AE-4090529CD888}"/>
              </a:ext>
            </a:extLst>
          </p:cNvPr>
          <p:cNvCxnSpPr>
            <a:cxnSpLocks/>
          </p:cNvCxnSpPr>
          <p:nvPr/>
        </p:nvCxnSpPr>
        <p:spPr>
          <a:xfrm flipV="1">
            <a:off x="971306" y="1647339"/>
            <a:ext cx="68056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2F9EEBC2-F44B-D33A-7D70-BA0A34A49EF1}"/>
              </a:ext>
            </a:extLst>
          </p:cNvPr>
          <p:cNvCxnSpPr>
            <a:cxnSpLocks/>
          </p:cNvCxnSpPr>
          <p:nvPr/>
        </p:nvCxnSpPr>
        <p:spPr>
          <a:xfrm flipV="1">
            <a:off x="1826049" y="1649846"/>
            <a:ext cx="53016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asellaDiTesto 83">
            <a:extLst>
              <a:ext uri="{FF2B5EF4-FFF2-40B4-BE49-F238E27FC236}">
                <a16:creationId xmlns:a16="http://schemas.microsoft.com/office/drawing/2014/main" id="{C6B415DF-1058-EB57-646F-CDCC1790F120}"/>
              </a:ext>
            </a:extLst>
          </p:cNvPr>
          <p:cNvSpPr txBox="1"/>
          <p:nvPr/>
        </p:nvSpPr>
        <p:spPr>
          <a:xfrm>
            <a:off x="2807368" y="2877552"/>
            <a:ext cx="62263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Inserire tavola di verità pp 46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7835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CC297723-9B70-C4B9-0452-81137078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C31D64F-C926-F4D5-FA3D-9749060A653B}"/>
              </a:ext>
            </a:extLst>
          </p:cNvPr>
          <p:cNvSpPr txBox="1"/>
          <p:nvPr/>
        </p:nvSpPr>
        <p:spPr>
          <a:xfrm>
            <a:off x="100263" y="1143000"/>
            <a:ext cx="120015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Semplificare algebricamente la seguente espressione logica, utilizzando le proprietà dell'algebra di Boole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F= A C + B (A+C) + B + C</a:t>
            </a: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7E6179E2-B8B4-8659-B249-1202100788E5}"/>
              </a:ext>
            </a:extLst>
          </p:cNvPr>
          <p:cNvCxnSpPr>
            <a:cxnSpLocks/>
          </p:cNvCxnSpPr>
          <p:nvPr/>
        </p:nvCxnSpPr>
        <p:spPr>
          <a:xfrm flipV="1">
            <a:off x="612865" y="171000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70394D7-D07B-A563-B657-B48100E3E9BF}"/>
              </a:ext>
            </a:extLst>
          </p:cNvPr>
          <p:cNvCxnSpPr>
            <a:cxnSpLocks/>
          </p:cNvCxnSpPr>
          <p:nvPr/>
        </p:nvCxnSpPr>
        <p:spPr>
          <a:xfrm flipV="1">
            <a:off x="1186872" y="170248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B56040A-10AF-995F-601D-006EF0B08694}"/>
              </a:ext>
            </a:extLst>
          </p:cNvPr>
          <p:cNvCxnSpPr>
            <a:cxnSpLocks/>
          </p:cNvCxnSpPr>
          <p:nvPr/>
        </p:nvCxnSpPr>
        <p:spPr>
          <a:xfrm flipV="1">
            <a:off x="1821036" y="1704991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39E055FD-3833-C580-9C13-3D78A82CE2B3}"/>
              </a:ext>
            </a:extLst>
          </p:cNvPr>
          <p:cNvCxnSpPr>
            <a:cxnSpLocks/>
          </p:cNvCxnSpPr>
          <p:nvPr/>
        </p:nvCxnSpPr>
        <p:spPr>
          <a:xfrm flipV="1">
            <a:off x="971306" y="1647339"/>
            <a:ext cx="68056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53184C9E-D2B8-082B-2F45-94FF0DA39EA2}"/>
              </a:ext>
            </a:extLst>
          </p:cNvPr>
          <p:cNvCxnSpPr>
            <a:cxnSpLocks/>
          </p:cNvCxnSpPr>
          <p:nvPr/>
        </p:nvCxnSpPr>
        <p:spPr>
          <a:xfrm flipV="1">
            <a:off x="1826049" y="1649846"/>
            <a:ext cx="53016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DD852C8F-55F3-0F3D-ED6F-0E5C4B48D968}"/>
              </a:ext>
            </a:extLst>
          </p:cNvPr>
          <p:cNvCxnSpPr/>
          <p:nvPr/>
        </p:nvCxnSpPr>
        <p:spPr>
          <a:xfrm>
            <a:off x="4317833" y="2633413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802E3A8-B8D7-3F61-D5EE-46470617AEFC}"/>
              </a:ext>
            </a:extLst>
          </p:cNvPr>
          <p:cNvCxnSpPr>
            <a:cxnSpLocks/>
          </p:cNvCxnSpPr>
          <p:nvPr/>
        </p:nvCxnSpPr>
        <p:spPr>
          <a:xfrm>
            <a:off x="5210175" y="2633413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CFE86B36-3A64-5D20-27CB-7529ED5B5767}"/>
              </a:ext>
            </a:extLst>
          </p:cNvPr>
          <p:cNvCxnSpPr>
            <a:cxnSpLocks/>
          </p:cNvCxnSpPr>
          <p:nvPr/>
        </p:nvCxnSpPr>
        <p:spPr>
          <a:xfrm>
            <a:off x="3686174" y="3114676"/>
            <a:ext cx="3922292" cy="1203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DD3B7F20-AEC4-73B4-DAAB-18C0BA49C669}"/>
              </a:ext>
            </a:extLst>
          </p:cNvPr>
          <p:cNvCxnSpPr>
            <a:cxnSpLocks/>
          </p:cNvCxnSpPr>
          <p:nvPr/>
        </p:nvCxnSpPr>
        <p:spPr>
          <a:xfrm>
            <a:off x="3636042" y="4157412"/>
            <a:ext cx="3972425" cy="320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30">
            <a:extLst>
              <a:ext uri="{FF2B5EF4-FFF2-40B4-BE49-F238E27FC236}">
                <a16:creationId xmlns:a16="http://schemas.microsoft.com/office/drawing/2014/main" id="{7FE51D5E-84D5-2460-C70F-BCCBEF925F85}"/>
              </a:ext>
            </a:extLst>
          </p:cNvPr>
          <p:cNvSpPr txBox="1"/>
          <p:nvPr/>
        </p:nvSpPr>
        <p:spPr>
          <a:xfrm>
            <a:off x="3581400" y="2789321"/>
            <a:ext cx="40706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A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F3795EF0-0667-E518-B4C3-79321C698A84}"/>
              </a:ext>
            </a:extLst>
          </p:cNvPr>
          <p:cNvCxnSpPr>
            <a:cxnSpLocks/>
          </p:cNvCxnSpPr>
          <p:nvPr/>
        </p:nvCxnSpPr>
        <p:spPr>
          <a:xfrm>
            <a:off x="3706226" y="2763754"/>
            <a:ext cx="563478" cy="34289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34">
            <a:extLst>
              <a:ext uri="{FF2B5EF4-FFF2-40B4-BE49-F238E27FC236}">
                <a16:creationId xmlns:a16="http://schemas.microsoft.com/office/drawing/2014/main" id="{F6A92623-E07F-320D-FD7B-6E4836E4265A}"/>
              </a:ext>
            </a:extLst>
          </p:cNvPr>
          <p:cNvSpPr txBox="1"/>
          <p:nvPr/>
        </p:nvSpPr>
        <p:spPr>
          <a:xfrm>
            <a:off x="3832059" y="2628900"/>
            <a:ext cx="53741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BC </a:t>
            </a:r>
          </a:p>
        </p:txBody>
      </p:sp>
      <p:sp>
        <p:nvSpPr>
          <p:cNvPr id="25" name="CasellaDiTesto 36">
            <a:extLst>
              <a:ext uri="{FF2B5EF4-FFF2-40B4-BE49-F238E27FC236}">
                <a16:creationId xmlns:a16="http://schemas.microsoft.com/office/drawing/2014/main" id="{AC9C5933-9F23-1388-9A08-6ECA9940AA64}"/>
              </a:ext>
            </a:extLst>
          </p:cNvPr>
          <p:cNvSpPr txBox="1"/>
          <p:nvPr/>
        </p:nvSpPr>
        <p:spPr>
          <a:xfrm>
            <a:off x="4513848" y="2679032"/>
            <a:ext cx="51735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0 0</a:t>
            </a:r>
          </a:p>
        </p:txBody>
      </p:sp>
      <p:sp>
        <p:nvSpPr>
          <p:cNvPr id="26" name="CasellaDiTesto 38">
            <a:extLst>
              <a:ext uri="{FF2B5EF4-FFF2-40B4-BE49-F238E27FC236}">
                <a16:creationId xmlns:a16="http://schemas.microsoft.com/office/drawing/2014/main" id="{5B933614-9643-4D99-C108-B006C8C1269E}"/>
              </a:ext>
            </a:extLst>
          </p:cNvPr>
          <p:cNvSpPr txBox="1"/>
          <p:nvPr/>
        </p:nvSpPr>
        <p:spPr>
          <a:xfrm>
            <a:off x="3651584" y="3451058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0</a:t>
            </a:r>
          </a:p>
        </p:txBody>
      </p:sp>
      <p:sp>
        <p:nvSpPr>
          <p:cNvPr id="27" name="CasellaDiTesto 40">
            <a:extLst>
              <a:ext uri="{FF2B5EF4-FFF2-40B4-BE49-F238E27FC236}">
                <a16:creationId xmlns:a16="http://schemas.microsoft.com/office/drawing/2014/main" id="{A841423E-F391-7CBE-DE8E-AD81CBB54855}"/>
              </a:ext>
            </a:extLst>
          </p:cNvPr>
          <p:cNvSpPr txBox="1"/>
          <p:nvPr/>
        </p:nvSpPr>
        <p:spPr>
          <a:xfrm>
            <a:off x="5416216" y="2679031"/>
            <a:ext cx="54743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0 1</a:t>
            </a:r>
            <a:endParaRPr lang="it-IT" dirty="0"/>
          </a:p>
        </p:txBody>
      </p:sp>
      <p:sp>
        <p:nvSpPr>
          <p:cNvPr id="28" name="CasellaDiTesto 42">
            <a:extLst>
              <a:ext uri="{FF2B5EF4-FFF2-40B4-BE49-F238E27FC236}">
                <a16:creationId xmlns:a16="http://schemas.microsoft.com/office/drawing/2014/main" id="{A8ECCE2B-BFA6-07E8-9102-1FF9933939AD}"/>
              </a:ext>
            </a:extLst>
          </p:cNvPr>
          <p:cNvSpPr txBox="1"/>
          <p:nvPr/>
        </p:nvSpPr>
        <p:spPr>
          <a:xfrm>
            <a:off x="3651584" y="4483767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9CF16A2F-BDC7-16E6-D516-A484956B9D3C}"/>
              </a:ext>
            </a:extLst>
          </p:cNvPr>
          <p:cNvCxnSpPr>
            <a:cxnSpLocks/>
          </p:cNvCxnSpPr>
          <p:nvPr/>
        </p:nvCxnSpPr>
        <p:spPr>
          <a:xfrm>
            <a:off x="6072438" y="2633413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7FF66D02-0D12-DE87-5338-A55C0E0EEB78}"/>
              </a:ext>
            </a:extLst>
          </p:cNvPr>
          <p:cNvCxnSpPr>
            <a:cxnSpLocks/>
          </p:cNvCxnSpPr>
          <p:nvPr/>
        </p:nvCxnSpPr>
        <p:spPr>
          <a:xfrm>
            <a:off x="6834437" y="2633413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59">
            <a:extLst>
              <a:ext uri="{FF2B5EF4-FFF2-40B4-BE49-F238E27FC236}">
                <a16:creationId xmlns:a16="http://schemas.microsoft.com/office/drawing/2014/main" id="{FB1D77F3-61C8-9E46-9068-A0BDA08E01E3}"/>
              </a:ext>
            </a:extLst>
          </p:cNvPr>
          <p:cNvSpPr txBox="1"/>
          <p:nvPr/>
        </p:nvSpPr>
        <p:spPr>
          <a:xfrm>
            <a:off x="6178216" y="2679031"/>
            <a:ext cx="54743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1 1</a:t>
            </a:r>
          </a:p>
        </p:txBody>
      </p:sp>
      <p:sp>
        <p:nvSpPr>
          <p:cNvPr id="32" name="CasellaDiTesto 60">
            <a:extLst>
              <a:ext uri="{FF2B5EF4-FFF2-40B4-BE49-F238E27FC236}">
                <a16:creationId xmlns:a16="http://schemas.microsoft.com/office/drawing/2014/main" id="{DD2D0DE0-5C1F-7453-8891-9D9BEFEA7167}"/>
              </a:ext>
            </a:extLst>
          </p:cNvPr>
          <p:cNvSpPr txBox="1"/>
          <p:nvPr/>
        </p:nvSpPr>
        <p:spPr>
          <a:xfrm>
            <a:off x="6980320" y="2679030"/>
            <a:ext cx="54743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1 0</a:t>
            </a:r>
          </a:p>
        </p:txBody>
      </p:sp>
      <p:sp>
        <p:nvSpPr>
          <p:cNvPr id="33" name="CasellaDiTesto 62">
            <a:extLst>
              <a:ext uri="{FF2B5EF4-FFF2-40B4-BE49-F238E27FC236}">
                <a16:creationId xmlns:a16="http://schemas.microsoft.com/office/drawing/2014/main" id="{71462335-E65C-74B0-CEBF-30A2D4C82A03}"/>
              </a:ext>
            </a:extLst>
          </p:cNvPr>
          <p:cNvSpPr txBox="1"/>
          <p:nvPr/>
        </p:nvSpPr>
        <p:spPr>
          <a:xfrm>
            <a:off x="5416215" y="4553952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</a:t>
            </a:r>
          </a:p>
        </p:txBody>
      </p:sp>
      <p:sp>
        <p:nvSpPr>
          <p:cNvPr id="34" name="CasellaDiTesto 64">
            <a:extLst>
              <a:ext uri="{FF2B5EF4-FFF2-40B4-BE49-F238E27FC236}">
                <a16:creationId xmlns:a16="http://schemas.microsoft.com/office/drawing/2014/main" id="{B8747CAA-5B0A-2BD0-0489-F526766DFFBB}"/>
              </a:ext>
            </a:extLst>
          </p:cNvPr>
          <p:cNvSpPr txBox="1"/>
          <p:nvPr/>
        </p:nvSpPr>
        <p:spPr>
          <a:xfrm>
            <a:off x="7070557" y="4553952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</a:t>
            </a:r>
          </a:p>
        </p:txBody>
      </p:sp>
      <p:sp>
        <p:nvSpPr>
          <p:cNvPr id="35" name="CasellaDiTesto 65">
            <a:extLst>
              <a:ext uri="{FF2B5EF4-FFF2-40B4-BE49-F238E27FC236}">
                <a16:creationId xmlns:a16="http://schemas.microsoft.com/office/drawing/2014/main" id="{AA8EC5B8-7DBE-6B87-609C-6EFC207E4E92}"/>
              </a:ext>
            </a:extLst>
          </p:cNvPr>
          <p:cNvSpPr txBox="1"/>
          <p:nvPr/>
        </p:nvSpPr>
        <p:spPr>
          <a:xfrm>
            <a:off x="6268451" y="4553952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0</a:t>
            </a:r>
          </a:p>
        </p:txBody>
      </p:sp>
      <p:sp>
        <p:nvSpPr>
          <p:cNvPr id="36" name="CasellaDiTesto 67">
            <a:extLst>
              <a:ext uri="{FF2B5EF4-FFF2-40B4-BE49-F238E27FC236}">
                <a16:creationId xmlns:a16="http://schemas.microsoft.com/office/drawing/2014/main" id="{5A12C3AA-CD44-F054-F7F5-24D777DA678F}"/>
              </a:ext>
            </a:extLst>
          </p:cNvPr>
          <p:cNvSpPr txBox="1"/>
          <p:nvPr/>
        </p:nvSpPr>
        <p:spPr>
          <a:xfrm>
            <a:off x="4594059" y="3451058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</a:t>
            </a:r>
          </a:p>
        </p:txBody>
      </p:sp>
      <p:sp>
        <p:nvSpPr>
          <p:cNvPr id="37" name="CasellaDiTesto 69">
            <a:extLst>
              <a:ext uri="{FF2B5EF4-FFF2-40B4-BE49-F238E27FC236}">
                <a16:creationId xmlns:a16="http://schemas.microsoft.com/office/drawing/2014/main" id="{728CDA93-A6E6-5B9C-4312-C16F8C7CB5E2}"/>
              </a:ext>
            </a:extLst>
          </p:cNvPr>
          <p:cNvSpPr txBox="1"/>
          <p:nvPr/>
        </p:nvSpPr>
        <p:spPr>
          <a:xfrm>
            <a:off x="5486400" y="3451058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</a:t>
            </a:r>
          </a:p>
        </p:txBody>
      </p:sp>
      <p:sp>
        <p:nvSpPr>
          <p:cNvPr id="38" name="CasellaDiTesto 71">
            <a:extLst>
              <a:ext uri="{FF2B5EF4-FFF2-40B4-BE49-F238E27FC236}">
                <a16:creationId xmlns:a16="http://schemas.microsoft.com/office/drawing/2014/main" id="{5D124E59-D928-D871-47F9-066772826CE1}"/>
              </a:ext>
            </a:extLst>
          </p:cNvPr>
          <p:cNvSpPr txBox="1"/>
          <p:nvPr/>
        </p:nvSpPr>
        <p:spPr>
          <a:xfrm>
            <a:off x="6268453" y="3451058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0</a:t>
            </a:r>
          </a:p>
        </p:txBody>
      </p:sp>
      <p:sp>
        <p:nvSpPr>
          <p:cNvPr id="39" name="CasellaDiTesto 73">
            <a:extLst>
              <a:ext uri="{FF2B5EF4-FFF2-40B4-BE49-F238E27FC236}">
                <a16:creationId xmlns:a16="http://schemas.microsoft.com/office/drawing/2014/main" id="{6EAFC931-EF87-1B2B-A567-388F48F7E9B3}"/>
              </a:ext>
            </a:extLst>
          </p:cNvPr>
          <p:cNvSpPr txBox="1"/>
          <p:nvPr/>
        </p:nvSpPr>
        <p:spPr>
          <a:xfrm>
            <a:off x="7070558" y="3451058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</a:t>
            </a:r>
          </a:p>
        </p:txBody>
      </p:sp>
      <p:sp>
        <p:nvSpPr>
          <p:cNvPr id="40" name="CasellaDiTesto 75">
            <a:extLst>
              <a:ext uri="{FF2B5EF4-FFF2-40B4-BE49-F238E27FC236}">
                <a16:creationId xmlns:a16="http://schemas.microsoft.com/office/drawing/2014/main" id="{4752F99D-C90D-15FD-EE20-3764552FB129}"/>
              </a:ext>
            </a:extLst>
          </p:cNvPr>
          <p:cNvSpPr txBox="1"/>
          <p:nvPr/>
        </p:nvSpPr>
        <p:spPr>
          <a:xfrm>
            <a:off x="4594058" y="4513848"/>
            <a:ext cx="36696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1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23E1E915-1212-C6F6-42F8-2516B2C45076}"/>
              </a:ext>
            </a:extLst>
          </p:cNvPr>
          <p:cNvSpPr/>
          <p:nvPr/>
        </p:nvSpPr>
        <p:spPr>
          <a:xfrm>
            <a:off x="4571999" y="3358816"/>
            <a:ext cx="1253289" cy="16643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117">
            <a:extLst>
              <a:ext uri="{FF2B5EF4-FFF2-40B4-BE49-F238E27FC236}">
                <a16:creationId xmlns:a16="http://schemas.microsoft.com/office/drawing/2014/main" id="{74B29C21-90EC-96B4-F815-4226C6608EB4}"/>
              </a:ext>
            </a:extLst>
          </p:cNvPr>
          <p:cNvSpPr/>
          <p:nvPr/>
        </p:nvSpPr>
        <p:spPr>
          <a:xfrm>
            <a:off x="7038472" y="3258554"/>
            <a:ext cx="691815" cy="1844842"/>
          </a:xfrm>
          <a:prstGeom prst="leftBracke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49" name="Rettangolo 117">
            <a:extLst>
              <a:ext uri="{FF2B5EF4-FFF2-40B4-BE49-F238E27FC236}">
                <a16:creationId xmlns:a16="http://schemas.microsoft.com/office/drawing/2014/main" id="{7425F248-794F-7F3A-B2B9-62FD60EA34E8}"/>
              </a:ext>
            </a:extLst>
          </p:cNvPr>
          <p:cNvSpPr/>
          <p:nvPr/>
        </p:nvSpPr>
        <p:spPr>
          <a:xfrm rot="10800000">
            <a:off x="4431629" y="3248527"/>
            <a:ext cx="691815" cy="1844842"/>
          </a:xfrm>
          <a:prstGeom prst="leftBracke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24479E6D-AE96-C0B1-76F8-A8F31D82996E}"/>
              </a:ext>
            </a:extLst>
          </p:cNvPr>
          <p:cNvCxnSpPr>
            <a:cxnSpLocks/>
          </p:cNvCxnSpPr>
          <p:nvPr/>
        </p:nvCxnSpPr>
        <p:spPr>
          <a:xfrm>
            <a:off x="7483642" y="5107401"/>
            <a:ext cx="483268" cy="34290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3A76F180-3F9F-9D8C-14C3-D6B89E011D2C}"/>
              </a:ext>
            </a:extLst>
          </p:cNvPr>
          <p:cNvCxnSpPr>
            <a:cxnSpLocks/>
          </p:cNvCxnSpPr>
          <p:nvPr/>
        </p:nvCxnSpPr>
        <p:spPr>
          <a:xfrm flipH="1">
            <a:off x="4858752" y="5067296"/>
            <a:ext cx="719891" cy="4932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986AFA80-7110-8871-D011-4A2B5352810E}"/>
              </a:ext>
            </a:extLst>
          </p:cNvPr>
          <p:cNvSpPr txBox="1"/>
          <p:nvPr/>
        </p:nvSpPr>
        <p:spPr>
          <a:xfrm>
            <a:off x="4802605" y="5755105"/>
            <a:ext cx="5113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ea typeface="Calibri"/>
                <a:cs typeface="Calibri"/>
              </a:rPr>
              <a:t>B</a:t>
            </a:r>
            <a:endParaRPr lang="it-IT" dirty="0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41A59237-F37C-6407-0DAE-7DA7C6589691}"/>
              </a:ext>
            </a:extLst>
          </p:cNvPr>
          <p:cNvSpPr txBox="1"/>
          <p:nvPr/>
        </p:nvSpPr>
        <p:spPr>
          <a:xfrm>
            <a:off x="8101262" y="5384131"/>
            <a:ext cx="5113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ea typeface="Calibri"/>
                <a:cs typeface="Calibri"/>
              </a:rPr>
              <a:t>C</a:t>
            </a:r>
            <a:endParaRPr lang="it-IT" dirty="0"/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35CE9DBE-379F-F838-C47F-C2AE89F59BFE}"/>
              </a:ext>
            </a:extLst>
          </p:cNvPr>
          <p:cNvCxnSpPr>
            <a:cxnSpLocks/>
          </p:cNvCxnSpPr>
          <p:nvPr/>
        </p:nvCxnSpPr>
        <p:spPr>
          <a:xfrm flipV="1">
            <a:off x="4866529" y="5803246"/>
            <a:ext cx="18926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7681B9F9-94F9-1C93-AD33-84D7A03171FC}"/>
              </a:ext>
            </a:extLst>
          </p:cNvPr>
          <p:cNvCxnSpPr>
            <a:cxnSpLocks/>
          </p:cNvCxnSpPr>
          <p:nvPr/>
        </p:nvCxnSpPr>
        <p:spPr>
          <a:xfrm flipV="1">
            <a:off x="8165186" y="5382140"/>
            <a:ext cx="18926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968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04E233B6-9E5A-0DEA-6257-863CB670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89E0C2-5469-3510-7737-6D70A8978E24}"/>
              </a:ext>
            </a:extLst>
          </p:cNvPr>
          <p:cNvSpPr txBox="1"/>
          <p:nvPr/>
        </p:nvSpPr>
        <p:spPr>
          <a:xfrm>
            <a:off x="160421" y="1032711"/>
            <a:ext cx="11871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Dimostrare la validità della seguente uguaglianza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32466BA-2339-4F21-7288-13F3B5AC1D07}"/>
              </a:ext>
            </a:extLst>
          </p:cNvPr>
          <p:cNvSpPr txBox="1"/>
          <p:nvPr/>
        </p:nvSpPr>
        <p:spPr>
          <a:xfrm>
            <a:off x="4792577" y="1764631"/>
            <a:ext cx="26168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dirty="0">
                <a:ea typeface="Calibri"/>
                <a:cs typeface="Calibri"/>
              </a:rPr>
              <a:t>A B C = A + B + C</a:t>
            </a:r>
            <a:endParaRPr lang="it-IT" sz="2800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41CE3DC-AA66-4A94-9A6A-874F55DF8EEE}"/>
              </a:ext>
            </a:extLst>
          </p:cNvPr>
          <p:cNvCxnSpPr>
            <a:cxnSpLocks/>
          </p:cNvCxnSpPr>
          <p:nvPr/>
        </p:nvCxnSpPr>
        <p:spPr>
          <a:xfrm flipV="1">
            <a:off x="4874049" y="1810267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11C9528-C6C7-FB78-8699-DE08C19E5914}"/>
              </a:ext>
            </a:extLst>
          </p:cNvPr>
          <p:cNvCxnSpPr>
            <a:cxnSpLocks/>
          </p:cNvCxnSpPr>
          <p:nvPr/>
        </p:nvCxnSpPr>
        <p:spPr>
          <a:xfrm flipV="1">
            <a:off x="5164811" y="1810266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84B22C7-1068-5140-3A73-3E45C45A2E5D}"/>
              </a:ext>
            </a:extLst>
          </p:cNvPr>
          <p:cNvCxnSpPr>
            <a:cxnSpLocks/>
          </p:cNvCxnSpPr>
          <p:nvPr/>
        </p:nvCxnSpPr>
        <p:spPr>
          <a:xfrm flipV="1">
            <a:off x="5455575" y="1810267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BCD2E7F9-6B16-9D0C-2B24-7E309B26B61C}"/>
              </a:ext>
            </a:extLst>
          </p:cNvPr>
          <p:cNvCxnSpPr>
            <a:cxnSpLocks/>
          </p:cNvCxnSpPr>
          <p:nvPr/>
        </p:nvCxnSpPr>
        <p:spPr>
          <a:xfrm flipV="1">
            <a:off x="6488285" y="1810266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0B25DBF2-095A-E16E-3062-F2A262B8700C}"/>
              </a:ext>
            </a:extLst>
          </p:cNvPr>
          <p:cNvCxnSpPr>
            <a:cxnSpLocks/>
          </p:cNvCxnSpPr>
          <p:nvPr/>
        </p:nvCxnSpPr>
        <p:spPr>
          <a:xfrm flipV="1">
            <a:off x="5986969" y="1710002"/>
            <a:ext cx="1272113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1D21334-BD2B-6F95-9A31-CC30B7CBAF1B}"/>
              </a:ext>
            </a:extLst>
          </p:cNvPr>
          <p:cNvSpPr txBox="1"/>
          <p:nvPr/>
        </p:nvSpPr>
        <p:spPr>
          <a:xfrm>
            <a:off x="280736" y="2546684"/>
            <a:ext cx="11610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Due modi per risolvere il problema:</a:t>
            </a:r>
          </a:p>
          <a:p>
            <a:endParaRPr lang="it-IT" dirty="0">
              <a:ea typeface="Calibri"/>
              <a:cs typeface="Calibri"/>
            </a:endParaRPr>
          </a:p>
          <a:p>
            <a:pPr marL="342900" indent="-342900">
              <a:buAutoNum type="arabicParenR"/>
            </a:pPr>
            <a:r>
              <a:rPr lang="it-IT" dirty="0">
                <a:ea typeface="Calibri"/>
                <a:cs typeface="Calibri"/>
              </a:rPr>
              <a:t>Metodo algebrico, utilizzando le proprietà dell'algebra di Boole</a:t>
            </a:r>
          </a:p>
          <a:p>
            <a:pPr marL="342900" indent="-342900">
              <a:buAutoNum type="arabicParenR"/>
            </a:pPr>
            <a:endParaRPr lang="it-IT" dirty="0">
              <a:ea typeface="Calibri"/>
              <a:cs typeface="Calibri"/>
            </a:endParaRPr>
          </a:p>
          <a:p>
            <a:pPr marL="342900" indent="-342900">
              <a:buAutoNum type="arabicParenR"/>
            </a:pPr>
            <a:r>
              <a:rPr lang="it-IT" dirty="0">
                <a:ea typeface="Calibri"/>
                <a:cs typeface="Calibri"/>
              </a:rPr>
              <a:t>Metodo esaustivo, attraverso la tavola di verità</a:t>
            </a:r>
          </a:p>
        </p:txBody>
      </p:sp>
    </p:spTree>
    <p:extLst>
      <p:ext uri="{BB962C8B-B14F-4D97-AF65-F5344CB8AC3E}">
        <p14:creationId xmlns:p14="http://schemas.microsoft.com/office/powerpoint/2010/main" val="905439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3A3743EB-4AC6-EC03-03C2-DFB3015F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E235E00-A5F5-14D7-9F6B-6D6FB04871B4}"/>
              </a:ext>
            </a:extLst>
          </p:cNvPr>
          <p:cNvSpPr txBox="1"/>
          <p:nvPr/>
        </p:nvSpPr>
        <p:spPr>
          <a:xfrm>
            <a:off x="160421" y="1032711"/>
            <a:ext cx="11871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Dimostrare la validità della seguente uguaglianza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FB1B33D-A622-2DB9-8108-B483E7085FD3}"/>
              </a:ext>
            </a:extLst>
          </p:cNvPr>
          <p:cNvSpPr txBox="1"/>
          <p:nvPr/>
        </p:nvSpPr>
        <p:spPr>
          <a:xfrm>
            <a:off x="4772524" y="1473868"/>
            <a:ext cx="26168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dirty="0">
                <a:ea typeface="Calibri"/>
                <a:cs typeface="Calibri"/>
              </a:rPr>
              <a:t>A B C = A + B + C</a:t>
            </a:r>
            <a:endParaRPr lang="it-IT" sz="2800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40ED003-2AA0-E198-A488-0DF76D1A16DF}"/>
              </a:ext>
            </a:extLst>
          </p:cNvPr>
          <p:cNvCxnSpPr>
            <a:cxnSpLocks/>
          </p:cNvCxnSpPr>
          <p:nvPr/>
        </p:nvCxnSpPr>
        <p:spPr>
          <a:xfrm flipV="1">
            <a:off x="4853996" y="151950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DCFC11C9-433E-AA78-B938-E24F002A697F}"/>
              </a:ext>
            </a:extLst>
          </p:cNvPr>
          <p:cNvCxnSpPr>
            <a:cxnSpLocks/>
          </p:cNvCxnSpPr>
          <p:nvPr/>
        </p:nvCxnSpPr>
        <p:spPr>
          <a:xfrm flipV="1">
            <a:off x="5435522" y="151950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1745F965-F83A-D8E3-AFAF-CBFC3D424A5E}"/>
              </a:ext>
            </a:extLst>
          </p:cNvPr>
          <p:cNvCxnSpPr>
            <a:cxnSpLocks/>
          </p:cNvCxnSpPr>
          <p:nvPr/>
        </p:nvCxnSpPr>
        <p:spPr>
          <a:xfrm flipV="1">
            <a:off x="6468232" y="1519503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5DFDEBE-25DC-DC51-C8F4-E1E96F2C036E}"/>
              </a:ext>
            </a:extLst>
          </p:cNvPr>
          <p:cNvCxnSpPr>
            <a:cxnSpLocks/>
          </p:cNvCxnSpPr>
          <p:nvPr/>
        </p:nvCxnSpPr>
        <p:spPr>
          <a:xfrm flipV="1">
            <a:off x="5966916" y="1419239"/>
            <a:ext cx="1272113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7EFEEF1-419B-175F-D69C-2681D0DB35DC}"/>
              </a:ext>
            </a:extLst>
          </p:cNvPr>
          <p:cNvSpPr txBox="1"/>
          <p:nvPr/>
        </p:nvSpPr>
        <p:spPr>
          <a:xfrm>
            <a:off x="200526" y="2135605"/>
            <a:ext cx="11800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arenR"/>
            </a:pPr>
            <a:r>
              <a:rPr lang="it-IT" dirty="0">
                <a:ea typeface="Calibri"/>
                <a:cs typeface="Calibri"/>
              </a:rPr>
              <a:t>Metodo algebrico: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178872D-FEA8-3504-3C58-B8ADED97759A}"/>
              </a:ext>
            </a:extLst>
          </p:cNvPr>
          <p:cNvSpPr txBox="1"/>
          <p:nvPr/>
        </p:nvSpPr>
        <p:spPr>
          <a:xfrm>
            <a:off x="4170946" y="3138235"/>
            <a:ext cx="44817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dirty="0">
                <a:solidFill>
                  <a:srgbClr val="FF0000"/>
                </a:solidFill>
                <a:ea typeface="Calibri"/>
                <a:cs typeface="Calibri"/>
              </a:rPr>
              <a:t>A B</a:t>
            </a:r>
            <a:r>
              <a:rPr lang="it-IT" sz="2800" dirty="0">
                <a:ea typeface="Calibri"/>
                <a:cs typeface="Calibri"/>
              </a:rPr>
              <a:t> C =  </a:t>
            </a:r>
            <a:r>
              <a:rPr lang="it-IT" sz="2800" dirty="0">
                <a:solidFill>
                  <a:srgbClr val="FF0000"/>
                </a:solidFill>
                <a:ea typeface="Calibri"/>
                <a:cs typeface="Calibri"/>
              </a:rPr>
              <a:t>A + B C</a:t>
            </a:r>
            <a:r>
              <a:rPr lang="it-IT" sz="2800" dirty="0">
                <a:ea typeface="Calibri"/>
                <a:cs typeface="Calibri"/>
              </a:rPr>
              <a:t>   =  A + B + C</a:t>
            </a:r>
            <a:endParaRPr lang="it-IT" sz="2800" dirty="0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DE1988F-05F2-2A6A-678B-3AE9C5EBE3B4}"/>
              </a:ext>
            </a:extLst>
          </p:cNvPr>
          <p:cNvCxnSpPr>
            <a:cxnSpLocks/>
          </p:cNvCxnSpPr>
          <p:nvPr/>
        </p:nvCxnSpPr>
        <p:spPr>
          <a:xfrm flipV="1">
            <a:off x="4232364" y="320392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CC683EE8-2606-C71B-BBB8-8AE285FE35AB}"/>
              </a:ext>
            </a:extLst>
          </p:cNvPr>
          <p:cNvCxnSpPr>
            <a:cxnSpLocks/>
          </p:cNvCxnSpPr>
          <p:nvPr/>
        </p:nvCxnSpPr>
        <p:spPr>
          <a:xfrm flipV="1">
            <a:off x="4813891" y="320392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CF413112-F184-DEC9-5BEB-13CB4C6E486A}"/>
              </a:ext>
            </a:extLst>
          </p:cNvPr>
          <p:cNvCxnSpPr>
            <a:cxnSpLocks/>
          </p:cNvCxnSpPr>
          <p:nvPr/>
        </p:nvCxnSpPr>
        <p:spPr>
          <a:xfrm flipV="1">
            <a:off x="7541048" y="31838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76A7F81-8229-7A50-24FF-7DB529E4E910}"/>
              </a:ext>
            </a:extLst>
          </p:cNvPr>
          <p:cNvCxnSpPr>
            <a:cxnSpLocks/>
          </p:cNvCxnSpPr>
          <p:nvPr/>
        </p:nvCxnSpPr>
        <p:spPr>
          <a:xfrm flipV="1">
            <a:off x="7019679" y="3103659"/>
            <a:ext cx="1272113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9D629F99-1754-5F95-F9B8-8600B767855C}"/>
              </a:ext>
            </a:extLst>
          </p:cNvPr>
          <p:cNvCxnSpPr>
            <a:cxnSpLocks/>
          </p:cNvCxnSpPr>
          <p:nvPr/>
        </p:nvCxnSpPr>
        <p:spPr>
          <a:xfrm flipV="1">
            <a:off x="5956891" y="31838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05D8426C-6E3C-A63B-33BD-FD43197D9722}"/>
              </a:ext>
            </a:extLst>
          </p:cNvPr>
          <p:cNvCxnSpPr>
            <a:cxnSpLocks/>
          </p:cNvCxnSpPr>
          <p:nvPr/>
        </p:nvCxnSpPr>
        <p:spPr>
          <a:xfrm flipV="1">
            <a:off x="6267706" y="31838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A3908747-8426-02E4-DD0B-223C9F48A57A}"/>
              </a:ext>
            </a:extLst>
          </p:cNvPr>
          <p:cNvCxnSpPr>
            <a:cxnSpLocks/>
          </p:cNvCxnSpPr>
          <p:nvPr/>
        </p:nvCxnSpPr>
        <p:spPr>
          <a:xfrm flipV="1">
            <a:off x="5355310" y="3083606"/>
            <a:ext cx="82092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464A4B6-4836-D74A-054A-C01EDA6F862F}"/>
              </a:ext>
            </a:extLst>
          </p:cNvPr>
          <p:cNvSpPr txBox="1"/>
          <p:nvPr/>
        </p:nvSpPr>
        <p:spPr>
          <a:xfrm>
            <a:off x="4441657" y="4451684"/>
            <a:ext cx="12633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De Morgan</a:t>
            </a:r>
            <a:endParaRPr lang="it-IT"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74C3058-ED1F-9043-3C13-0A436EA1E11D}"/>
              </a:ext>
            </a:extLst>
          </p:cNvPr>
          <p:cNvSpPr txBox="1"/>
          <p:nvPr/>
        </p:nvSpPr>
        <p:spPr>
          <a:xfrm>
            <a:off x="6647446" y="4361447"/>
            <a:ext cx="12633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De Morgan</a:t>
            </a:r>
            <a:endParaRPr lang="it-IT" dirty="0"/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EF6A8A79-3BD0-E28E-0091-69FC4B973C69}"/>
              </a:ext>
            </a:extLst>
          </p:cNvPr>
          <p:cNvCxnSpPr/>
          <p:nvPr/>
        </p:nvCxnSpPr>
        <p:spPr>
          <a:xfrm>
            <a:off x="4503321" y="3560847"/>
            <a:ext cx="443163" cy="8442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BD9CF16C-D85B-1ADA-E27D-AAF21C9FC3CB}"/>
              </a:ext>
            </a:extLst>
          </p:cNvPr>
          <p:cNvCxnSpPr>
            <a:cxnSpLocks/>
          </p:cNvCxnSpPr>
          <p:nvPr/>
        </p:nvCxnSpPr>
        <p:spPr>
          <a:xfrm>
            <a:off x="6027321" y="3560847"/>
            <a:ext cx="1064793" cy="7740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ECB8F31B-B1F2-459C-C715-CEA947887B0C}"/>
              </a:ext>
            </a:extLst>
          </p:cNvPr>
          <p:cNvCxnSpPr>
            <a:cxnSpLocks/>
          </p:cNvCxnSpPr>
          <p:nvPr/>
        </p:nvCxnSpPr>
        <p:spPr>
          <a:xfrm flipV="1">
            <a:off x="5104900" y="3572878"/>
            <a:ext cx="52136" cy="7599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67D881A3-8D06-64E6-52DB-069D93666458}"/>
              </a:ext>
            </a:extLst>
          </p:cNvPr>
          <p:cNvCxnSpPr>
            <a:cxnSpLocks/>
          </p:cNvCxnSpPr>
          <p:nvPr/>
        </p:nvCxnSpPr>
        <p:spPr>
          <a:xfrm flipH="1" flipV="1">
            <a:off x="6851484" y="3512720"/>
            <a:ext cx="298784" cy="8101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71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9F8CAE14-22FA-50C4-A5AD-E85DDA21A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89EBB38-C070-7214-8BB6-FA2550F0E84E}"/>
              </a:ext>
            </a:extLst>
          </p:cNvPr>
          <p:cNvSpPr txBox="1"/>
          <p:nvPr/>
        </p:nvSpPr>
        <p:spPr>
          <a:xfrm>
            <a:off x="160421" y="1032711"/>
            <a:ext cx="11871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Dimostrare la validità della seguente uguaglianza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1A20FF4-A65F-35B0-4F6A-529F36F5C174}"/>
              </a:ext>
            </a:extLst>
          </p:cNvPr>
          <p:cNvSpPr txBox="1"/>
          <p:nvPr/>
        </p:nvSpPr>
        <p:spPr>
          <a:xfrm>
            <a:off x="4772524" y="1473868"/>
            <a:ext cx="26168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dirty="0">
                <a:ea typeface="Calibri"/>
                <a:cs typeface="Calibri"/>
              </a:rPr>
              <a:t>A B C = A + B + C</a:t>
            </a:r>
            <a:endParaRPr lang="it-IT" sz="2800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EFF2AD7E-01D3-0690-A69F-D989D7565A70}"/>
              </a:ext>
            </a:extLst>
          </p:cNvPr>
          <p:cNvCxnSpPr>
            <a:cxnSpLocks/>
          </p:cNvCxnSpPr>
          <p:nvPr/>
        </p:nvCxnSpPr>
        <p:spPr>
          <a:xfrm flipV="1">
            <a:off x="4853996" y="151950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58217A74-DC4B-736B-98DD-E2D76A71B804}"/>
              </a:ext>
            </a:extLst>
          </p:cNvPr>
          <p:cNvCxnSpPr>
            <a:cxnSpLocks/>
          </p:cNvCxnSpPr>
          <p:nvPr/>
        </p:nvCxnSpPr>
        <p:spPr>
          <a:xfrm flipV="1">
            <a:off x="5435522" y="151950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769EE70E-6C5F-58DC-F7D6-B125B7C0DB1A}"/>
              </a:ext>
            </a:extLst>
          </p:cNvPr>
          <p:cNvCxnSpPr>
            <a:cxnSpLocks/>
          </p:cNvCxnSpPr>
          <p:nvPr/>
        </p:nvCxnSpPr>
        <p:spPr>
          <a:xfrm flipV="1">
            <a:off x="6468232" y="1519503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269525B-9772-E62E-A28F-9C8FF030F7CD}"/>
              </a:ext>
            </a:extLst>
          </p:cNvPr>
          <p:cNvCxnSpPr>
            <a:cxnSpLocks/>
          </p:cNvCxnSpPr>
          <p:nvPr/>
        </p:nvCxnSpPr>
        <p:spPr>
          <a:xfrm flipV="1">
            <a:off x="5966916" y="1419239"/>
            <a:ext cx="1272113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177BA1C-06D2-C271-746F-5132407D718F}"/>
              </a:ext>
            </a:extLst>
          </p:cNvPr>
          <p:cNvSpPr txBox="1"/>
          <p:nvPr/>
        </p:nvSpPr>
        <p:spPr>
          <a:xfrm>
            <a:off x="200526" y="2135605"/>
            <a:ext cx="11800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2) Metodo esaustivo: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6873DD0-8F6E-71CB-CBC1-9909BB442BEB}"/>
              </a:ext>
            </a:extLst>
          </p:cNvPr>
          <p:cNvSpPr txBox="1"/>
          <p:nvPr/>
        </p:nvSpPr>
        <p:spPr>
          <a:xfrm>
            <a:off x="4582025" y="3308684"/>
            <a:ext cx="28073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Inserire tavola verità pp 47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454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38F18C35-2D43-208C-66CD-438DE513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9F162E2-C865-7047-7832-77923E1D02AF}"/>
              </a:ext>
            </a:extLst>
          </p:cNvPr>
          <p:cNvSpPr txBox="1"/>
          <p:nvPr/>
        </p:nvSpPr>
        <p:spPr>
          <a:xfrm>
            <a:off x="240631" y="942474"/>
            <a:ext cx="116906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Estratto esercizio 1 pagina 81: Verificare le seguenti disuguaglianze utilizzando le proprietà dell'algebra di Boole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A3A447B-8573-3286-87D3-16EAA332F52A}"/>
              </a:ext>
            </a:extLst>
          </p:cNvPr>
          <p:cNvSpPr txBox="1"/>
          <p:nvPr/>
        </p:nvSpPr>
        <p:spPr>
          <a:xfrm>
            <a:off x="4622131" y="2165684"/>
            <a:ext cx="25466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cs typeface="Calibri"/>
              </a:rPr>
              <a:t>A  </a:t>
            </a:r>
            <a:r>
              <a:rPr lang="it-IT" sz="2400" dirty="0" err="1">
                <a:cs typeface="Calibri"/>
              </a:rPr>
              <a:t>A</a:t>
            </a:r>
            <a:r>
              <a:rPr lang="it-IT" sz="2400" dirty="0">
                <a:cs typeface="Calibri"/>
              </a:rPr>
              <a:t> B + B = A + B</a:t>
            </a:r>
            <a:endParaRPr lang="it-IT" sz="2400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428F3E0-C8DA-AADA-FAD0-4640A999948B}"/>
              </a:ext>
            </a:extLst>
          </p:cNvPr>
          <p:cNvCxnSpPr>
            <a:cxnSpLocks/>
          </p:cNvCxnSpPr>
          <p:nvPr/>
        </p:nvCxnSpPr>
        <p:spPr>
          <a:xfrm flipV="1">
            <a:off x="5706233" y="2221346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66DC896-843D-FD27-8E29-39F5B4D8CC01}"/>
              </a:ext>
            </a:extLst>
          </p:cNvPr>
          <p:cNvCxnSpPr>
            <a:cxnSpLocks/>
          </p:cNvCxnSpPr>
          <p:nvPr/>
        </p:nvCxnSpPr>
        <p:spPr>
          <a:xfrm flipV="1">
            <a:off x="5036475" y="222335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3E3EECCD-610A-CD62-292A-B5134833B6AF}"/>
              </a:ext>
            </a:extLst>
          </p:cNvPr>
          <p:cNvCxnSpPr>
            <a:cxnSpLocks/>
          </p:cNvCxnSpPr>
          <p:nvPr/>
        </p:nvCxnSpPr>
        <p:spPr>
          <a:xfrm flipV="1">
            <a:off x="6620633" y="222335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0D9C59D4-51CF-D0FE-586F-17C02EB5FCB8}"/>
              </a:ext>
            </a:extLst>
          </p:cNvPr>
          <p:cNvCxnSpPr>
            <a:cxnSpLocks/>
          </p:cNvCxnSpPr>
          <p:nvPr/>
        </p:nvCxnSpPr>
        <p:spPr>
          <a:xfrm flipV="1">
            <a:off x="5036474" y="2123087"/>
            <a:ext cx="3797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364AAED-47EC-C1CA-64D6-86311F39BB6A}"/>
              </a:ext>
            </a:extLst>
          </p:cNvPr>
          <p:cNvSpPr txBox="1"/>
          <p:nvPr/>
        </p:nvSpPr>
        <p:spPr>
          <a:xfrm>
            <a:off x="3709735" y="3047999"/>
            <a:ext cx="46121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CD + AB + A  B+A + CD = AB + C </a:t>
            </a:r>
            <a:endParaRPr lang="it-IT" sz="2400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E8190911-4B39-11F1-C7EA-DC162005309E}"/>
              </a:ext>
            </a:extLst>
          </p:cNvPr>
          <p:cNvCxnSpPr>
            <a:cxnSpLocks/>
          </p:cNvCxnSpPr>
          <p:nvPr/>
        </p:nvCxnSpPr>
        <p:spPr>
          <a:xfrm flipV="1">
            <a:off x="4585290" y="306556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1C5054B-4BD8-6A81-11A9-6FE3BE360540}"/>
              </a:ext>
            </a:extLst>
          </p:cNvPr>
          <p:cNvCxnSpPr>
            <a:cxnSpLocks/>
          </p:cNvCxnSpPr>
          <p:nvPr/>
        </p:nvCxnSpPr>
        <p:spPr>
          <a:xfrm flipV="1">
            <a:off x="5678159" y="306556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96E7081-1E43-184C-DF0C-8A21C1958C6F}"/>
              </a:ext>
            </a:extLst>
          </p:cNvPr>
          <p:cNvCxnSpPr>
            <a:cxnSpLocks/>
          </p:cNvCxnSpPr>
          <p:nvPr/>
        </p:nvCxnSpPr>
        <p:spPr>
          <a:xfrm flipV="1">
            <a:off x="6299791" y="306556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71C84A47-AA1E-1CC8-90FB-A24FF94A2FDB}"/>
              </a:ext>
            </a:extLst>
          </p:cNvPr>
          <p:cNvCxnSpPr>
            <a:cxnSpLocks/>
          </p:cNvCxnSpPr>
          <p:nvPr/>
        </p:nvCxnSpPr>
        <p:spPr>
          <a:xfrm flipV="1">
            <a:off x="6951501" y="3045508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32A1137-B8B9-2CA8-A776-FB733B61D3A2}"/>
              </a:ext>
            </a:extLst>
          </p:cNvPr>
          <p:cNvCxnSpPr>
            <a:cxnSpLocks/>
          </p:cNvCxnSpPr>
          <p:nvPr/>
        </p:nvCxnSpPr>
        <p:spPr>
          <a:xfrm flipV="1">
            <a:off x="5367342" y="2965297"/>
            <a:ext cx="53016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BFA3913-4816-04A9-C837-C8F45E429B4C}"/>
              </a:ext>
            </a:extLst>
          </p:cNvPr>
          <p:cNvSpPr txBox="1"/>
          <p:nvPr/>
        </p:nvSpPr>
        <p:spPr>
          <a:xfrm>
            <a:off x="4253163" y="4052637"/>
            <a:ext cx="30640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A + B + AB +  A+B = 1 </a:t>
            </a:r>
            <a:endParaRPr lang="it-IT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82597825-1200-E1A3-7920-85F57C869EA7}"/>
              </a:ext>
            </a:extLst>
          </p:cNvPr>
          <p:cNvCxnSpPr>
            <a:cxnSpLocks/>
          </p:cNvCxnSpPr>
          <p:nvPr/>
        </p:nvCxnSpPr>
        <p:spPr>
          <a:xfrm flipV="1">
            <a:off x="4324605" y="4048140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BB21345-03E8-DC5B-B7AE-162FBC079520}"/>
              </a:ext>
            </a:extLst>
          </p:cNvPr>
          <p:cNvCxnSpPr>
            <a:cxnSpLocks/>
          </p:cNvCxnSpPr>
          <p:nvPr/>
        </p:nvCxnSpPr>
        <p:spPr>
          <a:xfrm flipV="1">
            <a:off x="5417473" y="4048139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202F863D-B462-B8F9-9C51-957CFA76A5AB}"/>
              </a:ext>
            </a:extLst>
          </p:cNvPr>
          <p:cNvCxnSpPr>
            <a:cxnSpLocks/>
          </p:cNvCxnSpPr>
          <p:nvPr/>
        </p:nvCxnSpPr>
        <p:spPr>
          <a:xfrm flipV="1">
            <a:off x="6299790" y="4048140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7E7FD674-6559-820B-1674-2DA0AD462B2C}"/>
              </a:ext>
            </a:extLst>
          </p:cNvPr>
          <p:cNvCxnSpPr>
            <a:cxnSpLocks/>
          </p:cNvCxnSpPr>
          <p:nvPr/>
        </p:nvCxnSpPr>
        <p:spPr>
          <a:xfrm flipV="1">
            <a:off x="5928815" y="3947875"/>
            <a:ext cx="590322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96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60E321DD-3DD9-BFE0-B90F-C0AF3E02F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EDF8F06-CD86-C1E6-12A8-6B13045BBD48}"/>
              </a:ext>
            </a:extLst>
          </p:cNvPr>
          <p:cNvSpPr txBox="1"/>
          <p:nvPr/>
        </p:nvSpPr>
        <p:spPr>
          <a:xfrm>
            <a:off x="240631" y="942474"/>
            <a:ext cx="116906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Estratto esercizio 1 pagina 81: Verificare le seguenti disuguaglianze utilizzando le proprietà dell'algebra di Boole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86D4AA2-9891-C73F-61EC-5C3DDF268826}"/>
              </a:ext>
            </a:extLst>
          </p:cNvPr>
          <p:cNvSpPr txBox="1"/>
          <p:nvPr/>
        </p:nvSpPr>
        <p:spPr>
          <a:xfrm>
            <a:off x="4592052" y="1564105"/>
            <a:ext cx="25466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cs typeface="Calibri"/>
              </a:rPr>
              <a:t>A  </a:t>
            </a:r>
            <a:r>
              <a:rPr lang="it-IT" sz="2400" dirty="0" err="1">
                <a:cs typeface="Calibri"/>
              </a:rPr>
              <a:t>A</a:t>
            </a:r>
            <a:r>
              <a:rPr lang="it-IT" sz="2400" dirty="0">
                <a:cs typeface="Calibri"/>
              </a:rPr>
              <a:t> B + B = A + B</a:t>
            </a:r>
            <a:endParaRPr lang="it-IT" sz="2400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26CF1EA-E2BA-ADA7-D153-1BD895038471}"/>
              </a:ext>
            </a:extLst>
          </p:cNvPr>
          <p:cNvCxnSpPr>
            <a:cxnSpLocks/>
          </p:cNvCxnSpPr>
          <p:nvPr/>
        </p:nvCxnSpPr>
        <p:spPr>
          <a:xfrm flipV="1">
            <a:off x="5676154" y="1619767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1624B41F-CD5C-062E-AF34-0EFC107ED4B9}"/>
              </a:ext>
            </a:extLst>
          </p:cNvPr>
          <p:cNvCxnSpPr>
            <a:cxnSpLocks/>
          </p:cNvCxnSpPr>
          <p:nvPr/>
        </p:nvCxnSpPr>
        <p:spPr>
          <a:xfrm flipV="1">
            <a:off x="5006396" y="16217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2DE9CEB1-73E7-7E94-63AB-10A68CFBE11D}"/>
              </a:ext>
            </a:extLst>
          </p:cNvPr>
          <p:cNvCxnSpPr>
            <a:cxnSpLocks/>
          </p:cNvCxnSpPr>
          <p:nvPr/>
        </p:nvCxnSpPr>
        <p:spPr>
          <a:xfrm flipV="1">
            <a:off x="6590554" y="16217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47758F4C-647F-073A-8147-D48ACBDB317E}"/>
              </a:ext>
            </a:extLst>
          </p:cNvPr>
          <p:cNvCxnSpPr>
            <a:cxnSpLocks/>
          </p:cNvCxnSpPr>
          <p:nvPr/>
        </p:nvCxnSpPr>
        <p:spPr>
          <a:xfrm flipV="1">
            <a:off x="5006395" y="1521508"/>
            <a:ext cx="3797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2407813-A6C4-B5AB-74C9-9725EF6A029B}"/>
              </a:ext>
            </a:extLst>
          </p:cNvPr>
          <p:cNvSpPr txBox="1"/>
          <p:nvPr/>
        </p:nvSpPr>
        <p:spPr>
          <a:xfrm>
            <a:off x="3278605" y="2837446"/>
            <a:ext cx="55144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cs typeface="Calibri"/>
              </a:rPr>
              <a:t>A  </a:t>
            </a:r>
            <a:r>
              <a:rPr lang="it-IT" sz="2400" dirty="0" err="1">
                <a:solidFill>
                  <a:srgbClr val="FF0000"/>
                </a:solidFill>
                <a:cs typeface="Calibri"/>
              </a:rPr>
              <a:t>A</a:t>
            </a:r>
            <a:r>
              <a:rPr lang="it-IT" sz="2400" dirty="0">
                <a:solidFill>
                  <a:srgbClr val="FF0000"/>
                </a:solidFill>
                <a:cs typeface="Calibri"/>
              </a:rPr>
              <a:t> B</a:t>
            </a:r>
            <a:r>
              <a:rPr lang="it-IT" sz="2400" dirty="0">
                <a:cs typeface="Calibri"/>
              </a:rPr>
              <a:t> + B =  </a:t>
            </a:r>
            <a:r>
              <a:rPr lang="it-IT" sz="2400" dirty="0">
                <a:solidFill>
                  <a:srgbClr val="FF0000"/>
                </a:solidFill>
                <a:cs typeface="Calibri"/>
              </a:rPr>
              <a:t>A A</a:t>
            </a:r>
            <a:r>
              <a:rPr lang="it-IT" sz="2400" dirty="0">
                <a:cs typeface="Calibri"/>
              </a:rPr>
              <a:t>+B + B  =  A + </a:t>
            </a:r>
            <a:r>
              <a:rPr lang="it-IT" sz="2400" dirty="0">
                <a:solidFill>
                  <a:srgbClr val="FF0000"/>
                </a:solidFill>
                <a:cs typeface="Calibri"/>
              </a:rPr>
              <a:t>B + B</a:t>
            </a:r>
            <a:r>
              <a:rPr lang="it-IT" sz="2400" dirty="0">
                <a:cs typeface="Calibri"/>
              </a:rPr>
              <a:t> =   A+B</a:t>
            </a:r>
            <a:endParaRPr lang="it-IT" sz="2400" dirty="0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4E00777E-8B68-BB7C-E351-6568A386092F}"/>
              </a:ext>
            </a:extLst>
          </p:cNvPr>
          <p:cNvCxnSpPr>
            <a:cxnSpLocks/>
          </p:cNvCxnSpPr>
          <p:nvPr/>
        </p:nvCxnSpPr>
        <p:spPr>
          <a:xfrm flipV="1">
            <a:off x="4352681" y="2822924"/>
            <a:ext cx="2293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1285BD46-7C0C-E548-C2B5-D1259AE4F00A}"/>
              </a:ext>
            </a:extLst>
          </p:cNvPr>
          <p:cNvCxnSpPr>
            <a:cxnSpLocks/>
          </p:cNvCxnSpPr>
          <p:nvPr/>
        </p:nvCxnSpPr>
        <p:spPr>
          <a:xfrm flipV="1">
            <a:off x="3682922" y="2834955"/>
            <a:ext cx="229377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668CD0E9-C786-D669-9CD8-61145A9D9A19}"/>
              </a:ext>
            </a:extLst>
          </p:cNvPr>
          <p:cNvCxnSpPr>
            <a:cxnSpLocks/>
          </p:cNvCxnSpPr>
          <p:nvPr/>
        </p:nvCxnSpPr>
        <p:spPr>
          <a:xfrm flipV="1">
            <a:off x="3682922" y="2694587"/>
            <a:ext cx="439927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9B5B80C-EF99-BB13-2D78-654437A058D0}"/>
              </a:ext>
            </a:extLst>
          </p:cNvPr>
          <p:cNvCxnSpPr>
            <a:cxnSpLocks/>
          </p:cNvCxnSpPr>
          <p:nvPr/>
        </p:nvCxnSpPr>
        <p:spPr>
          <a:xfrm flipV="1">
            <a:off x="5475627" y="2822924"/>
            <a:ext cx="199297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4EFD9D13-9B67-E73A-4B8A-F41D47861F11}"/>
              </a:ext>
            </a:extLst>
          </p:cNvPr>
          <p:cNvCxnSpPr>
            <a:cxnSpLocks/>
          </p:cNvCxnSpPr>
          <p:nvPr/>
        </p:nvCxnSpPr>
        <p:spPr>
          <a:xfrm flipV="1">
            <a:off x="5896731" y="2822924"/>
            <a:ext cx="199297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FC0B97D1-805E-F611-F10C-7A0717EBCB8E}"/>
              </a:ext>
            </a:extLst>
          </p:cNvPr>
          <p:cNvCxnSpPr>
            <a:cxnSpLocks/>
          </p:cNvCxnSpPr>
          <p:nvPr/>
        </p:nvCxnSpPr>
        <p:spPr>
          <a:xfrm flipV="1">
            <a:off x="6979574" y="2822923"/>
            <a:ext cx="199297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90AA80D5-86DB-BA9B-3D3B-71DF3E5A6188}"/>
              </a:ext>
            </a:extLst>
          </p:cNvPr>
          <p:cNvCxnSpPr>
            <a:cxnSpLocks/>
          </p:cNvCxnSpPr>
          <p:nvPr/>
        </p:nvCxnSpPr>
        <p:spPr>
          <a:xfrm flipV="1">
            <a:off x="7440785" y="2832950"/>
            <a:ext cx="199297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D46BC966-EDD3-EA06-042D-52A3B59AE656}"/>
              </a:ext>
            </a:extLst>
          </p:cNvPr>
          <p:cNvCxnSpPr>
            <a:cxnSpLocks/>
          </p:cNvCxnSpPr>
          <p:nvPr/>
        </p:nvCxnSpPr>
        <p:spPr>
          <a:xfrm flipV="1">
            <a:off x="8333126" y="2832950"/>
            <a:ext cx="199297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11807B4-38C6-A0F9-4CBB-C08A0687341C}"/>
              </a:ext>
            </a:extLst>
          </p:cNvPr>
          <p:cNvSpPr txBox="1"/>
          <p:nvPr/>
        </p:nvSpPr>
        <p:spPr>
          <a:xfrm>
            <a:off x="3248527" y="4020552"/>
            <a:ext cx="1423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De Morgan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766ACE49-E955-70DA-3CA9-471862AADD6A}"/>
              </a:ext>
            </a:extLst>
          </p:cNvPr>
          <p:cNvSpPr txBox="1"/>
          <p:nvPr/>
        </p:nvSpPr>
        <p:spPr>
          <a:xfrm>
            <a:off x="5173578" y="4020552"/>
            <a:ext cx="1423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Idempotenza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5D3DC96-E04F-5C9C-F59A-ECF86E442931}"/>
              </a:ext>
            </a:extLst>
          </p:cNvPr>
          <p:cNvSpPr txBox="1"/>
          <p:nvPr/>
        </p:nvSpPr>
        <p:spPr>
          <a:xfrm>
            <a:off x="7198893" y="4020552"/>
            <a:ext cx="1423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Idempotenza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F050B459-5B55-6BD2-872F-46660691423B}"/>
              </a:ext>
            </a:extLst>
          </p:cNvPr>
          <p:cNvCxnSpPr/>
          <p:nvPr/>
        </p:nvCxnSpPr>
        <p:spPr>
          <a:xfrm>
            <a:off x="3821532" y="3330241"/>
            <a:ext cx="212558" cy="663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FE278D57-D1CD-D77D-5ABC-562F8ACAE3B0}"/>
              </a:ext>
            </a:extLst>
          </p:cNvPr>
          <p:cNvCxnSpPr>
            <a:cxnSpLocks/>
          </p:cNvCxnSpPr>
          <p:nvPr/>
        </p:nvCxnSpPr>
        <p:spPr>
          <a:xfrm>
            <a:off x="5235242" y="3240004"/>
            <a:ext cx="753979" cy="7640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4E94A535-45C5-2CEE-0D36-F08618AF8558}"/>
              </a:ext>
            </a:extLst>
          </p:cNvPr>
          <p:cNvCxnSpPr>
            <a:cxnSpLocks/>
          </p:cNvCxnSpPr>
          <p:nvPr/>
        </p:nvCxnSpPr>
        <p:spPr>
          <a:xfrm>
            <a:off x="7120189" y="3310188"/>
            <a:ext cx="493295" cy="7439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5E25C861-966C-961E-7DFE-EDB7E16D7792}"/>
              </a:ext>
            </a:extLst>
          </p:cNvPr>
          <p:cNvCxnSpPr>
            <a:cxnSpLocks/>
          </p:cNvCxnSpPr>
          <p:nvPr/>
        </p:nvCxnSpPr>
        <p:spPr>
          <a:xfrm flipV="1">
            <a:off x="4072189" y="3121694"/>
            <a:ext cx="643689" cy="8502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CE7F2C66-20E8-017B-AB39-B58E0D06C583}"/>
              </a:ext>
            </a:extLst>
          </p:cNvPr>
          <p:cNvCxnSpPr>
            <a:cxnSpLocks/>
          </p:cNvCxnSpPr>
          <p:nvPr/>
        </p:nvCxnSpPr>
        <p:spPr>
          <a:xfrm flipV="1">
            <a:off x="6037346" y="3221956"/>
            <a:ext cx="292768" cy="7900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34946E2-9BFA-4FEB-B85A-9BCA6B20F39D}"/>
              </a:ext>
            </a:extLst>
          </p:cNvPr>
          <p:cNvCxnSpPr>
            <a:cxnSpLocks/>
          </p:cNvCxnSpPr>
          <p:nvPr/>
        </p:nvCxnSpPr>
        <p:spPr>
          <a:xfrm flipV="1">
            <a:off x="7751846" y="3171824"/>
            <a:ext cx="2005" cy="9204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44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2DDCA614-DA60-651D-F16C-5B0A86177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CC469A6-B3A5-F865-1C40-34FDE7D3B18F}"/>
              </a:ext>
            </a:extLst>
          </p:cNvPr>
          <p:cNvSpPr txBox="1"/>
          <p:nvPr/>
        </p:nvSpPr>
        <p:spPr>
          <a:xfrm>
            <a:off x="240631" y="942474"/>
            <a:ext cx="116906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Estratto esercizio 1 pagina 81: Verificare le seguenti disuguaglianze utilizzando le proprietà dell'algebra di Boole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612174A-CA19-92CD-8D9B-4546F7B8CEA1}"/>
              </a:ext>
            </a:extLst>
          </p:cNvPr>
          <p:cNvSpPr txBox="1"/>
          <p:nvPr/>
        </p:nvSpPr>
        <p:spPr>
          <a:xfrm>
            <a:off x="3970419" y="1433762"/>
            <a:ext cx="46121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CD + AB + A  B+A + CD = AB + C </a:t>
            </a:r>
            <a:endParaRPr lang="it-IT" sz="2400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49D4A870-A8BD-2F9E-868A-A9C9D7B5B0E7}"/>
              </a:ext>
            </a:extLst>
          </p:cNvPr>
          <p:cNvCxnSpPr>
            <a:cxnSpLocks/>
          </p:cNvCxnSpPr>
          <p:nvPr/>
        </p:nvCxnSpPr>
        <p:spPr>
          <a:xfrm flipV="1">
            <a:off x="4845974" y="145132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F4B490EC-8B1E-4324-83D0-F4578463129A}"/>
              </a:ext>
            </a:extLst>
          </p:cNvPr>
          <p:cNvCxnSpPr>
            <a:cxnSpLocks/>
          </p:cNvCxnSpPr>
          <p:nvPr/>
        </p:nvCxnSpPr>
        <p:spPr>
          <a:xfrm flipV="1">
            <a:off x="5938843" y="145132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4986E31-DC5C-D58A-378C-89CE67BAB2ED}"/>
              </a:ext>
            </a:extLst>
          </p:cNvPr>
          <p:cNvCxnSpPr>
            <a:cxnSpLocks/>
          </p:cNvCxnSpPr>
          <p:nvPr/>
        </p:nvCxnSpPr>
        <p:spPr>
          <a:xfrm flipV="1">
            <a:off x="6560475" y="145132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2CB620CC-D100-E80D-615A-D22B27954C5D}"/>
              </a:ext>
            </a:extLst>
          </p:cNvPr>
          <p:cNvCxnSpPr>
            <a:cxnSpLocks/>
          </p:cNvCxnSpPr>
          <p:nvPr/>
        </p:nvCxnSpPr>
        <p:spPr>
          <a:xfrm flipV="1">
            <a:off x="7212185" y="143127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DFAB7D3-DE31-0597-5CA8-248DF29F6672}"/>
              </a:ext>
            </a:extLst>
          </p:cNvPr>
          <p:cNvCxnSpPr>
            <a:cxnSpLocks/>
          </p:cNvCxnSpPr>
          <p:nvPr/>
        </p:nvCxnSpPr>
        <p:spPr>
          <a:xfrm flipV="1">
            <a:off x="5628026" y="1351060"/>
            <a:ext cx="53016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BE4E9DE-3056-34A2-3B68-3FE6AA81D8C2}"/>
              </a:ext>
            </a:extLst>
          </p:cNvPr>
          <p:cNvSpPr txBox="1"/>
          <p:nvPr/>
        </p:nvSpPr>
        <p:spPr>
          <a:xfrm>
            <a:off x="1253287" y="2827419"/>
            <a:ext cx="1062789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CD + AB + A 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B+A</a:t>
            </a:r>
            <a:r>
              <a:rPr lang="it-IT" sz="2400" dirty="0">
                <a:ea typeface="Calibri"/>
                <a:cs typeface="Calibri"/>
              </a:rPr>
              <a:t> + CD = CD + AB +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  </a:t>
            </a:r>
            <a:r>
              <a:rPr lang="it-IT" sz="2400" dirty="0">
                <a:ea typeface="Calibri"/>
                <a:cs typeface="Calibri"/>
              </a:rPr>
              <a:t>B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</a:t>
            </a:r>
            <a:r>
              <a:rPr lang="it-IT" sz="2400" dirty="0">
                <a:ea typeface="Calibri"/>
                <a:cs typeface="Calibri"/>
              </a:rPr>
              <a:t> + CD = CD +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AB + AB </a:t>
            </a:r>
            <a:r>
              <a:rPr lang="it-IT" sz="2400" dirty="0">
                <a:ea typeface="Calibri"/>
                <a:cs typeface="Calibri"/>
              </a:rPr>
              <a:t>+ CD 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CD</a:t>
            </a:r>
            <a:r>
              <a:rPr lang="it-IT" sz="2400" dirty="0">
                <a:ea typeface="Calibri"/>
                <a:cs typeface="Calibri"/>
              </a:rPr>
              <a:t> + AB +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CD</a:t>
            </a:r>
            <a:r>
              <a:rPr lang="it-IT" sz="2400" dirty="0">
                <a:ea typeface="Calibri"/>
                <a:cs typeface="Calibri"/>
              </a:rPr>
              <a:t> = </a:t>
            </a:r>
            <a:endParaRPr lang="it-IT" sz="2400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436BF8D0-3D55-7D8F-2355-72B5A37EBF5F}"/>
              </a:ext>
            </a:extLst>
          </p:cNvPr>
          <p:cNvCxnSpPr>
            <a:cxnSpLocks/>
          </p:cNvCxnSpPr>
          <p:nvPr/>
        </p:nvCxnSpPr>
        <p:spPr>
          <a:xfrm flipV="1">
            <a:off x="2128842" y="2824929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BD60B2EB-240B-7D39-27F6-05FEEB4C6BF3}"/>
              </a:ext>
            </a:extLst>
          </p:cNvPr>
          <p:cNvCxnSpPr>
            <a:cxnSpLocks/>
          </p:cNvCxnSpPr>
          <p:nvPr/>
        </p:nvCxnSpPr>
        <p:spPr>
          <a:xfrm flipV="1">
            <a:off x="3221711" y="2824929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5BCB448-CCE5-2E46-6C47-1D90BC013B66}"/>
              </a:ext>
            </a:extLst>
          </p:cNvPr>
          <p:cNvCxnSpPr>
            <a:cxnSpLocks/>
          </p:cNvCxnSpPr>
          <p:nvPr/>
        </p:nvCxnSpPr>
        <p:spPr>
          <a:xfrm flipV="1">
            <a:off x="3843343" y="2824929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52DDADCB-1F94-E685-0D30-17DA44AA4188}"/>
              </a:ext>
            </a:extLst>
          </p:cNvPr>
          <p:cNvCxnSpPr>
            <a:cxnSpLocks/>
          </p:cNvCxnSpPr>
          <p:nvPr/>
        </p:nvCxnSpPr>
        <p:spPr>
          <a:xfrm flipV="1">
            <a:off x="2910894" y="2724665"/>
            <a:ext cx="48003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A19E2FA3-8F9C-497E-E1D8-59D34D669EED}"/>
              </a:ext>
            </a:extLst>
          </p:cNvPr>
          <p:cNvCxnSpPr>
            <a:cxnSpLocks/>
          </p:cNvCxnSpPr>
          <p:nvPr/>
        </p:nvCxnSpPr>
        <p:spPr>
          <a:xfrm flipV="1">
            <a:off x="5086605" y="2855008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969BD17-F207-B856-9724-A2FE10245382}"/>
              </a:ext>
            </a:extLst>
          </p:cNvPr>
          <p:cNvCxnSpPr>
            <a:cxnSpLocks/>
          </p:cNvCxnSpPr>
          <p:nvPr/>
        </p:nvCxnSpPr>
        <p:spPr>
          <a:xfrm flipV="1">
            <a:off x="5938842" y="2855008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CCB3C059-072F-04FE-C3BA-040D4F5CE939}"/>
              </a:ext>
            </a:extLst>
          </p:cNvPr>
          <p:cNvCxnSpPr>
            <a:cxnSpLocks/>
          </p:cNvCxnSpPr>
          <p:nvPr/>
        </p:nvCxnSpPr>
        <p:spPr>
          <a:xfrm flipV="1">
            <a:off x="6720895" y="2855008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4400AC5A-BC9A-182E-1A89-387D183A2DA8}"/>
              </a:ext>
            </a:extLst>
          </p:cNvPr>
          <p:cNvSpPr txBox="1"/>
          <p:nvPr/>
        </p:nvSpPr>
        <p:spPr>
          <a:xfrm>
            <a:off x="4694323" y="4844717"/>
            <a:ext cx="3154279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= AB + C(</a:t>
            </a:r>
            <a:r>
              <a:rPr lang="it-IT" sz="2400" dirty="0">
                <a:solidFill>
                  <a:srgbClr val="FF0000"/>
                </a:solidFill>
              </a:rPr>
              <a:t>D+D</a:t>
            </a:r>
            <a:r>
              <a:rPr lang="it-IT" sz="2400" dirty="0"/>
              <a:t>) = AB + C</a:t>
            </a:r>
            <a:endParaRPr lang="it-IT" dirty="0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669AA01-D72C-B5A3-4533-C2B671894E9C}"/>
              </a:ext>
            </a:extLst>
          </p:cNvPr>
          <p:cNvCxnSpPr>
            <a:cxnSpLocks/>
          </p:cNvCxnSpPr>
          <p:nvPr/>
        </p:nvCxnSpPr>
        <p:spPr>
          <a:xfrm flipV="1">
            <a:off x="7984210" y="2855008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4387630A-4502-6F49-9700-98CB5DBB8C9D}"/>
              </a:ext>
            </a:extLst>
          </p:cNvPr>
          <p:cNvCxnSpPr>
            <a:cxnSpLocks/>
          </p:cNvCxnSpPr>
          <p:nvPr/>
        </p:nvCxnSpPr>
        <p:spPr>
          <a:xfrm flipV="1">
            <a:off x="8595815" y="2855007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A0382FC9-5AE4-B292-E37D-94E65AE8972D}"/>
              </a:ext>
            </a:extLst>
          </p:cNvPr>
          <p:cNvCxnSpPr>
            <a:cxnSpLocks/>
          </p:cNvCxnSpPr>
          <p:nvPr/>
        </p:nvCxnSpPr>
        <p:spPr>
          <a:xfrm flipV="1">
            <a:off x="9287632" y="2855008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2DF06862-A600-E630-4C24-3B9A21182472}"/>
              </a:ext>
            </a:extLst>
          </p:cNvPr>
          <p:cNvCxnSpPr>
            <a:cxnSpLocks/>
          </p:cNvCxnSpPr>
          <p:nvPr/>
        </p:nvCxnSpPr>
        <p:spPr>
          <a:xfrm flipV="1">
            <a:off x="10530895" y="2824928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2770E68B-4736-9858-54AF-765222FA5A74}"/>
              </a:ext>
            </a:extLst>
          </p:cNvPr>
          <p:cNvCxnSpPr>
            <a:cxnSpLocks/>
          </p:cNvCxnSpPr>
          <p:nvPr/>
        </p:nvCxnSpPr>
        <p:spPr>
          <a:xfrm flipV="1">
            <a:off x="11152526" y="2824929"/>
            <a:ext cx="199298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277C2331-238E-9B39-905D-0C82FFFFF212}"/>
              </a:ext>
            </a:extLst>
          </p:cNvPr>
          <p:cNvCxnSpPr>
            <a:cxnSpLocks/>
          </p:cNvCxnSpPr>
          <p:nvPr/>
        </p:nvCxnSpPr>
        <p:spPr>
          <a:xfrm flipV="1">
            <a:off x="5186868" y="4840217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60098822-224C-C747-35FB-281833AE5A9F}"/>
              </a:ext>
            </a:extLst>
          </p:cNvPr>
          <p:cNvCxnSpPr>
            <a:cxnSpLocks/>
          </p:cNvCxnSpPr>
          <p:nvPr/>
        </p:nvCxnSpPr>
        <p:spPr>
          <a:xfrm flipV="1">
            <a:off x="6239631" y="4840216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3C804693-EE42-8CAC-0AAC-609AAF812CBF}"/>
              </a:ext>
            </a:extLst>
          </p:cNvPr>
          <p:cNvCxnSpPr>
            <a:cxnSpLocks/>
          </p:cNvCxnSpPr>
          <p:nvPr/>
        </p:nvCxnSpPr>
        <p:spPr>
          <a:xfrm flipV="1">
            <a:off x="6921421" y="4840217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669E3B01-004D-544A-32B5-06A0CB9EC964}"/>
              </a:ext>
            </a:extLst>
          </p:cNvPr>
          <p:cNvSpPr txBox="1"/>
          <p:nvPr/>
        </p:nvSpPr>
        <p:spPr>
          <a:xfrm>
            <a:off x="2717132" y="4060657"/>
            <a:ext cx="1423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De Morgan</a:t>
            </a:r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896DCFDA-BB74-B96D-4B34-85CD8E21B049}"/>
              </a:ext>
            </a:extLst>
          </p:cNvPr>
          <p:cNvCxnSpPr/>
          <p:nvPr/>
        </p:nvCxnSpPr>
        <p:spPr>
          <a:xfrm>
            <a:off x="3250032" y="3290136"/>
            <a:ext cx="252663" cy="743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C1D8831C-1D35-2B8C-A8FA-070139989413}"/>
              </a:ext>
            </a:extLst>
          </p:cNvPr>
          <p:cNvCxnSpPr>
            <a:cxnSpLocks/>
          </p:cNvCxnSpPr>
          <p:nvPr/>
        </p:nvCxnSpPr>
        <p:spPr>
          <a:xfrm flipV="1">
            <a:off x="3540794" y="3161799"/>
            <a:ext cx="643689" cy="8502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B03F78BA-AE55-F45C-BAA9-AB89AB864C44}"/>
              </a:ext>
            </a:extLst>
          </p:cNvPr>
          <p:cNvSpPr txBox="1"/>
          <p:nvPr/>
        </p:nvSpPr>
        <p:spPr>
          <a:xfrm>
            <a:off x="5514474" y="4000498"/>
            <a:ext cx="1513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Assorbimento</a:t>
            </a:r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7041BD3C-1B2F-83D2-386B-58B739043B59}"/>
              </a:ext>
            </a:extLst>
          </p:cNvPr>
          <p:cNvCxnSpPr>
            <a:cxnSpLocks/>
          </p:cNvCxnSpPr>
          <p:nvPr/>
        </p:nvCxnSpPr>
        <p:spPr>
          <a:xfrm>
            <a:off x="5987216" y="3330241"/>
            <a:ext cx="312821" cy="6938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1BE3A5C1-C44F-C34C-166C-AAA2DEFD3A57}"/>
              </a:ext>
            </a:extLst>
          </p:cNvPr>
          <p:cNvCxnSpPr>
            <a:cxnSpLocks/>
          </p:cNvCxnSpPr>
          <p:nvPr/>
        </p:nvCxnSpPr>
        <p:spPr>
          <a:xfrm flipV="1">
            <a:off x="8965031" y="3121693"/>
            <a:ext cx="643689" cy="8502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F2FC84DC-1A76-1F58-8491-4C2DBD4B0486}"/>
              </a:ext>
            </a:extLst>
          </p:cNvPr>
          <p:cNvSpPr txBox="1"/>
          <p:nvPr/>
        </p:nvSpPr>
        <p:spPr>
          <a:xfrm>
            <a:off x="7940842" y="3890208"/>
            <a:ext cx="1513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Assorbimento</a:t>
            </a:r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90CAD135-4C33-D14B-E5F5-C9D965B5B17E}"/>
              </a:ext>
            </a:extLst>
          </p:cNvPr>
          <p:cNvCxnSpPr>
            <a:cxnSpLocks/>
          </p:cNvCxnSpPr>
          <p:nvPr/>
        </p:nvCxnSpPr>
        <p:spPr>
          <a:xfrm>
            <a:off x="8483768" y="3270083"/>
            <a:ext cx="312821" cy="6938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B1FD6482-B0FF-0298-01D8-6B123FD3C932}"/>
              </a:ext>
            </a:extLst>
          </p:cNvPr>
          <p:cNvCxnSpPr>
            <a:cxnSpLocks/>
          </p:cNvCxnSpPr>
          <p:nvPr/>
        </p:nvCxnSpPr>
        <p:spPr>
          <a:xfrm flipV="1">
            <a:off x="6398293" y="3151772"/>
            <a:ext cx="643689" cy="8502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5670A989-A19B-A62A-D774-13A9A36EF0F9}"/>
              </a:ext>
            </a:extLst>
          </p:cNvPr>
          <p:cNvCxnSpPr>
            <a:cxnSpLocks/>
          </p:cNvCxnSpPr>
          <p:nvPr/>
        </p:nvCxnSpPr>
        <p:spPr>
          <a:xfrm flipV="1">
            <a:off x="4593556" y="5136982"/>
            <a:ext cx="282741" cy="2987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E63528E9-4AEE-F756-EFA6-4542689E871A}"/>
              </a:ext>
            </a:extLst>
          </p:cNvPr>
          <p:cNvSpPr txBox="1"/>
          <p:nvPr/>
        </p:nvSpPr>
        <p:spPr>
          <a:xfrm>
            <a:off x="3599447" y="5504446"/>
            <a:ext cx="16944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Raccoglimento a fattor comune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9D7FE044-D936-ABE6-6B89-2E71C06AF31C}"/>
              </a:ext>
            </a:extLst>
          </p:cNvPr>
          <p:cNvCxnSpPr>
            <a:cxnSpLocks/>
          </p:cNvCxnSpPr>
          <p:nvPr/>
        </p:nvCxnSpPr>
        <p:spPr>
          <a:xfrm flipV="1">
            <a:off x="6658978" y="5136983"/>
            <a:ext cx="22058" cy="8803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3930E892-4A0A-4B56-BF24-58A76643DEDD}"/>
              </a:ext>
            </a:extLst>
          </p:cNvPr>
          <p:cNvSpPr txBox="1"/>
          <p:nvPr/>
        </p:nvSpPr>
        <p:spPr>
          <a:xfrm>
            <a:off x="5644815" y="5935576"/>
            <a:ext cx="1513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Complementi</a:t>
            </a:r>
          </a:p>
        </p:txBody>
      </p: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F8262AA5-118C-4001-F407-A001FEA9A32F}"/>
              </a:ext>
            </a:extLst>
          </p:cNvPr>
          <p:cNvCxnSpPr>
            <a:cxnSpLocks/>
          </p:cNvCxnSpPr>
          <p:nvPr/>
        </p:nvCxnSpPr>
        <p:spPr>
          <a:xfrm>
            <a:off x="6187741" y="5315451"/>
            <a:ext cx="312821" cy="6938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92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98138F3E-0F59-4C96-777F-620264F55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90" y="244809"/>
            <a:ext cx="4209048" cy="633747"/>
          </a:xfrm>
        </p:spPr>
        <p:txBody>
          <a:bodyPr>
            <a:noAutofit/>
          </a:bodyPr>
          <a:lstStyle/>
          <a:p>
            <a:r>
              <a:rPr lang="it-IT" sz="4000" dirty="0">
                <a:ea typeface="Calibri Light"/>
                <a:cs typeface="Calibri Light"/>
              </a:rPr>
              <a:t>Espressioni logiche</a:t>
            </a:r>
            <a:endParaRPr lang="it-IT" sz="4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B7F3279-604C-99BC-0789-0E8A7644F547}"/>
              </a:ext>
            </a:extLst>
          </p:cNvPr>
          <p:cNvSpPr txBox="1"/>
          <p:nvPr/>
        </p:nvSpPr>
        <p:spPr>
          <a:xfrm>
            <a:off x="240631" y="942474"/>
            <a:ext cx="116906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Estratto esercizio 1 pagina 81: Verificare le seguenti disuguaglianze utilizzando le proprietà dell'algebra di Boole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1E8D5C8-A291-2750-3D64-BF29AD6437BF}"/>
              </a:ext>
            </a:extLst>
          </p:cNvPr>
          <p:cNvSpPr txBox="1"/>
          <p:nvPr/>
        </p:nvSpPr>
        <p:spPr>
          <a:xfrm>
            <a:off x="4433637" y="1495927"/>
            <a:ext cx="30640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A + B + AB +  A+B = 1 </a:t>
            </a:r>
            <a:endParaRPr lang="it-IT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A31C096-BF56-39E6-DBA2-B8E1FD7D3269}"/>
              </a:ext>
            </a:extLst>
          </p:cNvPr>
          <p:cNvCxnSpPr>
            <a:cxnSpLocks/>
          </p:cNvCxnSpPr>
          <p:nvPr/>
        </p:nvCxnSpPr>
        <p:spPr>
          <a:xfrm flipV="1">
            <a:off x="4505079" y="1491430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9CF384DC-8BDC-872C-A8F6-FEFE5F706F4D}"/>
              </a:ext>
            </a:extLst>
          </p:cNvPr>
          <p:cNvCxnSpPr>
            <a:cxnSpLocks/>
          </p:cNvCxnSpPr>
          <p:nvPr/>
        </p:nvCxnSpPr>
        <p:spPr>
          <a:xfrm flipV="1">
            <a:off x="5597947" y="1491429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C4B851E-AF35-1FD1-9BE8-D9BB606F39E4}"/>
              </a:ext>
            </a:extLst>
          </p:cNvPr>
          <p:cNvCxnSpPr>
            <a:cxnSpLocks/>
          </p:cNvCxnSpPr>
          <p:nvPr/>
        </p:nvCxnSpPr>
        <p:spPr>
          <a:xfrm flipV="1">
            <a:off x="6480264" y="1491430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CC90622-933D-4877-E782-FAC49C481C62}"/>
              </a:ext>
            </a:extLst>
          </p:cNvPr>
          <p:cNvCxnSpPr>
            <a:cxnSpLocks/>
          </p:cNvCxnSpPr>
          <p:nvPr/>
        </p:nvCxnSpPr>
        <p:spPr>
          <a:xfrm flipV="1">
            <a:off x="6109289" y="1391164"/>
            <a:ext cx="590322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E25CC35-049C-5B07-B2F6-CFC531DCFC63}"/>
              </a:ext>
            </a:extLst>
          </p:cNvPr>
          <p:cNvSpPr txBox="1"/>
          <p:nvPr/>
        </p:nvSpPr>
        <p:spPr>
          <a:xfrm>
            <a:off x="1596189" y="2769269"/>
            <a:ext cx="89996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A + B + AB +  </a:t>
            </a:r>
            <a:r>
              <a:rPr lang="it-IT" sz="2400" dirty="0">
                <a:solidFill>
                  <a:srgbClr val="FF0000"/>
                </a:solidFill>
              </a:rPr>
              <a:t>A+B</a:t>
            </a:r>
            <a:r>
              <a:rPr lang="it-IT" sz="2400" dirty="0"/>
              <a:t> = A + B +</a:t>
            </a:r>
            <a:r>
              <a:rPr lang="it-IT" sz="2400" dirty="0">
                <a:solidFill>
                  <a:srgbClr val="FF0000"/>
                </a:solidFill>
              </a:rPr>
              <a:t> AB</a:t>
            </a:r>
            <a:r>
              <a:rPr lang="it-IT" sz="2400" dirty="0"/>
              <a:t> + </a:t>
            </a:r>
            <a:r>
              <a:rPr lang="it-IT" sz="2400" dirty="0">
                <a:solidFill>
                  <a:srgbClr val="FF0000"/>
                </a:solidFill>
              </a:rPr>
              <a:t>AB  </a:t>
            </a:r>
            <a:r>
              <a:rPr lang="it-IT" sz="2400" dirty="0"/>
              <a:t>= A + </a:t>
            </a:r>
            <a:r>
              <a:rPr lang="it-IT" sz="2400" dirty="0">
                <a:solidFill>
                  <a:srgbClr val="FF0000"/>
                </a:solidFill>
              </a:rPr>
              <a:t>B </a:t>
            </a:r>
            <a:r>
              <a:rPr lang="it-IT" sz="2400" dirty="0"/>
              <a:t>+ AB + </a:t>
            </a:r>
            <a:r>
              <a:rPr lang="it-IT" sz="2400" dirty="0">
                <a:solidFill>
                  <a:srgbClr val="FF0000"/>
                </a:solidFill>
              </a:rPr>
              <a:t>B</a:t>
            </a:r>
            <a:r>
              <a:rPr lang="it-IT" sz="2400" dirty="0"/>
              <a:t> = </a:t>
            </a:r>
            <a:r>
              <a:rPr lang="it-IT" sz="2400" dirty="0">
                <a:solidFill>
                  <a:srgbClr val="FF0000"/>
                </a:solidFill>
              </a:rPr>
              <a:t>A + A B + 1</a:t>
            </a:r>
            <a:r>
              <a:rPr lang="it-IT" sz="2400" dirty="0"/>
              <a:t> = 1</a:t>
            </a:r>
            <a:endParaRPr lang="it-IT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8F2B33A-2D64-8DBD-0157-D28445D04FB5}"/>
              </a:ext>
            </a:extLst>
          </p:cNvPr>
          <p:cNvCxnSpPr>
            <a:cxnSpLocks/>
          </p:cNvCxnSpPr>
          <p:nvPr/>
        </p:nvCxnSpPr>
        <p:spPr>
          <a:xfrm flipV="1">
            <a:off x="1667631" y="27647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BCA4DB84-4B9B-184B-3C43-5D8023C41CC9}"/>
              </a:ext>
            </a:extLst>
          </p:cNvPr>
          <p:cNvCxnSpPr>
            <a:cxnSpLocks/>
          </p:cNvCxnSpPr>
          <p:nvPr/>
        </p:nvCxnSpPr>
        <p:spPr>
          <a:xfrm flipV="1">
            <a:off x="2760499" y="276477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C28034B-4191-6F8A-42E1-BFFCFC805855}"/>
              </a:ext>
            </a:extLst>
          </p:cNvPr>
          <p:cNvCxnSpPr>
            <a:cxnSpLocks/>
          </p:cNvCxnSpPr>
          <p:nvPr/>
        </p:nvCxnSpPr>
        <p:spPr>
          <a:xfrm flipV="1">
            <a:off x="3642816" y="27647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859DFDAA-E388-0572-6004-C90578D95F6E}"/>
              </a:ext>
            </a:extLst>
          </p:cNvPr>
          <p:cNvCxnSpPr>
            <a:cxnSpLocks/>
          </p:cNvCxnSpPr>
          <p:nvPr/>
        </p:nvCxnSpPr>
        <p:spPr>
          <a:xfrm flipV="1">
            <a:off x="3271841" y="2664507"/>
            <a:ext cx="590322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8DDF6081-A887-301B-80CD-74171FE67F00}"/>
              </a:ext>
            </a:extLst>
          </p:cNvPr>
          <p:cNvCxnSpPr>
            <a:cxnSpLocks/>
          </p:cNvCxnSpPr>
          <p:nvPr/>
        </p:nvCxnSpPr>
        <p:spPr>
          <a:xfrm flipV="1">
            <a:off x="4063920" y="27647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74F40DC3-B24F-08CF-6BA8-764F6FFE23BC}"/>
              </a:ext>
            </a:extLst>
          </p:cNvPr>
          <p:cNvCxnSpPr>
            <a:cxnSpLocks/>
          </p:cNvCxnSpPr>
          <p:nvPr/>
        </p:nvCxnSpPr>
        <p:spPr>
          <a:xfrm flipV="1">
            <a:off x="5156788" y="276477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21268F2F-DAD2-B05C-89CB-9AD99F299CCF}"/>
              </a:ext>
            </a:extLst>
          </p:cNvPr>
          <p:cNvCxnSpPr>
            <a:cxnSpLocks/>
          </p:cNvCxnSpPr>
          <p:nvPr/>
        </p:nvCxnSpPr>
        <p:spPr>
          <a:xfrm flipV="1">
            <a:off x="5638052" y="27647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D1EEA791-C178-A376-5849-7B9F50DC280B}"/>
              </a:ext>
            </a:extLst>
          </p:cNvPr>
          <p:cNvCxnSpPr>
            <a:cxnSpLocks/>
          </p:cNvCxnSpPr>
          <p:nvPr/>
        </p:nvCxnSpPr>
        <p:spPr>
          <a:xfrm flipV="1">
            <a:off x="6339893" y="276477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AB22BDDD-F100-24D2-981E-085C0654D31B}"/>
              </a:ext>
            </a:extLst>
          </p:cNvPr>
          <p:cNvCxnSpPr>
            <a:cxnSpLocks/>
          </p:cNvCxnSpPr>
          <p:nvPr/>
        </p:nvCxnSpPr>
        <p:spPr>
          <a:xfrm flipV="1">
            <a:off x="6760999" y="27647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B11F9C86-FC5B-8936-658C-6EB82A89D9C0}"/>
              </a:ext>
            </a:extLst>
          </p:cNvPr>
          <p:cNvCxnSpPr>
            <a:cxnSpLocks/>
          </p:cNvCxnSpPr>
          <p:nvPr/>
        </p:nvCxnSpPr>
        <p:spPr>
          <a:xfrm flipV="1">
            <a:off x="7242262" y="276477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DAD99F0B-9547-57FC-57FC-DFB19EC1DF32}"/>
              </a:ext>
            </a:extLst>
          </p:cNvPr>
          <p:cNvCxnSpPr>
            <a:cxnSpLocks/>
          </p:cNvCxnSpPr>
          <p:nvPr/>
        </p:nvCxnSpPr>
        <p:spPr>
          <a:xfrm flipV="1">
            <a:off x="8335130" y="276477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3A237A56-51E6-8E38-5225-045D345D0238}"/>
              </a:ext>
            </a:extLst>
          </p:cNvPr>
          <p:cNvCxnSpPr>
            <a:cxnSpLocks/>
          </p:cNvCxnSpPr>
          <p:nvPr/>
        </p:nvCxnSpPr>
        <p:spPr>
          <a:xfrm flipV="1">
            <a:off x="8776289" y="276477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4B358B8-6D9A-1AC0-9702-723C0DDFC6BE}"/>
              </a:ext>
            </a:extLst>
          </p:cNvPr>
          <p:cNvSpPr txBox="1"/>
          <p:nvPr/>
        </p:nvSpPr>
        <p:spPr>
          <a:xfrm>
            <a:off x="2887580" y="3900236"/>
            <a:ext cx="1423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De Morgan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D48305C2-4E92-B571-7C8F-B92557A8A321}"/>
              </a:ext>
            </a:extLst>
          </p:cNvPr>
          <p:cNvCxnSpPr/>
          <p:nvPr/>
        </p:nvCxnSpPr>
        <p:spPr>
          <a:xfrm>
            <a:off x="3460585" y="3209925"/>
            <a:ext cx="212558" cy="663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12B7956D-B81E-DEF8-F244-D42C11E12BD2}"/>
              </a:ext>
            </a:extLst>
          </p:cNvPr>
          <p:cNvCxnSpPr>
            <a:cxnSpLocks/>
          </p:cNvCxnSpPr>
          <p:nvPr/>
        </p:nvCxnSpPr>
        <p:spPr>
          <a:xfrm flipV="1">
            <a:off x="3691190" y="3111667"/>
            <a:ext cx="282741" cy="7399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BC16C451-4A0F-577F-B5EE-136EE8F99470}"/>
              </a:ext>
            </a:extLst>
          </p:cNvPr>
          <p:cNvCxnSpPr>
            <a:cxnSpLocks/>
          </p:cNvCxnSpPr>
          <p:nvPr/>
        </p:nvCxnSpPr>
        <p:spPr>
          <a:xfrm flipV="1">
            <a:off x="5836820" y="3161798"/>
            <a:ext cx="312821" cy="7700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36F3B147-675F-47B0-7E69-5302C08A662B}"/>
              </a:ext>
            </a:extLst>
          </p:cNvPr>
          <p:cNvSpPr txBox="1"/>
          <p:nvPr/>
        </p:nvSpPr>
        <p:spPr>
          <a:xfrm>
            <a:off x="4812631" y="3850103"/>
            <a:ext cx="1513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Assorbimento</a:t>
            </a:r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3991780E-E3EE-F2B3-31CA-31B414EEBC4D}"/>
              </a:ext>
            </a:extLst>
          </p:cNvPr>
          <p:cNvCxnSpPr>
            <a:cxnSpLocks/>
          </p:cNvCxnSpPr>
          <p:nvPr/>
        </p:nvCxnSpPr>
        <p:spPr>
          <a:xfrm>
            <a:off x="5355557" y="3229978"/>
            <a:ext cx="312821" cy="6938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3D91A591-2825-BC06-56C8-E40EF0045086}"/>
              </a:ext>
            </a:extLst>
          </p:cNvPr>
          <p:cNvCxnSpPr>
            <a:cxnSpLocks/>
          </p:cNvCxnSpPr>
          <p:nvPr/>
        </p:nvCxnSpPr>
        <p:spPr>
          <a:xfrm flipV="1">
            <a:off x="7751846" y="3171825"/>
            <a:ext cx="453190" cy="8101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2B159F8C-52C2-B3A6-D3B0-57E2DAF67C55}"/>
              </a:ext>
            </a:extLst>
          </p:cNvPr>
          <p:cNvSpPr txBox="1"/>
          <p:nvPr/>
        </p:nvSpPr>
        <p:spPr>
          <a:xfrm>
            <a:off x="6717631" y="3890208"/>
            <a:ext cx="1513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Complementi</a:t>
            </a: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DD70A439-67F3-33B9-A107-B6089BAAA941}"/>
              </a:ext>
            </a:extLst>
          </p:cNvPr>
          <p:cNvCxnSpPr>
            <a:cxnSpLocks/>
          </p:cNvCxnSpPr>
          <p:nvPr/>
        </p:nvCxnSpPr>
        <p:spPr>
          <a:xfrm>
            <a:off x="7260557" y="3270083"/>
            <a:ext cx="312821" cy="6938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7DE12C97-9F81-10F6-8241-DB54729493F7}"/>
              </a:ext>
            </a:extLst>
          </p:cNvPr>
          <p:cNvCxnSpPr>
            <a:cxnSpLocks/>
          </p:cNvCxnSpPr>
          <p:nvPr/>
        </p:nvCxnSpPr>
        <p:spPr>
          <a:xfrm flipV="1">
            <a:off x="9566608" y="3101641"/>
            <a:ext cx="202533" cy="8502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1C07019F-67ED-09D7-4E91-0104533305B4}"/>
              </a:ext>
            </a:extLst>
          </p:cNvPr>
          <p:cNvSpPr txBox="1"/>
          <p:nvPr/>
        </p:nvSpPr>
        <p:spPr>
          <a:xfrm>
            <a:off x="8522367" y="3870155"/>
            <a:ext cx="1513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Assorbimento</a:t>
            </a:r>
          </a:p>
        </p:txBody>
      </p: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2FBF7750-4E48-0A61-2CC3-C64AB5366CF4}"/>
              </a:ext>
            </a:extLst>
          </p:cNvPr>
          <p:cNvCxnSpPr>
            <a:cxnSpLocks/>
          </p:cNvCxnSpPr>
          <p:nvPr/>
        </p:nvCxnSpPr>
        <p:spPr>
          <a:xfrm>
            <a:off x="9065293" y="3250030"/>
            <a:ext cx="312821" cy="6938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912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6FC14335-6EA6-D2EC-F8BC-835AF3AD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9323D2-A0E3-D81B-0CF4-727E307AF65D}"/>
              </a:ext>
            </a:extLst>
          </p:cNvPr>
          <p:cNvSpPr txBox="1"/>
          <p:nvPr/>
        </p:nvSpPr>
        <p:spPr>
          <a:xfrm>
            <a:off x="90237" y="1062789"/>
            <a:ext cx="120315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Realizzare il circuito digitale minimo corrispondente all'espressione logica: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0AFCCF-A81E-D0C5-08B6-D24A3062E399}"/>
              </a:ext>
            </a:extLst>
          </p:cNvPr>
          <p:cNvSpPr txBox="1"/>
          <p:nvPr/>
        </p:nvSpPr>
        <p:spPr>
          <a:xfrm>
            <a:off x="4112794" y="1646321"/>
            <a:ext cx="356535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 A B + A D + A B + D A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125FE67-BB41-FED0-082F-27B0F8681246}"/>
              </a:ext>
            </a:extLst>
          </p:cNvPr>
          <p:cNvCxnSpPr>
            <a:cxnSpLocks/>
          </p:cNvCxnSpPr>
          <p:nvPr/>
        </p:nvCxnSpPr>
        <p:spPr>
          <a:xfrm flipV="1">
            <a:off x="4825921" y="1712009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EFC402C6-9A2B-1D2F-031C-9B136C062476}"/>
              </a:ext>
            </a:extLst>
          </p:cNvPr>
          <p:cNvCxnSpPr>
            <a:cxnSpLocks/>
          </p:cNvCxnSpPr>
          <p:nvPr/>
        </p:nvCxnSpPr>
        <p:spPr>
          <a:xfrm flipV="1">
            <a:off x="5597946" y="1712008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A223DC4-B117-59BE-CE25-42204E98A6A9}"/>
              </a:ext>
            </a:extLst>
          </p:cNvPr>
          <p:cNvCxnSpPr>
            <a:cxnSpLocks/>
          </p:cNvCxnSpPr>
          <p:nvPr/>
        </p:nvCxnSpPr>
        <p:spPr>
          <a:xfrm flipV="1">
            <a:off x="7021684" y="1712009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5820D78-EC6E-B500-E529-F9BFE41C3667}"/>
              </a:ext>
            </a:extLst>
          </p:cNvPr>
          <p:cNvSpPr txBox="1"/>
          <p:nvPr/>
        </p:nvSpPr>
        <p:spPr>
          <a:xfrm>
            <a:off x="292767" y="2207794"/>
            <a:ext cx="364556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B </a:t>
            </a:r>
            <a:r>
              <a:rPr lang="it-IT" sz="2400" dirty="0">
                <a:ea typeface="Calibri"/>
                <a:cs typeface="Calibri"/>
              </a:rPr>
              <a:t>+ A D +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B</a:t>
            </a:r>
            <a:r>
              <a:rPr lang="it-IT" sz="2400" dirty="0">
                <a:ea typeface="Calibri"/>
                <a:cs typeface="Calibri"/>
              </a:rPr>
              <a:t> + D A  = </a:t>
            </a:r>
          </a:p>
          <a:p>
            <a:r>
              <a:rPr lang="it-IT" sz="2400" dirty="0">
                <a:ea typeface="Calibri"/>
                <a:cs typeface="Calibri"/>
              </a:rPr>
              <a:t>   =  A(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B+B</a:t>
            </a:r>
            <a:r>
              <a:rPr lang="it-IT" sz="2400" dirty="0">
                <a:ea typeface="Calibri"/>
                <a:cs typeface="Calibri"/>
              </a:rPr>
              <a:t>) + A D + D A =</a:t>
            </a:r>
          </a:p>
          <a:p>
            <a:r>
              <a:rPr lang="it-IT" sz="2400" dirty="0">
                <a:ea typeface="Calibri"/>
                <a:cs typeface="Calibri"/>
              </a:rPr>
              <a:t>   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1</a:t>
            </a:r>
            <a:r>
              <a:rPr lang="it-IT" sz="2400" dirty="0">
                <a:ea typeface="Calibri"/>
                <a:cs typeface="Calibri"/>
              </a:rPr>
              <a:t> + A D + D A  =</a:t>
            </a:r>
          </a:p>
          <a:p>
            <a:r>
              <a:rPr lang="it-IT" sz="2400" dirty="0">
                <a:ea typeface="Calibri"/>
                <a:cs typeface="Calibri"/>
              </a:rPr>
              <a:t>   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</a:t>
            </a:r>
            <a:r>
              <a:rPr lang="it-IT" sz="2400" dirty="0">
                <a:ea typeface="Calibri"/>
                <a:cs typeface="Calibri"/>
              </a:rPr>
              <a:t> +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D</a:t>
            </a:r>
            <a:r>
              <a:rPr lang="it-IT" sz="2400" dirty="0">
                <a:ea typeface="Calibri"/>
                <a:cs typeface="Calibri"/>
              </a:rPr>
              <a:t> + D A =</a:t>
            </a:r>
          </a:p>
          <a:p>
            <a:r>
              <a:rPr lang="it-IT" sz="2400" dirty="0">
                <a:ea typeface="Calibri"/>
                <a:cs typeface="Calibri"/>
              </a:rPr>
              <a:t>   = A (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1+D</a:t>
            </a:r>
            <a:r>
              <a:rPr lang="it-IT" sz="2400" dirty="0">
                <a:ea typeface="Calibri"/>
                <a:cs typeface="Calibri"/>
              </a:rPr>
              <a:t>) + D A =</a:t>
            </a:r>
          </a:p>
          <a:p>
            <a:r>
              <a:rPr lang="it-IT" sz="2400" dirty="0">
                <a:ea typeface="Calibri"/>
                <a:cs typeface="Calibri"/>
              </a:rPr>
              <a:t>   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1</a:t>
            </a:r>
            <a:r>
              <a:rPr lang="it-IT" sz="2400" dirty="0">
                <a:ea typeface="Calibri"/>
                <a:cs typeface="Calibri"/>
              </a:rPr>
              <a:t> + D A =</a:t>
            </a:r>
          </a:p>
          <a:p>
            <a:r>
              <a:rPr lang="it-IT" sz="2400" dirty="0">
                <a:ea typeface="Calibri"/>
                <a:cs typeface="Calibri"/>
              </a:rPr>
              <a:t>   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</a:t>
            </a:r>
            <a:r>
              <a:rPr lang="it-IT" sz="2400" dirty="0">
                <a:ea typeface="Calibri"/>
                <a:cs typeface="Calibri"/>
              </a:rPr>
              <a:t>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+ D A</a:t>
            </a:r>
          </a:p>
          <a:p>
            <a:r>
              <a:rPr lang="it-IT" sz="2400" dirty="0">
                <a:ea typeface="Calibri"/>
                <a:cs typeface="Calibri"/>
              </a:rPr>
              <a:t>   = A + D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4B0D8F45-4222-7569-66AB-46FC7DAB6534}"/>
              </a:ext>
            </a:extLst>
          </p:cNvPr>
          <p:cNvCxnSpPr>
            <a:cxnSpLocks/>
          </p:cNvCxnSpPr>
          <p:nvPr/>
        </p:nvCxnSpPr>
        <p:spPr>
          <a:xfrm flipV="1">
            <a:off x="1005894" y="227348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D059D8CF-BD0D-9413-E070-2DFCCD7FB3C2}"/>
              </a:ext>
            </a:extLst>
          </p:cNvPr>
          <p:cNvCxnSpPr>
            <a:cxnSpLocks/>
          </p:cNvCxnSpPr>
          <p:nvPr/>
        </p:nvCxnSpPr>
        <p:spPr>
          <a:xfrm flipV="1">
            <a:off x="1777919" y="227348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C5C27FC-0757-19E6-254F-AC82DFA0F98D}"/>
              </a:ext>
            </a:extLst>
          </p:cNvPr>
          <p:cNvCxnSpPr>
            <a:cxnSpLocks/>
          </p:cNvCxnSpPr>
          <p:nvPr/>
        </p:nvCxnSpPr>
        <p:spPr>
          <a:xfrm flipV="1">
            <a:off x="3201657" y="2273482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72224A8C-062C-CA8D-14F7-E11756A31377}"/>
              </a:ext>
            </a:extLst>
          </p:cNvPr>
          <p:cNvCxnSpPr>
            <a:cxnSpLocks/>
          </p:cNvCxnSpPr>
          <p:nvPr/>
        </p:nvCxnSpPr>
        <p:spPr>
          <a:xfrm flipV="1">
            <a:off x="1086104" y="2634429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0F7EAF14-37EB-AA58-35B8-03245CC9B588}"/>
              </a:ext>
            </a:extLst>
          </p:cNvPr>
          <p:cNvCxnSpPr>
            <a:cxnSpLocks/>
          </p:cNvCxnSpPr>
          <p:nvPr/>
        </p:nvCxnSpPr>
        <p:spPr>
          <a:xfrm flipV="1">
            <a:off x="2229104" y="2634429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6BE29A64-F1F6-E5FB-C79A-C8A52701575D}"/>
              </a:ext>
            </a:extLst>
          </p:cNvPr>
          <p:cNvCxnSpPr>
            <a:cxnSpLocks/>
          </p:cNvCxnSpPr>
          <p:nvPr/>
        </p:nvCxnSpPr>
        <p:spPr>
          <a:xfrm flipV="1">
            <a:off x="2981077" y="2634428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65AE1F4-36E8-D766-8B0F-76F6FBDA52EB}"/>
              </a:ext>
            </a:extLst>
          </p:cNvPr>
          <p:cNvCxnSpPr>
            <a:cxnSpLocks/>
          </p:cNvCxnSpPr>
          <p:nvPr/>
        </p:nvCxnSpPr>
        <p:spPr>
          <a:xfrm flipV="1">
            <a:off x="1747841" y="2975323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6EB36C6-2B41-EE67-B35F-763E5350000C}"/>
              </a:ext>
            </a:extLst>
          </p:cNvPr>
          <p:cNvCxnSpPr>
            <a:cxnSpLocks/>
          </p:cNvCxnSpPr>
          <p:nvPr/>
        </p:nvCxnSpPr>
        <p:spPr>
          <a:xfrm flipV="1">
            <a:off x="2489788" y="2975323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705A3F8-986F-3C90-3F74-53337A9D2E93}"/>
              </a:ext>
            </a:extLst>
          </p:cNvPr>
          <p:cNvCxnSpPr>
            <a:cxnSpLocks/>
          </p:cNvCxnSpPr>
          <p:nvPr/>
        </p:nvCxnSpPr>
        <p:spPr>
          <a:xfrm flipV="1">
            <a:off x="1487156" y="3326245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15D78BD5-BB1A-6E26-87E0-6E517BB7E614}"/>
              </a:ext>
            </a:extLst>
          </p:cNvPr>
          <p:cNvCxnSpPr>
            <a:cxnSpLocks/>
          </p:cNvCxnSpPr>
          <p:nvPr/>
        </p:nvCxnSpPr>
        <p:spPr>
          <a:xfrm flipV="1">
            <a:off x="2229103" y="3326244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DBA5404-4C88-D64B-FA61-4CF0DA2C1EE6}"/>
              </a:ext>
            </a:extLst>
          </p:cNvPr>
          <p:cNvCxnSpPr>
            <a:cxnSpLocks/>
          </p:cNvCxnSpPr>
          <p:nvPr/>
        </p:nvCxnSpPr>
        <p:spPr>
          <a:xfrm flipV="1">
            <a:off x="1447051" y="3687191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A638FEA0-7DAB-036F-8F3D-2F229CBF5064}"/>
              </a:ext>
            </a:extLst>
          </p:cNvPr>
          <p:cNvCxnSpPr>
            <a:cxnSpLocks/>
          </p:cNvCxnSpPr>
          <p:nvPr/>
        </p:nvCxnSpPr>
        <p:spPr>
          <a:xfrm flipV="1">
            <a:off x="2269209" y="3727297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2634DE24-005A-C8B5-938C-1F54A6E7EA41}"/>
              </a:ext>
            </a:extLst>
          </p:cNvPr>
          <p:cNvCxnSpPr>
            <a:cxnSpLocks/>
          </p:cNvCxnSpPr>
          <p:nvPr/>
        </p:nvCxnSpPr>
        <p:spPr>
          <a:xfrm flipV="1">
            <a:off x="1747840" y="4078218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5A0781D5-DCF3-A0B4-F96C-B3B86D21DB70}"/>
              </a:ext>
            </a:extLst>
          </p:cNvPr>
          <p:cNvCxnSpPr>
            <a:cxnSpLocks/>
          </p:cNvCxnSpPr>
          <p:nvPr/>
        </p:nvCxnSpPr>
        <p:spPr>
          <a:xfrm flipV="1">
            <a:off x="1527262" y="4429139"/>
            <a:ext cx="21935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A72D88B0-5F1B-DE78-5314-14EE0EE89BD9}"/>
              </a:ext>
            </a:extLst>
          </p:cNvPr>
          <p:cNvCxnSpPr>
            <a:cxnSpLocks/>
          </p:cNvCxnSpPr>
          <p:nvPr/>
        </p:nvCxnSpPr>
        <p:spPr>
          <a:xfrm flipV="1">
            <a:off x="3631032" y="3723272"/>
            <a:ext cx="964530" cy="80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magine 24" descr="Immagine che contiene schizzo, diagramma, disegno, linea&#10;&#10;Descrizione generata automaticamente">
            <a:extLst>
              <a:ext uri="{FF2B5EF4-FFF2-40B4-BE49-F238E27FC236}">
                <a16:creationId xmlns:a16="http://schemas.microsoft.com/office/drawing/2014/main" id="{59ACCE54-1694-4F47-56BA-2CA21A760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478" y="2783556"/>
            <a:ext cx="3024939" cy="2022809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9CC9876-8289-0DF8-E734-FF8A2A592AAF}"/>
              </a:ext>
            </a:extLst>
          </p:cNvPr>
          <p:cNvSpPr txBox="1"/>
          <p:nvPr/>
        </p:nvSpPr>
        <p:spPr>
          <a:xfrm>
            <a:off x="5765131" y="3208421"/>
            <a:ext cx="350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A</a:t>
            </a:r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D4E5AD2C-9E3B-2C34-6CB0-FC907ED2A1FA}"/>
              </a:ext>
            </a:extLst>
          </p:cNvPr>
          <p:cNvSpPr txBox="1"/>
          <p:nvPr/>
        </p:nvSpPr>
        <p:spPr>
          <a:xfrm>
            <a:off x="5755104" y="4060657"/>
            <a:ext cx="350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D</a:t>
            </a:r>
            <a:endParaRPr lang="it-IT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846104E-D2C3-49CC-D1D7-DE6A4B7F407D}"/>
              </a:ext>
            </a:extLst>
          </p:cNvPr>
          <p:cNvSpPr txBox="1"/>
          <p:nvPr/>
        </p:nvSpPr>
        <p:spPr>
          <a:xfrm>
            <a:off x="9113921" y="3609474"/>
            <a:ext cx="4311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F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7588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CDA1E91E-A376-4B12-2BED-8C156DDF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1B659CC-911E-5C2F-7249-F373A956BEAF}"/>
              </a:ext>
            </a:extLst>
          </p:cNvPr>
          <p:cNvSpPr txBox="1"/>
          <p:nvPr/>
        </p:nvSpPr>
        <p:spPr>
          <a:xfrm>
            <a:off x="160421" y="1223210"/>
            <a:ext cx="1190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Realizzare il circuito digitale corrispondente all'espressione logica F, utilizzando esclusivamente porte universali (NOR e NAND):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2072F85-02B5-6148-AEFB-34AACA10666C}"/>
              </a:ext>
            </a:extLst>
          </p:cNvPr>
          <p:cNvSpPr txBox="1"/>
          <p:nvPr/>
        </p:nvSpPr>
        <p:spPr>
          <a:xfrm>
            <a:off x="4082715" y="3080083"/>
            <a:ext cx="40767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B A </a:t>
            </a:r>
            <a:r>
              <a:rPr lang="it-IT" sz="2400" dirty="0" err="1">
                <a:ea typeface="Calibri"/>
                <a:cs typeface="Calibri"/>
              </a:rPr>
              <a:t>A</a:t>
            </a:r>
            <a:r>
              <a:rPr lang="it-IT" sz="2400" dirty="0">
                <a:ea typeface="Calibri"/>
                <a:cs typeface="Calibri"/>
              </a:rPr>
              <a:t> C + A C + A B C D + A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37A1F133-9B4F-12AA-69F4-EE87F0E9F716}"/>
              </a:ext>
            </a:extLst>
          </p:cNvPr>
          <p:cNvCxnSpPr>
            <a:cxnSpLocks/>
          </p:cNvCxnSpPr>
          <p:nvPr/>
        </p:nvCxnSpPr>
        <p:spPr>
          <a:xfrm flipV="1">
            <a:off x="4615368" y="31257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060BF507-B705-5CD9-2788-4884C900A86B}"/>
              </a:ext>
            </a:extLst>
          </p:cNvPr>
          <p:cNvCxnSpPr>
            <a:cxnSpLocks/>
          </p:cNvCxnSpPr>
          <p:nvPr/>
        </p:nvCxnSpPr>
        <p:spPr>
          <a:xfrm flipV="1">
            <a:off x="4845973" y="31257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D74D72E3-E14E-ACC4-B64F-0D2ADEB91397}"/>
              </a:ext>
            </a:extLst>
          </p:cNvPr>
          <p:cNvCxnSpPr>
            <a:cxnSpLocks/>
          </p:cNvCxnSpPr>
          <p:nvPr/>
        </p:nvCxnSpPr>
        <p:spPr>
          <a:xfrm flipV="1">
            <a:off x="5818525" y="31257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8A29B6FA-CA1F-ACE9-48C1-8E9BEFE74006}"/>
              </a:ext>
            </a:extLst>
          </p:cNvPr>
          <p:cNvCxnSpPr>
            <a:cxnSpLocks/>
          </p:cNvCxnSpPr>
          <p:nvPr/>
        </p:nvCxnSpPr>
        <p:spPr>
          <a:xfrm flipV="1">
            <a:off x="7723525" y="3125718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6AC214DF-96D1-D648-D26A-0537FFEC7158}"/>
              </a:ext>
            </a:extLst>
          </p:cNvPr>
          <p:cNvCxnSpPr>
            <a:cxnSpLocks/>
          </p:cNvCxnSpPr>
          <p:nvPr/>
        </p:nvCxnSpPr>
        <p:spPr>
          <a:xfrm flipV="1">
            <a:off x="7192131" y="31257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9A40C7CE-6BB8-BEB1-AC4A-6A8C498A2D66}"/>
              </a:ext>
            </a:extLst>
          </p:cNvPr>
          <p:cNvCxnSpPr>
            <a:cxnSpLocks/>
          </p:cNvCxnSpPr>
          <p:nvPr/>
        </p:nvCxnSpPr>
        <p:spPr>
          <a:xfrm flipV="1">
            <a:off x="6520367" y="31257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4F6A6BBB-0DB7-8CED-7605-2ECC5D40029B}"/>
              </a:ext>
            </a:extLst>
          </p:cNvPr>
          <p:cNvCxnSpPr>
            <a:cxnSpLocks/>
          </p:cNvCxnSpPr>
          <p:nvPr/>
        </p:nvCxnSpPr>
        <p:spPr>
          <a:xfrm flipV="1">
            <a:off x="6740947" y="31257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9B8B2C8-F50C-A228-BBB3-D1EE337ED2E9}"/>
              </a:ext>
            </a:extLst>
          </p:cNvPr>
          <p:cNvCxnSpPr>
            <a:cxnSpLocks/>
          </p:cNvCxnSpPr>
          <p:nvPr/>
        </p:nvCxnSpPr>
        <p:spPr>
          <a:xfrm flipV="1">
            <a:off x="5126709" y="3125718"/>
            <a:ext cx="3797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9D302F7B-1BF9-4DCD-9AD6-FCE6D82DFC30}"/>
              </a:ext>
            </a:extLst>
          </p:cNvPr>
          <p:cNvCxnSpPr>
            <a:cxnSpLocks/>
          </p:cNvCxnSpPr>
          <p:nvPr/>
        </p:nvCxnSpPr>
        <p:spPr>
          <a:xfrm flipV="1">
            <a:off x="6520366" y="3025454"/>
            <a:ext cx="87106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CA6D5D05-9860-F377-8253-3F5BF8AAA4EC}"/>
              </a:ext>
            </a:extLst>
          </p:cNvPr>
          <p:cNvCxnSpPr>
            <a:cxnSpLocks/>
          </p:cNvCxnSpPr>
          <p:nvPr/>
        </p:nvCxnSpPr>
        <p:spPr>
          <a:xfrm flipV="1">
            <a:off x="6520366" y="2925190"/>
            <a:ext cx="139242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747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863A38CB-F550-1F94-7175-C9F7D492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B8CBBB-F3B3-9BF7-BEA9-0B08C1B45969}"/>
              </a:ext>
            </a:extLst>
          </p:cNvPr>
          <p:cNvSpPr txBox="1"/>
          <p:nvPr/>
        </p:nvSpPr>
        <p:spPr>
          <a:xfrm>
            <a:off x="160421" y="1223210"/>
            <a:ext cx="1190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Realizzare il circuito digitale corrispondente all'espressione logica F, utilizzando esclusivamente porte universali (NOR e NAND):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16CD3F-3AC5-1D92-D10F-000E59FE0B1D}"/>
              </a:ext>
            </a:extLst>
          </p:cNvPr>
          <p:cNvSpPr txBox="1"/>
          <p:nvPr/>
        </p:nvSpPr>
        <p:spPr>
          <a:xfrm>
            <a:off x="3651584" y="2117557"/>
            <a:ext cx="40767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B A </a:t>
            </a:r>
            <a:r>
              <a:rPr lang="it-IT" sz="2400" err="1">
                <a:solidFill>
                  <a:srgbClr val="FF0000"/>
                </a:solidFill>
                <a:ea typeface="Calibri"/>
                <a:cs typeface="Calibri"/>
              </a:rPr>
              <a:t>A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 C</a:t>
            </a:r>
            <a:r>
              <a:rPr lang="it-IT" sz="2400" dirty="0">
                <a:ea typeface="Calibri"/>
                <a:cs typeface="Calibri"/>
              </a:rPr>
              <a:t> + A C + A B C D + A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BCF8DFBD-364D-53D6-2714-26CA613ECEFA}"/>
              </a:ext>
            </a:extLst>
          </p:cNvPr>
          <p:cNvCxnSpPr>
            <a:cxnSpLocks/>
          </p:cNvCxnSpPr>
          <p:nvPr/>
        </p:nvCxnSpPr>
        <p:spPr>
          <a:xfrm flipV="1">
            <a:off x="4184237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0BBD78C-7E72-244E-E184-E7FA9EAA76DC}"/>
              </a:ext>
            </a:extLst>
          </p:cNvPr>
          <p:cNvCxnSpPr>
            <a:cxnSpLocks/>
          </p:cNvCxnSpPr>
          <p:nvPr/>
        </p:nvCxnSpPr>
        <p:spPr>
          <a:xfrm flipV="1">
            <a:off x="4414842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9CBF01E7-0010-81FD-427E-9B1FC9B9C686}"/>
              </a:ext>
            </a:extLst>
          </p:cNvPr>
          <p:cNvCxnSpPr>
            <a:cxnSpLocks/>
          </p:cNvCxnSpPr>
          <p:nvPr/>
        </p:nvCxnSpPr>
        <p:spPr>
          <a:xfrm flipV="1">
            <a:off x="5387394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7A85C61C-7894-9057-A16B-B88573DFA817}"/>
              </a:ext>
            </a:extLst>
          </p:cNvPr>
          <p:cNvCxnSpPr>
            <a:cxnSpLocks/>
          </p:cNvCxnSpPr>
          <p:nvPr/>
        </p:nvCxnSpPr>
        <p:spPr>
          <a:xfrm flipV="1">
            <a:off x="7292394" y="216319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DF9A4CC5-91BF-5B60-EB1E-F9BB6F291E45}"/>
              </a:ext>
            </a:extLst>
          </p:cNvPr>
          <p:cNvCxnSpPr>
            <a:cxnSpLocks/>
          </p:cNvCxnSpPr>
          <p:nvPr/>
        </p:nvCxnSpPr>
        <p:spPr>
          <a:xfrm flipV="1">
            <a:off x="6761000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B157E0B-517C-05CA-613D-749D14EB4A4D}"/>
              </a:ext>
            </a:extLst>
          </p:cNvPr>
          <p:cNvCxnSpPr>
            <a:cxnSpLocks/>
          </p:cNvCxnSpPr>
          <p:nvPr/>
        </p:nvCxnSpPr>
        <p:spPr>
          <a:xfrm flipV="1">
            <a:off x="6089236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508861EC-1123-2965-D7D5-7F8FAA5472E7}"/>
              </a:ext>
            </a:extLst>
          </p:cNvPr>
          <p:cNvCxnSpPr>
            <a:cxnSpLocks/>
          </p:cNvCxnSpPr>
          <p:nvPr/>
        </p:nvCxnSpPr>
        <p:spPr>
          <a:xfrm flipV="1">
            <a:off x="6309816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CD981B92-D2AD-B255-4546-67A1441345D4}"/>
              </a:ext>
            </a:extLst>
          </p:cNvPr>
          <p:cNvCxnSpPr>
            <a:cxnSpLocks/>
          </p:cNvCxnSpPr>
          <p:nvPr/>
        </p:nvCxnSpPr>
        <p:spPr>
          <a:xfrm flipV="1">
            <a:off x="4695578" y="2163192"/>
            <a:ext cx="3797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97FB6115-16A2-73A7-4B11-3C59E886D25C}"/>
              </a:ext>
            </a:extLst>
          </p:cNvPr>
          <p:cNvCxnSpPr>
            <a:cxnSpLocks/>
          </p:cNvCxnSpPr>
          <p:nvPr/>
        </p:nvCxnSpPr>
        <p:spPr>
          <a:xfrm flipV="1">
            <a:off x="6089235" y="2062928"/>
            <a:ext cx="87106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DEDB7FAF-10CC-011F-1B1C-8FABA2A236D3}"/>
              </a:ext>
            </a:extLst>
          </p:cNvPr>
          <p:cNvCxnSpPr>
            <a:cxnSpLocks/>
          </p:cNvCxnSpPr>
          <p:nvPr/>
        </p:nvCxnSpPr>
        <p:spPr>
          <a:xfrm flipV="1">
            <a:off x="6089235" y="1962664"/>
            <a:ext cx="139242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8F7D55D-FED5-DC19-CC66-DF07E28CC423}"/>
              </a:ext>
            </a:extLst>
          </p:cNvPr>
          <p:cNvSpPr txBox="1"/>
          <p:nvPr/>
        </p:nvSpPr>
        <p:spPr>
          <a:xfrm>
            <a:off x="1716506" y="3300663"/>
            <a:ext cx="9079831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B A </a:t>
            </a:r>
            <a:r>
              <a:rPr lang="it-IT" sz="2400" err="1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 C</a:t>
            </a:r>
            <a:r>
              <a:rPr lang="it-IT" sz="2400" dirty="0"/>
              <a:t> = </a:t>
            </a:r>
            <a:r>
              <a:rPr lang="it-IT" sz="2400" dirty="0">
                <a:solidFill>
                  <a:srgbClr val="FF0000"/>
                </a:solidFill>
              </a:rPr>
              <a:t>B A (A+C)</a:t>
            </a:r>
            <a:r>
              <a:rPr lang="it-IT" sz="2400" dirty="0"/>
              <a:t> = B</a:t>
            </a:r>
            <a:r>
              <a:rPr lang="it-IT" sz="2400" dirty="0">
                <a:solidFill>
                  <a:srgbClr val="FF0000"/>
                </a:solidFill>
              </a:rPr>
              <a:t> A </a:t>
            </a:r>
            <a:r>
              <a:rPr lang="it-IT" sz="2400" err="1">
                <a:solidFill>
                  <a:srgbClr val="FF0000"/>
                </a:solidFill>
              </a:rPr>
              <a:t>A</a:t>
            </a:r>
            <a:r>
              <a:rPr lang="it-IT" sz="2400" dirty="0"/>
              <a:t> + B A C = </a:t>
            </a:r>
            <a:r>
              <a:rPr lang="it-IT" sz="2400" dirty="0">
                <a:solidFill>
                  <a:srgbClr val="FF0000"/>
                </a:solidFill>
              </a:rPr>
              <a:t>B A + B A C</a:t>
            </a:r>
            <a:r>
              <a:rPr lang="it-IT" sz="2400" dirty="0"/>
              <a:t> = B A (</a:t>
            </a:r>
            <a:r>
              <a:rPr lang="it-IT" sz="2400" dirty="0">
                <a:solidFill>
                  <a:srgbClr val="FF0000"/>
                </a:solidFill>
              </a:rPr>
              <a:t>1+C</a:t>
            </a:r>
            <a:r>
              <a:rPr lang="it-IT" sz="2400" dirty="0"/>
              <a:t>) = </a:t>
            </a:r>
            <a:r>
              <a:rPr lang="it-IT" sz="2400" dirty="0">
                <a:solidFill>
                  <a:srgbClr val="FF0000"/>
                </a:solidFill>
              </a:rPr>
              <a:t>B A 1</a:t>
            </a:r>
            <a:r>
              <a:rPr lang="it-IT" sz="2400" dirty="0"/>
              <a:t> = BA</a:t>
            </a:r>
            <a:endParaRPr lang="it-IT" dirty="0"/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1A4FDB4E-90BA-63B2-CA92-23D505DC442C}"/>
              </a:ext>
            </a:extLst>
          </p:cNvPr>
          <p:cNvCxnSpPr>
            <a:cxnSpLocks/>
          </p:cNvCxnSpPr>
          <p:nvPr/>
        </p:nvCxnSpPr>
        <p:spPr>
          <a:xfrm flipV="1">
            <a:off x="1789954" y="3338277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8EE96B0B-8965-0BB3-1507-7A6E9A1EF871}"/>
              </a:ext>
            </a:extLst>
          </p:cNvPr>
          <p:cNvCxnSpPr>
            <a:cxnSpLocks/>
          </p:cNvCxnSpPr>
          <p:nvPr/>
        </p:nvCxnSpPr>
        <p:spPr>
          <a:xfrm flipV="1">
            <a:off x="2020559" y="3338277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112DFB34-DC7E-D23C-F529-BDC5D18DAB68}"/>
              </a:ext>
            </a:extLst>
          </p:cNvPr>
          <p:cNvCxnSpPr>
            <a:cxnSpLocks/>
          </p:cNvCxnSpPr>
          <p:nvPr/>
        </p:nvCxnSpPr>
        <p:spPr>
          <a:xfrm flipV="1">
            <a:off x="2301295" y="3338276"/>
            <a:ext cx="3797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BF2F903D-B92E-432D-236B-35C9944E2F70}"/>
              </a:ext>
            </a:extLst>
          </p:cNvPr>
          <p:cNvCxnSpPr>
            <a:cxnSpLocks/>
          </p:cNvCxnSpPr>
          <p:nvPr/>
        </p:nvCxnSpPr>
        <p:spPr>
          <a:xfrm flipV="1">
            <a:off x="2973059" y="3338277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2554C086-2CFF-5A6C-B94C-FF77293E1B96}"/>
              </a:ext>
            </a:extLst>
          </p:cNvPr>
          <p:cNvCxnSpPr>
            <a:cxnSpLocks/>
          </p:cNvCxnSpPr>
          <p:nvPr/>
        </p:nvCxnSpPr>
        <p:spPr>
          <a:xfrm flipV="1">
            <a:off x="3223716" y="33382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85644136-06E8-998D-6A12-A3E177A05224}"/>
              </a:ext>
            </a:extLst>
          </p:cNvPr>
          <p:cNvCxnSpPr>
            <a:cxnSpLocks/>
          </p:cNvCxnSpPr>
          <p:nvPr/>
        </p:nvCxnSpPr>
        <p:spPr>
          <a:xfrm flipV="1">
            <a:off x="3534533" y="3338277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227B3A14-88FF-2AE3-851B-C1BE6BB7933F}"/>
              </a:ext>
            </a:extLst>
          </p:cNvPr>
          <p:cNvCxnSpPr>
            <a:cxnSpLocks/>
          </p:cNvCxnSpPr>
          <p:nvPr/>
        </p:nvCxnSpPr>
        <p:spPr>
          <a:xfrm flipV="1">
            <a:off x="3865401" y="33382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13F1ABA1-E801-773E-FE42-B7116A751CAD}"/>
              </a:ext>
            </a:extLst>
          </p:cNvPr>
          <p:cNvCxnSpPr>
            <a:cxnSpLocks/>
          </p:cNvCxnSpPr>
          <p:nvPr/>
        </p:nvCxnSpPr>
        <p:spPr>
          <a:xfrm flipV="1">
            <a:off x="4426875" y="3328251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6D2390A2-D19E-542D-6C2C-36607A8C253A}"/>
              </a:ext>
            </a:extLst>
          </p:cNvPr>
          <p:cNvCxnSpPr>
            <a:cxnSpLocks/>
          </p:cNvCxnSpPr>
          <p:nvPr/>
        </p:nvCxnSpPr>
        <p:spPr>
          <a:xfrm flipV="1">
            <a:off x="4697585" y="33382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C7E1FD62-1023-FD40-6E16-7EFD170E98F5}"/>
              </a:ext>
            </a:extLst>
          </p:cNvPr>
          <p:cNvCxnSpPr>
            <a:cxnSpLocks/>
          </p:cNvCxnSpPr>
          <p:nvPr/>
        </p:nvCxnSpPr>
        <p:spPr>
          <a:xfrm flipV="1">
            <a:off x="4948243" y="33382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8CA5ACC0-ACF7-6755-8420-75BD0592117C}"/>
              </a:ext>
            </a:extLst>
          </p:cNvPr>
          <p:cNvCxnSpPr>
            <a:cxnSpLocks/>
          </p:cNvCxnSpPr>
          <p:nvPr/>
        </p:nvCxnSpPr>
        <p:spPr>
          <a:xfrm flipV="1">
            <a:off x="5359322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731D64C6-4167-FA7E-3473-A569299D125A}"/>
              </a:ext>
            </a:extLst>
          </p:cNvPr>
          <p:cNvCxnSpPr>
            <a:cxnSpLocks/>
          </p:cNvCxnSpPr>
          <p:nvPr/>
        </p:nvCxnSpPr>
        <p:spPr>
          <a:xfrm flipV="1">
            <a:off x="5630032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8F61106C-9E04-6309-346F-8A15F11C83A5}"/>
              </a:ext>
            </a:extLst>
          </p:cNvPr>
          <p:cNvCxnSpPr>
            <a:cxnSpLocks/>
          </p:cNvCxnSpPr>
          <p:nvPr/>
        </p:nvCxnSpPr>
        <p:spPr>
          <a:xfrm flipV="1">
            <a:off x="5860638" y="3328251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4A7CC9D2-0671-5798-AFF5-66ADB283BEE0}"/>
              </a:ext>
            </a:extLst>
          </p:cNvPr>
          <p:cNvCxnSpPr>
            <a:cxnSpLocks/>
          </p:cNvCxnSpPr>
          <p:nvPr/>
        </p:nvCxnSpPr>
        <p:spPr>
          <a:xfrm flipV="1">
            <a:off x="6311822" y="33382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58AC2C00-6A9D-64CE-382D-808B9BBE529E}"/>
              </a:ext>
            </a:extLst>
          </p:cNvPr>
          <p:cNvCxnSpPr>
            <a:cxnSpLocks/>
          </p:cNvCxnSpPr>
          <p:nvPr/>
        </p:nvCxnSpPr>
        <p:spPr>
          <a:xfrm flipV="1">
            <a:off x="6582533" y="3338277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851D2890-0978-CF18-EC28-F01498630EB9}"/>
              </a:ext>
            </a:extLst>
          </p:cNvPr>
          <p:cNvCxnSpPr>
            <a:cxnSpLocks/>
          </p:cNvCxnSpPr>
          <p:nvPr/>
        </p:nvCxnSpPr>
        <p:spPr>
          <a:xfrm flipV="1">
            <a:off x="6993611" y="33382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F6F49255-F169-7D1D-C70D-2423293D6D2E}"/>
              </a:ext>
            </a:extLst>
          </p:cNvPr>
          <p:cNvCxnSpPr>
            <a:cxnSpLocks/>
          </p:cNvCxnSpPr>
          <p:nvPr/>
        </p:nvCxnSpPr>
        <p:spPr>
          <a:xfrm flipV="1">
            <a:off x="7234243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8421CFD5-0F45-22AE-6BE2-8F6E020FF563}"/>
              </a:ext>
            </a:extLst>
          </p:cNvPr>
          <p:cNvCxnSpPr>
            <a:cxnSpLocks/>
          </p:cNvCxnSpPr>
          <p:nvPr/>
        </p:nvCxnSpPr>
        <p:spPr>
          <a:xfrm flipV="1">
            <a:off x="7484901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0F851A16-4DEB-1F33-5666-3609BDB38F05}"/>
              </a:ext>
            </a:extLst>
          </p:cNvPr>
          <p:cNvCxnSpPr>
            <a:cxnSpLocks/>
          </p:cNvCxnSpPr>
          <p:nvPr/>
        </p:nvCxnSpPr>
        <p:spPr>
          <a:xfrm flipV="1">
            <a:off x="7936085" y="33382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FD0BF724-47F6-F3B9-3290-0675ECC51037}"/>
              </a:ext>
            </a:extLst>
          </p:cNvPr>
          <p:cNvCxnSpPr>
            <a:cxnSpLocks/>
          </p:cNvCxnSpPr>
          <p:nvPr/>
        </p:nvCxnSpPr>
        <p:spPr>
          <a:xfrm flipV="1">
            <a:off x="8186743" y="3328251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BDDAC339-67DE-F45C-EBB3-A02B199C2A5E}"/>
              </a:ext>
            </a:extLst>
          </p:cNvPr>
          <p:cNvCxnSpPr>
            <a:cxnSpLocks/>
          </p:cNvCxnSpPr>
          <p:nvPr/>
        </p:nvCxnSpPr>
        <p:spPr>
          <a:xfrm flipV="1">
            <a:off x="8818401" y="3298171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CB96EBAC-8EAF-07ED-7EF7-252F316AAE32}"/>
              </a:ext>
            </a:extLst>
          </p:cNvPr>
          <p:cNvCxnSpPr>
            <a:cxnSpLocks/>
          </p:cNvCxnSpPr>
          <p:nvPr/>
        </p:nvCxnSpPr>
        <p:spPr>
          <a:xfrm flipV="1">
            <a:off x="9339770" y="3298171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7CB4F5B2-5472-C5D4-554B-C72EB75F3E01}"/>
              </a:ext>
            </a:extLst>
          </p:cNvPr>
          <p:cNvCxnSpPr>
            <a:cxnSpLocks/>
          </p:cNvCxnSpPr>
          <p:nvPr/>
        </p:nvCxnSpPr>
        <p:spPr>
          <a:xfrm flipV="1">
            <a:off x="9610480" y="3298171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86904766-2CD8-A7C7-6AD6-58A39E558BEF}"/>
              </a:ext>
            </a:extLst>
          </p:cNvPr>
          <p:cNvCxnSpPr>
            <a:cxnSpLocks/>
          </p:cNvCxnSpPr>
          <p:nvPr/>
        </p:nvCxnSpPr>
        <p:spPr>
          <a:xfrm flipV="1">
            <a:off x="10282243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60">
            <a:extLst>
              <a:ext uri="{FF2B5EF4-FFF2-40B4-BE49-F238E27FC236}">
                <a16:creationId xmlns:a16="http://schemas.microsoft.com/office/drawing/2014/main" id="{E92680ED-FDC8-7054-43BF-68E8B658B73C}"/>
              </a:ext>
            </a:extLst>
          </p:cNvPr>
          <p:cNvCxnSpPr>
            <a:cxnSpLocks/>
          </p:cNvCxnSpPr>
          <p:nvPr/>
        </p:nvCxnSpPr>
        <p:spPr>
          <a:xfrm flipV="1">
            <a:off x="10452691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79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D5EE1775-5CBE-E81F-E310-5E840C41D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6F7ACDD-3740-151F-BABF-51CFC6723D7F}"/>
              </a:ext>
            </a:extLst>
          </p:cNvPr>
          <p:cNvSpPr txBox="1"/>
          <p:nvPr/>
        </p:nvSpPr>
        <p:spPr>
          <a:xfrm>
            <a:off x="160421" y="1223210"/>
            <a:ext cx="1190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Realizzare il circuito digitale corrispondente all'espressione logica F, utilizzando esclusivamente porte universali (NOR e NAND):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ED86C52-B082-E25A-4682-F7ABF99A5BAC}"/>
              </a:ext>
            </a:extLst>
          </p:cNvPr>
          <p:cNvSpPr txBox="1"/>
          <p:nvPr/>
        </p:nvSpPr>
        <p:spPr>
          <a:xfrm>
            <a:off x="3651584" y="2117557"/>
            <a:ext cx="40767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B A </a:t>
            </a:r>
            <a:r>
              <a:rPr lang="it-IT" sz="2400" err="1">
                <a:ea typeface="Calibri"/>
                <a:cs typeface="Calibri"/>
              </a:rPr>
              <a:t>A</a:t>
            </a:r>
            <a:r>
              <a:rPr lang="it-IT" sz="2400" dirty="0">
                <a:ea typeface="Calibri"/>
                <a:cs typeface="Calibri"/>
              </a:rPr>
              <a:t> C + A C +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B C D + A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F88A9A9-C8CB-24EC-787D-04E0E98F6E17}"/>
              </a:ext>
            </a:extLst>
          </p:cNvPr>
          <p:cNvCxnSpPr>
            <a:cxnSpLocks/>
          </p:cNvCxnSpPr>
          <p:nvPr/>
        </p:nvCxnSpPr>
        <p:spPr>
          <a:xfrm flipV="1">
            <a:off x="4184237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13BCC221-5B71-135B-AFDA-359CC714A208}"/>
              </a:ext>
            </a:extLst>
          </p:cNvPr>
          <p:cNvCxnSpPr>
            <a:cxnSpLocks/>
          </p:cNvCxnSpPr>
          <p:nvPr/>
        </p:nvCxnSpPr>
        <p:spPr>
          <a:xfrm flipV="1">
            <a:off x="4414842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EE24FB74-5CAD-E9B3-A48B-FFDDFD7D14E6}"/>
              </a:ext>
            </a:extLst>
          </p:cNvPr>
          <p:cNvCxnSpPr>
            <a:cxnSpLocks/>
          </p:cNvCxnSpPr>
          <p:nvPr/>
        </p:nvCxnSpPr>
        <p:spPr>
          <a:xfrm flipV="1">
            <a:off x="5387394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EE9CEF36-F803-A546-48E8-433B7936E2A2}"/>
              </a:ext>
            </a:extLst>
          </p:cNvPr>
          <p:cNvCxnSpPr>
            <a:cxnSpLocks/>
          </p:cNvCxnSpPr>
          <p:nvPr/>
        </p:nvCxnSpPr>
        <p:spPr>
          <a:xfrm flipV="1">
            <a:off x="7292394" y="216319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BF29C6F-0AF4-FB99-54E6-A8D90AAD0DDF}"/>
              </a:ext>
            </a:extLst>
          </p:cNvPr>
          <p:cNvCxnSpPr>
            <a:cxnSpLocks/>
          </p:cNvCxnSpPr>
          <p:nvPr/>
        </p:nvCxnSpPr>
        <p:spPr>
          <a:xfrm flipV="1">
            <a:off x="6761000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78C65798-2688-E900-D9A4-49034D974CDA}"/>
              </a:ext>
            </a:extLst>
          </p:cNvPr>
          <p:cNvCxnSpPr>
            <a:cxnSpLocks/>
          </p:cNvCxnSpPr>
          <p:nvPr/>
        </p:nvCxnSpPr>
        <p:spPr>
          <a:xfrm flipV="1">
            <a:off x="6089236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6AA646A9-673D-8C9C-1CC7-5100318A5FFD}"/>
              </a:ext>
            </a:extLst>
          </p:cNvPr>
          <p:cNvCxnSpPr>
            <a:cxnSpLocks/>
          </p:cNvCxnSpPr>
          <p:nvPr/>
        </p:nvCxnSpPr>
        <p:spPr>
          <a:xfrm flipV="1">
            <a:off x="6309816" y="216319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84951539-33A5-A3EC-ADB8-B1641521F218}"/>
              </a:ext>
            </a:extLst>
          </p:cNvPr>
          <p:cNvCxnSpPr>
            <a:cxnSpLocks/>
          </p:cNvCxnSpPr>
          <p:nvPr/>
        </p:nvCxnSpPr>
        <p:spPr>
          <a:xfrm flipV="1">
            <a:off x="4695578" y="2163192"/>
            <a:ext cx="3797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53EF2C4-0EED-A981-6FE5-DC400BA5F562}"/>
              </a:ext>
            </a:extLst>
          </p:cNvPr>
          <p:cNvCxnSpPr>
            <a:cxnSpLocks/>
          </p:cNvCxnSpPr>
          <p:nvPr/>
        </p:nvCxnSpPr>
        <p:spPr>
          <a:xfrm flipV="1">
            <a:off x="6089235" y="2062928"/>
            <a:ext cx="87106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B2E47E34-14EA-BF80-AC23-0F504E6D5C12}"/>
              </a:ext>
            </a:extLst>
          </p:cNvPr>
          <p:cNvCxnSpPr>
            <a:cxnSpLocks/>
          </p:cNvCxnSpPr>
          <p:nvPr/>
        </p:nvCxnSpPr>
        <p:spPr>
          <a:xfrm flipV="1">
            <a:off x="6089235" y="1962664"/>
            <a:ext cx="139242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1E31108-C3BB-F17F-4FCD-1963BF4941F1}"/>
              </a:ext>
            </a:extLst>
          </p:cNvPr>
          <p:cNvSpPr txBox="1"/>
          <p:nvPr/>
        </p:nvSpPr>
        <p:spPr>
          <a:xfrm>
            <a:off x="2029326" y="3292642"/>
            <a:ext cx="8287754" cy="471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 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B C D</a:t>
            </a:r>
            <a:r>
              <a:rPr lang="it-IT" sz="2400" dirty="0">
                <a:ea typeface="Calibri"/>
                <a:cs typeface="Calibri"/>
              </a:rPr>
              <a:t> + A 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</a:t>
            </a:r>
            <a:r>
              <a:rPr lang="it-IT" sz="2400" dirty="0">
                <a:ea typeface="Calibri"/>
                <a:cs typeface="Calibri"/>
              </a:rPr>
              <a:t> + B + C + D +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</a:t>
            </a:r>
            <a:r>
              <a:rPr lang="it-IT" sz="2400" dirty="0">
                <a:ea typeface="Calibri"/>
                <a:cs typeface="Calibri"/>
              </a:rPr>
              <a:t>= (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A+A</a:t>
            </a:r>
            <a:r>
              <a:rPr lang="it-IT" sz="2400" dirty="0">
                <a:ea typeface="Calibri"/>
                <a:cs typeface="Calibri"/>
              </a:rPr>
              <a:t>) + C + D 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1 + C + D </a:t>
            </a:r>
            <a:r>
              <a:rPr lang="it-IT" sz="2400" dirty="0">
                <a:ea typeface="Calibri"/>
                <a:cs typeface="Calibri"/>
              </a:rPr>
              <a:t>= 1 = 0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0ECF77B3-FF1B-1BA7-890A-627C7A2EE055}"/>
              </a:ext>
            </a:extLst>
          </p:cNvPr>
          <p:cNvCxnSpPr>
            <a:cxnSpLocks/>
          </p:cNvCxnSpPr>
          <p:nvPr/>
        </p:nvCxnSpPr>
        <p:spPr>
          <a:xfrm flipV="1">
            <a:off x="3404189" y="3348303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03EB9FAE-A724-68C4-EED7-A0E2A1B032EB}"/>
              </a:ext>
            </a:extLst>
          </p:cNvPr>
          <p:cNvCxnSpPr>
            <a:cxnSpLocks/>
          </p:cNvCxnSpPr>
          <p:nvPr/>
        </p:nvCxnSpPr>
        <p:spPr>
          <a:xfrm flipV="1">
            <a:off x="2872795" y="3348304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35BB9A8C-A177-9AB5-D839-F7DD0850757B}"/>
              </a:ext>
            </a:extLst>
          </p:cNvPr>
          <p:cNvCxnSpPr>
            <a:cxnSpLocks/>
          </p:cNvCxnSpPr>
          <p:nvPr/>
        </p:nvCxnSpPr>
        <p:spPr>
          <a:xfrm flipV="1">
            <a:off x="2201031" y="3348304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7FDBA750-5342-84D1-2F5D-BF9323290EB7}"/>
              </a:ext>
            </a:extLst>
          </p:cNvPr>
          <p:cNvCxnSpPr>
            <a:cxnSpLocks/>
          </p:cNvCxnSpPr>
          <p:nvPr/>
        </p:nvCxnSpPr>
        <p:spPr>
          <a:xfrm flipV="1">
            <a:off x="2421611" y="3348304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6778CC7F-0B97-BEB7-F0CE-33754179D2F6}"/>
              </a:ext>
            </a:extLst>
          </p:cNvPr>
          <p:cNvCxnSpPr>
            <a:cxnSpLocks/>
          </p:cNvCxnSpPr>
          <p:nvPr/>
        </p:nvCxnSpPr>
        <p:spPr>
          <a:xfrm flipV="1">
            <a:off x="2201030" y="3248038"/>
            <a:ext cx="87106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1BDC213F-FC2A-09AD-F2EF-8D3A10BBF9D7}"/>
              </a:ext>
            </a:extLst>
          </p:cNvPr>
          <p:cNvCxnSpPr>
            <a:cxnSpLocks/>
          </p:cNvCxnSpPr>
          <p:nvPr/>
        </p:nvCxnSpPr>
        <p:spPr>
          <a:xfrm flipV="1">
            <a:off x="2201030" y="3147775"/>
            <a:ext cx="139242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7846012A-D2E1-D15B-20E7-590AEEA7EEFD}"/>
              </a:ext>
            </a:extLst>
          </p:cNvPr>
          <p:cNvCxnSpPr>
            <a:cxnSpLocks/>
          </p:cNvCxnSpPr>
          <p:nvPr/>
        </p:nvCxnSpPr>
        <p:spPr>
          <a:xfrm flipV="1">
            <a:off x="4757741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56942C74-FE8C-609D-2E9B-4B11F0308D71}"/>
              </a:ext>
            </a:extLst>
          </p:cNvPr>
          <p:cNvCxnSpPr>
            <a:cxnSpLocks/>
          </p:cNvCxnSpPr>
          <p:nvPr/>
        </p:nvCxnSpPr>
        <p:spPr>
          <a:xfrm flipV="1">
            <a:off x="5720267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28EE08BD-B84A-4CA9-A52F-1E2A1EDB1330}"/>
              </a:ext>
            </a:extLst>
          </p:cNvPr>
          <p:cNvCxnSpPr>
            <a:cxnSpLocks/>
          </p:cNvCxnSpPr>
          <p:nvPr/>
        </p:nvCxnSpPr>
        <p:spPr>
          <a:xfrm flipV="1">
            <a:off x="3835319" y="3248038"/>
            <a:ext cx="202408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DC605015-81CB-989E-7F51-E9D8C5C2EDEE}"/>
              </a:ext>
            </a:extLst>
          </p:cNvPr>
          <p:cNvCxnSpPr>
            <a:cxnSpLocks/>
          </p:cNvCxnSpPr>
          <p:nvPr/>
        </p:nvCxnSpPr>
        <p:spPr>
          <a:xfrm flipV="1">
            <a:off x="6602583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A9C9DBC1-7B46-A54D-FD8B-BEFD5DDFB736}"/>
              </a:ext>
            </a:extLst>
          </p:cNvPr>
          <p:cNvCxnSpPr>
            <a:cxnSpLocks/>
          </p:cNvCxnSpPr>
          <p:nvPr/>
        </p:nvCxnSpPr>
        <p:spPr>
          <a:xfrm flipV="1">
            <a:off x="7164057" y="3328250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82954879-6D79-92F6-50A9-A2D5C2DD8585}"/>
              </a:ext>
            </a:extLst>
          </p:cNvPr>
          <p:cNvCxnSpPr>
            <a:cxnSpLocks/>
          </p:cNvCxnSpPr>
          <p:nvPr/>
        </p:nvCxnSpPr>
        <p:spPr>
          <a:xfrm flipV="1">
            <a:off x="6231608" y="3248038"/>
            <a:ext cx="154282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E0A22725-7859-869E-9645-BCC86412E85D}"/>
              </a:ext>
            </a:extLst>
          </p:cNvPr>
          <p:cNvCxnSpPr>
            <a:cxnSpLocks/>
          </p:cNvCxnSpPr>
          <p:nvPr/>
        </p:nvCxnSpPr>
        <p:spPr>
          <a:xfrm flipV="1">
            <a:off x="8006266" y="3248037"/>
            <a:ext cx="110166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01380D4A-BB10-9B0E-BA18-77196BE31956}"/>
              </a:ext>
            </a:extLst>
          </p:cNvPr>
          <p:cNvCxnSpPr>
            <a:cxnSpLocks/>
          </p:cNvCxnSpPr>
          <p:nvPr/>
        </p:nvCxnSpPr>
        <p:spPr>
          <a:xfrm flipV="1">
            <a:off x="8487530" y="334830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75AEFC9B-CD5D-A6E3-AED4-75A915C9D5BA}"/>
              </a:ext>
            </a:extLst>
          </p:cNvPr>
          <p:cNvCxnSpPr>
            <a:cxnSpLocks/>
          </p:cNvCxnSpPr>
          <p:nvPr/>
        </p:nvCxnSpPr>
        <p:spPr>
          <a:xfrm flipV="1">
            <a:off x="9430004" y="332824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456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2D5685A6-CED3-C9C0-C768-6E28ACC9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F48DDDE-BF8F-B64C-5A85-1EFFAC174564}"/>
              </a:ext>
            </a:extLst>
          </p:cNvPr>
          <p:cNvSpPr txBox="1"/>
          <p:nvPr/>
        </p:nvSpPr>
        <p:spPr>
          <a:xfrm>
            <a:off x="160421" y="1223210"/>
            <a:ext cx="1190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Realizzare il circuito digitale corrispondente all'espressione logica F, utilizzando esclusivamente porte universali (NOR e NAND):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DE75BE0-5E2F-1935-8921-F401644AD6CF}"/>
              </a:ext>
            </a:extLst>
          </p:cNvPr>
          <p:cNvSpPr txBox="1"/>
          <p:nvPr/>
        </p:nvSpPr>
        <p:spPr>
          <a:xfrm>
            <a:off x="4443663" y="1967162"/>
            <a:ext cx="22920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B A + A C + 0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9106DCF-4FF9-4EA1-EA64-33BC54E34FE8}"/>
              </a:ext>
            </a:extLst>
          </p:cNvPr>
          <p:cNvCxnSpPr>
            <a:cxnSpLocks/>
          </p:cNvCxnSpPr>
          <p:nvPr/>
        </p:nvCxnSpPr>
        <p:spPr>
          <a:xfrm flipV="1">
            <a:off x="4976315" y="2012798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5AC0353-115E-A53B-BA36-D89F3A547CF6}"/>
              </a:ext>
            </a:extLst>
          </p:cNvPr>
          <p:cNvCxnSpPr>
            <a:cxnSpLocks/>
          </p:cNvCxnSpPr>
          <p:nvPr/>
        </p:nvCxnSpPr>
        <p:spPr>
          <a:xfrm flipV="1">
            <a:off x="5206921" y="2012798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EC88A1FB-D629-BE73-BF4E-371525581B1E}"/>
              </a:ext>
            </a:extLst>
          </p:cNvPr>
          <p:cNvCxnSpPr>
            <a:cxnSpLocks/>
          </p:cNvCxnSpPr>
          <p:nvPr/>
        </p:nvCxnSpPr>
        <p:spPr>
          <a:xfrm flipV="1">
            <a:off x="5668130" y="2012798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F6BB5B38-77F2-F8CB-DF2C-11F6CE2A4BDD}"/>
              </a:ext>
            </a:extLst>
          </p:cNvPr>
          <p:cNvSpPr txBox="1"/>
          <p:nvPr/>
        </p:nvSpPr>
        <p:spPr>
          <a:xfrm>
            <a:off x="2709110" y="3471109"/>
            <a:ext cx="65231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B A + A C + 0 = B A + A C = A B + A C = </a:t>
            </a:r>
            <a:r>
              <a:rPr lang="it-IT" sz="2400" dirty="0">
                <a:solidFill>
                  <a:srgbClr val="FF0000"/>
                </a:solidFill>
                <a:ea typeface="Calibri"/>
                <a:cs typeface="Calibri"/>
              </a:rPr>
              <a:t>A (B+C)</a:t>
            </a:r>
          </a:p>
        </p:txBody>
      </p:sp>
      <p:cxnSp>
        <p:nvCxnSpPr>
          <p:cNvPr id="61" name="Connettore 2 60">
            <a:extLst>
              <a:ext uri="{FF2B5EF4-FFF2-40B4-BE49-F238E27FC236}">
                <a16:creationId xmlns:a16="http://schemas.microsoft.com/office/drawing/2014/main" id="{83D2BE97-6F65-ED36-EEB3-664A57115EBD}"/>
              </a:ext>
            </a:extLst>
          </p:cNvPr>
          <p:cNvCxnSpPr>
            <a:cxnSpLocks/>
          </p:cNvCxnSpPr>
          <p:nvPr/>
        </p:nvCxnSpPr>
        <p:spPr>
          <a:xfrm flipV="1">
            <a:off x="3251788" y="3516745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9207E229-BDE6-E37F-62FA-8E92285DC5F5}"/>
              </a:ext>
            </a:extLst>
          </p:cNvPr>
          <p:cNvCxnSpPr>
            <a:cxnSpLocks/>
          </p:cNvCxnSpPr>
          <p:nvPr/>
        </p:nvCxnSpPr>
        <p:spPr>
          <a:xfrm flipV="1">
            <a:off x="3482394" y="3516745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1CA60377-7A2E-7435-2B23-4C7FEB359BCB}"/>
              </a:ext>
            </a:extLst>
          </p:cNvPr>
          <p:cNvCxnSpPr>
            <a:cxnSpLocks/>
          </p:cNvCxnSpPr>
          <p:nvPr/>
        </p:nvCxnSpPr>
        <p:spPr>
          <a:xfrm flipV="1">
            <a:off x="3943603" y="3516745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2 63">
            <a:extLst>
              <a:ext uri="{FF2B5EF4-FFF2-40B4-BE49-F238E27FC236}">
                <a16:creationId xmlns:a16="http://schemas.microsoft.com/office/drawing/2014/main" id="{35F9A5ED-B48E-94E9-2C97-24AF073FC39C}"/>
              </a:ext>
            </a:extLst>
          </p:cNvPr>
          <p:cNvCxnSpPr>
            <a:cxnSpLocks/>
          </p:cNvCxnSpPr>
          <p:nvPr/>
        </p:nvCxnSpPr>
        <p:spPr>
          <a:xfrm flipV="1">
            <a:off x="5086603" y="3516745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2E529269-C3CF-477B-A620-5D8813FB529F}"/>
              </a:ext>
            </a:extLst>
          </p:cNvPr>
          <p:cNvCxnSpPr>
            <a:cxnSpLocks/>
          </p:cNvCxnSpPr>
          <p:nvPr/>
        </p:nvCxnSpPr>
        <p:spPr>
          <a:xfrm flipV="1">
            <a:off x="5317209" y="3516745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65">
            <a:extLst>
              <a:ext uri="{FF2B5EF4-FFF2-40B4-BE49-F238E27FC236}">
                <a16:creationId xmlns:a16="http://schemas.microsoft.com/office/drawing/2014/main" id="{241FCB9C-F646-FDE1-1F15-AF1262CB9788}"/>
              </a:ext>
            </a:extLst>
          </p:cNvPr>
          <p:cNvCxnSpPr>
            <a:cxnSpLocks/>
          </p:cNvCxnSpPr>
          <p:nvPr/>
        </p:nvCxnSpPr>
        <p:spPr>
          <a:xfrm flipV="1">
            <a:off x="5778418" y="3516745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B4BF0FD6-2E1B-AD56-4575-154114EA6432}"/>
              </a:ext>
            </a:extLst>
          </p:cNvPr>
          <p:cNvCxnSpPr>
            <a:cxnSpLocks/>
          </p:cNvCxnSpPr>
          <p:nvPr/>
        </p:nvCxnSpPr>
        <p:spPr>
          <a:xfrm flipV="1">
            <a:off x="6490287" y="349669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7F6AF33B-DD3F-B819-73EB-06587D451B78}"/>
              </a:ext>
            </a:extLst>
          </p:cNvPr>
          <p:cNvCxnSpPr>
            <a:cxnSpLocks/>
          </p:cNvCxnSpPr>
          <p:nvPr/>
        </p:nvCxnSpPr>
        <p:spPr>
          <a:xfrm flipV="1">
            <a:off x="6720893" y="349669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D07CC0D5-A867-23E4-AB22-6D1BC14CD736}"/>
              </a:ext>
            </a:extLst>
          </p:cNvPr>
          <p:cNvCxnSpPr>
            <a:cxnSpLocks/>
          </p:cNvCxnSpPr>
          <p:nvPr/>
        </p:nvCxnSpPr>
        <p:spPr>
          <a:xfrm flipV="1">
            <a:off x="7182102" y="349669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F9F9814A-7A34-7A82-F25B-652CB0EE683F}"/>
              </a:ext>
            </a:extLst>
          </p:cNvPr>
          <p:cNvCxnSpPr>
            <a:cxnSpLocks/>
          </p:cNvCxnSpPr>
          <p:nvPr/>
        </p:nvCxnSpPr>
        <p:spPr>
          <a:xfrm flipV="1">
            <a:off x="7873919" y="3506718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3159831C-DDBB-5C24-7159-FE297766CCA2}"/>
              </a:ext>
            </a:extLst>
          </p:cNvPr>
          <p:cNvCxnSpPr>
            <a:cxnSpLocks/>
          </p:cNvCxnSpPr>
          <p:nvPr/>
        </p:nvCxnSpPr>
        <p:spPr>
          <a:xfrm flipV="1">
            <a:off x="8194762" y="349669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897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2FDBC40C-8299-82F9-8134-55599E84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75944CB-5112-D7ED-E1CC-20B93655F076}"/>
              </a:ext>
            </a:extLst>
          </p:cNvPr>
          <p:cNvSpPr txBox="1"/>
          <p:nvPr/>
        </p:nvSpPr>
        <p:spPr>
          <a:xfrm>
            <a:off x="160421" y="1223210"/>
            <a:ext cx="1190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Realizzare il circuito digitale corrispondente all'espressione logica F, utilizzando esclusivamente porte universali (NOR e NAND):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DD5C590-485E-98DB-68E1-6BF44BD24E83}"/>
              </a:ext>
            </a:extLst>
          </p:cNvPr>
          <p:cNvSpPr txBox="1"/>
          <p:nvPr/>
        </p:nvSpPr>
        <p:spPr>
          <a:xfrm>
            <a:off x="4774531" y="1796714"/>
            <a:ext cx="16102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A (B+C)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67D9D85D-B850-F6D7-E80C-44A4351AFBA9}"/>
              </a:ext>
            </a:extLst>
          </p:cNvPr>
          <p:cNvCxnSpPr>
            <a:cxnSpLocks/>
          </p:cNvCxnSpPr>
          <p:nvPr/>
        </p:nvCxnSpPr>
        <p:spPr>
          <a:xfrm flipV="1">
            <a:off x="5297156" y="17922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DBB16F-E6D8-A815-72A3-7B59A143DB00}"/>
              </a:ext>
            </a:extLst>
          </p:cNvPr>
          <p:cNvCxnSpPr>
            <a:cxnSpLocks/>
          </p:cNvCxnSpPr>
          <p:nvPr/>
        </p:nvCxnSpPr>
        <p:spPr>
          <a:xfrm flipV="1">
            <a:off x="5658103" y="17922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362C405-41AF-C79E-B567-1A7FDFC30613}"/>
              </a:ext>
            </a:extLst>
          </p:cNvPr>
          <p:cNvSpPr txBox="1"/>
          <p:nvPr/>
        </p:nvSpPr>
        <p:spPr>
          <a:xfrm>
            <a:off x="2336131" y="2636921"/>
            <a:ext cx="7138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Si vogliono utilizzare le porte NOR. Risulta conveniente eliminare gli AND.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5E0515B-6FF7-0A20-7764-8633255FD64A}"/>
              </a:ext>
            </a:extLst>
          </p:cNvPr>
          <p:cNvSpPr txBox="1"/>
          <p:nvPr/>
        </p:nvSpPr>
        <p:spPr>
          <a:xfrm>
            <a:off x="4152899" y="3721766"/>
            <a:ext cx="31342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A (B+C) = A + B + C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4CFC479-2D3B-59B8-8BE5-06F1CB91DE4D}"/>
              </a:ext>
            </a:extLst>
          </p:cNvPr>
          <p:cNvCxnSpPr>
            <a:cxnSpLocks/>
          </p:cNvCxnSpPr>
          <p:nvPr/>
        </p:nvCxnSpPr>
        <p:spPr>
          <a:xfrm flipV="1">
            <a:off x="4675525" y="3717271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BCD10C5D-4388-D738-340B-A568F51703FE}"/>
              </a:ext>
            </a:extLst>
          </p:cNvPr>
          <p:cNvCxnSpPr>
            <a:cxnSpLocks/>
          </p:cNvCxnSpPr>
          <p:nvPr/>
        </p:nvCxnSpPr>
        <p:spPr>
          <a:xfrm flipV="1">
            <a:off x="5036471" y="3717271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65FA42C3-8180-779E-9A1A-81899E9790EA}"/>
              </a:ext>
            </a:extLst>
          </p:cNvPr>
          <p:cNvCxnSpPr>
            <a:cxnSpLocks/>
          </p:cNvCxnSpPr>
          <p:nvPr/>
        </p:nvCxnSpPr>
        <p:spPr>
          <a:xfrm flipV="1">
            <a:off x="6359946" y="37573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052C6620-78CE-9144-B897-B939E26BF8BB}"/>
              </a:ext>
            </a:extLst>
          </p:cNvPr>
          <p:cNvCxnSpPr>
            <a:cxnSpLocks/>
          </p:cNvCxnSpPr>
          <p:nvPr/>
        </p:nvCxnSpPr>
        <p:spPr>
          <a:xfrm flipV="1">
            <a:off x="6359945" y="3687191"/>
            <a:ext cx="56024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FFFEE033-B144-934F-B3BD-CFEBF6FD5535}"/>
              </a:ext>
            </a:extLst>
          </p:cNvPr>
          <p:cNvCxnSpPr>
            <a:cxnSpLocks/>
          </p:cNvCxnSpPr>
          <p:nvPr/>
        </p:nvCxnSpPr>
        <p:spPr>
          <a:xfrm flipV="1">
            <a:off x="5868655" y="3617006"/>
            <a:ext cx="105153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178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65D3231E-4879-B405-C706-13207C11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C90C4D4-EBBA-D923-2259-423967859B99}"/>
              </a:ext>
            </a:extLst>
          </p:cNvPr>
          <p:cNvSpPr txBox="1"/>
          <p:nvPr/>
        </p:nvSpPr>
        <p:spPr>
          <a:xfrm>
            <a:off x="160421" y="1223210"/>
            <a:ext cx="1190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Realizzare il circuito digitale corrispondente all'espressione logica F, utilizzando esclusivamente porte universali (NOR e NAND):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CA6A4DE-7BD6-D7E3-C7A7-BDB1D5DD7DD8}"/>
              </a:ext>
            </a:extLst>
          </p:cNvPr>
          <p:cNvSpPr txBox="1"/>
          <p:nvPr/>
        </p:nvSpPr>
        <p:spPr>
          <a:xfrm>
            <a:off x="4463715" y="1736555"/>
            <a:ext cx="31342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 A + B + C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8E2318EE-3BAA-32A6-4A63-D912452E33B9}"/>
              </a:ext>
            </a:extLst>
          </p:cNvPr>
          <p:cNvCxnSpPr>
            <a:cxnSpLocks/>
          </p:cNvCxnSpPr>
          <p:nvPr/>
        </p:nvCxnSpPr>
        <p:spPr>
          <a:xfrm flipV="1">
            <a:off x="5457578" y="1762138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0005A347-EE7C-3C21-7930-941A4F61E0B3}"/>
              </a:ext>
            </a:extLst>
          </p:cNvPr>
          <p:cNvCxnSpPr>
            <a:cxnSpLocks/>
          </p:cNvCxnSpPr>
          <p:nvPr/>
        </p:nvCxnSpPr>
        <p:spPr>
          <a:xfrm flipV="1">
            <a:off x="5457577" y="1712006"/>
            <a:ext cx="56024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8E95FD6-7A60-BFE6-0E0F-C79E3BB4F9E7}"/>
              </a:ext>
            </a:extLst>
          </p:cNvPr>
          <p:cNvCxnSpPr>
            <a:cxnSpLocks/>
          </p:cNvCxnSpPr>
          <p:nvPr/>
        </p:nvCxnSpPr>
        <p:spPr>
          <a:xfrm flipV="1">
            <a:off x="4976313" y="1631795"/>
            <a:ext cx="1051534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magine 19" descr="Immagine che contiene diagramma, schizzo, Line art, design&#10;&#10;Descrizione generata automaticamente">
            <a:extLst>
              <a:ext uri="{FF2B5EF4-FFF2-40B4-BE49-F238E27FC236}">
                <a16:creationId xmlns:a16="http://schemas.microsoft.com/office/drawing/2014/main" id="{F59B909D-E1C4-79C4-9F72-E1DB7A482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16" y="2609955"/>
            <a:ext cx="8141368" cy="2991642"/>
          </a:xfrm>
          <a:prstGeom prst="rect">
            <a:avLst/>
          </a:prstGeom>
        </p:spPr>
      </p:pic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08901DE0-EF9D-A1C8-DC4B-57DC3100060A}"/>
              </a:ext>
            </a:extLst>
          </p:cNvPr>
          <p:cNvCxnSpPr/>
          <p:nvPr/>
        </p:nvCxnSpPr>
        <p:spPr>
          <a:xfrm flipH="1" flipV="1">
            <a:off x="7555832" y="4878805"/>
            <a:ext cx="8021" cy="44917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77D3F94-D44A-6B5A-EBC3-E88D0042D697}"/>
              </a:ext>
            </a:extLst>
          </p:cNvPr>
          <p:cNvCxnSpPr>
            <a:cxnSpLocks/>
          </p:cNvCxnSpPr>
          <p:nvPr/>
        </p:nvCxnSpPr>
        <p:spPr>
          <a:xfrm flipH="1" flipV="1">
            <a:off x="2342147" y="3054015"/>
            <a:ext cx="8021" cy="569494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33A502D3-65C8-CF2A-8616-B41D68C6E882}"/>
              </a:ext>
            </a:extLst>
          </p:cNvPr>
          <p:cNvCxnSpPr>
            <a:cxnSpLocks/>
          </p:cNvCxnSpPr>
          <p:nvPr/>
        </p:nvCxnSpPr>
        <p:spPr>
          <a:xfrm flipV="1">
            <a:off x="1888958" y="4608093"/>
            <a:ext cx="3350794" cy="28073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DFA79B8D-AA26-6EC3-2190-2326615C1B9B}"/>
              </a:ext>
            </a:extLst>
          </p:cNvPr>
          <p:cNvCxnSpPr>
            <a:cxnSpLocks/>
          </p:cNvCxnSpPr>
          <p:nvPr/>
        </p:nvCxnSpPr>
        <p:spPr>
          <a:xfrm flipH="1">
            <a:off x="1800725" y="3352797"/>
            <a:ext cx="559468" cy="2005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0A3D2F1-5C97-8DC7-E1BF-28BCA5357DAE}"/>
              </a:ext>
            </a:extLst>
          </p:cNvPr>
          <p:cNvCxnSpPr>
            <a:cxnSpLocks/>
          </p:cNvCxnSpPr>
          <p:nvPr/>
        </p:nvCxnSpPr>
        <p:spPr>
          <a:xfrm flipV="1">
            <a:off x="1778668" y="5319961"/>
            <a:ext cx="5817267" cy="1804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nettore 25">
            <a:extLst>
              <a:ext uri="{FF2B5EF4-FFF2-40B4-BE49-F238E27FC236}">
                <a16:creationId xmlns:a16="http://schemas.microsoft.com/office/drawing/2014/main" id="{7DF8D9ED-F4B5-38F5-25C9-3332696C43AB}"/>
              </a:ext>
            </a:extLst>
          </p:cNvPr>
          <p:cNvSpPr/>
          <p:nvPr/>
        </p:nvSpPr>
        <p:spPr>
          <a:xfrm>
            <a:off x="2275973" y="3298658"/>
            <a:ext cx="130342" cy="120315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3297372E-0E16-373C-ACC2-0C3BB49D82AD}"/>
              </a:ext>
            </a:extLst>
          </p:cNvPr>
          <p:cNvSpPr txBox="1"/>
          <p:nvPr/>
        </p:nvSpPr>
        <p:spPr>
          <a:xfrm>
            <a:off x="1375611" y="5095374"/>
            <a:ext cx="397043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/>
              <a:t>A</a:t>
            </a:r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F78E8255-2589-78C2-441F-C86A94F42596}"/>
              </a:ext>
            </a:extLst>
          </p:cNvPr>
          <p:cNvSpPr txBox="1"/>
          <p:nvPr/>
        </p:nvSpPr>
        <p:spPr>
          <a:xfrm>
            <a:off x="1405690" y="4413584"/>
            <a:ext cx="397043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C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D283672-87CE-E444-DCC7-108BA54203F9}"/>
              </a:ext>
            </a:extLst>
          </p:cNvPr>
          <p:cNvSpPr txBox="1"/>
          <p:nvPr/>
        </p:nvSpPr>
        <p:spPr>
          <a:xfrm>
            <a:off x="1335506" y="3130215"/>
            <a:ext cx="397043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B</a:t>
            </a:r>
            <a:endParaRPr lang="it-IT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3A4C383-CD33-1E46-1587-E6138FFEEF06}"/>
              </a:ext>
            </a:extLst>
          </p:cNvPr>
          <p:cNvSpPr txBox="1"/>
          <p:nvPr/>
        </p:nvSpPr>
        <p:spPr>
          <a:xfrm>
            <a:off x="9918032" y="4383505"/>
            <a:ext cx="457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/>
              <a:t>F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929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54DFFCF0-36FD-268C-B13C-8448D595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1819A15-9A73-61E2-F34B-3077A43FCE99}"/>
              </a:ext>
            </a:extLst>
          </p:cNvPr>
          <p:cNvSpPr txBox="1"/>
          <p:nvPr/>
        </p:nvSpPr>
        <p:spPr>
          <a:xfrm>
            <a:off x="160421" y="1223210"/>
            <a:ext cx="1190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Realizzare il circuito digitale corrispondente all'espressione logica F, utilizzando esclusivamente porte universali (NOR e NAND):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E5D790E-5750-C02A-5D92-D636D0045EBF}"/>
              </a:ext>
            </a:extLst>
          </p:cNvPr>
          <p:cNvSpPr txBox="1"/>
          <p:nvPr/>
        </p:nvSpPr>
        <p:spPr>
          <a:xfrm>
            <a:off x="4774531" y="1796714"/>
            <a:ext cx="16102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A (B+C)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AAFEB975-48DD-63FE-A5C7-2DA2DA0075FB}"/>
              </a:ext>
            </a:extLst>
          </p:cNvPr>
          <p:cNvCxnSpPr>
            <a:cxnSpLocks/>
          </p:cNvCxnSpPr>
          <p:nvPr/>
        </p:nvCxnSpPr>
        <p:spPr>
          <a:xfrm flipV="1">
            <a:off x="5297156" y="17922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EC467CF-CFFC-1A1E-735C-F0B54B79C57C}"/>
              </a:ext>
            </a:extLst>
          </p:cNvPr>
          <p:cNvCxnSpPr>
            <a:cxnSpLocks/>
          </p:cNvCxnSpPr>
          <p:nvPr/>
        </p:nvCxnSpPr>
        <p:spPr>
          <a:xfrm flipV="1">
            <a:off x="5658103" y="1792219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79BAC45-2E4B-6822-7B7A-E84029A09D2E}"/>
              </a:ext>
            </a:extLst>
          </p:cNvPr>
          <p:cNvSpPr txBox="1"/>
          <p:nvPr/>
        </p:nvSpPr>
        <p:spPr>
          <a:xfrm>
            <a:off x="2336131" y="2636921"/>
            <a:ext cx="7138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Si vogliono utilizzare le porte NAND. Risulta conveniente eliminare gli OR.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9D2F5C0-F83D-C732-781E-27E0743DB5EC}"/>
              </a:ext>
            </a:extLst>
          </p:cNvPr>
          <p:cNvSpPr txBox="1"/>
          <p:nvPr/>
        </p:nvSpPr>
        <p:spPr>
          <a:xfrm>
            <a:off x="4122820" y="3380871"/>
            <a:ext cx="31342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 A (B+C) =   A  B   C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E314495-D3F8-5DBA-97E5-35B20DEB2BDF}"/>
              </a:ext>
            </a:extLst>
          </p:cNvPr>
          <p:cNvCxnSpPr>
            <a:cxnSpLocks/>
          </p:cNvCxnSpPr>
          <p:nvPr/>
        </p:nvCxnSpPr>
        <p:spPr>
          <a:xfrm flipV="1">
            <a:off x="4645446" y="33763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B6814CB9-8990-9B87-4D7A-900F474034B7}"/>
              </a:ext>
            </a:extLst>
          </p:cNvPr>
          <p:cNvCxnSpPr>
            <a:cxnSpLocks/>
          </p:cNvCxnSpPr>
          <p:nvPr/>
        </p:nvCxnSpPr>
        <p:spPr>
          <a:xfrm flipV="1">
            <a:off x="5006392" y="33763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17A41B85-CA85-98A8-69E2-434B95C395A5}"/>
              </a:ext>
            </a:extLst>
          </p:cNvPr>
          <p:cNvCxnSpPr>
            <a:cxnSpLocks/>
          </p:cNvCxnSpPr>
          <p:nvPr/>
        </p:nvCxnSpPr>
        <p:spPr>
          <a:xfrm flipV="1">
            <a:off x="5988972" y="33763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76AC77DD-BA3E-8562-51FE-833A974A1CD0}"/>
              </a:ext>
            </a:extLst>
          </p:cNvPr>
          <p:cNvCxnSpPr>
            <a:cxnSpLocks/>
          </p:cNvCxnSpPr>
          <p:nvPr/>
        </p:nvCxnSpPr>
        <p:spPr>
          <a:xfrm flipV="1">
            <a:off x="6319839" y="3276110"/>
            <a:ext cx="56024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EDA6FEE8-68FD-B6AB-15DE-D062B5B20683}"/>
              </a:ext>
            </a:extLst>
          </p:cNvPr>
          <p:cNvCxnSpPr>
            <a:cxnSpLocks/>
          </p:cNvCxnSpPr>
          <p:nvPr/>
        </p:nvCxnSpPr>
        <p:spPr>
          <a:xfrm flipV="1">
            <a:off x="6660735" y="3376376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179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C34D8B6D-045C-58C7-0F52-027D4020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95" y="294941"/>
            <a:ext cx="3356812" cy="633747"/>
          </a:xfrm>
        </p:spPr>
        <p:txBody>
          <a:bodyPr>
            <a:normAutofit/>
          </a:bodyPr>
          <a:lstStyle/>
          <a:p>
            <a:r>
              <a:rPr lang="it-IT" sz="3600" dirty="0">
                <a:ea typeface="Calibri Light"/>
                <a:cs typeface="Calibri Light"/>
              </a:rPr>
              <a:t>Circuiti digitali</a:t>
            </a:r>
            <a:endParaRPr lang="it-IT" sz="36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2EE4EF1-A4FD-3E0F-4048-11C285C7A974}"/>
              </a:ext>
            </a:extLst>
          </p:cNvPr>
          <p:cNvSpPr txBox="1"/>
          <p:nvPr/>
        </p:nvSpPr>
        <p:spPr>
          <a:xfrm>
            <a:off x="160421" y="1223210"/>
            <a:ext cx="1190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Realizzare il circuito digitale corrispondente all'espressione logica F, utilizzando esclusivamente porte universali (NOR e NAND):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0A9B644-FB87-55D8-D708-EE608486A116}"/>
              </a:ext>
            </a:extLst>
          </p:cNvPr>
          <p:cNvSpPr txBox="1"/>
          <p:nvPr/>
        </p:nvSpPr>
        <p:spPr>
          <a:xfrm>
            <a:off x="4774531" y="1896976"/>
            <a:ext cx="1690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F = A  B   C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3C1B3930-429F-3D67-D1AA-FB2FFC0125A2}"/>
              </a:ext>
            </a:extLst>
          </p:cNvPr>
          <p:cNvCxnSpPr>
            <a:cxnSpLocks/>
          </p:cNvCxnSpPr>
          <p:nvPr/>
        </p:nvCxnSpPr>
        <p:spPr>
          <a:xfrm flipV="1">
            <a:off x="5307183" y="189248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4B7A653B-9C8A-0896-2323-FB7047770853}"/>
              </a:ext>
            </a:extLst>
          </p:cNvPr>
          <p:cNvCxnSpPr>
            <a:cxnSpLocks/>
          </p:cNvCxnSpPr>
          <p:nvPr/>
        </p:nvCxnSpPr>
        <p:spPr>
          <a:xfrm flipV="1">
            <a:off x="5638050" y="1792216"/>
            <a:ext cx="56024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D06E54F4-5C5F-91E4-EE83-7332E0DE7B43}"/>
              </a:ext>
            </a:extLst>
          </p:cNvPr>
          <p:cNvCxnSpPr>
            <a:cxnSpLocks/>
          </p:cNvCxnSpPr>
          <p:nvPr/>
        </p:nvCxnSpPr>
        <p:spPr>
          <a:xfrm flipV="1">
            <a:off x="5978946" y="1892482"/>
            <a:ext cx="13914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magine 27" descr="Immagine che contiene diagramma, schizzo, design&#10;&#10;Descrizione generata automaticamente">
            <a:extLst>
              <a:ext uri="{FF2B5EF4-FFF2-40B4-BE49-F238E27FC236}">
                <a16:creationId xmlns:a16="http://schemas.microsoft.com/office/drawing/2014/main" id="{CBD904CD-773E-4D07-1EE2-FBE34B03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342" y="2903607"/>
            <a:ext cx="7289131" cy="2955787"/>
          </a:xfrm>
          <a:prstGeom prst="rect">
            <a:avLst/>
          </a:prstGeom>
        </p:spPr>
      </p:pic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097355FD-6690-FADF-9129-981A8F7AA262}"/>
              </a:ext>
            </a:extLst>
          </p:cNvPr>
          <p:cNvCxnSpPr/>
          <p:nvPr/>
        </p:nvCxnSpPr>
        <p:spPr>
          <a:xfrm flipV="1">
            <a:off x="9017669" y="4467726"/>
            <a:ext cx="2005" cy="30881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C7844FF5-9F23-D052-A450-5221C2923D5A}"/>
              </a:ext>
            </a:extLst>
          </p:cNvPr>
          <p:cNvCxnSpPr>
            <a:cxnSpLocks/>
          </p:cNvCxnSpPr>
          <p:nvPr/>
        </p:nvCxnSpPr>
        <p:spPr>
          <a:xfrm flipV="1">
            <a:off x="3563353" y="3234489"/>
            <a:ext cx="2005" cy="348915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0C898413-B207-52A8-FBF4-5AD2D17A9CAA}"/>
              </a:ext>
            </a:extLst>
          </p:cNvPr>
          <p:cNvCxnSpPr>
            <a:cxnSpLocks/>
          </p:cNvCxnSpPr>
          <p:nvPr/>
        </p:nvCxnSpPr>
        <p:spPr>
          <a:xfrm flipV="1">
            <a:off x="4245142" y="5099383"/>
            <a:ext cx="2005" cy="348915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3E33831A-AA60-4116-AC39-87A5CEEAFD56}"/>
              </a:ext>
            </a:extLst>
          </p:cNvPr>
          <p:cNvCxnSpPr>
            <a:cxnSpLocks/>
          </p:cNvCxnSpPr>
          <p:nvPr/>
        </p:nvCxnSpPr>
        <p:spPr>
          <a:xfrm flipH="1">
            <a:off x="2913646" y="3402928"/>
            <a:ext cx="609600" cy="2005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EB3D7CE6-7B1F-F437-0267-1096A42C031D}"/>
              </a:ext>
            </a:extLst>
          </p:cNvPr>
          <p:cNvCxnSpPr>
            <a:cxnSpLocks/>
          </p:cNvCxnSpPr>
          <p:nvPr/>
        </p:nvCxnSpPr>
        <p:spPr>
          <a:xfrm>
            <a:off x="2911642" y="4205035"/>
            <a:ext cx="2699084" cy="12032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A3F6423E-B60A-0DB9-510C-A6BBCF4DB629}"/>
              </a:ext>
            </a:extLst>
          </p:cNvPr>
          <p:cNvCxnSpPr>
            <a:cxnSpLocks/>
          </p:cNvCxnSpPr>
          <p:nvPr/>
        </p:nvCxnSpPr>
        <p:spPr>
          <a:xfrm flipV="1">
            <a:off x="2961774" y="5259804"/>
            <a:ext cx="1285373" cy="802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onnettore 39">
            <a:extLst>
              <a:ext uri="{FF2B5EF4-FFF2-40B4-BE49-F238E27FC236}">
                <a16:creationId xmlns:a16="http://schemas.microsoft.com/office/drawing/2014/main" id="{F29075E6-A163-E1CD-C1F4-093C7AF1F71E}"/>
              </a:ext>
            </a:extLst>
          </p:cNvPr>
          <p:cNvSpPr/>
          <p:nvPr/>
        </p:nvSpPr>
        <p:spPr>
          <a:xfrm>
            <a:off x="4180973" y="5203658"/>
            <a:ext cx="130342" cy="120315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onnettore 41">
            <a:extLst>
              <a:ext uri="{FF2B5EF4-FFF2-40B4-BE49-F238E27FC236}">
                <a16:creationId xmlns:a16="http://schemas.microsoft.com/office/drawing/2014/main" id="{70A1A577-275C-1CEC-597E-1F628FBE83FC}"/>
              </a:ext>
            </a:extLst>
          </p:cNvPr>
          <p:cNvSpPr/>
          <p:nvPr/>
        </p:nvSpPr>
        <p:spPr>
          <a:xfrm>
            <a:off x="8973552" y="4561974"/>
            <a:ext cx="130342" cy="120315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Connettore 43">
            <a:extLst>
              <a:ext uri="{FF2B5EF4-FFF2-40B4-BE49-F238E27FC236}">
                <a16:creationId xmlns:a16="http://schemas.microsoft.com/office/drawing/2014/main" id="{8EDE0544-2A3B-6BC0-C91E-426E652B4D20}"/>
              </a:ext>
            </a:extLst>
          </p:cNvPr>
          <p:cNvSpPr/>
          <p:nvPr/>
        </p:nvSpPr>
        <p:spPr>
          <a:xfrm>
            <a:off x="3499184" y="3348790"/>
            <a:ext cx="130342" cy="120315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F5765CBC-5CE1-C097-15F7-4E228EF23131}"/>
              </a:ext>
            </a:extLst>
          </p:cNvPr>
          <p:cNvSpPr txBox="1"/>
          <p:nvPr/>
        </p:nvSpPr>
        <p:spPr>
          <a:xfrm>
            <a:off x="2558717" y="3982452"/>
            <a:ext cx="397043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B</a:t>
            </a:r>
            <a:endParaRPr lang="it-IT" dirty="0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F869E77D-D291-8131-AC3B-34D55B2834B0}"/>
              </a:ext>
            </a:extLst>
          </p:cNvPr>
          <p:cNvSpPr txBox="1"/>
          <p:nvPr/>
        </p:nvSpPr>
        <p:spPr>
          <a:xfrm>
            <a:off x="2658980" y="5025190"/>
            <a:ext cx="397043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/>
              <a:t>A</a:t>
            </a:r>
            <a:endParaRPr lang="it-IT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F10A3300-6127-412B-7451-491C8EB1FA94}"/>
              </a:ext>
            </a:extLst>
          </p:cNvPr>
          <p:cNvSpPr txBox="1"/>
          <p:nvPr/>
        </p:nvSpPr>
        <p:spPr>
          <a:xfrm>
            <a:off x="2558716" y="3180347"/>
            <a:ext cx="397043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/>
              <a:t>C</a:t>
            </a:r>
            <a:endParaRPr lang="it-IT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F3716C7F-50DA-B92D-DA6D-DE0378DBB810}"/>
              </a:ext>
            </a:extLst>
          </p:cNvPr>
          <p:cNvSpPr txBox="1"/>
          <p:nvPr/>
        </p:nvSpPr>
        <p:spPr>
          <a:xfrm>
            <a:off x="10238874" y="4393532"/>
            <a:ext cx="75799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/>
              <a:t>F 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6062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256E8F-BFB4-1E00-C96F-00D4F192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3F3A6C5-A6EF-6593-87ED-5D89FCA856D0}"/>
              </a:ext>
            </a:extLst>
          </p:cNvPr>
          <p:cNvSpPr txBox="1"/>
          <p:nvPr/>
        </p:nvSpPr>
        <p:spPr>
          <a:xfrm>
            <a:off x="270710" y="1112921"/>
            <a:ext cx="11610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Supponendo di voler trasmettere la sequenza binaria corrispondente al numero F5</a:t>
            </a:r>
            <a:r>
              <a:rPr lang="it-IT" sz="1200" dirty="0">
                <a:cs typeface="Calibri"/>
              </a:rPr>
              <a:t>H</a:t>
            </a:r>
            <a:r>
              <a:rPr lang="it-IT" dirty="0">
                <a:cs typeface="Calibri"/>
              </a:rPr>
              <a:t>, individuare i bit di controllo da aggiungere alla parola se si utilizza il codice di </a:t>
            </a:r>
            <a:r>
              <a:rPr lang="it-IT" err="1">
                <a:cs typeface="Calibri"/>
              </a:rPr>
              <a:t>Hammimmg</a:t>
            </a:r>
            <a:r>
              <a:rPr lang="it-IT" dirty="0">
                <a:cs typeface="Calibri"/>
              </a:rPr>
              <a:t>. </a:t>
            </a:r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DBF5990-A654-A61D-B678-B2A55B99A828}"/>
              </a:ext>
            </a:extLst>
          </p:cNvPr>
          <p:cNvSpPr txBox="1"/>
          <p:nvPr/>
        </p:nvSpPr>
        <p:spPr>
          <a:xfrm>
            <a:off x="372979" y="192705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F5</a:t>
            </a:r>
            <a:r>
              <a:rPr lang="it-IT" sz="1200" dirty="0">
                <a:latin typeface="Calibri"/>
              </a:rPr>
              <a:t>H </a:t>
            </a:r>
            <a:r>
              <a:rPr lang="it-IT" dirty="0">
                <a:latin typeface="Calibri"/>
              </a:rPr>
              <a:t>= 11110101</a:t>
            </a:r>
            <a:r>
              <a:rPr lang="it-IT" sz="1200" dirty="0">
                <a:latin typeface="Calibri"/>
              </a:rPr>
              <a:t>2</a:t>
            </a:r>
            <a:endParaRPr lang="it-IT" sz="1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D4C5266-FF6E-913F-CF95-5BA0CBBFA4A7}"/>
              </a:ext>
            </a:extLst>
          </p:cNvPr>
          <p:cNvSpPr txBox="1"/>
          <p:nvPr/>
        </p:nvSpPr>
        <p:spPr>
          <a:xfrm>
            <a:off x="370974" y="2396289"/>
            <a:ext cx="112595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Per trasferire una parola dati di m bit e n bit di controllo deve valere m+n+1 ≤  2</a:t>
            </a:r>
            <a:r>
              <a:rPr lang="it-IT" baseline="30000" dirty="0">
                <a:cs typeface="Calibri"/>
              </a:rPr>
              <a:t>n 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B79BCE-BD5D-EC8B-75B1-BD14E0901EA3}"/>
              </a:ext>
            </a:extLst>
          </p:cNvPr>
          <p:cNvSpPr txBox="1"/>
          <p:nvPr/>
        </p:nvSpPr>
        <p:spPr>
          <a:xfrm>
            <a:off x="370973" y="2857499"/>
            <a:ext cx="114400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Essendo la parola da trasferire di m=8 bit, sono necessari 4 bit di controllo (b3,b2,b1,b0), per un totale di 12 bit trasferiti.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FD19A04-ED6C-CEFD-F0A7-9DE05E1C1595}"/>
              </a:ext>
            </a:extLst>
          </p:cNvPr>
          <p:cNvSpPr txBox="1"/>
          <p:nvPr/>
        </p:nvSpPr>
        <p:spPr>
          <a:xfrm>
            <a:off x="3519236" y="3970421"/>
            <a:ext cx="44216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Inserire tabella codice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 pp 68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694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3DA79EA0-9B65-B629-4753-608BD7024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45BF58E-B08D-D1B1-BBD0-8721553D823D}"/>
              </a:ext>
            </a:extLst>
          </p:cNvPr>
          <p:cNvSpPr txBox="1"/>
          <p:nvPr/>
        </p:nvSpPr>
        <p:spPr>
          <a:xfrm>
            <a:off x="270710" y="1112921"/>
            <a:ext cx="11610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Supponendo di voler trasmettere la sequenza binaria corrispondente al numero F5</a:t>
            </a:r>
            <a:r>
              <a:rPr lang="it-IT" sz="1200" dirty="0">
                <a:cs typeface="Calibri"/>
              </a:rPr>
              <a:t>H</a:t>
            </a:r>
            <a:r>
              <a:rPr lang="it-IT" dirty="0">
                <a:cs typeface="Calibri"/>
              </a:rPr>
              <a:t>, individuare i bit di controllo da aggiungere alla parola se si utilizza il codice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. </a:t>
            </a:r>
            <a:endParaRPr lang="it-IT" dirty="0"/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8CD6F9BF-C2E5-E0E3-05EB-DE103BFD3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371560"/>
              </p:ext>
            </p:extLst>
          </p:nvPr>
        </p:nvGraphicFramePr>
        <p:xfrm>
          <a:off x="878706" y="2396771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76987C65-BA6E-320E-5772-65AD54A4C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061016"/>
              </p:ext>
            </p:extLst>
          </p:nvPr>
        </p:nvGraphicFramePr>
        <p:xfrm>
          <a:off x="9050153" y="2396771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9EF836B-11B8-A4CF-1911-1E7E487593B5}"/>
              </a:ext>
            </a:extLst>
          </p:cNvPr>
          <p:cNvSpPr txBox="1"/>
          <p:nvPr/>
        </p:nvSpPr>
        <p:spPr>
          <a:xfrm>
            <a:off x="10327104" y="2105525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EC6A0C7-0246-4237-1A8C-449AFB6B362D}"/>
              </a:ext>
            </a:extLst>
          </p:cNvPr>
          <p:cNvSpPr txBox="1"/>
          <p:nvPr/>
        </p:nvSpPr>
        <p:spPr>
          <a:xfrm>
            <a:off x="10387262" y="196515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6609834-D291-867B-BA7F-992D22E360C0}"/>
              </a:ext>
            </a:extLst>
          </p:cNvPr>
          <p:cNvSpPr txBox="1"/>
          <p:nvPr/>
        </p:nvSpPr>
        <p:spPr>
          <a:xfrm>
            <a:off x="9344525" y="196515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6E4DF7E-64ED-860D-6423-FF1C3331B537}"/>
              </a:ext>
            </a:extLst>
          </p:cNvPr>
          <p:cNvSpPr txBox="1"/>
          <p:nvPr/>
        </p:nvSpPr>
        <p:spPr>
          <a:xfrm>
            <a:off x="8402051" y="196515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77A479E-BC99-21E5-D794-5E9B7258F91E}"/>
              </a:ext>
            </a:extLst>
          </p:cNvPr>
          <p:cNvSpPr txBox="1"/>
          <p:nvPr/>
        </p:nvSpPr>
        <p:spPr>
          <a:xfrm>
            <a:off x="7579893" y="196515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8E24436-3454-2C24-F637-4CF497F45FDC}"/>
              </a:ext>
            </a:extLst>
          </p:cNvPr>
          <p:cNvSpPr txBox="1"/>
          <p:nvPr/>
        </p:nvSpPr>
        <p:spPr>
          <a:xfrm>
            <a:off x="6857998" y="19952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0D78075-F011-49BA-DD27-AD3859F0B910}"/>
              </a:ext>
            </a:extLst>
          </p:cNvPr>
          <p:cNvSpPr txBox="1"/>
          <p:nvPr/>
        </p:nvSpPr>
        <p:spPr>
          <a:xfrm>
            <a:off x="5935578" y="199523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DEDA5DE-7C83-EA28-C07A-0A109635A402}"/>
              </a:ext>
            </a:extLst>
          </p:cNvPr>
          <p:cNvSpPr txBox="1"/>
          <p:nvPr/>
        </p:nvSpPr>
        <p:spPr>
          <a:xfrm>
            <a:off x="5163551" y="202531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8E71853-13B6-BCB4-EC1C-1B16CE81E468}"/>
              </a:ext>
            </a:extLst>
          </p:cNvPr>
          <p:cNvSpPr txBox="1"/>
          <p:nvPr/>
        </p:nvSpPr>
        <p:spPr>
          <a:xfrm>
            <a:off x="4311314" y="202531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554C1A1-BCD1-C418-C092-FF255AAD804D}"/>
              </a:ext>
            </a:extLst>
          </p:cNvPr>
          <p:cNvSpPr txBox="1"/>
          <p:nvPr/>
        </p:nvSpPr>
        <p:spPr>
          <a:xfrm>
            <a:off x="3479130" y="202531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89DF977-310D-FE96-0E31-7BE808DF1E12}"/>
              </a:ext>
            </a:extLst>
          </p:cNvPr>
          <p:cNvSpPr txBox="1"/>
          <p:nvPr/>
        </p:nvSpPr>
        <p:spPr>
          <a:xfrm>
            <a:off x="2606840" y="19952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D64FF73-E188-56A7-60BA-8B41110690A9}"/>
              </a:ext>
            </a:extLst>
          </p:cNvPr>
          <p:cNvSpPr txBox="1"/>
          <p:nvPr/>
        </p:nvSpPr>
        <p:spPr>
          <a:xfrm>
            <a:off x="1824788" y="202531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3B0B149-A3BA-A2B2-8406-CFB27AFDAE3A}"/>
              </a:ext>
            </a:extLst>
          </p:cNvPr>
          <p:cNvSpPr txBox="1"/>
          <p:nvPr/>
        </p:nvSpPr>
        <p:spPr>
          <a:xfrm>
            <a:off x="1022682" y="202531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3CC23D9-5154-E68F-0A8C-5F3E8F5134AC}"/>
              </a:ext>
            </a:extLst>
          </p:cNvPr>
          <p:cNvSpPr txBox="1"/>
          <p:nvPr/>
        </p:nvSpPr>
        <p:spPr>
          <a:xfrm>
            <a:off x="11179342" y="3078079"/>
            <a:ext cx="66173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</a:t>
            </a:r>
          </a:p>
          <a:p>
            <a:pPr algn="l"/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92620C49-CBB4-C3FA-E2E4-B2E3E21B8049}"/>
              </a:ext>
            </a:extLst>
          </p:cNvPr>
          <p:cNvSpPr/>
          <p:nvPr/>
        </p:nvSpPr>
        <p:spPr>
          <a:xfrm>
            <a:off x="10457447" y="3178342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28782E38-E24D-F1B5-5196-E15F39F0CA0B}"/>
              </a:ext>
            </a:extLst>
          </p:cNvPr>
          <p:cNvSpPr/>
          <p:nvPr/>
        </p:nvSpPr>
        <p:spPr>
          <a:xfrm>
            <a:off x="9344526" y="3709736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0350825D-0769-0437-607C-A85BDE159170}"/>
              </a:ext>
            </a:extLst>
          </p:cNvPr>
          <p:cNvSpPr/>
          <p:nvPr/>
        </p:nvSpPr>
        <p:spPr>
          <a:xfrm>
            <a:off x="7680157" y="4190999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8FAB1158-E652-D837-2EBB-D652E4F3F8CF}"/>
              </a:ext>
            </a:extLst>
          </p:cNvPr>
          <p:cNvSpPr/>
          <p:nvPr/>
        </p:nvSpPr>
        <p:spPr>
          <a:xfrm>
            <a:off x="4471736" y="4682289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4456314E-F34E-16CC-2C6A-E478B193F115}"/>
              </a:ext>
            </a:extLst>
          </p:cNvPr>
          <p:cNvSpPr/>
          <p:nvPr/>
        </p:nvSpPr>
        <p:spPr>
          <a:xfrm>
            <a:off x="8502315" y="317834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F829FC86-5CF7-4201-1D4F-0D665A70C400}"/>
              </a:ext>
            </a:extLst>
          </p:cNvPr>
          <p:cNvSpPr/>
          <p:nvPr/>
        </p:nvSpPr>
        <p:spPr>
          <a:xfrm>
            <a:off x="6908131" y="317834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E3C49D53-30AD-F7B3-AC78-5AB60E85D7F6}"/>
              </a:ext>
            </a:extLst>
          </p:cNvPr>
          <p:cNvSpPr/>
          <p:nvPr/>
        </p:nvSpPr>
        <p:spPr>
          <a:xfrm>
            <a:off x="5263815" y="317834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5EEF2DF1-DB9F-C435-E188-D99F72CA5967}"/>
              </a:ext>
            </a:extLst>
          </p:cNvPr>
          <p:cNvSpPr/>
          <p:nvPr/>
        </p:nvSpPr>
        <p:spPr>
          <a:xfrm>
            <a:off x="3579394" y="317834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A1791070-2574-1452-8116-13CA7E253FD6}"/>
              </a:ext>
            </a:extLst>
          </p:cNvPr>
          <p:cNvSpPr/>
          <p:nvPr/>
        </p:nvSpPr>
        <p:spPr>
          <a:xfrm>
            <a:off x="1925051" y="317834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6A172351-CA2B-80CD-2D5F-AEA65E8CD0A3}"/>
              </a:ext>
            </a:extLst>
          </p:cNvPr>
          <p:cNvSpPr/>
          <p:nvPr/>
        </p:nvSpPr>
        <p:spPr>
          <a:xfrm>
            <a:off x="8502315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BD3B6FE4-B50F-2150-8129-B081B9A9A7B5}"/>
              </a:ext>
            </a:extLst>
          </p:cNvPr>
          <p:cNvSpPr/>
          <p:nvPr/>
        </p:nvSpPr>
        <p:spPr>
          <a:xfrm>
            <a:off x="6035841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C0299ECD-C017-6E68-95E2-614CB4719A58}"/>
              </a:ext>
            </a:extLst>
          </p:cNvPr>
          <p:cNvSpPr/>
          <p:nvPr/>
        </p:nvSpPr>
        <p:spPr>
          <a:xfrm>
            <a:off x="5263815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15EF3718-EC1D-6238-C287-139D8F95E826}"/>
              </a:ext>
            </a:extLst>
          </p:cNvPr>
          <p:cNvSpPr/>
          <p:nvPr/>
        </p:nvSpPr>
        <p:spPr>
          <a:xfrm>
            <a:off x="2737183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BCF2B0B6-8B09-8D51-AC54-EEC89A5E7475}"/>
              </a:ext>
            </a:extLst>
          </p:cNvPr>
          <p:cNvSpPr/>
          <p:nvPr/>
        </p:nvSpPr>
        <p:spPr>
          <a:xfrm>
            <a:off x="1925052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9C88C72F-A447-8E4E-FF29-09F02EE4FE49}"/>
              </a:ext>
            </a:extLst>
          </p:cNvPr>
          <p:cNvSpPr/>
          <p:nvPr/>
        </p:nvSpPr>
        <p:spPr>
          <a:xfrm>
            <a:off x="6015788" y="417094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84E98283-F301-F6AE-C35B-BD7176BC97C2}"/>
              </a:ext>
            </a:extLst>
          </p:cNvPr>
          <p:cNvSpPr/>
          <p:nvPr/>
        </p:nvSpPr>
        <p:spPr>
          <a:xfrm>
            <a:off x="5243762" y="417094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F41B978F-B974-797C-EE85-42F6642EAECF}"/>
              </a:ext>
            </a:extLst>
          </p:cNvPr>
          <p:cNvSpPr/>
          <p:nvPr/>
        </p:nvSpPr>
        <p:spPr>
          <a:xfrm>
            <a:off x="3549314" y="465220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B8E021FE-7993-EFD0-6254-3C24943DB196}"/>
              </a:ext>
            </a:extLst>
          </p:cNvPr>
          <p:cNvSpPr/>
          <p:nvPr/>
        </p:nvSpPr>
        <p:spPr>
          <a:xfrm>
            <a:off x="2777288" y="465220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DB7FAE47-F1BA-3737-4CD0-94C40417386B}"/>
              </a:ext>
            </a:extLst>
          </p:cNvPr>
          <p:cNvSpPr/>
          <p:nvPr/>
        </p:nvSpPr>
        <p:spPr>
          <a:xfrm>
            <a:off x="1904999" y="467226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4C1D858D-0E27-E5EF-1CA4-C28B5C60C829}"/>
              </a:ext>
            </a:extLst>
          </p:cNvPr>
          <p:cNvSpPr/>
          <p:nvPr/>
        </p:nvSpPr>
        <p:spPr>
          <a:xfrm>
            <a:off x="1132973" y="467226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6AF2BEBC-4C5F-08CF-A702-7D6337EF11D6}"/>
              </a:ext>
            </a:extLst>
          </p:cNvPr>
          <p:cNvSpPr/>
          <p:nvPr/>
        </p:nvSpPr>
        <p:spPr>
          <a:xfrm>
            <a:off x="6908130" y="419099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78DAF604-2D15-FED0-3A06-5F6004242536}"/>
              </a:ext>
            </a:extLst>
          </p:cNvPr>
          <p:cNvSpPr/>
          <p:nvPr/>
        </p:nvSpPr>
        <p:spPr>
          <a:xfrm>
            <a:off x="1092866" y="4170944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448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B2BDDC02-B2B2-9E31-D2B6-20AADC68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B3F599B-DC00-BA1F-E0EC-8F57E8D5BDB4}"/>
              </a:ext>
            </a:extLst>
          </p:cNvPr>
          <p:cNvSpPr txBox="1"/>
          <p:nvPr/>
        </p:nvSpPr>
        <p:spPr>
          <a:xfrm>
            <a:off x="270710" y="1112921"/>
            <a:ext cx="11610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Supponendo di voler trasmettere la sequenza binaria corrispondente al numero F5</a:t>
            </a:r>
            <a:r>
              <a:rPr lang="it-IT" sz="1200" dirty="0">
                <a:cs typeface="Calibri"/>
              </a:rPr>
              <a:t>H</a:t>
            </a:r>
            <a:r>
              <a:rPr lang="it-IT" dirty="0">
                <a:cs typeface="Calibri"/>
              </a:rPr>
              <a:t>, individuare i bit di controllo da aggiungere alla parola se si utilizza il codice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. 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D133FE9-A4B4-68DC-9385-2FB9B8418998}"/>
              </a:ext>
            </a:extLst>
          </p:cNvPr>
          <p:cNvSpPr txBox="1"/>
          <p:nvPr/>
        </p:nvSpPr>
        <p:spPr>
          <a:xfrm>
            <a:off x="4401551" y="2496553"/>
            <a:ext cx="323850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  =  1   1    0    0     1  =  1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  =  1   1    0    1     1  =  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  =  1   0    1    0  =  0</a:t>
            </a:r>
            <a:endParaRPr lang="it-IT" dirty="0"/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  =  1   1    1    1  =  0</a:t>
            </a:r>
            <a:endParaRPr lang="it-IT" dirty="0"/>
          </a:p>
        </p:txBody>
      </p:sp>
      <p:sp>
        <p:nvSpPr>
          <p:cNvPr id="9" name="O 8">
            <a:extLst>
              <a:ext uri="{FF2B5EF4-FFF2-40B4-BE49-F238E27FC236}">
                <a16:creationId xmlns:a16="http://schemas.microsoft.com/office/drawing/2014/main" id="{501D9CC6-A1C0-17BB-5968-01BFE9F937E6}"/>
              </a:ext>
            </a:extLst>
          </p:cNvPr>
          <p:cNvSpPr/>
          <p:nvPr/>
        </p:nvSpPr>
        <p:spPr>
          <a:xfrm>
            <a:off x="5172285" y="2604576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0" name="O 9">
            <a:extLst>
              <a:ext uri="{FF2B5EF4-FFF2-40B4-BE49-F238E27FC236}">
                <a16:creationId xmlns:a16="http://schemas.microsoft.com/office/drawing/2014/main" id="{501D9CC6-A1C0-17BB-5968-01BFE9F937E6}"/>
              </a:ext>
            </a:extLst>
          </p:cNvPr>
          <p:cNvSpPr/>
          <p:nvPr/>
        </p:nvSpPr>
        <p:spPr>
          <a:xfrm>
            <a:off x="5445502" y="2597056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1" name="O 10">
            <a:extLst>
              <a:ext uri="{FF2B5EF4-FFF2-40B4-BE49-F238E27FC236}">
                <a16:creationId xmlns:a16="http://schemas.microsoft.com/office/drawing/2014/main" id="{F7B378A8-764B-CF40-9AEA-51EEA5591C7B}"/>
              </a:ext>
            </a:extLst>
          </p:cNvPr>
          <p:cNvSpPr/>
          <p:nvPr/>
        </p:nvSpPr>
        <p:spPr>
          <a:xfrm>
            <a:off x="5796423" y="2597056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2" name="O 11">
            <a:extLst>
              <a:ext uri="{FF2B5EF4-FFF2-40B4-BE49-F238E27FC236}">
                <a16:creationId xmlns:a16="http://schemas.microsoft.com/office/drawing/2014/main" id="{82EF21FD-C588-5013-DB54-E25B0A9148BA}"/>
              </a:ext>
            </a:extLst>
          </p:cNvPr>
          <p:cNvSpPr/>
          <p:nvPr/>
        </p:nvSpPr>
        <p:spPr>
          <a:xfrm>
            <a:off x="6147344" y="2597055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4" name="O 13">
            <a:extLst>
              <a:ext uri="{FF2B5EF4-FFF2-40B4-BE49-F238E27FC236}">
                <a16:creationId xmlns:a16="http://schemas.microsoft.com/office/drawing/2014/main" id="{17E15B22-BC9D-99E4-9CF9-834B548CBED5}"/>
              </a:ext>
            </a:extLst>
          </p:cNvPr>
          <p:cNvSpPr/>
          <p:nvPr/>
        </p:nvSpPr>
        <p:spPr>
          <a:xfrm>
            <a:off x="5162258" y="313597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5" name="O 14">
            <a:extLst>
              <a:ext uri="{FF2B5EF4-FFF2-40B4-BE49-F238E27FC236}">
                <a16:creationId xmlns:a16="http://schemas.microsoft.com/office/drawing/2014/main" id="{CE43309D-A9EC-162E-C7A6-D844B327C1DF}"/>
              </a:ext>
            </a:extLst>
          </p:cNvPr>
          <p:cNvSpPr/>
          <p:nvPr/>
        </p:nvSpPr>
        <p:spPr>
          <a:xfrm>
            <a:off x="5435475" y="312845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6" name="O 15">
            <a:extLst>
              <a:ext uri="{FF2B5EF4-FFF2-40B4-BE49-F238E27FC236}">
                <a16:creationId xmlns:a16="http://schemas.microsoft.com/office/drawing/2014/main" id="{B5C119E0-FF79-0985-7789-87A31FD861CE}"/>
              </a:ext>
            </a:extLst>
          </p:cNvPr>
          <p:cNvSpPr/>
          <p:nvPr/>
        </p:nvSpPr>
        <p:spPr>
          <a:xfrm>
            <a:off x="5786396" y="312845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7" name="O 16">
            <a:extLst>
              <a:ext uri="{FF2B5EF4-FFF2-40B4-BE49-F238E27FC236}">
                <a16:creationId xmlns:a16="http://schemas.microsoft.com/office/drawing/2014/main" id="{B201476D-C17F-4865-1F0D-8232F603A01D}"/>
              </a:ext>
            </a:extLst>
          </p:cNvPr>
          <p:cNvSpPr/>
          <p:nvPr/>
        </p:nvSpPr>
        <p:spPr>
          <a:xfrm>
            <a:off x="6137317" y="3128450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9" name="O 18">
            <a:extLst>
              <a:ext uri="{FF2B5EF4-FFF2-40B4-BE49-F238E27FC236}">
                <a16:creationId xmlns:a16="http://schemas.microsoft.com/office/drawing/2014/main" id="{3ECCFB5E-F91C-987C-EEF0-7FE918A5A872}"/>
              </a:ext>
            </a:extLst>
          </p:cNvPr>
          <p:cNvSpPr/>
          <p:nvPr/>
        </p:nvSpPr>
        <p:spPr>
          <a:xfrm>
            <a:off x="5172284" y="368741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0" name="O 19">
            <a:extLst>
              <a:ext uri="{FF2B5EF4-FFF2-40B4-BE49-F238E27FC236}">
                <a16:creationId xmlns:a16="http://schemas.microsoft.com/office/drawing/2014/main" id="{46EC6944-C64B-9348-5402-25AE391480A1}"/>
              </a:ext>
            </a:extLst>
          </p:cNvPr>
          <p:cNvSpPr/>
          <p:nvPr/>
        </p:nvSpPr>
        <p:spPr>
          <a:xfrm>
            <a:off x="5445501" y="367989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1" name="O 20">
            <a:extLst>
              <a:ext uri="{FF2B5EF4-FFF2-40B4-BE49-F238E27FC236}">
                <a16:creationId xmlns:a16="http://schemas.microsoft.com/office/drawing/2014/main" id="{515AB86E-53BA-2BD9-E680-7466E9548B67}"/>
              </a:ext>
            </a:extLst>
          </p:cNvPr>
          <p:cNvSpPr/>
          <p:nvPr/>
        </p:nvSpPr>
        <p:spPr>
          <a:xfrm>
            <a:off x="5796422" y="367989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3" name="O 22">
            <a:extLst>
              <a:ext uri="{FF2B5EF4-FFF2-40B4-BE49-F238E27FC236}">
                <a16:creationId xmlns:a16="http://schemas.microsoft.com/office/drawing/2014/main" id="{93B7FC56-7BEF-66C3-E1F1-E6376AE57860}"/>
              </a:ext>
            </a:extLst>
          </p:cNvPr>
          <p:cNvSpPr/>
          <p:nvPr/>
        </p:nvSpPr>
        <p:spPr>
          <a:xfrm>
            <a:off x="5182310" y="422883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4" name="O 23">
            <a:extLst>
              <a:ext uri="{FF2B5EF4-FFF2-40B4-BE49-F238E27FC236}">
                <a16:creationId xmlns:a16="http://schemas.microsoft.com/office/drawing/2014/main" id="{1CC04E02-D2E5-C833-BBAB-4FAFB58CDDE4}"/>
              </a:ext>
            </a:extLst>
          </p:cNvPr>
          <p:cNvSpPr/>
          <p:nvPr/>
        </p:nvSpPr>
        <p:spPr>
          <a:xfrm>
            <a:off x="5455527" y="422131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5" name="O 24">
            <a:extLst>
              <a:ext uri="{FF2B5EF4-FFF2-40B4-BE49-F238E27FC236}">
                <a16:creationId xmlns:a16="http://schemas.microsoft.com/office/drawing/2014/main" id="{31C12062-3B38-3A77-6160-5D924BE4E69C}"/>
              </a:ext>
            </a:extLst>
          </p:cNvPr>
          <p:cNvSpPr/>
          <p:nvPr/>
        </p:nvSpPr>
        <p:spPr>
          <a:xfrm>
            <a:off x="5806448" y="422131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graphicFrame>
        <p:nvGraphicFramePr>
          <p:cNvPr id="27" name="Tabella 26">
            <a:extLst>
              <a:ext uri="{FF2B5EF4-FFF2-40B4-BE49-F238E27FC236}">
                <a16:creationId xmlns:a16="http://schemas.microsoft.com/office/drawing/2014/main" id="{889B9748-52D8-27E6-08BF-C8632F19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864234"/>
              </p:ext>
            </p:extLst>
          </p:nvPr>
        </p:nvGraphicFramePr>
        <p:xfrm>
          <a:off x="888732" y="5414692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29" name="Tabella 28">
            <a:extLst>
              <a:ext uri="{FF2B5EF4-FFF2-40B4-BE49-F238E27FC236}">
                <a16:creationId xmlns:a16="http://schemas.microsoft.com/office/drawing/2014/main" id="{AFADFAFF-3126-01A0-2543-4DA6CBBF8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044223"/>
              </p:ext>
            </p:extLst>
          </p:nvPr>
        </p:nvGraphicFramePr>
        <p:xfrm>
          <a:off x="9060179" y="5414692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50FC1C2-D998-3EC0-AF2F-0160AA4E8F2B}"/>
              </a:ext>
            </a:extLst>
          </p:cNvPr>
          <p:cNvSpPr txBox="1"/>
          <p:nvPr/>
        </p:nvSpPr>
        <p:spPr>
          <a:xfrm>
            <a:off x="10337130" y="5123446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242884B-AACD-0834-0577-A6CB88BF8C12}"/>
              </a:ext>
            </a:extLst>
          </p:cNvPr>
          <p:cNvSpPr txBox="1"/>
          <p:nvPr/>
        </p:nvSpPr>
        <p:spPr>
          <a:xfrm>
            <a:off x="10397288" y="49830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C5644C0-DD4A-BB5E-C3CA-A8E4CF912B8B}"/>
              </a:ext>
            </a:extLst>
          </p:cNvPr>
          <p:cNvSpPr txBox="1"/>
          <p:nvPr/>
        </p:nvSpPr>
        <p:spPr>
          <a:xfrm>
            <a:off x="9354551" y="49830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6F289580-B565-1A89-4D19-E8A62AD27CDE}"/>
              </a:ext>
            </a:extLst>
          </p:cNvPr>
          <p:cNvSpPr txBox="1"/>
          <p:nvPr/>
        </p:nvSpPr>
        <p:spPr>
          <a:xfrm>
            <a:off x="8412077" y="498307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7EE2561C-3FE1-F1F2-3113-B95D8CE53EF8}"/>
              </a:ext>
            </a:extLst>
          </p:cNvPr>
          <p:cNvSpPr txBox="1"/>
          <p:nvPr/>
        </p:nvSpPr>
        <p:spPr>
          <a:xfrm>
            <a:off x="7589919" y="49830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0B29ACE0-6961-68A4-2164-E94907878F63}"/>
              </a:ext>
            </a:extLst>
          </p:cNvPr>
          <p:cNvSpPr txBox="1"/>
          <p:nvPr/>
        </p:nvSpPr>
        <p:spPr>
          <a:xfrm>
            <a:off x="6868024" y="501315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D597E215-AB0F-BD1F-ABAE-089DF92805F8}"/>
              </a:ext>
            </a:extLst>
          </p:cNvPr>
          <p:cNvSpPr txBox="1"/>
          <p:nvPr/>
        </p:nvSpPr>
        <p:spPr>
          <a:xfrm>
            <a:off x="5945604" y="501315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656BA4E6-B7E8-C964-DEC4-2509A3FC1EAF}"/>
              </a:ext>
            </a:extLst>
          </p:cNvPr>
          <p:cNvSpPr txBox="1"/>
          <p:nvPr/>
        </p:nvSpPr>
        <p:spPr>
          <a:xfrm>
            <a:off x="5173577" y="50432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317AAE55-9B43-2ED4-7EBD-BF4E6635DDBD}"/>
              </a:ext>
            </a:extLst>
          </p:cNvPr>
          <p:cNvSpPr txBox="1"/>
          <p:nvPr/>
        </p:nvSpPr>
        <p:spPr>
          <a:xfrm>
            <a:off x="4321340" y="50432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C2A997E-3A4E-751A-F833-75599931DD4B}"/>
              </a:ext>
            </a:extLst>
          </p:cNvPr>
          <p:cNvSpPr txBox="1"/>
          <p:nvPr/>
        </p:nvSpPr>
        <p:spPr>
          <a:xfrm>
            <a:off x="3489156" y="50432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CE1D0E49-D1EA-032B-48D3-B3C60C26B139}"/>
              </a:ext>
            </a:extLst>
          </p:cNvPr>
          <p:cNvSpPr txBox="1"/>
          <p:nvPr/>
        </p:nvSpPr>
        <p:spPr>
          <a:xfrm>
            <a:off x="2616866" y="501315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20FF4256-2658-E032-C87F-B6367514A45F}"/>
              </a:ext>
            </a:extLst>
          </p:cNvPr>
          <p:cNvSpPr txBox="1"/>
          <p:nvPr/>
        </p:nvSpPr>
        <p:spPr>
          <a:xfrm>
            <a:off x="1834814" y="504323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6CF17112-3742-131F-9049-7EF7298E63AC}"/>
              </a:ext>
            </a:extLst>
          </p:cNvPr>
          <p:cNvSpPr txBox="1"/>
          <p:nvPr/>
        </p:nvSpPr>
        <p:spPr>
          <a:xfrm>
            <a:off x="1032708" y="50432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0853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030A18F1-1B55-4783-EE51-1595FE75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B73FD46-5083-41E3-C34D-612BA4548B80}"/>
              </a:ext>
            </a:extLst>
          </p:cNvPr>
          <p:cNvSpPr txBox="1"/>
          <p:nvPr/>
        </p:nvSpPr>
        <p:spPr>
          <a:xfrm>
            <a:off x="270710" y="1112921"/>
            <a:ext cx="11610473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1 pagina 84: Calcolare i bit di correzione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 da aggiungere alle parole binarie W. Supponendo che durante una trasmissione riceva le sequenze R1 e R2 quali saranno i corrispondenti bit di controllo calcolati?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W = 1A</a:t>
            </a:r>
            <a:r>
              <a:rPr lang="it-IT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  R1 = 9D3</a:t>
            </a:r>
            <a:r>
              <a:rPr lang="it-IT" sz="1200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R2 = 1D3</a:t>
            </a:r>
            <a:r>
              <a:rPr lang="it-IT" sz="1200" baseline="-25000" dirty="0">
                <a:cs typeface="Calibri"/>
              </a:rPr>
              <a:t>H</a:t>
            </a:r>
          </a:p>
          <a:p>
            <a:endParaRPr lang="it-IT" dirty="0">
              <a:cs typeface="Calibri"/>
            </a:endParaRPr>
          </a:p>
          <a:p>
            <a:endParaRPr lang="it-IT" sz="1200" baseline="-25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555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E845E159-5C51-1B9A-B832-F21C1536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09ABF56-28C8-3386-9225-81B8F3CEB024}"/>
              </a:ext>
            </a:extLst>
          </p:cNvPr>
          <p:cNvSpPr txBox="1"/>
          <p:nvPr/>
        </p:nvSpPr>
        <p:spPr>
          <a:xfrm>
            <a:off x="270710" y="1112921"/>
            <a:ext cx="11610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1 pagina 84: Calcolare i bit di correzione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 da aggiungere alle parole binarie W. Supponendo che durante una trasmissione riceva le sequenze R1 e R2 quali saranno i corrispondenti bit di controllo calcolati?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W = 1A</a:t>
            </a:r>
            <a:r>
              <a:rPr lang="it-IT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  R1 = 9D3</a:t>
            </a:r>
            <a:r>
              <a:rPr lang="it-IT" sz="1200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R2 = 1D3</a:t>
            </a:r>
            <a:r>
              <a:rPr lang="it-IT" sz="1200" baseline="-25000" dirty="0">
                <a:cs typeface="Calibri"/>
              </a:rPr>
              <a:t>H</a:t>
            </a:r>
          </a:p>
          <a:p>
            <a:endParaRPr lang="it-IT" dirty="0"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8162B64-86E8-AA87-12AE-82220F86979E}"/>
              </a:ext>
            </a:extLst>
          </p:cNvPr>
          <p:cNvSpPr txBox="1"/>
          <p:nvPr/>
        </p:nvSpPr>
        <p:spPr>
          <a:xfrm>
            <a:off x="362953" y="269908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W = 1A</a:t>
            </a:r>
            <a:r>
              <a:rPr lang="it-IT" sz="1200" dirty="0"/>
              <a:t>H </a:t>
            </a:r>
            <a:r>
              <a:rPr lang="it-IT" dirty="0"/>
              <a:t>= 00011010</a:t>
            </a:r>
            <a:r>
              <a:rPr lang="it-IT" sz="1200" dirty="0"/>
              <a:t>2</a:t>
            </a:r>
            <a:endParaRPr lang="it-IT" dirty="0"/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E07A7537-2349-4743-14F3-23F9D7B31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604321"/>
              </p:ext>
            </p:extLst>
          </p:nvPr>
        </p:nvGraphicFramePr>
        <p:xfrm>
          <a:off x="908785" y="3700192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9B43A23A-AFD0-C62C-63B4-04FB9B3B8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58864"/>
              </p:ext>
            </p:extLst>
          </p:nvPr>
        </p:nvGraphicFramePr>
        <p:xfrm>
          <a:off x="9080232" y="3700192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DEA9919-1FB4-A643-5A1F-9115771E8574}"/>
              </a:ext>
            </a:extLst>
          </p:cNvPr>
          <p:cNvSpPr txBox="1"/>
          <p:nvPr/>
        </p:nvSpPr>
        <p:spPr>
          <a:xfrm>
            <a:off x="10357183" y="3408946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9A7E7F1-0BD2-BB2D-C5B2-72FF635305A7}"/>
              </a:ext>
            </a:extLst>
          </p:cNvPr>
          <p:cNvSpPr txBox="1"/>
          <p:nvPr/>
        </p:nvSpPr>
        <p:spPr>
          <a:xfrm>
            <a:off x="10417341" y="32685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2C3F1DA-D54D-AA77-2DB1-D98EC1BC4835}"/>
              </a:ext>
            </a:extLst>
          </p:cNvPr>
          <p:cNvSpPr txBox="1"/>
          <p:nvPr/>
        </p:nvSpPr>
        <p:spPr>
          <a:xfrm>
            <a:off x="9374604" y="32685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AD3A2CC-5A80-098C-CF70-546868D17079}"/>
              </a:ext>
            </a:extLst>
          </p:cNvPr>
          <p:cNvSpPr txBox="1"/>
          <p:nvPr/>
        </p:nvSpPr>
        <p:spPr>
          <a:xfrm>
            <a:off x="8432130" y="326857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B566C69-1E79-F106-E04F-0FDCB406B4EE}"/>
              </a:ext>
            </a:extLst>
          </p:cNvPr>
          <p:cNvSpPr txBox="1"/>
          <p:nvPr/>
        </p:nvSpPr>
        <p:spPr>
          <a:xfrm>
            <a:off x="7609972" y="32685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20399D9-A0F3-868C-24E0-05073D9C5874}"/>
              </a:ext>
            </a:extLst>
          </p:cNvPr>
          <p:cNvSpPr txBox="1"/>
          <p:nvPr/>
        </p:nvSpPr>
        <p:spPr>
          <a:xfrm>
            <a:off x="6888077" y="329865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E24DE74-F095-0FD9-5D58-0EAF673AC41C}"/>
              </a:ext>
            </a:extLst>
          </p:cNvPr>
          <p:cNvSpPr txBox="1"/>
          <p:nvPr/>
        </p:nvSpPr>
        <p:spPr>
          <a:xfrm>
            <a:off x="5965657" y="329865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7E35726-365E-982E-9CAA-B4FF885E6FF8}"/>
              </a:ext>
            </a:extLst>
          </p:cNvPr>
          <p:cNvSpPr txBox="1"/>
          <p:nvPr/>
        </p:nvSpPr>
        <p:spPr>
          <a:xfrm>
            <a:off x="5193630" y="33287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C93F5DF-044D-ADC1-4666-DEDF3C154B95}"/>
              </a:ext>
            </a:extLst>
          </p:cNvPr>
          <p:cNvSpPr txBox="1"/>
          <p:nvPr/>
        </p:nvSpPr>
        <p:spPr>
          <a:xfrm>
            <a:off x="4341393" y="33287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88FB2B3E-BD61-BD47-1E4E-679FF8FDD8BE}"/>
              </a:ext>
            </a:extLst>
          </p:cNvPr>
          <p:cNvSpPr txBox="1"/>
          <p:nvPr/>
        </p:nvSpPr>
        <p:spPr>
          <a:xfrm>
            <a:off x="3509209" y="33287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54BA7D2A-6E80-7A23-4A63-284C1852084B}"/>
              </a:ext>
            </a:extLst>
          </p:cNvPr>
          <p:cNvSpPr txBox="1"/>
          <p:nvPr/>
        </p:nvSpPr>
        <p:spPr>
          <a:xfrm>
            <a:off x="2636919" y="329865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23293214-FAB5-42D2-B554-BE7C54B1A7E1}"/>
              </a:ext>
            </a:extLst>
          </p:cNvPr>
          <p:cNvSpPr txBox="1"/>
          <p:nvPr/>
        </p:nvSpPr>
        <p:spPr>
          <a:xfrm>
            <a:off x="1854867" y="332873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FAFC334E-49E1-D04B-4843-06CA116A591E}"/>
              </a:ext>
            </a:extLst>
          </p:cNvPr>
          <p:cNvSpPr txBox="1"/>
          <p:nvPr/>
        </p:nvSpPr>
        <p:spPr>
          <a:xfrm>
            <a:off x="1052761" y="33287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B2619B1E-7A7E-32C3-D7C3-FBFEA5AF06D8}"/>
              </a:ext>
            </a:extLst>
          </p:cNvPr>
          <p:cNvSpPr txBox="1"/>
          <p:nvPr/>
        </p:nvSpPr>
        <p:spPr>
          <a:xfrm>
            <a:off x="11209421" y="4381500"/>
            <a:ext cx="66173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</a:t>
            </a:r>
          </a:p>
          <a:p>
            <a:pPr algn="l"/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CE6FEF50-FBBA-467C-4188-C71B6E5BD751}"/>
              </a:ext>
            </a:extLst>
          </p:cNvPr>
          <p:cNvSpPr/>
          <p:nvPr/>
        </p:nvSpPr>
        <p:spPr>
          <a:xfrm>
            <a:off x="10487526" y="4481763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F16CFFD7-DA21-FB3F-1E76-53BBF146095C}"/>
              </a:ext>
            </a:extLst>
          </p:cNvPr>
          <p:cNvSpPr/>
          <p:nvPr/>
        </p:nvSpPr>
        <p:spPr>
          <a:xfrm>
            <a:off x="9374605" y="5013157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4546FC35-0818-9628-BC02-DFF57AB4E74F}"/>
              </a:ext>
            </a:extLst>
          </p:cNvPr>
          <p:cNvSpPr/>
          <p:nvPr/>
        </p:nvSpPr>
        <p:spPr>
          <a:xfrm>
            <a:off x="7710236" y="5494420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0C7E940-52CF-31AE-E26F-50237AE1A433}"/>
              </a:ext>
            </a:extLst>
          </p:cNvPr>
          <p:cNvSpPr/>
          <p:nvPr/>
        </p:nvSpPr>
        <p:spPr>
          <a:xfrm>
            <a:off x="4501815" y="5985710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3C78BEEE-0488-A185-0BE1-1A532FED7F6B}"/>
              </a:ext>
            </a:extLst>
          </p:cNvPr>
          <p:cNvSpPr/>
          <p:nvPr/>
        </p:nvSpPr>
        <p:spPr>
          <a:xfrm>
            <a:off x="8532394" y="448176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A3596755-777B-8F32-2629-E399FD86A557}"/>
              </a:ext>
            </a:extLst>
          </p:cNvPr>
          <p:cNvSpPr/>
          <p:nvPr/>
        </p:nvSpPr>
        <p:spPr>
          <a:xfrm>
            <a:off x="6938210" y="448176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1217888A-EC9F-74AD-EAE0-CD446599146D}"/>
              </a:ext>
            </a:extLst>
          </p:cNvPr>
          <p:cNvSpPr/>
          <p:nvPr/>
        </p:nvSpPr>
        <p:spPr>
          <a:xfrm>
            <a:off x="5293894" y="448176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0F20D690-2747-7043-1D10-88076AEAC44D}"/>
              </a:ext>
            </a:extLst>
          </p:cNvPr>
          <p:cNvSpPr/>
          <p:nvPr/>
        </p:nvSpPr>
        <p:spPr>
          <a:xfrm>
            <a:off x="3609473" y="448176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B86EB05A-8212-6C23-5DEF-907C834227F1}"/>
              </a:ext>
            </a:extLst>
          </p:cNvPr>
          <p:cNvSpPr/>
          <p:nvPr/>
        </p:nvSpPr>
        <p:spPr>
          <a:xfrm>
            <a:off x="1955130" y="448176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458B1F7A-1472-61BA-6AF7-5DBE140332AC}"/>
              </a:ext>
            </a:extLst>
          </p:cNvPr>
          <p:cNvSpPr/>
          <p:nvPr/>
        </p:nvSpPr>
        <p:spPr>
          <a:xfrm>
            <a:off x="8532394" y="497305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6DCD30C6-1F10-EC6C-24AD-6560FABB6155}"/>
              </a:ext>
            </a:extLst>
          </p:cNvPr>
          <p:cNvSpPr/>
          <p:nvPr/>
        </p:nvSpPr>
        <p:spPr>
          <a:xfrm>
            <a:off x="6065920" y="497305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988912F3-D513-6B11-6E48-6E3BA65814B8}"/>
              </a:ext>
            </a:extLst>
          </p:cNvPr>
          <p:cNvSpPr/>
          <p:nvPr/>
        </p:nvSpPr>
        <p:spPr>
          <a:xfrm>
            <a:off x="5293894" y="497305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5DD9FA5A-4003-E626-D7C5-31A8DAEA06AB}"/>
              </a:ext>
            </a:extLst>
          </p:cNvPr>
          <p:cNvSpPr/>
          <p:nvPr/>
        </p:nvSpPr>
        <p:spPr>
          <a:xfrm>
            <a:off x="2767262" y="497305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8DA5DA3F-F0B0-D34C-5ADE-2C0139B28423}"/>
              </a:ext>
            </a:extLst>
          </p:cNvPr>
          <p:cNvSpPr/>
          <p:nvPr/>
        </p:nvSpPr>
        <p:spPr>
          <a:xfrm>
            <a:off x="1955131" y="497305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3A650402-1CBF-A17D-C4BD-B8724CF9DA92}"/>
              </a:ext>
            </a:extLst>
          </p:cNvPr>
          <p:cNvSpPr/>
          <p:nvPr/>
        </p:nvSpPr>
        <p:spPr>
          <a:xfrm>
            <a:off x="6045867" y="547436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2" name="Rettangolo 71">
            <a:extLst>
              <a:ext uri="{FF2B5EF4-FFF2-40B4-BE49-F238E27FC236}">
                <a16:creationId xmlns:a16="http://schemas.microsoft.com/office/drawing/2014/main" id="{9FC3B9A0-0A89-13E0-67C0-AB01E8D8257A}"/>
              </a:ext>
            </a:extLst>
          </p:cNvPr>
          <p:cNvSpPr/>
          <p:nvPr/>
        </p:nvSpPr>
        <p:spPr>
          <a:xfrm>
            <a:off x="5273841" y="547436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B58B98A1-CF2B-3297-728B-8EEF0B99F19F}"/>
              </a:ext>
            </a:extLst>
          </p:cNvPr>
          <p:cNvSpPr/>
          <p:nvPr/>
        </p:nvSpPr>
        <p:spPr>
          <a:xfrm>
            <a:off x="3579393" y="595562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9641D75B-56A9-00B2-D4C6-6B6038EFF4F3}"/>
              </a:ext>
            </a:extLst>
          </p:cNvPr>
          <p:cNvSpPr/>
          <p:nvPr/>
        </p:nvSpPr>
        <p:spPr>
          <a:xfrm>
            <a:off x="2807367" y="595562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054E7A2A-00E8-5019-4BC9-90D12AFF493B}"/>
              </a:ext>
            </a:extLst>
          </p:cNvPr>
          <p:cNvSpPr/>
          <p:nvPr/>
        </p:nvSpPr>
        <p:spPr>
          <a:xfrm>
            <a:off x="1935078" y="597568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538317ED-1A35-06A1-1142-68B7D4CD5D9B}"/>
              </a:ext>
            </a:extLst>
          </p:cNvPr>
          <p:cNvSpPr/>
          <p:nvPr/>
        </p:nvSpPr>
        <p:spPr>
          <a:xfrm>
            <a:off x="1163052" y="597568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508FA3F6-F180-6158-7F6E-6C79387D3984}"/>
              </a:ext>
            </a:extLst>
          </p:cNvPr>
          <p:cNvSpPr/>
          <p:nvPr/>
        </p:nvSpPr>
        <p:spPr>
          <a:xfrm>
            <a:off x="6938209" y="549441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27658191-C349-8828-847C-F1861203B6D2}"/>
              </a:ext>
            </a:extLst>
          </p:cNvPr>
          <p:cNvSpPr/>
          <p:nvPr/>
        </p:nvSpPr>
        <p:spPr>
          <a:xfrm>
            <a:off x="1122945" y="547436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999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39EA5E7D-B801-4E6A-88DC-1D1E30B4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438C7A5-C846-0A4D-E020-45893A68043C}"/>
              </a:ext>
            </a:extLst>
          </p:cNvPr>
          <p:cNvSpPr txBox="1"/>
          <p:nvPr/>
        </p:nvSpPr>
        <p:spPr>
          <a:xfrm>
            <a:off x="270710" y="1112921"/>
            <a:ext cx="11610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1 pagina 84: Calcolare i bit di correzione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 da aggiungere alle parole binarie W. Supponendo che durante una trasmissione riceva le sequenze R1 e R2 quali saranno i corrispondenti bit di controllo calcolati?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W = 1A</a:t>
            </a:r>
            <a:r>
              <a:rPr lang="it-IT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  R1 = 9D3</a:t>
            </a:r>
            <a:r>
              <a:rPr lang="it-IT" sz="1200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R2 = 1D3</a:t>
            </a:r>
            <a:r>
              <a:rPr lang="it-IT" sz="1200" baseline="-25000" dirty="0">
                <a:cs typeface="Calibri"/>
              </a:rPr>
              <a:t>H</a:t>
            </a:r>
          </a:p>
          <a:p>
            <a:endParaRPr lang="it-IT" dirty="0"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78E8E41-326E-F977-22AE-A4A55890878D}"/>
              </a:ext>
            </a:extLst>
          </p:cNvPr>
          <p:cNvSpPr txBox="1"/>
          <p:nvPr/>
        </p:nvSpPr>
        <p:spPr>
          <a:xfrm>
            <a:off x="4561972" y="2767264"/>
            <a:ext cx="323850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  =  0   1    1    1     0  =  1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  =  0   0    1    0     0  =  1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  =  1   0    1    0  =  0</a:t>
            </a:r>
            <a:endParaRPr lang="it-IT" dirty="0"/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  =  1   0    0    0  =  1</a:t>
            </a:r>
            <a:endParaRPr lang="it-IT" dirty="0"/>
          </a:p>
        </p:txBody>
      </p:sp>
      <p:sp>
        <p:nvSpPr>
          <p:cNvPr id="11" name="O 10">
            <a:extLst>
              <a:ext uri="{FF2B5EF4-FFF2-40B4-BE49-F238E27FC236}">
                <a16:creationId xmlns:a16="http://schemas.microsoft.com/office/drawing/2014/main" id="{C592467E-62B6-167B-CF09-A48BE88F14C8}"/>
              </a:ext>
            </a:extLst>
          </p:cNvPr>
          <p:cNvSpPr/>
          <p:nvPr/>
        </p:nvSpPr>
        <p:spPr>
          <a:xfrm>
            <a:off x="5332706" y="2875286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3" name="O 12">
            <a:extLst>
              <a:ext uri="{FF2B5EF4-FFF2-40B4-BE49-F238E27FC236}">
                <a16:creationId xmlns:a16="http://schemas.microsoft.com/office/drawing/2014/main" id="{2AE999B0-7DD0-610B-6028-4691606D0B24}"/>
              </a:ext>
            </a:extLst>
          </p:cNvPr>
          <p:cNvSpPr/>
          <p:nvPr/>
        </p:nvSpPr>
        <p:spPr>
          <a:xfrm>
            <a:off x="5605923" y="286776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5" name="O 14">
            <a:extLst>
              <a:ext uri="{FF2B5EF4-FFF2-40B4-BE49-F238E27FC236}">
                <a16:creationId xmlns:a16="http://schemas.microsoft.com/office/drawing/2014/main" id="{9D48CEBD-6B55-E4B8-0A32-97A95E8CDC42}"/>
              </a:ext>
            </a:extLst>
          </p:cNvPr>
          <p:cNvSpPr/>
          <p:nvPr/>
        </p:nvSpPr>
        <p:spPr>
          <a:xfrm>
            <a:off x="5956844" y="286776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7" name="O 16">
            <a:extLst>
              <a:ext uri="{FF2B5EF4-FFF2-40B4-BE49-F238E27FC236}">
                <a16:creationId xmlns:a16="http://schemas.microsoft.com/office/drawing/2014/main" id="{3AAF55A2-7E1F-00D8-8186-80CA05B35585}"/>
              </a:ext>
            </a:extLst>
          </p:cNvPr>
          <p:cNvSpPr/>
          <p:nvPr/>
        </p:nvSpPr>
        <p:spPr>
          <a:xfrm>
            <a:off x="6307765" y="2867766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9" name="O 18">
            <a:extLst>
              <a:ext uri="{FF2B5EF4-FFF2-40B4-BE49-F238E27FC236}">
                <a16:creationId xmlns:a16="http://schemas.microsoft.com/office/drawing/2014/main" id="{8027E5F7-32E0-D263-8304-94AD1080C490}"/>
              </a:ext>
            </a:extLst>
          </p:cNvPr>
          <p:cNvSpPr/>
          <p:nvPr/>
        </p:nvSpPr>
        <p:spPr>
          <a:xfrm>
            <a:off x="5322679" y="3406682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1" name="O 20">
            <a:extLst>
              <a:ext uri="{FF2B5EF4-FFF2-40B4-BE49-F238E27FC236}">
                <a16:creationId xmlns:a16="http://schemas.microsoft.com/office/drawing/2014/main" id="{F75FB659-9E62-60CA-7A58-0A8C20B5BD5A}"/>
              </a:ext>
            </a:extLst>
          </p:cNvPr>
          <p:cNvSpPr/>
          <p:nvPr/>
        </p:nvSpPr>
        <p:spPr>
          <a:xfrm>
            <a:off x="5595896" y="339916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3" name="O 22">
            <a:extLst>
              <a:ext uri="{FF2B5EF4-FFF2-40B4-BE49-F238E27FC236}">
                <a16:creationId xmlns:a16="http://schemas.microsoft.com/office/drawing/2014/main" id="{E2C06232-CD3D-16B2-A1DC-2BAD4D780253}"/>
              </a:ext>
            </a:extLst>
          </p:cNvPr>
          <p:cNvSpPr/>
          <p:nvPr/>
        </p:nvSpPr>
        <p:spPr>
          <a:xfrm>
            <a:off x="5946817" y="339916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5" name="O 24">
            <a:extLst>
              <a:ext uri="{FF2B5EF4-FFF2-40B4-BE49-F238E27FC236}">
                <a16:creationId xmlns:a16="http://schemas.microsoft.com/office/drawing/2014/main" id="{2D12079B-0216-3D93-6F61-1E1D2422A156}"/>
              </a:ext>
            </a:extLst>
          </p:cNvPr>
          <p:cNvSpPr/>
          <p:nvPr/>
        </p:nvSpPr>
        <p:spPr>
          <a:xfrm>
            <a:off x="6297738" y="3399160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7" name="O 26">
            <a:extLst>
              <a:ext uri="{FF2B5EF4-FFF2-40B4-BE49-F238E27FC236}">
                <a16:creationId xmlns:a16="http://schemas.microsoft.com/office/drawing/2014/main" id="{558AA558-F9F1-D38D-BC36-3FE59926FE6B}"/>
              </a:ext>
            </a:extLst>
          </p:cNvPr>
          <p:cNvSpPr/>
          <p:nvPr/>
        </p:nvSpPr>
        <p:spPr>
          <a:xfrm>
            <a:off x="5332705" y="395812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" name="O 28">
            <a:extLst>
              <a:ext uri="{FF2B5EF4-FFF2-40B4-BE49-F238E27FC236}">
                <a16:creationId xmlns:a16="http://schemas.microsoft.com/office/drawing/2014/main" id="{C6CF576A-B923-A538-E4D0-B22756B9570F}"/>
              </a:ext>
            </a:extLst>
          </p:cNvPr>
          <p:cNvSpPr/>
          <p:nvPr/>
        </p:nvSpPr>
        <p:spPr>
          <a:xfrm>
            <a:off x="5605922" y="395060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1" name="O 30">
            <a:extLst>
              <a:ext uri="{FF2B5EF4-FFF2-40B4-BE49-F238E27FC236}">
                <a16:creationId xmlns:a16="http://schemas.microsoft.com/office/drawing/2014/main" id="{B37DF094-9F2A-421A-337A-FE16CAD43C7F}"/>
              </a:ext>
            </a:extLst>
          </p:cNvPr>
          <p:cNvSpPr/>
          <p:nvPr/>
        </p:nvSpPr>
        <p:spPr>
          <a:xfrm>
            <a:off x="5956843" y="395060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3" name="O 32">
            <a:extLst>
              <a:ext uri="{FF2B5EF4-FFF2-40B4-BE49-F238E27FC236}">
                <a16:creationId xmlns:a16="http://schemas.microsoft.com/office/drawing/2014/main" id="{89EE7C04-4F29-A04A-5C39-46E2EFA6629C}"/>
              </a:ext>
            </a:extLst>
          </p:cNvPr>
          <p:cNvSpPr/>
          <p:nvPr/>
        </p:nvSpPr>
        <p:spPr>
          <a:xfrm>
            <a:off x="5342731" y="449954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5" name="O 34">
            <a:extLst>
              <a:ext uri="{FF2B5EF4-FFF2-40B4-BE49-F238E27FC236}">
                <a16:creationId xmlns:a16="http://schemas.microsoft.com/office/drawing/2014/main" id="{13524DA3-B288-12BE-2AEE-53AA5EA93ACD}"/>
              </a:ext>
            </a:extLst>
          </p:cNvPr>
          <p:cNvSpPr/>
          <p:nvPr/>
        </p:nvSpPr>
        <p:spPr>
          <a:xfrm>
            <a:off x="5615948" y="449202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7" name="O 36">
            <a:extLst>
              <a:ext uri="{FF2B5EF4-FFF2-40B4-BE49-F238E27FC236}">
                <a16:creationId xmlns:a16="http://schemas.microsoft.com/office/drawing/2014/main" id="{E7AA808D-B7B0-25A5-7C39-5A90225FBB39}"/>
              </a:ext>
            </a:extLst>
          </p:cNvPr>
          <p:cNvSpPr/>
          <p:nvPr/>
        </p:nvSpPr>
        <p:spPr>
          <a:xfrm>
            <a:off x="5966869" y="449202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graphicFrame>
        <p:nvGraphicFramePr>
          <p:cNvPr id="69" name="Tabella 68">
            <a:extLst>
              <a:ext uri="{FF2B5EF4-FFF2-40B4-BE49-F238E27FC236}">
                <a16:creationId xmlns:a16="http://schemas.microsoft.com/office/drawing/2014/main" id="{BA9FD232-EA75-C71C-B431-22D6DAD8B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264237"/>
              </p:ext>
            </p:extLst>
          </p:nvPr>
        </p:nvGraphicFramePr>
        <p:xfrm>
          <a:off x="938864" y="5725508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71" name="Tabella 70">
            <a:extLst>
              <a:ext uri="{FF2B5EF4-FFF2-40B4-BE49-F238E27FC236}">
                <a16:creationId xmlns:a16="http://schemas.microsoft.com/office/drawing/2014/main" id="{C2CBDCA5-5578-DFEE-6945-492511556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02823"/>
              </p:ext>
            </p:extLst>
          </p:nvPr>
        </p:nvGraphicFramePr>
        <p:xfrm>
          <a:off x="9110311" y="5725508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4271C481-B125-4C37-265E-1AA4794B8314}"/>
              </a:ext>
            </a:extLst>
          </p:cNvPr>
          <p:cNvSpPr txBox="1"/>
          <p:nvPr/>
        </p:nvSpPr>
        <p:spPr>
          <a:xfrm>
            <a:off x="10387262" y="5434262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83BF3419-5CDD-E9FF-CE29-00E25842B10E}"/>
              </a:ext>
            </a:extLst>
          </p:cNvPr>
          <p:cNvSpPr txBox="1"/>
          <p:nvPr/>
        </p:nvSpPr>
        <p:spPr>
          <a:xfrm>
            <a:off x="10447420" y="529389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69642170-E157-859E-CD26-B05843503469}"/>
              </a:ext>
            </a:extLst>
          </p:cNvPr>
          <p:cNvSpPr txBox="1"/>
          <p:nvPr/>
        </p:nvSpPr>
        <p:spPr>
          <a:xfrm>
            <a:off x="9404683" y="529389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4DEEA14F-4FB0-84DC-24D7-7808167822F2}"/>
              </a:ext>
            </a:extLst>
          </p:cNvPr>
          <p:cNvSpPr txBox="1"/>
          <p:nvPr/>
        </p:nvSpPr>
        <p:spPr>
          <a:xfrm>
            <a:off x="8462209" y="529389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0CE85CF3-D95D-9B63-6A11-E50C0D0FC766}"/>
              </a:ext>
            </a:extLst>
          </p:cNvPr>
          <p:cNvSpPr txBox="1"/>
          <p:nvPr/>
        </p:nvSpPr>
        <p:spPr>
          <a:xfrm>
            <a:off x="7640051" y="529389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FBEDD398-8754-57B9-608F-BCD69AD4A4D3}"/>
              </a:ext>
            </a:extLst>
          </p:cNvPr>
          <p:cNvSpPr txBox="1"/>
          <p:nvPr/>
        </p:nvSpPr>
        <p:spPr>
          <a:xfrm>
            <a:off x="6918156" y="532397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8F176A79-4917-D13F-6B2E-348A2907B850}"/>
              </a:ext>
            </a:extLst>
          </p:cNvPr>
          <p:cNvSpPr txBox="1"/>
          <p:nvPr/>
        </p:nvSpPr>
        <p:spPr>
          <a:xfrm>
            <a:off x="5995736" y="532397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3CB1D665-571F-4199-4679-E64FA216CFC4}"/>
              </a:ext>
            </a:extLst>
          </p:cNvPr>
          <p:cNvSpPr txBox="1"/>
          <p:nvPr/>
        </p:nvSpPr>
        <p:spPr>
          <a:xfrm>
            <a:off x="5223709" y="535405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F578D945-47A2-19E3-8441-804CC085FFAE}"/>
              </a:ext>
            </a:extLst>
          </p:cNvPr>
          <p:cNvSpPr txBox="1"/>
          <p:nvPr/>
        </p:nvSpPr>
        <p:spPr>
          <a:xfrm>
            <a:off x="4371472" y="535405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0EB78C6B-619E-483A-CF5F-D5E338652771}"/>
              </a:ext>
            </a:extLst>
          </p:cNvPr>
          <p:cNvSpPr txBox="1"/>
          <p:nvPr/>
        </p:nvSpPr>
        <p:spPr>
          <a:xfrm>
            <a:off x="3539288" y="535405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2E6020A6-378A-8251-92DA-F12FAC6AFDF2}"/>
              </a:ext>
            </a:extLst>
          </p:cNvPr>
          <p:cNvSpPr txBox="1"/>
          <p:nvPr/>
        </p:nvSpPr>
        <p:spPr>
          <a:xfrm>
            <a:off x="2666998" y="532397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0673DECC-1126-1268-A1BC-6AE4CB66A57E}"/>
              </a:ext>
            </a:extLst>
          </p:cNvPr>
          <p:cNvSpPr txBox="1"/>
          <p:nvPr/>
        </p:nvSpPr>
        <p:spPr>
          <a:xfrm>
            <a:off x="1884946" y="535405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A7EA6296-04A1-1246-6CFF-F52F4ECE0CEA}"/>
              </a:ext>
            </a:extLst>
          </p:cNvPr>
          <p:cNvSpPr txBox="1"/>
          <p:nvPr/>
        </p:nvSpPr>
        <p:spPr>
          <a:xfrm>
            <a:off x="1082840" y="535405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2091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B5B7FEFC-AEAB-99EF-72EA-DC640734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BFE2CDD-C3D7-4390-A879-339E4A446127}"/>
              </a:ext>
            </a:extLst>
          </p:cNvPr>
          <p:cNvSpPr txBox="1"/>
          <p:nvPr/>
        </p:nvSpPr>
        <p:spPr>
          <a:xfrm>
            <a:off x="270710" y="1112921"/>
            <a:ext cx="11610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1 pagina 84: Calcolare i bit di correzione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 da aggiungere alle parole binarie W. Supponendo che durante una trasmissione riceva le sequenze R1 e R2 quali saranno i corrispondenti bit di controllo calcolati?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W = 1A</a:t>
            </a:r>
            <a:r>
              <a:rPr lang="it-IT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  </a:t>
            </a:r>
            <a:r>
              <a:rPr lang="it-IT" dirty="0">
                <a:solidFill>
                  <a:srgbClr val="FF0000"/>
                </a:solidFill>
                <a:cs typeface="Calibri"/>
              </a:rPr>
              <a:t>R1 = 9D3</a:t>
            </a:r>
            <a:r>
              <a:rPr lang="it-IT" sz="1200" baseline="-25000" dirty="0">
                <a:solidFill>
                  <a:srgbClr val="FF0000"/>
                </a:solidFill>
                <a:cs typeface="Calibri"/>
              </a:rPr>
              <a:t>H</a:t>
            </a:r>
            <a:r>
              <a:rPr lang="it-IT" dirty="0">
                <a:solidFill>
                  <a:srgbClr val="FF0000"/>
                </a:solidFill>
                <a:cs typeface="Calibri"/>
              </a:rPr>
              <a:t> </a:t>
            </a:r>
            <a:r>
              <a:rPr lang="it-IT" dirty="0">
                <a:cs typeface="Calibri"/>
              </a:rPr>
              <a:t>        R2 = 1D3</a:t>
            </a:r>
            <a:r>
              <a:rPr lang="it-IT" sz="1200" baseline="-25000" dirty="0">
                <a:cs typeface="Calibri"/>
              </a:rPr>
              <a:t>H</a:t>
            </a:r>
          </a:p>
          <a:p>
            <a:endParaRPr lang="it-IT" dirty="0">
              <a:cs typeface="Calibri"/>
            </a:endParaRP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64A370C0-43E4-9149-F77B-5BAFFFC64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601116"/>
              </p:ext>
            </p:extLst>
          </p:nvPr>
        </p:nvGraphicFramePr>
        <p:xfrm>
          <a:off x="888732" y="2767745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03E5D5B0-973B-621A-F6D6-CB7105771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22588"/>
              </p:ext>
            </p:extLst>
          </p:nvPr>
        </p:nvGraphicFramePr>
        <p:xfrm>
          <a:off x="9060179" y="2767745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1EA674E-708C-3067-82C9-DA19EEDB8589}"/>
              </a:ext>
            </a:extLst>
          </p:cNvPr>
          <p:cNvSpPr txBox="1"/>
          <p:nvPr/>
        </p:nvSpPr>
        <p:spPr>
          <a:xfrm>
            <a:off x="10337130" y="2476499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BDBFF6B-DEED-E067-7996-21DC41A45F63}"/>
              </a:ext>
            </a:extLst>
          </p:cNvPr>
          <p:cNvSpPr txBox="1"/>
          <p:nvPr/>
        </p:nvSpPr>
        <p:spPr>
          <a:xfrm>
            <a:off x="10397288" y="233613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EE204D4-CFD8-635C-1EE9-1ACA2A8FB257}"/>
              </a:ext>
            </a:extLst>
          </p:cNvPr>
          <p:cNvSpPr txBox="1"/>
          <p:nvPr/>
        </p:nvSpPr>
        <p:spPr>
          <a:xfrm>
            <a:off x="9354551" y="233613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77161AD-5A3C-75EA-5AC9-7E6A7C537058}"/>
              </a:ext>
            </a:extLst>
          </p:cNvPr>
          <p:cNvSpPr txBox="1"/>
          <p:nvPr/>
        </p:nvSpPr>
        <p:spPr>
          <a:xfrm>
            <a:off x="8412077" y="2336131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F1CD250-7938-E406-1C36-C6C4BBC66FC0}"/>
              </a:ext>
            </a:extLst>
          </p:cNvPr>
          <p:cNvSpPr txBox="1"/>
          <p:nvPr/>
        </p:nvSpPr>
        <p:spPr>
          <a:xfrm>
            <a:off x="7589919" y="233613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F1B6901-A8FB-B073-5571-099F373E4AEC}"/>
              </a:ext>
            </a:extLst>
          </p:cNvPr>
          <p:cNvSpPr txBox="1"/>
          <p:nvPr/>
        </p:nvSpPr>
        <p:spPr>
          <a:xfrm>
            <a:off x="6868024" y="2366210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5946566-C84D-8FCE-C1E5-6C4A3D14E111}"/>
              </a:ext>
            </a:extLst>
          </p:cNvPr>
          <p:cNvSpPr txBox="1"/>
          <p:nvPr/>
        </p:nvSpPr>
        <p:spPr>
          <a:xfrm>
            <a:off x="5945604" y="2366211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A483870-1019-C2A1-6CBD-4F4EF4DD1FC5}"/>
              </a:ext>
            </a:extLst>
          </p:cNvPr>
          <p:cNvSpPr txBox="1"/>
          <p:nvPr/>
        </p:nvSpPr>
        <p:spPr>
          <a:xfrm>
            <a:off x="5173577" y="239628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4CD27A3-CBE2-4D0A-6846-E31B224E85B1}"/>
              </a:ext>
            </a:extLst>
          </p:cNvPr>
          <p:cNvSpPr txBox="1"/>
          <p:nvPr/>
        </p:nvSpPr>
        <p:spPr>
          <a:xfrm>
            <a:off x="4321340" y="239628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23F7C2C-F3B7-4F58-AC3F-FCD4A8751E2A}"/>
              </a:ext>
            </a:extLst>
          </p:cNvPr>
          <p:cNvSpPr txBox="1"/>
          <p:nvPr/>
        </p:nvSpPr>
        <p:spPr>
          <a:xfrm>
            <a:off x="3489156" y="239628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6A14767-56AD-85A1-8215-C67320BFEFF1}"/>
              </a:ext>
            </a:extLst>
          </p:cNvPr>
          <p:cNvSpPr txBox="1"/>
          <p:nvPr/>
        </p:nvSpPr>
        <p:spPr>
          <a:xfrm>
            <a:off x="2616866" y="2366210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B7F8A2F-A5AE-DCA3-E013-BDF59C64B3A2}"/>
              </a:ext>
            </a:extLst>
          </p:cNvPr>
          <p:cNvSpPr txBox="1"/>
          <p:nvPr/>
        </p:nvSpPr>
        <p:spPr>
          <a:xfrm>
            <a:off x="1834814" y="2396290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12D978F8-BECC-0001-ED57-9F36FA7C6A2A}"/>
              </a:ext>
            </a:extLst>
          </p:cNvPr>
          <p:cNvSpPr txBox="1"/>
          <p:nvPr/>
        </p:nvSpPr>
        <p:spPr>
          <a:xfrm>
            <a:off x="1032708" y="239628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D2108D6-6671-99FB-948C-2CA36D7E38D2}"/>
              </a:ext>
            </a:extLst>
          </p:cNvPr>
          <p:cNvSpPr txBox="1"/>
          <p:nvPr/>
        </p:nvSpPr>
        <p:spPr>
          <a:xfrm>
            <a:off x="272716" y="3491163"/>
            <a:ext cx="31643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R1 = 9D3</a:t>
            </a:r>
            <a:r>
              <a:rPr lang="it-IT" sz="1200" dirty="0"/>
              <a:t>H </a:t>
            </a:r>
            <a:r>
              <a:rPr lang="it-IT" dirty="0"/>
              <a:t>= 100111010011</a:t>
            </a:r>
            <a:r>
              <a:rPr lang="it-IT" sz="1200" dirty="0"/>
              <a:t>2</a:t>
            </a:r>
            <a:endParaRPr lang="it-IT" dirty="0"/>
          </a:p>
        </p:txBody>
      </p:sp>
      <p:graphicFrame>
        <p:nvGraphicFramePr>
          <p:cNvPr id="40" name="Tabella 39">
            <a:extLst>
              <a:ext uri="{FF2B5EF4-FFF2-40B4-BE49-F238E27FC236}">
                <a16:creationId xmlns:a16="http://schemas.microsoft.com/office/drawing/2014/main" id="{ABC522F3-273C-ADD9-591A-4F7E710E6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169410"/>
              </p:ext>
            </p:extLst>
          </p:nvPr>
        </p:nvGraphicFramePr>
        <p:xfrm>
          <a:off x="888732" y="4462192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02601690-2A8E-1937-6201-CD3F32CBD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35411"/>
              </p:ext>
            </p:extLst>
          </p:nvPr>
        </p:nvGraphicFramePr>
        <p:xfrm>
          <a:off x="9060179" y="4462192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8B854F2E-89D3-45D0-167E-A3464E267F24}"/>
              </a:ext>
            </a:extLst>
          </p:cNvPr>
          <p:cNvSpPr txBox="1"/>
          <p:nvPr/>
        </p:nvSpPr>
        <p:spPr>
          <a:xfrm>
            <a:off x="10337130" y="4170946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DB928B1-EFF7-CEBB-BC9E-589C2A6E8224}"/>
              </a:ext>
            </a:extLst>
          </p:cNvPr>
          <p:cNvSpPr txBox="1"/>
          <p:nvPr/>
        </p:nvSpPr>
        <p:spPr>
          <a:xfrm>
            <a:off x="10397288" y="40305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50446384-FAD7-1A84-EC94-7FEC8A49D54C}"/>
              </a:ext>
            </a:extLst>
          </p:cNvPr>
          <p:cNvSpPr txBox="1"/>
          <p:nvPr/>
        </p:nvSpPr>
        <p:spPr>
          <a:xfrm>
            <a:off x="9354551" y="40305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B0DD51D4-D80C-A87F-08B1-2EBBFAD97FD3}"/>
              </a:ext>
            </a:extLst>
          </p:cNvPr>
          <p:cNvSpPr txBox="1"/>
          <p:nvPr/>
        </p:nvSpPr>
        <p:spPr>
          <a:xfrm>
            <a:off x="8412077" y="403057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8F1E001B-70C7-D8F4-C582-906A64D32EA8}"/>
              </a:ext>
            </a:extLst>
          </p:cNvPr>
          <p:cNvSpPr txBox="1"/>
          <p:nvPr/>
        </p:nvSpPr>
        <p:spPr>
          <a:xfrm>
            <a:off x="7589919" y="403057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46A682C5-6558-BD22-5134-5E8666FF1EC1}"/>
              </a:ext>
            </a:extLst>
          </p:cNvPr>
          <p:cNvSpPr txBox="1"/>
          <p:nvPr/>
        </p:nvSpPr>
        <p:spPr>
          <a:xfrm>
            <a:off x="6868024" y="406065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CF343960-E7F6-653C-C99E-B54103A18818}"/>
              </a:ext>
            </a:extLst>
          </p:cNvPr>
          <p:cNvSpPr txBox="1"/>
          <p:nvPr/>
        </p:nvSpPr>
        <p:spPr>
          <a:xfrm>
            <a:off x="5945604" y="406065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389AC41D-C8C8-8D4D-8435-68DDD21D7223}"/>
              </a:ext>
            </a:extLst>
          </p:cNvPr>
          <p:cNvSpPr txBox="1"/>
          <p:nvPr/>
        </p:nvSpPr>
        <p:spPr>
          <a:xfrm>
            <a:off x="5173577" y="40907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31612BE1-CC4C-0FF5-DB67-116D02AA7C2A}"/>
              </a:ext>
            </a:extLst>
          </p:cNvPr>
          <p:cNvSpPr txBox="1"/>
          <p:nvPr/>
        </p:nvSpPr>
        <p:spPr>
          <a:xfrm>
            <a:off x="4321340" y="40907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E2136933-C342-2D7C-3FDF-4C1AA4DA5596}"/>
              </a:ext>
            </a:extLst>
          </p:cNvPr>
          <p:cNvSpPr txBox="1"/>
          <p:nvPr/>
        </p:nvSpPr>
        <p:spPr>
          <a:xfrm>
            <a:off x="3489156" y="40907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96C2C3E-880F-BDE0-5C91-33E22E2412C2}"/>
              </a:ext>
            </a:extLst>
          </p:cNvPr>
          <p:cNvSpPr txBox="1"/>
          <p:nvPr/>
        </p:nvSpPr>
        <p:spPr>
          <a:xfrm>
            <a:off x="2616866" y="406065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F5621856-E2D8-DEA3-A694-A9DB33BE788F}"/>
              </a:ext>
            </a:extLst>
          </p:cNvPr>
          <p:cNvSpPr txBox="1"/>
          <p:nvPr/>
        </p:nvSpPr>
        <p:spPr>
          <a:xfrm>
            <a:off x="1834814" y="409073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E677CE9B-DD5A-4D8E-A846-05A1F4F48C6B}"/>
              </a:ext>
            </a:extLst>
          </p:cNvPr>
          <p:cNvSpPr txBox="1"/>
          <p:nvPr/>
        </p:nvSpPr>
        <p:spPr>
          <a:xfrm>
            <a:off x="1032708" y="409073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96805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DDEF10EC-C143-E3BE-1852-677CA7778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A44A852-6A4B-C6BA-8543-1E9DB3FD4533}"/>
              </a:ext>
            </a:extLst>
          </p:cNvPr>
          <p:cNvSpPr txBox="1"/>
          <p:nvPr/>
        </p:nvSpPr>
        <p:spPr>
          <a:xfrm>
            <a:off x="270710" y="1112921"/>
            <a:ext cx="11610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1 pagina 84: Calcolare i bit di correzione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 da aggiungere alle parole binarie W. Supponendo che durante una trasmissione riceva le sequenze R1 e R2 quali saranno i corrispondenti bit di controllo calcolati?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W = 1A</a:t>
            </a:r>
            <a:r>
              <a:rPr lang="it-IT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  </a:t>
            </a:r>
            <a:r>
              <a:rPr lang="it-IT" dirty="0">
                <a:solidFill>
                  <a:srgbClr val="FF0000"/>
                </a:solidFill>
                <a:cs typeface="Calibri"/>
              </a:rPr>
              <a:t>R1 = 9D3</a:t>
            </a:r>
            <a:r>
              <a:rPr lang="it-IT" sz="1200" baseline="-25000" dirty="0">
                <a:solidFill>
                  <a:srgbClr val="FF0000"/>
                </a:solidFill>
                <a:cs typeface="Calibri"/>
              </a:rPr>
              <a:t>H</a:t>
            </a:r>
            <a:r>
              <a:rPr lang="it-IT" dirty="0">
                <a:solidFill>
                  <a:srgbClr val="FF0000"/>
                </a:solidFill>
                <a:cs typeface="Calibri"/>
              </a:rPr>
              <a:t> </a:t>
            </a:r>
            <a:r>
              <a:rPr lang="it-IT" dirty="0">
                <a:cs typeface="Calibri"/>
              </a:rPr>
              <a:t>        R2 = 1D3</a:t>
            </a:r>
            <a:r>
              <a:rPr lang="it-IT" sz="1200" baseline="-25000" dirty="0">
                <a:cs typeface="Calibri"/>
              </a:rPr>
              <a:t>H</a:t>
            </a:r>
          </a:p>
          <a:p>
            <a:endParaRPr lang="it-IT" dirty="0">
              <a:cs typeface="Calibri"/>
            </a:endParaRP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1BB5CBB5-5036-8C16-065B-D4E2AC788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568671"/>
              </p:ext>
            </p:extLst>
          </p:nvPr>
        </p:nvGraphicFramePr>
        <p:xfrm>
          <a:off x="858653" y="2888060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A4ECC04-F50A-094E-6EF4-027367D44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625416"/>
              </p:ext>
            </p:extLst>
          </p:nvPr>
        </p:nvGraphicFramePr>
        <p:xfrm>
          <a:off x="9030100" y="2888060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DC31673-3727-8355-86F1-8B7520DB83BB}"/>
              </a:ext>
            </a:extLst>
          </p:cNvPr>
          <p:cNvSpPr txBox="1"/>
          <p:nvPr/>
        </p:nvSpPr>
        <p:spPr>
          <a:xfrm>
            <a:off x="10307051" y="2596814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A9F0461-BBF6-247C-D61F-FE8F595C3737}"/>
              </a:ext>
            </a:extLst>
          </p:cNvPr>
          <p:cNvSpPr txBox="1"/>
          <p:nvPr/>
        </p:nvSpPr>
        <p:spPr>
          <a:xfrm>
            <a:off x="10367209" y="245644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966FC44-0049-20F4-CD5B-BCE2C76E7D91}"/>
              </a:ext>
            </a:extLst>
          </p:cNvPr>
          <p:cNvSpPr txBox="1"/>
          <p:nvPr/>
        </p:nvSpPr>
        <p:spPr>
          <a:xfrm>
            <a:off x="9324472" y="245644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BBAB4DA-1DBD-8A53-0DA3-CC3BDE30BD33}"/>
              </a:ext>
            </a:extLst>
          </p:cNvPr>
          <p:cNvSpPr txBox="1"/>
          <p:nvPr/>
        </p:nvSpPr>
        <p:spPr>
          <a:xfrm>
            <a:off x="8381998" y="245644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7078DE5-7585-732C-C293-EB04FB75DD0A}"/>
              </a:ext>
            </a:extLst>
          </p:cNvPr>
          <p:cNvSpPr txBox="1"/>
          <p:nvPr/>
        </p:nvSpPr>
        <p:spPr>
          <a:xfrm>
            <a:off x="7559840" y="245644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ECE4195-5065-C4CD-D09B-8F677433265D}"/>
              </a:ext>
            </a:extLst>
          </p:cNvPr>
          <p:cNvSpPr txBox="1"/>
          <p:nvPr/>
        </p:nvSpPr>
        <p:spPr>
          <a:xfrm>
            <a:off x="6837945" y="248652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C9FA33A-133A-4F37-037F-268C8A648938}"/>
              </a:ext>
            </a:extLst>
          </p:cNvPr>
          <p:cNvSpPr txBox="1"/>
          <p:nvPr/>
        </p:nvSpPr>
        <p:spPr>
          <a:xfrm>
            <a:off x="5915525" y="248652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8697451-321C-9C18-FC13-0BF4784DDCD0}"/>
              </a:ext>
            </a:extLst>
          </p:cNvPr>
          <p:cNvSpPr txBox="1"/>
          <p:nvPr/>
        </p:nvSpPr>
        <p:spPr>
          <a:xfrm>
            <a:off x="5143498" y="251660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53B76D2-EA7B-08F7-B520-8CE8DB196B29}"/>
              </a:ext>
            </a:extLst>
          </p:cNvPr>
          <p:cNvSpPr txBox="1"/>
          <p:nvPr/>
        </p:nvSpPr>
        <p:spPr>
          <a:xfrm>
            <a:off x="4291261" y="251660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B8BE0B6-0844-3E0C-09A3-172539D27726}"/>
              </a:ext>
            </a:extLst>
          </p:cNvPr>
          <p:cNvSpPr txBox="1"/>
          <p:nvPr/>
        </p:nvSpPr>
        <p:spPr>
          <a:xfrm>
            <a:off x="3459077" y="251660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CAC269A8-B174-DF1C-8C1F-4675DD37684E}"/>
              </a:ext>
            </a:extLst>
          </p:cNvPr>
          <p:cNvSpPr txBox="1"/>
          <p:nvPr/>
        </p:nvSpPr>
        <p:spPr>
          <a:xfrm>
            <a:off x="2586787" y="248652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AD97926F-4876-AD2C-93EC-A4EBF166E09E}"/>
              </a:ext>
            </a:extLst>
          </p:cNvPr>
          <p:cNvSpPr txBox="1"/>
          <p:nvPr/>
        </p:nvSpPr>
        <p:spPr>
          <a:xfrm>
            <a:off x="1804735" y="251660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065353F-6C23-58EE-C46E-18729A2ACBDD}"/>
              </a:ext>
            </a:extLst>
          </p:cNvPr>
          <p:cNvSpPr txBox="1"/>
          <p:nvPr/>
        </p:nvSpPr>
        <p:spPr>
          <a:xfrm>
            <a:off x="1002629" y="251660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AE92085-11DB-ACB6-98B6-797687626153}"/>
              </a:ext>
            </a:extLst>
          </p:cNvPr>
          <p:cNvSpPr txBox="1"/>
          <p:nvPr/>
        </p:nvSpPr>
        <p:spPr>
          <a:xfrm>
            <a:off x="11149263" y="3569368"/>
            <a:ext cx="66173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</a:t>
            </a:r>
          </a:p>
          <a:p>
            <a:pPr algn="l"/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292726AC-6BAF-1AD5-7A69-80AC47F103B0}"/>
              </a:ext>
            </a:extLst>
          </p:cNvPr>
          <p:cNvSpPr/>
          <p:nvPr/>
        </p:nvSpPr>
        <p:spPr>
          <a:xfrm>
            <a:off x="10427368" y="3669631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3A66C800-375B-6EF3-3A66-BD72C8660803}"/>
              </a:ext>
            </a:extLst>
          </p:cNvPr>
          <p:cNvSpPr/>
          <p:nvPr/>
        </p:nvSpPr>
        <p:spPr>
          <a:xfrm>
            <a:off x="9314447" y="4201025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A1CEAA3B-EAC2-E8D1-98F5-5E27B74D7627}"/>
              </a:ext>
            </a:extLst>
          </p:cNvPr>
          <p:cNvSpPr/>
          <p:nvPr/>
        </p:nvSpPr>
        <p:spPr>
          <a:xfrm>
            <a:off x="7650078" y="4682288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A5D1792F-5A94-6397-94E0-4D995EA74318}"/>
              </a:ext>
            </a:extLst>
          </p:cNvPr>
          <p:cNvSpPr/>
          <p:nvPr/>
        </p:nvSpPr>
        <p:spPr>
          <a:xfrm>
            <a:off x="4441657" y="5173578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46CEC54D-D1F8-A995-A518-CF682A3B49FD}"/>
              </a:ext>
            </a:extLst>
          </p:cNvPr>
          <p:cNvSpPr/>
          <p:nvPr/>
        </p:nvSpPr>
        <p:spPr>
          <a:xfrm>
            <a:off x="8472236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DB15716A-D9B9-0D26-DB1B-309F18222456}"/>
              </a:ext>
            </a:extLst>
          </p:cNvPr>
          <p:cNvSpPr/>
          <p:nvPr/>
        </p:nvSpPr>
        <p:spPr>
          <a:xfrm>
            <a:off x="6878052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F6E934F4-51B0-5B19-2524-96716E477DD7}"/>
              </a:ext>
            </a:extLst>
          </p:cNvPr>
          <p:cNvSpPr/>
          <p:nvPr/>
        </p:nvSpPr>
        <p:spPr>
          <a:xfrm>
            <a:off x="5233736" y="366962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40F8455F-E9CB-4EA1-7970-FCF0456A9DA0}"/>
              </a:ext>
            </a:extLst>
          </p:cNvPr>
          <p:cNvSpPr/>
          <p:nvPr/>
        </p:nvSpPr>
        <p:spPr>
          <a:xfrm>
            <a:off x="3549315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01177965-2E88-1636-E112-3AC8E06992A2}"/>
              </a:ext>
            </a:extLst>
          </p:cNvPr>
          <p:cNvSpPr/>
          <p:nvPr/>
        </p:nvSpPr>
        <p:spPr>
          <a:xfrm>
            <a:off x="1894972" y="366963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2FB0EE6A-CD85-71BB-C387-41BDDE76FEF7}"/>
              </a:ext>
            </a:extLst>
          </p:cNvPr>
          <p:cNvSpPr/>
          <p:nvPr/>
        </p:nvSpPr>
        <p:spPr>
          <a:xfrm>
            <a:off x="8472236" y="416091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5BDC90A7-79A3-8B21-0A92-4E1EA8B1CBDE}"/>
              </a:ext>
            </a:extLst>
          </p:cNvPr>
          <p:cNvSpPr/>
          <p:nvPr/>
        </p:nvSpPr>
        <p:spPr>
          <a:xfrm>
            <a:off x="6005762" y="416091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5B4A2F84-C87C-AA62-F5D3-5F8A55574DA3}"/>
              </a:ext>
            </a:extLst>
          </p:cNvPr>
          <p:cNvSpPr/>
          <p:nvPr/>
        </p:nvSpPr>
        <p:spPr>
          <a:xfrm>
            <a:off x="5233736" y="416091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Rettangolo 64">
            <a:extLst>
              <a:ext uri="{FF2B5EF4-FFF2-40B4-BE49-F238E27FC236}">
                <a16:creationId xmlns:a16="http://schemas.microsoft.com/office/drawing/2014/main" id="{1EFD5AB5-A383-B297-345E-E673EAB1554E}"/>
              </a:ext>
            </a:extLst>
          </p:cNvPr>
          <p:cNvSpPr/>
          <p:nvPr/>
        </p:nvSpPr>
        <p:spPr>
          <a:xfrm>
            <a:off x="2707104" y="416091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CFFF1743-8BEA-2770-D9EE-70AAF4B32582}"/>
              </a:ext>
            </a:extLst>
          </p:cNvPr>
          <p:cNvSpPr/>
          <p:nvPr/>
        </p:nvSpPr>
        <p:spPr>
          <a:xfrm>
            <a:off x="1894973" y="416091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F379F0F0-4ED6-497C-0F44-BA155DDBD9B7}"/>
              </a:ext>
            </a:extLst>
          </p:cNvPr>
          <p:cNvSpPr/>
          <p:nvPr/>
        </p:nvSpPr>
        <p:spPr>
          <a:xfrm>
            <a:off x="5985709" y="4662234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Rettangolo 70">
            <a:extLst>
              <a:ext uri="{FF2B5EF4-FFF2-40B4-BE49-F238E27FC236}">
                <a16:creationId xmlns:a16="http://schemas.microsoft.com/office/drawing/2014/main" id="{75BC060E-E9A7-44CE-1471-4F050E5AD62B}"/>
              </a:ext>
            </a:extLst>
          </p:cNvPr>
          <p:cNvSpPr/>
          <p:nvPr/>
        </p:nvSpPr>
        <p:spPr>
          <a:xfrm>
            <a:off x="5213683" y="4662234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5F5F8529-4CF1-FFAD-B3C7-A181C3A82539}"/>
              </a:ext>
            </a:extLst>
          </p:cNvPr>
          <p:cNvSpPr/>
          <p:nvPr/>
        </p:nvSpPr>
        <p:spPr>
          <a:xfrm>
            <a:off x="3519235" y="514349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0B8C8FD5-33C4-3505-2E48-7EBF9182A43A}"/>
              </a:ext>
            </a:extLst>
          </p:cNvPr>
          <p:cNvSpPr/>
          <p:nvPr/>
        </p:nvSpPr>
        <p:spPr>
          <a:xfrm>
            <a:off x="2747209" y="514349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85CE3962-390E-0E6C-36D1-328A91341100}"/>
              </a:ext>
            </a:extLst>
          </p:cNvPr>
          <p:cNvSpPr/>
          <p:nvPr/>
        </p:nvSpPr>
        <p:spPr>
          <a:xfrm>
            <a:off x="1874920" y="516355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D0B46943-FD71-BB9C-EE32-9CE04BD83B02}"/>
              </a:ext>
            </a:extLst>
          </p:cNvPr>
          <p:cNvSpPr/>
          <p:nvPr/>
        </p:nvSpPr>
        <p:spPr>
          <a:xfrm>
            <a:off x="1102894" y="516355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E6224BCB-83F2-2228-FB45-EE9EE63DA52D}"/>
              </a:ext>
            </a:extLst>
          </p:cNvPr>
          <p:cNvSpPr/>
          <p:nvPr/>
        </p:nvSpPr>
        <p:spPr>
          <a:xfrm>
            <a:off x="6878051" y="468228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6D13B6DB-F5F0-0F28-8BBD-03E47BF560BE}"/>
              </a:ext>
            </a:extLst>
          </p:cNvPr>
          <p:cNvSpPr/>
          <p:nvPr/>
        </p:nvSpPr>
        <p:spPr>
          <a:xfrm>
            <a:off x="1062787" y="4662233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4963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EABA6A-092C-53D5-ABF1-68692193B5F6}"/>
              </a:ext>
            </a:extLst>
          </p:cNvPr>
          <p:cNvSpPr txBox="1"/>
          <p:nvPr/>
        </p:nvSpPr>
        <p:spPr>
          <a:xfrm>
            <a:off x="2556709" y="4341395"/>
            <a:ext cx="323850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  =  1   0    1    1     1    0 =  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  =  1   0    0    1     0     0 =  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  =  0   1    0    1      1=  1</a:t>
            </a:r>
            <a:endParaRPr lang="it-IT" dirty="0"/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  =  1   1    0    0     1 =  1</a:t>
            </a:r>
            <a:endParaRPr lang="it-IT" dirty="0"/>
          </a:p>
        </p:txBody>
      </p:sp>
      <p:sp>
        <p:nvSpPr>
          <p:cNvPr id="7" name="O 6">
            <a:extLst>
              <a:ext uri="{FF2B5EF4-FFF2-40B4-BE49-F238E27FC236}">
                <a16:creationId xmlns:a16="http://schemas.microsoft.com/office/drawing/2014/main" id="{87177CA1-29CF-A4E5-D5CE-A4B902E5F745}"/>
              </a:ext>
            </a:extLst>
          </p:cNvPr>
          <p:cNvSpPr/>
          <p:nvPr/>
        </p:nvSpPr>
        <p:spPr>
          <a:xfrm>
            <a:off x="3327443" y="444941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9" name="O 8">
            <a:extLst>
              <a:ext uri="{FF2B5EF4-FFF2-40B4-BE49-F238E27FC236}">
                <a16:creationId xmlns:a16="http://schemas.microsoft.com/office/drawing/2014/main" id="{9E430407-DB04-B561-C21A-E9AD8E259144}"/>
              </a:ext>
            </a:extLst>
          </p:cNvPr>
          <p:cNvSpPr/>
          <p:nvPr/>
        </p:nvSpPr>
        <p:spPr>
          <a:xfrm>
            <a:off x="3600660" y="444189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1" name="O 10">
            <a:extLst>
              <a:ext uri="{FF2B5EF4-FFF2-40B4-BE49-F238E27FC236}">
                <a16:creationId xmlns:a16="http://schemas.microsoft.com/office/drawing/2014/main" id="{8AA2E9CA-206D-958A-B4BF-1EFD669F6D7D}"/>
              </a:ext>
            </a:extLst>
          </p:cNvPr>
          <p:cNvSpPr/>
          <p:nvPr/>
        </p:nvSpPr>
        <p:spPr>
          <a:xfrm>
            <a:off x="3951582" y="444189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3" name="O 12">
            <a:extLst>
              <a:ext uri="{FF2B5EF4-FFF2-40B4-BE49-F238E27FC236}">
                <a16:creationId xmlns:a16="http://schemas.microsoft.com/office/drawing/2014/main" id="{6490784F-999A-1D56-9175-4BBD84BCFC28}"/>
              </a:ext>
            </a:extLst>
          </p:cNvPr>
          <p:cNvSpPr/>
          <p:nvPr/>
        </p:nvSpPr>
        <p:spPr>
          <a:xfrm>
            <a:off x="4302502" y="444189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5" name="O 14">
            <a:extLst>
              <a:ext uri="{FF2B5EF4-FFF2-40B4-BE49-F238E27FC236}">
                <a16:creationId xmlns:a16="http://schemas.microsoft.com/office/drawing/2014/main" id="{98469821-7B23-CDD5-BDA1-D8E8D6177454}"/>
              </a:ext>
            </a:extLst>
          </p:cNvPr>
          <p:cNvSpPr/>
          <p:nvPr/>
        </p:nvSpPr>
        <p:spPr>
          <a:xfrm>
            <a:off x="3317416" y="4980813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7" name="O 16">
            <a:extLst>
              <a:ext uri="{FF2B5EF4-FFF2-40B4-BE49-F238E27FC236}">
                <a16:creationId xmlns:a16="http://schemas.microsoft.com/office/drawing/2014/main" id="{14A05426-30C0-388C-CCE5-557FB52BEEDE}"/>
              </a:ext>
            </a:extLst>
          </p:cNvPr>
          <p:cNvSpPr/>
          <p:nvPr/>
        </p:nvSpPr>
        <p:spPr>
          <a:xfrm>
            <a:off x="3590633" y="4973292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9" name="O 18">
            <a:extLst>
              <a:ext uri="{FF2B5EF4-FFF2-40B4-BE49-F238E27FC236}">
                <a16:creationId xmlns:a16="http://schemas.microsoft.com/office/drawing/2014/main" id="{7DE6DCBA-66D8-2A71-FBC9-C65EC750E321}"/>
              </a:ext>
            </a:extLst>
          </p:cNvPr>
          <p:cNvSpPr/>
          <p:nvPr/>
        </p:nvSpPr>
        <p:spPr>
          <a:xfrm>
            <a:off x="3941554" y="4973292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1" name="O 20">
            <a:extLst>
              <a:ext uri="{FF2B5EF4-FFF2-40B4-BE49-F238E27FC236}">
                <a16:creationId xmlns:a16="http://schemas.microsoft.com/office/drawing/2014/main" id="{28A1ED38-AC8F-2F64-77E2-F61C7C3D02E5}"/>
              </a:ext>
            </a:extLst>
          </p:cNvPr>
          <p:cNvSpPr/>
          <p:nvPr/>
        </p:nvSpPr>
        <p:spPr>
          <a:xfrm>
            <a:off x="4292475" y="497329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3" name="O 22">
            <a:extLst>
              <a:ext uri="{FF2B5EF4-FFF2-40B4-BE49-F238E27FC236}">
                <a16:creationId xmlns:a16="http://schemas.microsoft.com/office/drawing/2014/main" id="{81A8FDD4-C0C4-F60E-99FF-0F8BA0523BE8}"/>
              </a:ext>
            </a:extLst>
          </p:cNvPr>
          <p:cNvSpPr/>
          <p:nvPr/>
        </p:nvSpPr>
        <p:spPr>
          <a:xfrm>
            <a:off x="3327442" y="553225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5" name="O 24">
            <a:extLst>
              <a:ext uri="{FF2B5EF4-FFF2-40B4-BE49-F238E27FC236}">
                <a16:creationId xmlns:a16="http://schemas.microsoft.com/office/drawing/2014/main" id="{E27C5B57-D250-CBF6-C554-0C416D7878D0}"/>
              </a:ext>
            </a:extLst>
          </p:cNvPr>
          <p:cNvSpPr/>
          <p:nvPr/>
        </p:nvSpPr>
        <p:spPr>
          <a:xfrm>
            <a:off x="3600659" y="552473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7" name="O 26">
            <a:extLst>
              <a:ext uri="{FF2B5EF4-FFF2-40B4-BE49-F238E27FC236}">
                <a16:creationId xmlns:a16="http://schemas.microsoft.com/office/drawing/2014/main" id="{F302D149-B919-67AA-843E-406269809B7C}"/>
              </a:ext>
            </a:extLst>
          </p:cNvPr>
          <p:cNvSpPr/>
          <p:nvPr/>
        </p:nvSpPr>
        <p:spPr>
          <a:xfrm>
            <a:off x="3951581" y="552473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" name="O 28">
            <a:extLst>
              <a:ext uri="{FF2B5EF4-FFF2-40B4-BE49-F238E27FC236}">
                <a16:creationId xmlns:a16="http://schemas.microsoft.com/office/drawing/2014/main" id="{F8B7109E-19A8-072F-A6F6-EF7C0503742C}"/>
              </a:ext>
            </a:extLst>
          </p:cNvPr>
          <p:cNvSpPr/>
          <p:nvPr/>
        </p:nvSpPr>
        <p:spPr>
          <a:xfrm>
            <a:off x="3337468" y="6073680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1" name="O 30">
            <a:extLst>
              <a:ext uri="{FF2B5EF4-FFF2-40B4-BE49-F238E27FC236}">
                <a16:creationId xmlns:a16="http://schemas.microsoft.com/office/drawing/2014/main" id="{9D5BB96C-1961-E73A-9DFC-7AA254419FC3}"/>
              </a:ext>
            </a:extLst>
          </p:cNvPr>
          <p:cNvSpPr/>
          <p:nvPr/>
        </p:nvSpPr>
        <p:spPr>
          <a:xfrm>
            <a:off x="3610685" y="606616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3" name="O 32">
            <a:extLst>
              <a:ext uri="{FF2B5EF4-FFF2-40B4-BE49-F238E27FC236}">
                <a16:creationId xmlns:a16="http://schemas.microsoft.com/office/drawing/2014/main" id="{A784082D-19A7-206C-624F-A7A89F9145B0}"/>
              </a:ext>
            </a:extLst>
          </p:cNvPr>
          <p:cNvSpPr/>
          <p:nvPr/>
        </p:nvSpPr>
        <p:spPr>
          <a:xfrm>
            <a:off x="3961606" y="606616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5" name="Titolo 1">
            <a:extLst>
              <a:ext uri="{FF2B5EF4-FFF2-40B4-BE49-F238E27FC236}">
                <a16:creationId xmlns:a16="http://schemas.microsoft.com/office/drawing/2014/main" id="{5AC015D7-BB70-699E-A06F-412584FF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516" y="154572"/>
            <a:ext cx="4940969" cy="774116"/>
          </a:xfrm>
        </p:spPr>
        <p:txBody>
          <a:bodyPr/>
          <a:lstStyle/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5A5157DA-525B-FE9D-6A0F-9EEEAB0A9AA7}"/>
              </a:ext>
            </a:extLst>
          </p:cNvPr>
          <p:cNvCxnSpPr/>
          <p:nvPr/>
        </p:nvCxnSpPr>
        <p:spPr>
          <a:xfrm>
            <a:off x="2711117" y="4365456"/>
            <a:ext cx="52138" cy="6216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577C700C-FF6C-AAD6-986F-EABD25C31D16}"/>
              </a:ext>
            </a:extLst>
          </p:cNvPr>
          <p:cNvCxnSpPr>
            <a:cxnSpLocks/>
          </p:cNvCxnSpPr>
          <p:nvPr/>
        </p:nvCxnSpPr>
        <p:spPr>
          <a:xfrm flipV="1">
            <a:off x="2620878" y="4337383"/>
            <a:ext cx="92243" cy="7820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2693808D-CA35-9865-D641-7C2415B1D936}"/>
              </a:ext>
            </a:extLst>
          </p:cNvPr>
          <p:cNvCxnSpPr>
            <a:cxnSpLocks/>
          </p:cNvCxnSpPr>
          <p:nvPr/>
        </p:nvCxnSpPr>
        <p:spPr>
          <a:xfrm>
            <a:off x="2721143" y="4886824"/>
            <a:ext cx="52138" cy="6216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71300B7D-4F21-FA87-BD80-834A8D919CC8}"/>
              </a:ext>
            </a:extLst>
          </p:cNvPr>
          <p:cNvCxnSpPr>
            <a:cxnSpLocks/>
          </p:cNvCxnSpPr>
          <p:nvPr/>
        </p:nvCxnSpPr>
        <p:spPr>
          <a:xfrm flipV="1">
            <a:off x="2630904" y="4858751"/>
            <a:ext cx="92243" cy="7820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21B93179-3994-2928-9255-94CAF1C7D033}"/>
              </a:ext>
            </a:extLst>
          </p:cNvPr>
          <p:cNvCxnSpPr>
            <a:cxnSpLocks/>
          </p:cNvCxnSpPr>
          <p:nvPr/>
        </p:nvCxnSpPr>
        <p:spPr>
          <a:xfrm>
            <a:off x="2721142" y="5428246"/>
            <a:ext cx="52138" cy="6216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2E77D09F-B765-23ED-37B8-A8D2D728B96D}"/>
              </a:ext>
            </a:extLst>
          </p:cNvPr>
          <p:cNvCxnSpPr>
            <a:cxnSpLocks/>
          </p:cNvCxnSpPr>
          <p:nvPr/>
        </p:nvCxnSpPr>
        <p:spPr>
          <a:xfrm flipV="1">
            <a:off x="2630903" y="5400173"/>
            <a:ext cx="92243" cy="7820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2B99BFBE-AA97-B893-2DBC-98D71EFE6393}"/>
              </a:ext>
            </a:extLst>
          </p:cNvPr>
          <p:cNvCxnSpPr>
            <a:cxnSpLocks/>
          </p:cNvCxnSpPr>
          <p:nvPr/>
        </p:nvCxnSpPr>
        <p:spPr>
          <a:xfrm>
            <a:off x="2721143" y="5979693"/>
            <a:ext cx="52138" cy="6216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6A11C30F-41B0-B685-5055-FB0AA19692CC}"/>
              </a:ext>
            </a:extLst>
          </p:cNvPr>
          <p:cNvCxnSpPr>
            <a:cxnSpLocks/>
          </p:cNvCxnSpPr>
          <p:nvPr/>
        </p:nvCxnSpPr>
        <p:spPr>
          <a:xfrm flipV="1">
            <a:off x="2630904" y="5951620"/>
            <a:ext cx="92243" cy="7820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 75">
            <a:extLst>
              <a:ext uri="{FF2B5EF4-FFF2-40B4-BE49-F238E27FC236}">
                <a16:creationId xmlns:a16="http://schemas.microsoft.com/office/drawing/2014/main" id="{62A1ECC8-5D11-0C81-6880-91726A4A9C23}"/>
              </a:ext>
            </a:extLst>
          </p:cNvPr>
          <p:cNvSpPr/>
          <p:nvPr/>
        </p:nvSpPr>
        <p:spPr>
          <a:xfrm>
            <a:off x="4613317" y="444189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77" name="O 76">
            <a:extLst>
              <a:ext uri="{FF2B5EF4-FFF2-40B4-BE49-F238E27FC236}">
                <a16:creationId xmlns:a16="http://schemas.microsoft.com/office/drawing/2014/main" id="{DE6D1C11-BEF3-8EF6-CC28-872FF4F2AB53}"/>
              </a:ext>
            </a:extLst>
          </p:cNvPr>
          <p:cNvSpPr/>
          <p:nvPr/>
        </p:nvSpPr>
        <p:spPr>
          <a:xfrm>
            <a:off x="4613317" y="498331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78" name="O 77">
            <a:extLst>
              <a:ext uri="{FF2B5EF4-FFF2-40B4-BE49-F238E27FC236}">
                <a16:creationId xmlns:a16="http://schemas.microsoft.com/office/drawing/2014/main" id="{21DD4A93-65A2-AB1B-4378-0635D48DA81D}"/>
              </a:ext>
            </a:extLst>
          </p:cNvPr>
          <p:cNvSpPr/>
          <p:nvPr/>
        </p:nvSpPr>
        <p:spPr>
          <a:xfrm>
            <a:off x="4272423" y="552473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79" name="O 78">
            <a:extLst>
              <a:ext uri="{FF2B5EF4-FFF2-40B4-BE49-F238E27FC236}">
                <a16:creationId xmlns:a16="http://schemas.microsoft.com/office/drawing/2014/main" id="{FA9A0F4D-17FB-9D11-5104-335A05EDC2F4}"/>
              </a:ext>
            </a:extLst>
          </p:cNvPr>
          <p:cNvSpPr/>
          <p:nvPr/>
        </p:nvSpPr>
        <p:spPr>
          <a:xfrm>
            <a:off x="4272422" y="6066160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graphicFrame>
        <p:nvGraphicFramePr>
          <p:cNvPr id="81" name="Tabella 80">
            <a:extLst>
              <a:ext uri="{FF2B5EF4-FFF2-40B4-BE49-F238E27FC236}">
                <a16:creationId xmlns:a16="http://schemas.microsoft.com/office/drawing/2014/main" id="{C70EE389-F5FC-6CF5-479A-8FE2F9D90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991118"/>
              </p:ext>
            </p:extLst>
          </p:nvPr>
        </p:nvGraphicFramePr>
        <p:xfrm>
          <a:off x="547837" y="1313928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83" name="Tabella 82">
            <a:extLst>
              <a:ext uri="{FF2B5EF4-FFF2-40B4-BE49-F238E27FC236}">
                <a16:creationId xmlns:a16="http://schemas.microsoft.com/office/drawing/2014/main" id="{A639CA2C-3C15-E746-771A-9C997226F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59317"/>
              </p:ext>
            </p:extLst>
          </p:nvPr>
        </p:nvGraphicFramePr>
        <p:xfrm>
          <a:off x="8719284" y="1313928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02031C3E-B756-A4D6-A563-310C196047D0}"/>
              </a:ext>
            </a:extLst>
          </p:cNvPr>
          <p:cNvSpPr txBox="1"/>
          <p:nvPr/>
        </p:nvSpPr>
        <p:spPr>
          <a:xfrm>
            <a:off x="9996235" y="1022682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519A67C5-248E-5E98-3752-D4BE9E7F09D6}"/>
              </a:ext>
            </a:extLst>
          </p:cNvPr>
          <p:cNvSpPr txBox="1"/>
          <p:nvPr/>
        </p:nvSpPr>
        <p:spPr>
          <a:xfrm>
            <a:off x="10056393" y="88231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25AE70FB-23C9-0AEC-C483-F33D34BAB17C}"/>
              </a:ext>
            </a:extLst>
          </p:cNvPr>
          <p:cNvSpPr txBox="1"/>
          <p:nvPr/>
        </p:nvSpPr>
        <p:spPr>
          <a:xfrm>
            <a:off x="9013656" y="88231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9167E766-29E8-8BD0-4CDF-C12D8566E4E2}"/>
              </a:ext>
            </a:extLst>
          </p:cNvPr>
          <p:cNvSpPr txBox="1"/>
          <p:nvPr/>
        </p:nvSpPr>
        <p:spPr>
          <a:xfrm>
            <a:off x="8071182" y="88231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DEA88FED-046C-2DFF-5FCF-307DE5CEE9F4}"/>
              </a:ext>
            </a:extLst>
          </p:cNvPr>
          <p:cNvSpPr txBox="1"/>
          <p:nvPr/>
        </p:nvSpPr>
        <p:spPr>
          <a:xfrm>
            <a:off x="7249024" y="88231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48B14DFA-8075-3207-42EA-AA7D389C31BB}"/>
              </a:ext>
            </a:extLst>
          </p:cNvPr>
          <p:cNvSpPr txBox="1"/>
          <p:nvPr/>
        </p:nvSpPr>
        <p:spPr>
          <a:xfrm>
            <a:off x="6527129" y="91239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8DB579FE-73E7-B528-7181-4D39D29258A1}"/>
              </a:ext>
            </a:extLst>
          </p:cNvPr>
          <p:cNvSpPr txBox="1"/>
          <p:nvPr/>
        </p:nvSpPr>
        <p:spPr>
          <a:xfrm>
            <a:off x="5604709" y="91239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706BB18F-8AA0-C7C4-FF19-FD481F756927}"/>
              </a:ext>
            </a:extLst>
          </p:cNvPr>
          <p:cNvSpPr txBox="1"/>
          <p:nvPr/>
        </p:nvSpPr>
        <p:spPr>
          <a:xfrm>
            <a:off x="4832682" y="94247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568E2171-3780-D58E-F39C-788B42979A76}"/>
              </a:ext>
            </a:extLst>
          </p:cNvPr>
          <p:cNvSpPr txBox="1"/>
          <p:nvPr/>
        </p:nvSpPr>
        <p:spPr>
          <a:xfrm>
            <a:off x="3980445" y="94247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33C54CEC-B309-DE75-FCDD-44A0107FFDD9}"/>
              </a:ext>
            </a:extLst>
          </p:cNvPr>
          <p:cNvSpPr txBox="1"/>
          <p:nvPr/>
        </p:nvSpPr>
        <p:spPr>
          <a:xfrm>
            <a:off x="3148261" y="94247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EA64D39E-2F2E-4B9A-11D8-F78B2117A75A}"/>
              </a:ext>
            </a:extLst>
          </p:cNvPr>
          <p:cNvSpPr txBox="1"/>
          <p:nvPr/>
        </p:nvSpPr>
        <p:spPr>
          <a:xfrm>
            <a:off x="2275971" y="91239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2F14FF86-BC28-9661-B7BD-9DDF81A41DAC}"/>
              </a:ext>
            </a:extLst>
          </p:cNvPr>
          <p:cNvSpPr txBox="1"/>
          <p:nvPr/>
        </p:nvSpPr>
        <p:spPr>
          <a:xfrm>
            <a:off x="1493919" y="94247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49B845A8-3D9B-53BF-B5EA-68EECF91DE2B}"/>
              </a:ext>
            </a:extLst>
          </p:cNvPr>
          <p:cNvSpPr txBox="1"/>
          <p:nvPr/>
        </p:nvSpPr>
        <p:spPr>
          <a:xfrm>
            <a:off x="691813" y="94247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499BD962-0DDE-3D25-8FD6-D94C93E2FAC6}"/>
              </a:ext>
            </a:extLst>
          </p:cNvPr>
          <p:cNvSpPr txBox="1"/>
          <p:nvPr/>
        </p:nvSpPr>
        <p:spPr>
          <a:xfrm>
            <a:off x="10838447" y="1995236"/>
            <a:ext cx="66173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</a:t>
            </a:r>
          </a:p>
          <a:p>
            <a:pPr algn="l"/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</a:t>
            </a:r>
          </a:p>
        </p:txBody>
      </p:sp>
      <p:sp>
        <p:nvSpPr>
          <p:cNvPr id="113" name="Rettangolo 112">
            <a:extLst>
              <a:ext uri="{FF2B5EF4-FFF2-40B4-BE49-F238E27FC236}">
                <a16:creationId xmlns:a16="http://schemas.microsoft.com/office/drawing/2014/main" id="{4C10E3AB-E147-63BC-A1BA-4586B4689836}"/>
              </a:ext>
            </a:extLst>
          </p:cNvPr>
          <p:cNvSpPr/>
          <p:nvPr/>
        </p:nvSpPr>
        <p:spPr>
          <a:xfrm>
            <a:off x="10116552" y="2095499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24148A42-0A38-9A4F-4D24-0B744F12B535}"/>
              </a:ext>
            </a:extLst>
          </p:cNvPr>
          <p:cNvSpPr/>
          <p:nvPr/>
        </p:nvSpPr>
        <p:spPr>
          <a:xfrm>
            <a:off x="9003631" y="2626893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70EB51BC-CD2A-7BC1-0E70-5817764729E6}"/>
              </a:ext>
            </a:extLst>
          </p:cNvPr>
          <p:cNvSpPr/>
          <p:nvPr/>
        </p:nvSpPr>
        <p:spPr>
          <a:xfrm>
            <a:off x="7339262" y="3108156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9" name="Rettangolo 118">
            <a:extLst>
              <a:ext uri="{FF2B5EF4-FFF2-40B4-BE49-F238E27FC236}">
                <a16:creationId xmlns:a16="http://schemas.microsoft.com/office/drawing/2014/main" id="{83423580-AE48-F9D0-ED3C-71175D9F43C3}"/>
              </a:ext>
            </a:extLst>
          </p:cNvPr>
          <p:cNvSpPr/>
          <p:nvPr/>
        </p:nvSpPr>
        <p:spPr>
          <a:xfrm>
            <a:off x="4130841" y="3599446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6EC581AD-E9CF-B9DA-B4B5-D455201C2029}"/>
              </a:ext>
            </a:extLst>
          </p:cNvPr>
          <p:cNvSpPr/>
          <p:nvPr/>
        </p:nvSpPr>
        <p:spPr>
          <a:xfrm>
            <a:off x="8161420" y="209549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3" name="Rettangolo 122">
            <a:extLst>
              <a:ext uri="{FF2B5EF4-FFF2-40B4-BE49-F238E27FC236}">
                <a16:creationId xmlns:a16="http://schemas.microsoft.com/office/drawing/2014/main" id="{810EC386-67EF-5338-A9B5-7012C2DDA7A5}"/>
              </a:ext>
            </a:extLst>
          </p:cNvPr>
          <p:cNvSpPr/>
          <p:nvPr/>
        </p:nvSpPr>
        <p:spPr>
          <a:xfrm>
            <a:off x="6567236" y="209549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5" name="Rettangolo 124">
            <a:extLst>
              <a:ext uri="{FF2B5EF4-FFF2-40B4-BE49-F238E27FC236}">
                <a16:creationId xmlns:a16="http://schemas.microsoft.com/office/drawing/2014/main" id="{902448C4-6F9F-4727-B94D-5C326807351F}"/>
              </a:ext>
            </a:extLst>
          </p:cNvPr>
          <p:cNvSpPr/>
          <p:nvPr/>
        </p:nvSpPr>
        <p:spPr>
          <a:xfrm>
            <a:off x="4922920" y="209549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7" name="Rettangolo 126">
            <a:extLst>
              <a:ext uri="{FF2B5EF4-FFF2-40B4-BE49-F238E27FC236}">
                <a16:creationId xmlns:a16="http://schemas.microsoft.com/office/drawing/2014/main" id="{D5FE3820-1516-85E0-376F-E09965E244AB}"/>
              </a:ext>
            </a:extLst>
          </p:cNvPr>
          <p:cNvSpPr/>
          <p:nvPr/>
        </p:nvSpPr>
        <p:spPr>
          <a:xfrm>
            <a:off x="3238499" y="209549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9" name="Rettangolo 128">
            <a:extLst>
              <a:ext uri="{FF2B5EF4-FFF2-40B4-BE49-F238E27FC236}">
                <a16:creationId xmlns:a16="http://schemas.microsoft.com/office/drawing/2014/main" id="{095DCC49-1872-B94F-2854-6483CBFCC755}"/>
              </a:ext>
            </a:extLst>
          </p:cNvPr>
          <p:cNvSpPr/>
          <p:nvPr/>
        </p:nvSpPr>
        <p:spPr>
          <a:xfrm>
            <a:off x="1584156" y="209549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1" name="Rettangolo 130">
            <a:extLst>
              <a:ext uri="{FF2B5EF4-FFF2-40B4-BE49-F238E27FC236}">
                <a16:creationId xmlns:a16="http://schemas.microsoft.com/office/drawing/2014/main" id="{667C47B0-691D-BFF6-5B6B-D869E95210B6}"/>
              </a:ext>
            </a:extLst>
          </p:cNvPr>
          <p:cNvSpPr/>
          <p:nvPr/>
        </p:nvSpPr>
        <p:spPr>
          <a:xfrm>
            <a:off x="8161420" y="258678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3" name="Rettangolo 132">
            <a:extLst>
              <a:ext uri="{FF2B5EF4-FFF2-40B4-BE49-F238E27FC236}">
                <a16:creationId xmlns:a16="http://schemas.microsoft.com/office/drawing/2014/main" id="{63CD1F29-FD72-526B-241B-C43DF496BA10}"/>
              </a:ext>
            </a:extLst>
          </p:cNvPr>
          <p:cNvSpPr/>
          <p:nvPr/>
        </p:nvSpPr>
        <p:spPr>
          <a:xfrm>
            <a:off x="5694946" y="258678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5" name="Rettangolo 134">
            <a:extLst>
              <a:ext uri="{FF2B5EF4-FFF2-40B4-BE49-F238E27FC236}">
                <a16:creationId xmlns:a16="http://schemas.microsoft.com/office/drawing/2014/main" id="{EE072146-8614-2121-6B1B-BAE2CB2E0ADD}"/>
              </a:ext>
            </a:extLst>
          </p:cNvPr>
          <p:cNvSpPr/>
          <p:nvPr/>
        </p:nvSpPr>
        <p:spPr>
          <a:xfrm>
            <a:off x="4922920" y="258678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7" name="Rettangolo 136">
            <a:extLst>
              <a:ext uri="{FF2B5EF4-FFF2-40B4-BE49-F238E27FC236}">
                <a16:creationId xmlns:a16="http://schemas.microsoft.com/office/drawing/2014/main" id="{1A76FFBD-B816-C857-B729-E46D1AE591A0}"/>
              </a:ext>
            </a:extLst>
          </p:cNvPr>
          <p:cNvSpPr/>
          <p:nvPr/>
        </p:nvSpPr>
        <p:spPr>
          <a:xfrm>
            <a:off x="2396288" y="258678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9" name="Rettangolo 138">
            <a:extLst>
              <a:ext uri="{FF2B5EF4-FFF2-40B4-BE49-F238E27FC236}">
                <a16:creationId xmlns:a16="http://schemas.microsoft.com/office/drawing/2014/main" id="{1A3E594F-EEFA-4671-86AE-4FB6D216F44E}"/>
              </a:ext>
            </a:extLst>
          </p:cNvPr>
          <p:cNvSpPr/>
          <p:nvPr/>
        </p:nvSpPr>
        <p:spPr>
          <a:xfrm>
            <a:off x="1584157" y="258678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1" name="Rettangolo 140">
            <a:extLst>
              <a:ext uri="{FF2B5EF4-FFF2-40B4-BE49-F238E27FC236}">
                <a16:creationId xmlns:a16="http://schemas.microsoft.com/office/drawing/2014/main" id="{596DBB3D-53FB-2CCC-43B7-A38730C96803}"/>
              </a:ext>
            </a:extLst>
          </p:cNvPr>
          <p:cNvSpPr/>
          <p:nvPr/>
        </p:nvSpPr>
        <p:spPr>
          <a:xfrm>
            <a:off x="5674893" y="308810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3" name="Rettangolo 142">
            <a:extLst>
              <a:ext uri="{FF2B5EF4-FFF2-40B4-BE49-F238E27FC236}">
                <a16:creationId xmlns:a16="http://schemas.microsoft.com/office/drawing/2014/main" id="{4DC77DBF-CDBC-06B5-2427-AF8F80D48591}"/>
              </a:ext>
            </a:extLst>
          </p:cNvPr>
          <p:cNvSpPr/>
          <p:nvPr/>
        </p:nvSpPr>
        <p:spPr>
          <a:xfrm>
            <a:off x="4902867" y="308810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Rettangolo 144">
            <a:extLst>
              <a:ext uri="{FF2B5EF4-FFF2-40B4-BE49-F238E27FC236}">
                <a16:creationId xmlns:a16="http://schemas.microsoft.com/office/drawing/2014/main" id="{3A950413-9994-EE5E-1AC3-3B84A474CED0}"/>
              </a:ext>
            </a:extLst>
          </p:cNvPr>
          <p:cNvSpPr/>
          <p:nvPr/>
        </p:nvSpPr>
        <p:spPr>
          <a:xfrm>
            <a:off x="3208419" y="356936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8F012D05-9ABC-E9AF-7060-72987D46C794}"/>
              </a:ext>
            </a:extLst>
          </p:cNvPr>
          <p:cNvSpPr/>
          <p:nvPr/>
        </p:nvSpPr>
        <p:spPr>
          <a:xfrm>
            <a:off x="2436393" y="356936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2EA2F76B-7CE2-6468-0B05-89FFC5B85F8D}"/>
              </a:ext>
            </a:extLst>
          </p:cNvPr>
          <p:cNvSpPr/>
          <p:nvPr/>
        </p:nvSpPr>
        <p:spPr>
          <a:xfrm>
            <a:off x="1564104" y="358941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1" name="Rettangolo 150">
            <a:extLst>
              <a:ext uri="{FF2B5EF4-FFF2-40B4-BE49-F238E27FC236}">
                <a16:creationId xmlns:a16="http://schemas.microsoft.com/office/drawing/2014/main" id="{B54CDB9F-8AA6-A4E2-BFD6-765A21A2F73D}"/>
              </a:ext>
            </a:extLst>
          </p:cNvPr>
          <p:cNvSpPr/>
          <p:nvPr/>
        </p:nvSpPr>
        <p:spPr>
          <a:xfrm>
            <a:off x="792078" y="3589418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3" name="Rettangolo 152">
            <a:extLst>
              <a:ext uri="{FF2B5EF4-FFF2-40B4-BE49-F238E27FC236}">
                <a16:creationId xmlns:a16="http://schemas.microsoft.com/office/drawing/2014/main" id="{7EDE8D8A-7322-4B8C-6F8D-F35DD68F1F70}"/>
              </a:ext>
            </a:extLst>
          </p:cNvPr>
          <p:cNvSpPr/>
          <p:nvPr/>
        </p:nvSpPr>
        <p:spPr>
          <a:xfrm>
            <a:off x="6567235" y="3108154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5" name="Rettangolo 154">
            <a:extLst>
              <a:ext uri="{FF2B5EF4-FFF2-40B4-BE49-F238E27FC236}">
                <a16:creationId xmlns:a16="http://schemas.microsoft.com/office/drawing/2014/main" id="{DF17F97F-06CE-365D-C3E1-05FBEFEE3F76}"/>
              </a:ext>
            </a:extLst>
          </p:cNvPr>
          <p:cNvSpPr/>
          <p:nvPr/>
        </p:nvSpPr>
        <p:spPr>
          <a:xfrm>
            <a:off x="751971" y="308810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7" name="Connettore 2 156">
            <a:extLst>
              <a:ext uri="{FF2B5EF4-FFF2-40B4-BE49-F238E27FC236}">
                <a16:creationId xmlns:a16="http://schemas.microsoft.com/office/drawing/2014/main" id="{9E385D45-8194-B981-0728-FCC3D8986591}"/>
              </a:ext>
            </a:extLst>
          </p:cNvPr>
          <p:cNvCxnSpPr>
            <a:cxnSpLocks/>
          </p:cNvCxnSpPr>
          <p:nvPr/>
        </p:nvCxnSpPr>
        <p:spPr>
          <a:xfrm>
            <a:off x="5977190" y="5155030"/>
            <a:ext cx="994609" cy="120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CasellaDiTesto 157">
            <a:extLst>
              <a:ext uri="{FF2B5EF4-FFF2-40B4-BE49-F238E27FC236}">
                <a16:creationId xmlns:a16="http://schemas.microsoft.com/office/drawing/2014/main" id="{1FF7F021-6F6D-2607-3C9C-A24C06B817B6}"/>
              </a:ext>
            </a:extLst>
          </p:cNvPr>
          <p:cNvSpPr txBox="1"/>
          <p:nvPr/>
        </p:nvSpPr>
        <p:spPr>
          <a:xfrm>
            <a:off x="7279104" y="5013158"/>
            <a:ext cx="10627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1100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4077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EDD14458-5377-22A2-DEAD-75E3F5E1377D}"/>
              </a:ext>
            </a:extLst>
          </p:cNvPr>
          <p:cNvSpPr txBox="1">
            <a:spLocks/>
          </p:cNvSpPr>
          <p:nvPr/>
        </p:nvSpPr>
        <p:spPr>
          <a:xfrm>
            <a:off x="3625516" y="154572"/>
            <a:ext cx="4940969" cy="774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C51555-BF65-15E5-C012-1F0EFAB541B2}"/>
              </a:ext>
            </a:extLst>
          </p:cNvPr>
          <p:cNvSpPr txBox="1"/>
          <p:nvPr/>
        </p:nvSpPr>
        <p:spPr>
          <a:xfrm>
            <a:off x="270710" y="1112921"/>
            <a:ext cx="11610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1 pagina 84: Calcolare i bit di correzione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 da aggiungere alle parole binarie W. Supponendo che durante una trasmissione riceva le sequenze R1 e R2 quali saranno i corrispondenti bit di controllo calcolati?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W = 1A</a:t>
            </a:r>
            <a:r>
              <a:rPr lang="it-IT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  R1 = 9D3</a:t>
            </a:r>
            <a:r>
              <a:rPr lang="it-IT" sz="1200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</a:t>
            </a:r>
            <a:r>
              <a:rPr lang="it-IT" dirty="0">
                <a:solidFill>
                  <a:srgbClr val="FF0000"/>
                </a:solidFill>
                <a:cs typeface="Calibri"/>
              </a:rPr>
              <a:t>R2 = 1D3</a:t>
            </a:r>
            <a:r>
              <a:rPr lang="it-IT" sz="1200" baseline="-25000" dirty="0">
                <a:solidFill>
                  <a:srgbClr val="FF0000"/>
                </a:solidFill>
                <a:cs typeface="Calibri"/>
              </a:rPr>
              <a:t>H</a:t>
            </a:r>
          </a:p>
          <a:p>
            <a:endParaRPr lang="it-IT" dirty="0">
              <a:cs typeface="Calibri"/>
            </a:endParaRP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949CAD2E-65D4-BCD4-495A-8B18C8446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52826"/>
              </p:ext>
            </p:extLst>
          </p:nvPr>
        </p:nvGraphicFramePr>
        <p:xfrm>
          <a:off x="888732" y="2767745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09934718-0DA1-83D8-1964-43F66CD74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388829"/>
              </p:ext>
            </p:extLst>
          </p:nvPr>
        </p:nvGraphicFramePr>
        <p:xfrm>
          <a:off x="9060179" y="2767745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726541C-2E56-42B8-5E37-5C5CA0B2250A}"/>
              </a:ext>
            </a:extLst>
          </p:cNvPr>
          <p:cNvSpPr txBox="1"/>
          <p:nvPr/>
        </p:nvSpPr>
        <p:spPr>
          <a:xfrm>
            <a:off x="10337130" y="2476499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D28D040-11BE-B557-EB07-7F9A467104B8}"/>
              </a:ext>
            </a:extLst>
          </p:cNvPr>
          <p:cNvSpPr txBox="1"/>
          <p:nvPr/>
        </p:nvSpPr>
        <p:spPr>
          <a:xfrm>
            <a:off x="10397288" y="233613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6DF1129-7B26-B045-E1AB-E4FA76EB6BCC}"/>
              </a:ext>
            </a:extLst>
          </p:cNvPr>
          <p:cNvSpPr txBox="1"/>
          <p:nvPr/>
        </p:nvSpPr>
        <p:spPr>
          <a:xfrm>
            <a:off x="9354551" y="233613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7858543-0DE0-7767-75E2-1238EE0BC76D}"/>
              </a:ext>
            </a:extLst>
          </p:cNvPr>
          <p:cNvSpPr txBox="1"/>
          <p:nvPr/>
        </p:nvSpPr>
        <p:spPr>
          <a:xfrm>
            <a:off x="8412077" y="2336131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DD9E3A5-AE03-6D04-7BB8-69347B044F40}"/>
              </a:ext>
            </a:extLst>
          </p:cNvPr>
          <p:cNvSpPr txBox="1"/>
          <p:nvPr/>
        </p:nvSpPr>
        <p:spPr>
          <a:xfrm>
            <a:off x="7589919" y="233613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6DF8AC3-3A38-FCA0-E3A6-F64989E50335}"/>
              </a:ext>
            </a:extLst>
          </p:cNvPr>
          <p:cNvSpPr txBox="1"/>
          <p:nvPr/>
        </p:nvSpPr>
        <p:spPr>
          <a:xfrm>
            <a:off x="6868024" y="2366210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88F7508-6F91-472D-403F-A6CD599FD493}"/>
              </a:ext>
            </a:extLst>
          </p:cNvPr>
          <p:cNvSpPr txBox="1"/>
          <p:nvPr/>
        </p:nvSpPr>
        <p:spPr>
          <a:xfrm>
            <a:off x="5945604" y="2366211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4F3B511-0DB8-81F4-F041-87A1F4C740D4}"/>
              </a:ext>
            </a:extLst>
          </p:cNvPr>
          <p:cNvSpPr txBox="1"/>
          <p:nvPr/>
        </p:nvSpPr>
        <p:spPr>
          <a:xfrm>
            <a:off x="5173577" y="239628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A7E1046-38EE-20F0-F67D-CA7C3D25E9CD}"/>
              </a:ext>
            </a:extLst>
          </p:cNvPr>
          <p:cNvSpPr txBox="1"/>
          <p:nvPr/>
        </p:nvSpPr>
        <p:spPr>
          <a:xfrm>
            <a:off x="4321340" y="239628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79EB9BC-C9B0-D71F-0797-FD6BA961AC58}"/>
              </a:ext>
            </a:extLst>
          </p:cNvPr>
          <p:cNvSpPr txBox="1"/>
          <p:nvPr/>
        </p:nvSpPr>
        <p:spPr>
          <a:xfrm>
            <a:off x="3489156" y="239628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8D09370B-FAC1-9AD4-44A0-688C6DD6DCE9}"/>
              </a:ext>
            </a:extLst>
          </p:cNvPr>
          <p:cNvSpPr txBox="1"/>
          <p:nvPr/>
        </p:nvSpPr>
        <p:spPr>
          <a:xfrm>
            <a:off x="2616866" y="2366210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311B525-DBD2-D1DB-4F78-695DD8659968}"/>
              </a:ext>
            </a:extLst>
          </p:cNvPr>
          <p:cNvSpPr txBox="1"/>
          <p:nvPr/>
        </p:nvSpPr>
        <p:spPr>
          <a:xfrm>
            <a:off x="1834814" y="2396290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FE4B64F-E9F2-2048-F884-D349DE420B0C}"/>
              </a:ext>
            </a:extLst>
          </p:cNvPr>
          <p:cNvSpPr txBox="1"/>
          <p:nvPr/>
        </p:nvSpPr>
        <p:spPr>
          <a:xfrm>
            <a:off x="1032708" y="2396289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77597983-ADE0-63CC-63ED-0D730F3F0324}"/>
              </a:ext>
            </a:extLst>
          </p:cNvPr>
          <p:cNvSpPr txBox="1"/>
          <p:nvPr/>
        </p:nvSpPr>
        <p:spPr>
          <a:xfrm>
            <a:off x="272716" y="3521242"/>
            <a:ext cx="33447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R2 = 1D3</a:t>
            </a:r>
            <a:r>
              <a:rPr lang="it-IT" sz="1200" dirty="0">
                <a:cs typeface="Calibri"/>
              </a:rPr>
              <a:t>H </a:t>
            </a:r>
            <a:r>
              <a:rPr lang="it-IT" dirty="0">
                <a:cs typeface="Calibri"/>
              </a:rPr>
              <a:t>= 000111010011</a:t>
            </a:r>
            <a:r>
              <a:rPr lang="it-IT" sz="1200" dirty="0">
                <a:cs typeface="Calibri"/>
              </a:rPr>
              <a:t>2</a:t>
            </a:r>
            <a:endParaRPr lang="it-IT" dirty="0"/>
          </a:p>
        </p:txBody>
      </p:sp>
      <p:graphicFrame>
        <p:nvGraphicFramePr>
          <p:cNvPr id="39" name="Tabella 38">
            <a:extLst>
              <a:ext uri="{FF2B5EF4-FFF2-40B4-BE49-F238E27FC236}">
                <a16:creationId xmlns:a16="http://schemas.microsoft.com/office/drawing/2014/main" id="{425C6DC5-6D7C-82DA-3D0E-D56BD0C84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528452"/>
              </p:ext>
            </p:extLst>
          </p:nvPr>
        </p:nvGraphicFramePr>
        <p:xfrm>
          <a:off x="888732" y="4632639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40" name="Tabella 39">
            <a:extLst>
              <a:ext uri="{FF2B5EF4-FFF2-40B4-BE49-F238E27FC236}">
                <a16:creationId xmlns:a16="http://schemas.microsoft.com/office/drawing/2014/main" id="{48FBFBC9-9675-6478-E2A8-E676A39AF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634482"/>
              </p:ext>
            </p:extLst>
          </p:nvPr>
        </p:nvGraphicFramePr>
        <p:xfrm>
          <a:off x="9060179" y="4632639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7C045C06-1DA0-4720-3702-BC5D0D0D7BEF}"/>
              </a:ext>
            </a:extLst>
          </p:cNvPr>
          <p:cNvSpPr txBox="1"/>
          <p:nvPr/>
        </p:nvSpPr>
        <p:spPr>
          <a:xfrm>
            <a:off x="10337130" y="4341393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A3D3A25-64B7-42F6-B1B3-3361457F6C46}"/>
              </a:ext>
            </a:extLst>
          </p:cNvPr>
          <p:cNvSpPr txBox="1"/>
          <p:nvPr/>
        </p:nvSpPr>
        <p:spPr>
          <a:xfrm>
            <a:off x="10397288" y="420102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07C54379-A8BA-A6CA-F00B-5B296412F76A}"/>
              </a:ext>
            </a:extLst>
          </p:cNvPr>
          <p:cNvSpPr txBox="1"/>
          <p:nvPr/>
        </p:nvSpPr>
        <p:spPr>
          <a:xfrm>
            <a:off x="9354551" y="420102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2971C43-8C46-F227-2BF7-3DA1F7B2D715}"/>
              </a:ext>
            </a:extLst>
          </p:cNvPr>
          <p:cNvSpPr txBox="1"/>
          <p:nvPr/>
        </p:nvSpPr>
        <p:spPr>
          <a:xfrm>
            <a:off x="8412077" y="420102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F0E5C626-2472-EE87-EA25-F38E998A8B68}"/>
              </a:ext>
            </a:extLst>
          </p:cNvPr>
          <p:cNvSpPr txBox="1"/>
          <p:nvPr/>
        </p:nvSpPr>
        <p:spPr>
          <a:xfrm>
            <a:off x="7589919" y="420102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A9B3C6DF-2E40-EBE2-9504-7D9FDEDEA4DB}"/>
              </a:ext>
            </a:extLst>
          </p:cNvPr>
          <p:cNvSpPr txBox="1"/>
          <p:nvPr/>
        </p:nvSpPr>
        <p:spPr>
          <a:xfrm>
            <a:off x="6868024" y="423110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DBA6DB31-2155-12C2-E416-B884BA6E5A3D}"/>
              </a:ext>
            </a:extLst>
          </p:cNvPr>
          <p:cNvSpPr txBox="1"/>
          <p:nvPr/>
        </p:nvSpPr>
        <p:spPr>
          <a:xfrm>
            <a:off x="5945604" y="423110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F6DE0F34-C99A-94D2-F2B8-58EC6893F37B}"/>
              </a:ext>
            </a:extLst>
          </p:cNvPr>
          <p:cNvSpPr txBox="1"/>
          <p:nvPr/>
        </p:nvSpPr>
        <p:spPr>
          <a:xfrm>
            <a:off x="5173577" y="426118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67C0050E-EE59-AF63-A7FE-035FF82D2B55}"/>
              </a:ext>
            </a:extLst>
          </p:cNvPr>
          <p:cNvSpPr txBox="1"/>
          <p:nvPr/>
        </p:nvSpPr>
        <p:spPr>
          <a:xfrm>
            <a:off x="4321340" y="426118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21B79AB1-376D-DBFD-367E-234BB0A1F6AD}"/>
              </a:ext>
            </a:extLst>
          </p:cNvPr>
          <p:cNvSpPr txBox="1"/>
          <p:nvPr/>
        </p:nvSpPr>
        <p:spPr>
          <a:xfrm>
            <a:off x="3489156" y="426118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A8D12752-7C08-81AF-2085-8B24E3935AF0}"/>
              </a:ext>
            </a:extLst>
          </p:cNvPr>
          <p:cNvSpPr txBox="1"/>
          <p:nvPr/>
        </p:nvSpPr>
        <p:spPr>
          <a:xfrm>
            <a:off x="2616866" y="423110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97CE8E7F-53DD-3A56-DA66-490040875067}"/>
              </a:ext>
            </a:extLst>
          </p:cNvPr>
          <p:cNvSpPr txBox="1"/>
          <p:nvPr/>
        </p:nvSpPr>
        <p:spPr>
          <a:xfrm>
            <a:off x="1834814" y="426118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896734B8-FB88-71F1-0A34-2DB24B8C724D}"/>
              </a:ext>
            </a:extLst>
          </p:cNvPr>
          <p:cNvSpPr txBox="1"/>
          <p:nvPr/>
        </p:nvSpPr>
        <p:spPr>
          <a:xfrm>
            <a:off x="1032708" y="426118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BF42F391-5175-DADC-6676-B6A90F5B9EE3}"/>
              </a:ext>
            </a:extLst>
          </p:cNvPr>
          <p:cNvSpPr txBox="1"/>
          <p:nvPr/>
        </p:nvSpPr>
        <p:spPr>
          <a:xfrm>
            <a:off x="230605" y="5644815"/>
            <a:ext cx="113096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Osservazione: Le due parole sono uguali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28907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5989005A-BFD5-A5DE-84A0-82D5A7C1A232}"/>
              </a:ext>
            </a:extLst>
          </p:cNvPr>
          <p:cNvSpPr txBox="1">
            <a:spLocks/>
          </p:cNvSpPr>
          <p:nvPr/>
        </p:nvSpPr>
        <p:spPr>
          <a:xfrm>
            <a:off x="3625516" y="154572"/>
            <a:ext cx="4940969" cy="774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E322AAB-003A-A5B0-FA8A-32CC77972470}"/>
              </a:ext>
            </a:extLst>
          </p:cNvPr>
          <p:cNvSpPr txBox="1"/>
          <p:nvPr/>
        </p:nvSpPr>
        <p:spPr>
          <a:xfrm>
            <a:off x="270710" y="1112921"/>
            <a:ext cx="11610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1 pagina 84: Calcolare i bit di correzione di </a:t>
            </a:r>
            <a:r>
              <a:rPr lang="it-IT" dirty="0" err="1">
                <a:cs typeface="Calibri"/>
              </a:rPr>
              <a:t>Hamming</a:t>
            </a:r>
            <a:r>
              <a:rPr lang="it-IT" dirty="0">
                <a:cs typeface="Calibri"/>
              </a:rPr>
              <a:t> da aggiungere alle parole binarie W. Supponendo che durante una trasmissione riceva le sequenze R1 e R2 quali saranno i corrispondenti bit di controllo calcolati?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W = 1A</a:t>
            </a:r>
            <a:r>
              <a:rPr lang="it-IT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  R1 = 9D3</a:t>
            </a:r>
            <a:r>
              <a:rPr lang="it-IT" sz="1200" baseline="-25000" dirty="0">
                <a:cs typeface="Calibri"/>
              </a:rPr>
              <a:t>H</a:t>
            </a:r>
            <a:r>
              <a:rPr lang="it-IT" dirty="0">
                <a:cs typeface="Calibri"/>
              </a:rPr>
              <a:t>         </a:t>
            </a:r>
            <a:r>
              <a:rPr lang="it-IT" dirty="0">
                <a:solidFill>
                  <a:srgbClr val="FF0000"/>
                </a:solidFill>
                <a:cs typeface="Calibri"/>
              </a:rPr>
              <a:t>R2 = 1D3</a:t>
            </a:r>
            <a:r>
              <a:rPr lang="it-IT" sz="1200" baseline="-25000" dirty="0">
                <a:solidFill>
                  <a:srgbClr val="FF0000"/>
                </a:solidFill>
                <a:cs typeface="Calibri"/>
              </a:rPr>
              <a:t>H</a:t>
            </a:r>
          </a:p>
          <a:p>
            <a:endParaRPr lang="it-IT" dirty="0">
              <a:cs typeface="Calibri"/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9890D69-55D5-C5DB-2605-2BCFAAD31438}"/>
              </a:ext>
            </a:extLst>
          </p:cNvPr>
          <p:cNvSpPr txBox="1"/>
          <p:nvPr/>
        </p:nvSpPr>
        <p:spPr>
          <a:xfrm>
            <a:off x="11089105" y="3579395"/>
            <a:ext cx="66173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</a:t>
            </a:r>
          </a:p>
          <a:p>
            <a:pPr algn="l"/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E0B3F97F-CD9A-BB5C-E048-305D763CC08B}"/>
              </a:ext>
            </a:extLst>
          </p:cNvPr>
          <p:cNvSpPr/>
          <p:nvPr/>
        </p:nvSpPr>
        <p:spPr>
          <a:xfrm>
            <a:off x="10367210" y="3679658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6C8FA56D-FA9B-5F37-9538-D55FC604274A}"/>
              </a:ext>
            </a:extLst>
          </p:cNvPr>
          <p:cNvSpPr/>
          <p:nvPr/>
        </p:nvSpPr>
        <p:spPr>
          <a:xfrm>
            <a:off x="9254289" y="4211052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DD35DD24-4F21-61ED-AEC6-5C580BB37244}"/>
              </a:ext>
            </a:extLst>
          </p:cNvPr>
          <p:cNvSpPr/>
          <p:nvPr/>
        </p:nvSpPr>
        <p:spPr>
          <a:xfrm>
            <a:off x="7589920" y="4692315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624C6C1E-487B-F2CC-B60E-3431A6A1CECC}"/>
              </a:ext>
            </a:extLst>
          </p:cNvPr>
          <p:cNvSpPr/>
          <p:nvPr/>
        </p:nvSpPr>
        <p:spPr>
          <a:xfrm>
            <a:off x="4381499" y="5183605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5AD41D57-C6EB-5676-8C04-F810E2AECCD8}"/>
              </a:ext>
            </a:extLst>
          </p:cNvPr>
          <p:cNvSpPr/>
          <p:nvPr/>
        </p:nvSpPr>
        <p:spPr>
          <a:xfrm>
            <a:off x="8412078" y="367965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E75C874B-DEAA-1E5B-5278-1A7B0083A6DC}"/>
              </a:ext>
            </a:extLst>
          </p:cNvPr>
          <p:cNvSpPr/>
          <p:nvPr/>
        </p:nvSpPr>
        <p:spPr>
          <a:xfrm>
            <a:off x="6817894" y="367965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969DDD2D-90D2-6C63-37E0-0F9EBEF93EB6}"/>
              </a:ext>
            </a:extLst>
          </p:cNvPr>
          <p:cNvSpPr/>
          <p:nvPr/>
        </p:nvSpPr>
        <p:spPr>
          <a:xfrm>
            <a:off x="5173578" y="367965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C8C67419-FEA0-37EC-C68C-9E0FBADBA6F4}"/>
              </a:ext>
            </a:extLst>
          </p:cNvPr>
          <p:cNvSpPr/>
          <p:nvPr/>
        </p:nvSpPr>
        <p:spPr>
          <a:xfrm>
            <a:off x="3489157" y="367965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DF0E12C2-BC3C-5527-76D7-7A264299029D}"/>
              </a:ext>
            </a:extLst>
          </p:cNvPr>
          <p:cNvSpPr/>
          <p:nvPr/>
        </p:nvSpPr>
        <p:spPr>
          <a:xfrm>
            <a:off x="1834814" y="367965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E9EBED41-205D-8272-2C92-E3D710391807}"/>
              </a:ext>
            </a:extLst>
          </p:cNvPr>
          <p:cNvSpPr/>
          <p:nvPr/>
        </p:nvSpPr>
        <p:spPr>
          <a:xfrm>
            <a:off x="8412078" y="417094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64ADA0F6-8B5D-3D6F-3678-99C27F1DAE2F}"/>
              </a:ext>
            </a:extLst>
          </p:cNvPr>
          <p:cNvSpPr/>
          <p:nvPr/>
        </p:nvSpPr>
        <p:spPr>
          <a:xfrm>
            <a:off x="5945604" y="417094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F97B90F0-C2E4-15AD-D10B-5A8C073CA10E}"/>
              </a:ext>
            </a:extLst>
          </p:cNvPr>
          <p:cNvSpPr/>
          <p:nvPr/>
        </p:nvSpPr>
        <p:spPr>
          <a:xfrm>
            <a:off x="5173578" y="417094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Rettangolo 64">
            <a:extLst>
              <a:ext uri="{FF2B5EF4-FFF2-40B4-BE49-F238E27FC236}">
                <a16:creationId xmlns:a16="http://schemas.microsoft.com/office/drawing/2014/main" id="{9ABC1D04-4AB0-CE3A-F723-477352419603}"/>
              </a:ext>
            </a:extLst>
          </p:cNvPr>
          <p:cNvSpPr/>
          <p:nvPr/>
        </p:nvSpPr>
        <p:spPr>
          <a:xfrm>
            <a:off x="2646946" y="417094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B6D3C8A5-F786-BD55-5124-733DDFC70817}"/>
              </a:ext>
            </a:extLst>
          </p:cNvPr>
          <p:cNvSpPr/>
          <p:nvPr/>
        </p:nvSpPr>
        <p:spPr>
          <a:xfrm>
            <a:off x="1834815" y="417094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A0FD0D49-B1B2-5329-563E-6695C0B55032}"/>
              </a:ext>
            </a:extLst>
          </p:cNvPr>
          <p:cNvSpPr/>
          <p:nvPr/>
        </p:nvSpPr>
        <p:spPr>
          <a:xfrm>
            <a:off x="5925551" y="467226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Rettangolo 70">
            <a:extLst>
              <a:ext uri="{FF2B5EF4-FFF2-40B4-BE49-F238E27FC236}">
                <a16:creationId xmlns:a16="http://schemas.microsoft.com/office/drawing/2014/main" id="{76518A8D-6D02-B3C8-8414-7298072502DE}"/>
              </a:ext>
            </a:extLst>
          </p:cNvPr>
          <p:cNvSpPr/>
          <p:nvPr/>
        </p:nvSpPr>
        <p:spPr>
          <a:xfrm>
            <a:off x="5153525" y="4672261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370CE2E1-D951-21B7-AF3A-24ECC6BF035F}"/>
              </a:ext>
            </a:extLst>
          </p:cNvPr>
          <p:cNvSpPr/>
          <p:nvPr/>
        </p:nvSpPr>
        <p:spPr>
          <a:xfrm>
            <a:off x="3459077" y="5153524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E18342CE-CFFF-480C-670F-C6A1D3D62743}"/>
              </a:ext>
            </a:extLst>
          </p:cNvPr>
          <p:cNvSpPr/>
          <p:nvPr/>
        </p:nvSpPr>
        <p:spPr>
          <a:xfrm>
            <a:off x="2687051" y="5153524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5020F3EB-5282-89D8-5016-90492773CEC7}"/>
              </a:ext>
            </a:extLst>
          </p:cNvPr>
          <p:cNvSpPr/>
          <p:nvPr/>
        </p:nvSpPr>
        <p:spPr>
          <a:xfrm>
            <a:off x="1814762" y="517357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C3B36C84-959B-5695-4F07-AA0AEDB9FC1C}"/>
              </a:ext>
            </a:extLst>
          </p:cNvPr>
          <p:cNvSpPr/>
          <p:nvPr/>
        </p:nvSpPr>
        <p:spPr>
          <a:xfrm>
            <a:off x="1042736" y="5173577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723DEFAF-A100-3DA4-C041-E8821F65214B}"/>
              </a:ext>
            </a:extLst>
          </p:cNvPr>
          <p:cNvSpPr/>
          <p:nvPr/>
        </p:nvSpPr>
        <p:spPr>
          <a:xfrm>
            <a:off x="6817893" y="4692313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8CBD83A3-5B8A-F4CC-6D33-F9ED0567CF01}"/>
              </a:ext>
            </a:extLst>
          </p:cNvPr>
          <p:cNvSpPr/>
          <p:nvPr/>
        </p:nvSpPr>
        <p:spPr>
          <a:xfrm>
            <a:off x="1002629" y="467226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85" name="Tabella 84">
            <a:extLst>
              <a:ext uri="{FF2B5EF4-FFF2-40B4-BE49-F238E27FC236}">
                <a16:creationId xmlns:a16="http://schemas.microsoft.com/office/drawing/2014/main" id="{938B3335-9945-8BE5-02FE-8E396225A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907757"/>
              </p:ext>
            </p:extLst>
          </p:nvPr>
        </p:nvGraphicFramePr>
        <p:xfrm>
          <a:off x="798495" y="2857981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87" name="Tabella 86">
            <a:extLst>
              <a:ext uri="{FF2B5EF4-FFF2-40B4-BE49-F238E27FC236}">
                <a16:creationId xmlns:a16="http://schemas.microsoft.com/office/drawing/2014/main" id="{6B71ABDE-7612-BB8A-3889-5787570D1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323677"/>
              </p:ext>
            </p:extLst>
          </p:nvPr>
        </p:nvGraphicFramePr>
        <p:xfrm>
          <a:off x="8969942" y="2857981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080D7F96-3000-D2F8-CA91-7D9E270D76C8}"/>
              </a:ext>
            </a:extLst>
          </p:cNvPr>
          <p:cNvSpPr txBox="1"/>
          <p:nvPr/>
        </p:nvSpPr>
        <p:spPr>
          <a:xfrm>
            <a:off x="10246893" y="2566735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89153984-B01B-4FD6-4C53-32D2FE64C5D7}"/>
              </a:ext>
            </a:extLst>
          </p:cNvPr>
          <p:cNvSpPr txBox="1"/>
          <p:nvPr/>
        </p:nvSpPr>
        <p:spPr>
          <a:xfrm>
            <a:off x="10307051" y="242636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A9E3822F-BC8D-71E2-809E-5C9A4FF507F0}"/>
              </a:ext>
            </a:extLst>
          </p:cNvPr>
          <p:cNvSpPr txBox="1"/>
          <p:nvPr/>
        </p:nvSpPr>
        <p:spPr>
          <a:xfrm>
            <a:off x="9264314" y="242636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910A999E-7F2C-C529-24ED-A6AD0B372431}"/>
              </a:ext>
            </a:extLst>
          </p:cNvPr>
          <p:cNvSpPr txBox="1"/>
          <p:nvPr/>
        </p:nvSpPr>
        <p:spPr>
          <a:xfrm>
            <a:off x="8321840" y="242636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2E07B019-F01F-172F-605E-295AA6DB85B7}"/>
              </a:ext>
            </a:extLst>
          </p:cNvPr>
          <p:cNvSpPr txBox="1"/>
          <p:nvPr/>
        </p:nvSpPr>
        <p:spPr>
          <a:xfrm>
            <a:off x="7499682" y="2426368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BBFC6427-6E83-F5BD-2721-8110C2D31208}"/>
              </a:ext>
            </a:extLst>
          </p:cNvPr>
          <p:cNvSpPr txBox="1"/>
          <p:nvPr/>
        </p:nvSpPr>
        <p:spPr>
          <a:xfrm>
            <a:off x="6777787" y="245644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0E6FE0B2-94BD-2849-F647-4A8A54DEA5E5}"/>
              </a:ext>
            </a:extLst>
          </p:cNvPr>
          <p:cNvSpPr txBox="1"/>
          <p:nvPr/>
        </p:nvSpPr>
        <p:spPr>
          <a:xfrm>
            <a:off x="5855367" y="2456447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7EEE201C-BBA3-2241-3282-4904D0B385E3}"/>
              </a:ext>
            </a:extLst>
          </p:cNvPr>
          <p:cNvSpPr txBox="1"/>
          <p:nvPr/>
        </p:nvSpPr>
        <p:spPr>
          <a:xfrm>
            <a:off x="5083340" y="248652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490DAFAD-6891-86FE-0E8D-6B6AFF0FEDBD}"/>
              </a:ext>
            </a:extLst>
          </p:cNvPr>
          <p:cNvSpPr txBox="1"/>
          <p:nvPr/>
        </p:nvSpPr>
        <p:spPr>
          <a:xfrm>
            <a:off x="4231103" y="248652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9880D5E8-CD8D-51D9-4CDA-108BAD9B6C13}"/>
              </a:ext>
            </a:extLst>
          </p:cNvPr>
          <p:cNvSpPr txBox="1"/>
          <p:nvPr/>
        </p:nvSpPr>
        <p:spPr>
          <a:xfrm>
            <a:off x="3398919" y="248652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98D8226F-8B58-5CD6-A910-8261497FC4EF}"/>
              </a:ext>
            </a:extLst>
          </p:cNvPr>
          <p:cNvSpPr txBox="1"/>
          <p:nvPr/>
        </p:nvSpPr>
        <p:spPr>
          <a:xfrm>
            <a:off x="2526629" y="245644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3D29552C-8832-83D0-3323-6A35C8D026A5}"/>
              </a:ext>
            </a:extLst>
          </p:cNvPr>
          <p:cNvSpPr txBox="1"/>
          <p:nvPr/>
        </p:nvSpPr>
        <p:spPr>
          <a:xfrm>
            <a:off x="1744577" y="2486526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113" name="CasellaDiTesto 112">
            <a:extLst>
              <a:ext uri="{FF2B5EF4-FFF2-40B4-BE49-F238E27FC236}">
                <a16:creationId xmlns:a16="http://schemas.microsoft.com/office/drawing/2014/main" id="{4D7B2DB6-C7F8-CFA0-027F-895D3BAB0ACB}"/>
              </a:ext>
            </a:extLst>
          </p:cNvPr>
          <p:cNvSpPr txBox="1"/>
          <p:nvPr/>
        </p:nvSpPr>
        <p:spPr>
          <a:xfrm>
            <a:off x="942471" y="248652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307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C3EC6533-1869-FDE0-9458-9B8E379C3891}"/>
              </a:ext>
            </a:extLst>
          </p:cNvPr>
          <p:cNvSpPr txBox="1">
            <a:spLocks/>
          </p:cNvSpPr>
          <p:nvPr/>
        </p:nvSpPr>
        <p:spPr>
          <a:xfrm>
            <a:off x="3625516" y="154572"/>
            <a:ext cx="4940969" cy="774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ea typeface="Calibri Light"/>
                <a:cs typeface="Calibri Light"/>
              </a:rPr>
              <a:t>Codice di </a:t>
            </a:r>
            <a:r>
              <a:rPr lang="it-IT" dirty="0" err="1">
                <a:ea typeface="Calibri Light"/>
                <a:cs typeface="Calibri Light"/>
              </a:rPr>
              <a:t>Hamming</a:t>
            </a:r>
            <a:endParaRPr lang="it-IT" dirty="0" err="1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66A3FD2F-1050-FB9B-56D6-74452F977708}"/>
              </a:ext>
            </a:extLst>
          </p:cNvPr>
          <p:cNvSpPr txBox="1"/>
          <p:nvPr/>
        </p:nvSpPr>
        <p:spPr>
          <a:xfrm>
            <a:off x="11159289" y="2085474"/>
            <a:ext cx="66173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</a:t>
            </a:r>
          </a:p>
          <a:p>
            <a:pPr algn="l"/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DBB2E228-F18A-9376-C209-CA0C5BBA1EEA}"/>
              </a:ext>
            </a:extLst>
          </p:cNvPr>
          <p:cNvSpPr/>
          <p:nvPr/>
        </p:nvSpPr>
        <p:spPr>
          <a:xfrm>
            <a:off x="10437394" y="2185737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A206D0C9-92EC-C7C8-9547-191E2BC856DB}"/>
              </a:ext>
            </a:extLst>
          </p:cNvPr>
          <p:cNvSpPr/>
          <p:nvPr/>
        </p:nvSpPr>
        <p:spPr>
          <a:xfrm>
            <a:off x="9324473" y="2717131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F242316C-D041-8606-93B8-DC5D8FB6EED4}"/>
              </a:ext>
            </a:extLst>
          </p:cNvPr>
          <p:cNvSpPr/>
          <p:nvPr/>
        </p:nvSpPr>
        <p:spPr>
          <a:xfrm>
            <a:off x="7660104" y="3198394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9F9A39DA-5BCE-4445-4959-5F63EEA03102}"/>
              </a:ext>
            </a:extLst>
          </p:cNvPr>
          <p:cNvSpPr/>
          <p:nvPr/>
        </p:nvSpPr>
        <p:spPr>
          <a:xfrm>
            <a:off x="4451683" y="3689684"/>
            <a:ext cx="280736" cy="2105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287B781F-4866-3BEF-AA26-EB0BBE65F3FD}"/>
              </a:ext>
            </a:extLst>
          </p:cNvPr>
          <p:cNvSpPr/>
          <p:nvPr/>
        </p:nvSpPr>
        <p:spPr>
          <a:xfrm>
            <a:off x="8482262" y="218573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4F10C201-21FC-7054-4F7B-A973F377D034}"/>
              </a:ext>
            </a:extLst>
          </p:cNvPr>
          <p:cNvSpPr/>
          <p:nvPr/>
        </p:nvSpPr>
        <p:spPr>
          <a:xfrm>
            <a:off x="6888078" y="218573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B35E27F7-9965-F127-4D3B-7D20B04945DD}"/>
              </a:ext>
            </a:extLst>
          </p:cNvPr>
          <p:cNvSpPr/>
          <p:nvPr/>
        </p:nvSpPr>
        <p:spPr>
          <a:xfrm>
            <a:off x="5243762" y="218573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E2F91E2D-B9FE-D280-7E62-FEA477BA101C}"/>
              </a:ext>
            </a:extLst>
          </p:cNvPr>
          <p:cNvSpPr/>
          <p:nvPr/>
        </p:nvSpPr>
        <p:spPr>
          <a:xfrm>
            <a:off x="3559341" y="218573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9A291E11-F33E-33C5-60CD-FFB99B96A5A2}"/>
              </a:ext>
            </a:extLst>
          </p:cNvPr>
          <p:cNvSpPr/>
          <p:nvPr/>
        </p:nvSpPr>
        <p:spPr>
          <a:xfrm>
            <a:off x="1904998" y="218573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98BE3A18-12F3-DB85-5DD7-7371E5191DC1}"/>
              </a:ext>
            </a:extLst>
          </p:cNvPr>
          <p:cNvSpPr/>
          <p:nvPr/>
        </p:nvSpPr>
        <p:spPr>
          <a:xfrm>
            <a:off x="8482262" y="267702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DEEA9830-A19B-E04C-B19A-F7BBC4977C9E}"/>
              </a:ext>
            </a:extLst>
          </p:cNvPr>
          <p:cNvSpPr/>
          <p:nvPr/>
        </p:nvSpPr>
        <p:spPr>
          <a:xfrm>
            <a:off x="6015788" y="267702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07CF6E89-B634-BE7F-00B2-7CACA04CAB37}"/>
              </a:ext>
            </a:extLst>
          </p:cNvPr>
          <p:cNvSpPr/>
          <p:nvPr/>
        </p:nvSpPr>
        <p:spPr>
          <a:xfrm>
            <a:off x="5243762" y="267702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78800F7E-8101-880D-5F55-9DDD285F929D}"/>
              </a:ext>
            </a:extLst>
          </p:cNvPr>
          <p:cNvSpPr/>
          <p:nvPr/>
        </p:nvSpPr>
        <p:spPr>
          <a:xfrm>
            <a:off x="2717130" y="267702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Rettangolo 64">
            <a:extLst>
              <a:ext uri="{FF2B5EF4-FFF2-40B4-BE49-F238E27FC236}">
                <a16:creationId xmlns:a16="http://schemas.microsoft.com/office/drawing/2014/main" id="{40ED1525-27FB-CCE8-8FD7-AC994EA2D7BB}"/>
              </a:ext>
            </a:extLst>
          </p:cNvPr>
          <p:cNvSpPr/>
          <p:nvPr/>
        </p:nvSpPr>
        <p:spPr>
          <a:xfrm>
            <a:off x="1904999" y="2677025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8DA07865-35B7-6470-1D9F-DC953C5A0B73}"/>
              </a:ext>
            </a:extLst>
          </p:cNvPr>
          <p:cNvSpPr/>
          <p:nvPr/>
        </p:nvSpPr>
        <p:spPr>
          <a:xfrm>
            <a:off x="5995735" y="317834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B6CF1FC3-FAD7-9BE3-7220-8BB1BB53F575}"/>
              </a:ext>
            </a:extLst>
          </p:cNvPr>
          <p:cNvSpPr/>
          <p:nvPr/>
        </p:nvSpPr>
        <p:spPr>
          <a:xfrm>
            <a:off x="5223709" y="3178340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Rettangolo 70">
            <a:extLst>
              <a:ext uri="{FF2B5EF4-FFF2-40B4-BE49-F238E27FC236}">
                <a16:creationId xmlns:a16="http://schemas.microsoft.com/office/drawing/2014/main" id="{D08444DA-2666-AFAF-FD57-A009D45F4254}"/>
              </a:ext>
            </a:extLst>
          </p:cNvPr>
          <p:cNvSpPr/>
          <p:nvPr/>
        </p:nvSpPr>
        <p:spPr>
          <a:xfrm>
            <a:off x="3529261" y="3659603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644D8EE2-88FD-9D0C-DA33-09841381BC8F}"/>
              </a:ext>
            </a:extLst>
          </p:cNvPr>
          <p:cNvSpPr/>
          <p:nvPr/>
        </p:nvSpPr>
        <p:spPr>
          <a:xfrm>
            <a:off x="2757235" y="3659603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3E7F888E-41F2-C485-317D-ADEB63A51A51}"/>
              </a:ext>
            </a:extLst>
          </p:cNvPr>
          <p:cNvSpPr/>
          <p:nvPr/>
        </p:nvSpPr>
        <p:spPr>
          <a:xfrm>
            <a:off x="1884946" y="367965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5F4C27E8-A9A7-1414-8F64-4BC35AA02DED}"/>
              </a:ext>
            </a:extLst>
          </p:cNvPr>
          <p:cNvSpPr/>
          <p:nvPr/>
        </p:nvSpPr>
        <p:spPr>
          <a:xfrm>
            <a:off x="1112920" y="3679656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42816740-D4DA-C1BD-E801-6A8B4AF597DC}"/>
              </a:ext>
            </a:extLst>
          </p:cNvPr>
          <p:cNvSpPr/>
          <p:nvPr/>
        </p:nvSpPr>
        <p:spPr>
          <a:xfrm>
            <a:off x="6888077" y="3198392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D4F47383-FA28-2C0A-DF9A-7A9105E2C0D8}"/>
              </a:ext>
            </a:extLst>
          </p:cNvPr>
          <p:cNvSpPr/>
          <p:nvPr/>
        </p:nvSpPr>
        <p:spPr>
          <a:xfrm>
            <a:off x="1072813" y="3178339"/>
            <a:ext cx="280736" cy="210552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3DD0D2BC-5BED-0441-51CA-9BF820301485}"/>
              </a:ext>
            </a:extLst>
          </p:cNvPr>
          <p:cNvSpPr txBox="1"/>
          <p:nvPr/>
        </p:nvSpPr>
        <p:spPr>
          <a:xfrm>
            <a:off x="2556709" y="4341395"/>
            <a:ext cx="323850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b0  =  1   0    1    1     1    0 =  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b1  =  1   0    0    1     0    0 =  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b2  =  0   1    0    1     0=  0</a:t>
            </a:r>
            <a:endParaRPr lang="it-IT" dirty="0"/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b3  =  1   1    0    0     0 =  0</a:t>
            </a:r>
            <a:endParaRPr lang="it-IT" dirty="0"/>
          </a:p>
        </p:txBody>
      </p:sp>
      <p:sp>
        <p:nvSpPr>
          <p:cNvPr id="85" name="O 84">
            <a:extLst>
              <a:ext uri="{FF2B5EF4-FFF2-40B4-BE49-F238E27FC236}">
                <a16:creationId xmlns:a16="http://schemas.microsoft.com/office/drawing/2014/main" id="{E32665AE-C916-9247-B7B1-7FA88F685AB5}"/>
              </a:ext>
            </a:extLst>
          </p:cNvPr>
          <p:cNvSpPr/>
          <p:nvPr/>
        </p:nvSpPr>
        <p:spPr>
          <a:xfrm>
            <a:off x="3327443" y="444941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87" name="O 86">
            <a:extLst>
              <a:ext uri="{FF2B5EF4-FFF2-40B4-BE49-F238E27FC236}">
                <a16:creationId xmlns:a16="http://schemas.microsoft.com/office/drawing/2014/main" id="{11AED2F0-7676-6F8B-96A4-A8BD8FD595F1}"/>
              </a:ext>
            </a:extLst>
          </p:cNvPr>
          <p:cNvSpPr/>
          <p:nvPr/>
        </p:nvSpPr>
        <p:spPr>
          <a:xfrm>
            <a:off x="3600660" y="444189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89" name="O 88">
            <a:extLst>
              <a:ext uri="{FF2B5EF4-FFF2-40B4-BE49-F238E27FC236}">
                <a16:creationId xmlns:a16="http://schemas.microsoft.com/office/drawing/2014/main" id="{5748CF1E-5BF0-A99B-1CE1-B06A864F9681}"/>
              </a:ext>
            </a:extLst>
          </p:cNvPr>
          <p:cNvSpPr/>
          <p:nvPr/>
        </p:nvSpPr>
        <p:spPr>
          <a:xfrm>
            <a:off x="3951582" y="444189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91" name="O 90">
            <a:extLst>
              <a:ext uri="{FF2B5EF4-FFF2-40B4-BE49-F238E27FC236}">
                <a16:creationId xmlns:a16="http://schemas.microsoft.com/office/drawing/2014/main" id="{BF649737-1175-3053-F6AC-E4B695D7877B}"/>
              </a:ext>
            </a:extLst>
          </p:cNvPr>
          <p:cNvSpPr/>
          <p:nvPr/>
        </p:nvSpPr>
        <p:spPr>
          <a:xfrm>
            <a:off x="4302502" y="444189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93" name="O 92">
            <a:extLst>
              <a:ext uri="{FF2B5EF4-FFF2-40B4-BE49-F238E27FC236}">
                <a16:creationId xmlns:a16="http://schemas.microsoft.com/office/drawing/2014/main" id="{348D5409-F595-2C43-14D7-0B38F3D269AE}"/>
              </a:ext>
            </a:extLst>
          </p:cNvPr>
          <p:cNvSpPr/>
          <p:nvPr/>
        </p:nvSpPr>
        <p:spPr>
          <a:xfrm>
            <a:off x="3317416" y="4980813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95" name="O 94">
            <a:extLst>
              <a:ext uri="{FF2B5EF4-FFF2-40B4-BE49-F238E27FC236}">
                <a16:creationId xmlns:a16="http://schemas.microsoft.com/office/drawing/2014/main" id="{6FFACCDB-1DA0-45C5-ECB4-D3B4C584AEBC}"/>
              </a:ext>
            </a:extLst>
          </p:cNvPr>
          <p:cNvSpPr/>
          <p:nvPr/>
        </p:nvSpPr>
        <p:spPr>
          <a:xfrm>
            <a:off x="3590633" y="4973292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97" name="O 96">
            <a:extLst>
              <a:ext uri="{FF2B5EF4-FFF2-40B4-BE49-F238E27FC236}">
                <a16:creationId xmlns:a16="http://schemas.microsoft.com/office/drawing/2014/main" id="{9719D2EB-26F0-5763-7C47-39E4A78FDE04}"/>
              </a:ext>
            </a:extLst>
          </p:cNvPr>
          <p:cNvSpPr/>
          <p:nvPr/>
        </p:nvSpPr>
        <p:spPr>
          <a:xfrm>
            <a:off x="3941554" y="4973292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99" name="O 98">
            <a:extLst>
              <a:ext uri="{FF2B5EF4-FFF2-40B4-BE49-F238E27FC236}">
                <a16:creationId xmlns:a16="http://schemas.microsoft.com/office/drawing/2014/main" id="{E84437F9-CE62-2E42-7132-B13BAA8B3FF7}"/>
              </a:ext>
            </a:extLst>
          </p:cNvPr>
          <p:cNvSpPr/>
          <p:nvPr/>
        </p:nvSpPr>
        <p:spPr>
          <a:xfrm>
            <a:off x="4292475" y="497329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01" name="O 100">
            <a:extLst>
              <a:ext uri="{FF2B5EF4-FFF2-40B4-BE49-F238E27FC236}">
                <a16:creationId xmlns:a16="http://schemas.microsoft.com/office/drawing/2014/main" id="{221B9B90-E2D2-5E4D-675B-033923D2CCDA}"/>
              </a:ext>
            </a:extLst>
          </p:cNvPr>
          <p:cNvSpPr/>
          <p:nvPr/>
        </p:nvSpPr>
        <p:spPr>
          <a:xfrm>
            <a:off x="3327442" y="553225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03" name="O 102">
            <a:extLst>
              <a:ext uri="{FF2B5EF4-FFF2-40B4-BE49-F238E27FC236}">
                <a16:creationId xmlns:a16="http://schemas.microsoft.com/office/drawing/2014/main" id="{68CA8B55-9A1C-E436-12F8-9EAC32C6F2E3}"/>
              </a:ext>
            </a:extLst>
          </p:cNvPr>
          <p:cNvSpPr/>
          <p:nvPr/>
        </p:nvSpPr>
        <p:spPr>
          <a:xfrm>
            <a:off x="3600659" y="552473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05" name="O 104">
            <a:extLst>
              <a:ext uri="{FF2B5EF4-FFF2-40B4-BE49-F238E27FC236}">
                <a16:creationId xmlns:a16="http://schemas.microsoft.com/office/drawing/2014/main" id="{B06B1340-47B2-EF62-5037-A2BBB5395BB7}"/>
              </a:ext>
            </a:extLst>
          </p:cNvPr>
          <p:cNvSpPr/>
          <p:nvPr/>
        </p:nvSpPr>
        <p:spPr>
          <a:xfrm>
            <a:off x="3951581" y="552473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07" name="O 106">
            <a:extLst>
              <a:ext uri="{FF2B5EF4-FFF2-40B4-BE49-F238E27FC236}">
                <a16:creationId xmlns:a16="http://schemas.microsoft.com/office/drawing/2014/main" id="{8583AEDC-BAEA-94DF-BB97-018E38298AFA}"/>
              </a:ext>
            </a:extLst>
          </p:cNvPr>
          <p:cNvSpPr/>
          <p:nvPr/>
        </p:nvSpPr>
        <p:spPr>
          <a:xfrm>
            <a:off x="3337468" y="6073680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09" name="O 108">
            <a:extLst>
              <a:ext uri="{FF2B5EF4-FFF2-40B4-BE49-F238E27FC236}">
                <a16:creationId xmlns:a16="http://schemas.microsoft.com/office/drawing/2014/main" id="{743C9EC2-9CC2-E194-2E28-785A999C6B7C}"/>
              </a:ext>
            </a:extLst>
          </p:cNvPr>
          <p:cNvSpPr/>
          <p:nvPr/>
        </p:nvSpPr>
        <p:spPr>
          <a:xfrm>
            <a:off x="3610685" y="606616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11" name="O 110">
            <a:extLst>
              <a:ext uri="{FF2B5EF4-FFF2-40B4-BE49-F238E27FC236}">
                <a16:creationId xmlns:a16="http://schemas.microsoft.com/office/drawing/2014/main" id="{872AF124-4588-9C0F-1930-445C0FF0D02A}"/>
              </a:ext>
            </a:extLst>
          </p:cNvPr>
          <p:cNvSpPr/>
          <p:nvPr/>
        </p:nvSpPr>
        <p:spPr>
          <a:xfrm>
            <a:off x="3961606" y="6066161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4C3FC857-996C-7665-C7E9-620730717674}"/>
              </a:ext>
            </a:extLst>
          </p:cNvPr>
          <p:cNvCxnSpPr/>
          <p:nvPr/>
        </p:nvCxnSpPr>
        <p:spPr>
          <a:xfrm>
            <a:off x="2711117" y="4365456"/>
            <a:ext cx="52138" cy="6216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5B6AAE5D-AA46-1039-4E9C-2523683569C7}"/>
              </a:ext>
            </a:extLst>
          </p:cNvPr>
          <p:cNvCxnSpPr>
            <a:cxnSpLocks/>
          </p:cNvCxnSpPr>
          <p:nvPr/>
        </p:nvCxnSpPr>
        <p:spPr>
          <a:xfrm flipV="1">
            <a:off x="2620878" y="4337383"/>
            <a:ext cx="92243" cy="7820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ttore 2 116">
            <a:extLst>
              <a:ext uri="{FF2B5EF4-FFF2-40B4-BE49-F238E27FC236}">
                <a16:creationId xmlns:a16="http://schemas.microsoft.com/office/drawing/2014/main" id="{C8B3AC34-DD20-5569-E5B2-B52506C33E20}"/>
              </a:ext>
            </a:extLst>
          </p:cNvPr>
          <p:cNvCxnSpPr>
            <a:cxnSpLocks/>
          </p:cNvCxnSpPr>
          <p:nvPr/>
        </p:nvCxnSpPr>
        <p:spPr>
          <a:xfrm>
            <a:off x="2721143" y="4886824"/>
            <a:ext cx="52138" cy="6216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ttore 2 118">
            <a:extLst>
              <a:ext uri="{FF2B5EF4-FFF2-40B4-BE49-F238E27FC236}">
                <a16:creationId xmlns:a16="http://schemas.microsoft.com/office/drawing/2014/main" id="{96392C83-447D-2A20-8FB5-8AB9B3E32997}"/>
              </a:ext>
            </a:extLst>
          </p:cNvPr>
          <p:cNvCxnSpPr>
            <a:cxnSpLocks/>
          </p:cNvCxnSpPr>
          <p:nvPr/>
        </p:nvCxnSpPr>
        <p:spPr>
          <a:xfrm flipV="1">
            <a:off x="2630904" y="4858751"/>
            <a:ext cx="92243" cy="7820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5544B7DF-65E0-D0A1-3DCD-BDA6304DD113}"/>
              </a:ext>
            </a:extLst>
          </p:cNvPr>
          <p:cNvCxnSpPr>
            <a:cxnSpLocks/>
          </p:cNvCxnSpPr>
          <p:nvPr/>
        </p:nvCxnSpPr>
        <p:spPr>
          <a:xfrm>
            <a:off x="2721142" y="5428246"/>
            <a:ext cx="52138" cy="6216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ttore 2 122">
            <a:extLst>
              <a:ext uri="{FF2B5EF4-FFF2-40B4-BE49-F238E27FC236}">
                <a16:creationId xmlns:a16="http://schemas.microsoft.com/office/drawing/2014/main" id="{BF3BB7FF-D3DC-F8DC-470A-9478AFDAAF37}"/>
              </a:ext>
            </a:extLst>
          </p:cNvPr>
          <p:cNvCxnSpPr>
            <a:cxnSpLocks/>
          </p:cNvCxnSpPr>
          <p:nvPr/>
        </p:nvCxnSpPr>
        <p:spPr>
          <a:xfrm flipV="1">
            <a:off x="2630903" y="5400173"/>
            <a:ext cx="92243" cy="7820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2 124">
            <a:extLst>
              <a:ext uri="{FF2B5EF4-FFF2-40B4-BE49-F238E27FC236}">
                <a16:creationId xmlns:a16="http://schemas.microsoft.com/office/drawing/2014/main" id="{7330F993-0F4B-C8E6-6207-E6E10DB029BD}"/>
              </a:ext>
            </a:extLst>
          </p:cNvPr>
          <p:cNvCxnSpPr>
            <a:cxnSpLocks/>
          </p:cNvCxnSpPr>
          <p:nvPr/>
        </p:nvCxnSpPr>
        <p:spPr>
          <a:xfrm>
            <a:off x="2721143" y="5979693"/>
            <a:ext cx="52138" cy="6216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ttore 2 126">
            <a:extLst>
              <a:ext uri="{FF2B5EF4-FFF2-40B4-BE49-F238E27FC236}">
                <a16:creationId xmlns:a16="http://schemas.microsoft.com/office/drawing/2014/main" id="{290D8FB6-BF5D-30A4-A1E8-ACE67F9185B7}"/>
              </a:ext>
            </a:extLst>
          </p:cNvPr>
          <p:cNvCxnSpPr>
            <a:cxnSpLocks/>
          </p:cNvCxnSpPr>
          <p:nvPr/>
        </p:nvCxnSpPr>
        <p:spPr>
          <a:xfrm flipV="1">
            <a:off x="2630904" y="5951620"/>
            <a:ext cx="92243" cy="7820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 128">
            <a:extLst>
              <a:ext uri="{FF2B5EF4-FFF2-40B4-BE49-F238E27FC236}">
                <a16:creationId xmlns:a16="http://schemas.microsoft.com/office/drawing/2014/main" id="{9C58202B-F414-5A39-CA2F-5EA469076C7A}"/>
              </a:ext>
            </a:extLst>
          </p:cNvPr>
          <p:cNvSpPr/>
          <p:nvPr/>
        </p:nvSpPr>
        <p:spPr>
          <a:xfrm>
            <a:off x="4613317" y="4441897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31" name="O 130">
            <a:extLst>
              <a:ext uri="{FF2B5EF4-FFF2-40B4-BE49-F238E27FC236}">
                <a16:creationId xmlns:a16="http://schemas.microsoft.com/office/drawing/2014/main" id="{B69A703A-B29F-72C4-8300-B010599EFBC0}"/>
              </a:ext>
            </a:extLst>
          </p:cNvPr>
          <p:cNvSpPr/>
          <p:nvPr/>
        </p:nvSpPr>
        <p:spPr>
          <a:xfrm>
            <a:off x="4613317" y="4983318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33" name="O 132">
            <a:extLst>
              <a:ext uri="{FF2B5EF4-FFF2-40B4-BE49-F238E27FC236}">
                <a16:creationId xmlns:a16="http://schemas.microsoft.com/office/drawing/2014/main" id="{04B22E38-1631-9283-79E5-D2D47C635961}"/>
              </a:ext>
            </a:extLst>
          </p:cNvPr>
          <p:cNvSpPr/>
          <p:nvPr/>
        </p:nvSpPr>
        <p:spPr>
          <a:xfrm>
            <a:off x="4272423" y="5524739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35" name="O 134">
            <a:extLst>
              <a:ext uri="{FF2B5EF4-FFF2-40B4-BE49-F238E27FC236}">
                <a16:creationId xmlns:a16="http://schemas.microsoft.com/office/drawing/2014/main" id="{10510AA8-A1F2-DF9E-71A9-2C94B4AD1EBF}"/>
              </a:ext>
            </a:extLst>
          </p:cNvPr>
          <p:cNvSpPr/>
          <p:nvPr/>
        </p:nvSpPr>
        <p:spPr>
          <a:xfrm>
            <a:off x="4272422" y="6066160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cxnSp>
        <p:nvCxnSpPr>
          <p:cNvPr id="137" name="Connettore 2 136">
            <a:extLst>
              <a:ext uri="{FF2B5EF4-FFF2-40B4-BE49-F238E27FC236}">
                <a16:creationId xmlns:a16="http://schemas.microsoft.com/office/drawing/2014/main" id="{684FFAC2-7FD9-9E77-E58A-5C5642B1C36F}"/>
              </a:ext>
            </a:extLst>
          </p:cNvPr>
          <p:cNvCxnSpPr>
            <a:cxnSpLocks/>
          </p:cNvCxnSpPr>
          <p:nvPr/>
        </p:nvCxnSpPr>
        <p:spPr>
          <a:xfrm>
            <a:off x="5977190" y="5155030"/>
            <a:ext cx="994609" cy="120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asellaDiTesto 138">
            <a:extLst>
              <a:ext uri="{FF2B5EF4-FFF2-40B4-BE49-F238E27FC236}">
                <a16:creationId xmlns:a16="http://schemas.microsoft.com/office/drawing/2014/main" id="{CDC69D4D-4B25-33B7-F51F-26EA51264D89}"/>
              </a:ext>
            </a:extLst>
          </p:cNvPr>
          <p:cNvSpPr txBox="1"/>
          <p:nvPr/>
        </p:nvSpPr>
        <p:spPr>
          <a:xfrm>
            <a:off x="7279104" y="5013158"/>
            <a:ext cx="10627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0000</a:t>
            </a:r>
            <a:endParaRPr lang="it-IT" dirty="0"/>
          </a:p>
        </p:txBody>
      </p:sp>
      <p:graphicFrame>
        <p:nvGraphicFramePr>
          <p:cNvPr id="141" name="Tabella 140">
            <a:extLst>
              <a:ext uri="{FF2B5EF4-FFF2-40B4-BE49-F238E27FC236}">
                <a16:creationId xmlns:a16="http://schemas.microsoft.com/office/drawing/2014/main" id="{E37B3448-C450-42EE-F898-9A2F1D843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411159"/>
              </p:ext>
            </p:extLst>
          </p:nvPr>
        </p:nvGraphicFramePr>
        <p:xfrm>
          <a:off x="898758" y="1424218"/>
          <a:ext cx="81686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864">
                  <a:extLst>
                    <a:ext uri="{9D8B030D-6E8A-4147-A177-3AD203B41FA5}">
                      <a16:colId xmlns:a16="http://schemas.microsoft.com/office/drawing/2014/main" val="373335859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28123165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285405978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10751964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373462823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147597107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4270313422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718365061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2685698644"/>
                    </a:ext>
                  </a:extLst>
                </a:gridCol>
                <a:gridCol w="816864">
                  <a:extLst>
                    <a:ext uri="{9D8B030D-6E8A-4147-A177-3AD203B41FA5}">
                      <a16:colId xmlns:a16="http://schemas.microsoft.com/office/drawing/2014/main" val="1481609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445593"/>
                  </a:ext>
                </a:extLst>
              </a:tr>
            </a:tbl>
          </a:graphicData>
        </a:graphic>
      </p:graphicFrame>
      <p:graphicFrame>
        <p:nvGraphicFramePr>
          <p:cNvPr id="143" name="Tabella 142">
            <a:extLst>
              <a:ext uri="{FF2B5EF4-FFF2-40B4-BE49-F238E27FC236}">
                <a16:creationId xmlns:a16="http://schemas.microsoft.com/office/drawing/2014/main" id="{4B01586F-5FF0-FFE3-793B-76F6D1774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11576"/>
              </p:ext>
            </p:extLst>
          </p:nvPr>
        </p:nvGraphicFramePr>
        <p:xfrm>
          <a:off x="9070205" y="1424218"/>
          <a:ext cx="20726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14">
                  <a:extLst>
                    <a:ext uri="{9D8B030D-6E8A-4147-A177-3AD203B41FA5}">
                      <a16:colId xmlns:a16="http://schemas.microsoft.com/office/drawing/2014/main" val="3184600988"/>
                    </a:ext>
                  </a:extLst>
                </a:gridCol>
                <a:gridCol w="1036314">
                  <a:extLst>
                    <a:ext uri="{9D8B030D-6E8A-4147-A177-3AD203B41FA5}">
                      <a16:colId xmlns:a16="http://schemas.microsoft.com/office/drawing/2014/main" val="284738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176143"/>
                  </a:ext>
                </a:extLst>
              </a:tr>
            </a:tbl>
          </a:graphicData>
        </a:graphic>
      </p:graphicFrame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3CB1F18A-79D5-9746-D6F8-38004699E2C7}"/>
              </a:ext>
            </a:extLst>
          </p:cNvPr>
          <p:cNvSpPr txBox="1"/>
          <p:nvPr/>
        </p:nvSpPr>
        <p:spPr>
          <a:xfrm>
            <a:off x="10347156" y="1132972"/>
            <a:ext cx="731921" cy="290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147" name="CasellaDiTesto 146">
            <a:extLst>
              <a:ext uri="{FF2B5EF4-FFF2-40B4-BE49-F238E27FC236}">
                <a16:creationId xmlns:a16="http://schemas.microsoft.com/office/drawing/2014/main" id="{F9600375-48EC-ED70-B374-FA88600FC738}"/>
              </a:ext>
            </a:extLst>
          </p:cNvPr>
          <p:cNvSpPr txBox="1"/>
          <p:nvPr/>
        </p:nvSpPr>
        <p:spPr>
          <a:xfrm>
            <a:off x="10407314" y="99260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</a:t>
            </a:r>
            <a:endParaRPr lang="it-IT" dirty="0"/>
          </a:p>
        </p:txBody>
      </p:sp>
      <p:sp>
        <p:nvSpPr>
          <p:cNvPr id="149" name="CasellaDiTesto 148">
            <a:extLst>
              <a:ext uri="{FF2B5EF4-FFF2-40B4-BE49-F238E27FC236}">
                <a16:creationId xmlns:a16="http://schemas.microsoft.com/office/drawing/2014/main" id="{588BE638-358A-C4E7-C34C-D71243EA9698}"/>
              </a:ext>
            </a:extLst>
          </p:cNvPr>
          <p:cNvSpPr txBox="1"/>
          <p:nvPr/>
        </p:nvSpPr>
        <p:spPr>
          <a:xfrm>
            <a:off x="9364577" y="99260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endParaRPr lang="it-IT" dirty="0"/>
          </a:p>
        </p:txBody>
      </p:sp>
      <p:sp>
        <p:nvSpPr>
          <p:cNvPr id="151" name="CasellaDiTesto 150">
            <a:extLst>
              <a:ext uri="{FF2B5EF4-FFF2-40B4-BE49-F238E27FC236}">
                <a16:creationId xmlns:a16="http://schemas.microsoft.com/office/drawing/2014/main" id="{851D24A7-CF7D-8874-D0FE-7FCE1EC61D13}"/>
              </a:ext>
            </a:extLst>
          </p:cNvPr>
          <p:cNvSpPr txBox="1"/>
          <p:nvPr/>
        </p:nvSpPr>
        <p:spPr>
          <a:xfrm>
            <a:off x="8422103" y="99260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3</a:t>
            </a:r>
            <a:endParaRPr lang="it-IT" dirty="0"/>
          </a:p>
        </p:txBody>
      </p:sp>
      <p:sp>
        <p:nvSpPr>
          <p:cNvPr id="153" name="CasellaDiTesto 152">
            <a:extLst>
              <a:ext uri="{FF2B5EF4-FFF2-40B4-BE49-F238E27FC236}">
                <a16:creationId xmlns:a16="http://schemas.microsoft.com/office/drawing/2014/main" id="{6C033CB3-DD8B-393D-E1D6-E167957D0AF8}"/>
              </a:ext>
            </a:extLst>
          </p:cNvPr>
          <p:cNvSpPr txBox="1"/>
          <p:nvPr/>
        </p:nvSpPr>
        <p:spPr>
          <a:xfrm>
            <a:off x="7599945" y="992605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4</a:t>
            </a:r>
            <a:endParaRPr lang="it-IT" dirty="0"/>
          </a:p>
        </p:txBody>
      </p: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05CF608E-2813-B265-32FA-3DF09BF8CD8B}"/>
              </a:ext>
            </a:extLst>
          </p:cNvPr>
          <p:cNvSpPr txBox="1"/>
          <p:nvPr/>
        </p:nvSpPr>
        <p:spPr>
          <a:xfrm>
            <a:off x="6878050" y="102268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5</a:t>
            </a:r>
            <a:endParaRPr lang="it-IT" dirty="0"/>
          </a:p>
        </p:txBody>
      </p:sp>
      <p:sp>
        <p:nvSpPr>
          <p:cNvPr id="157" name="CasellaDiTesto 156">
            <a:extLst>
              <a:ext uri="{FF2B5EF4-FFF2-40B4-BE49-F238E27FC236}">
                <a16:creationId xmlns:a16="http://schemas.microsoft.com/office/drawing/2014/main" id="{878F9CE3-9845-3DD3-2731-FC5D47956130}"/>
              </a:ext>
            </a:extLst>
          </p:cNvPr>
          <p:cNvSpPr txBox="1"/>
          <p:nvPr/>
        </p:nvSpPr>
        <p:spPr>
          <a:xfrm>
            <a:off x="5955630" y="1022684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6</a:t>
            </a:r>
            <a:endParaRPr lang="it-IT" dirty="0"/>
          </a:p>
        </p:txBody>
      </p:sp>
      <p:sp>
        <p:nvSpPr>
          <p:cNvPr id="159" name="CasellaDiTesto 158">
            <a:extLst>
              <a:ext uri="{FF2B5EF4-FFF2-40B4-BE49-F238E27FC236}">
                <a16:creationId xmlns:a16="http://schemas.microsoft.com/office/drawing/2014/main" id="{9A28288D-5D3E-B87F-DFDD-0CE101434A12}"/>
              </a:ext>
            </a:extLst>
          </p:cNvPr>
          <p:cNvSpPr txBox="1"/>
          <p:nvPr/>
        </p:nvSpPr>
        <p:spPr>
          <a:xfrm>
            <a:off x="5183603" y="105276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7</a:t>
            </a:r>
            <a:endParaRPr lang="it-IT" dirty="0"/>
          </a:p>
        </p:txBody>
      </p:sp>
      <p:sp>
        <p:nvSpPr>
          <p:cNvPr id="161" name="CasellaDiTesto 160">
            <a:extLst>
              <a:ext uri="{FF2B5EF4-FFF2-40B4-BE49-F238E27FC236}">
                <a16:creationId xmlns:a16="http://schemas.microsoft.com/office/drawing/2014/main" id="{653BBA6F-86C8-D876-A78A-85E009D39711}"/>
              </a:ext>
            </a:extLst>
          </p:cNvPr>
          <p:cNvSpPr txBox="1"/>
          <p:nvPr/>
        </p:nvSpPr>
        <p:spPr>
          <a:xfrm>
            <a:off x="4331366" y="105276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8</a:t>
            </a:r>
            <a:endParaRPr lang="it-IT" dirty="0"/>
          </a:p>
        </p:txBody>
      </p:sp>
      <p:sp>
        <p:nvSpPr>
          <p:cNvPr id="163" name="CasellaDiTesto 162">
            <a:extLst>
              <a:ext uri="{FF2B5EF4-FFF2-40B4-BE49-F238E27FC236}">
                <a16:creationId xmlns:a16="http://schemas.microsoft.com/office/drawing/2014/main" id="{CC32A7D6-8AD2-E0E5-C8B2-7BD7F6CD759A}"/>
              </a:ext>
            </a:extLst>
          </p:cNvPr>
          <p:cNvSpPr txBox="1"/>
          <p:nvPr/>
        </p:nvSpPr>
        <p:spPr>
          <a:xfrm>
            <a:off x="3499182" y="105276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9</a:t>
            </a:r>
            <a:endParaRPr lang="it-IT" dirty="0"/>
          </a:p>
        </p:txBody>
      </p:sp>
      <p:sp>
        <p:nvSpPr>
          <p:cNvPr id="165" name="CasellaDiTesto 164">
            <a:extLst>
              <a:ext uri="{FF2B5EF4-FFF2-40B4-BE49-F238E27FC236}">
                <a16:creationId xmlns:a16="http://schemas.microsoft.com/office/drawing/2014/main" id="{41A2E376-AAAB-E4AF-C8F8-8AEDB5AA2E7A}"/>
              </a:ext>
            </a:extLst>
          </p:cNvPr>
          <p:cNvSpPr txBox="1"/>
          <p:nvPr/>
        </p:nvSpPr>
        <p:spPr>
          <a:xfrm>
            <a:off x="2626892" y="102268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10</a:t>
            </a:r>
            <a:endParaRPr lang="it-IT" dirty="0"/>
          </a:p>
        </p:txBody>
      </p:sp>
      <p:sp>
        <p:nvSpPr>
          <p:cNvPr id="167" name="CasellaDiTesto 166">
            <a:extLst>
              <a:ext uri="{FF2B5EF4-FFF2-40B4-BE49-F238E27FC236}">
                <a16:creationId xmlns:a16="http://schemas.microsoft.com/office/drawing/2014/main" id="{6540184D-83B6-52CD-A71A-3C1B426C90EB}"/>
              </a:ext>
            </a:extLst>
          </p:cNvPr>
          <p:cNvSpPr txBox="1"/>
          <p:nvPr/>
        </p:nvSpPr>
        <p:spPr>
          <a:xfrm>
            <a:off x="1844840" y="1052763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11</a:t>
            </a:r>
            <a:endParaRPr lang="it-IT" dirty="0"/>
          </a:p>
        </p:txBody>
      </p:sp>
      <p:sp>
        <p:nvSpPr>
          <p:cNvPr id="169" name="CasellaDiTesto 168">
            <a:extLst>
              <a:ext uri="{FF2B5EF4-FFF2-40B4-BE49-F238E27FC236}">
                <a16:creationId xmlns:a16="http://schemas.microsoft.com/office/drawing/2014/main" id="{768B5359-F446-AA43-EA2A-3920684B4FBD}"/>
              </a:ext>
            </a:extLst>
          </p:cNvPr>
          <p:cNvSpPr txBox="1"/>
          <p:nvPr/>
        </p:nvSpPr>
        <p:spPr>
          <a:xfrm>
            <a:off x="1042734" y="1052762"/>
            <a:ext cx="48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12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4806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2186</Words>
  <Application>Microsoft Macintosh PowerPoint</Application>
  <PresentationFormat>Widescreen</PresentationFormat>
  <Paragraphs>568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Sistemi digitali e codifica</vt:lpstr>
      <vt:lpstr>Espressioni logiche</vt:lpstr>
      <vt:lpstr>Espressioni logiche</vt:lpstr>
      <vt:lpstr>Espressioni logiche</vt:lpstr>
      <vt:lpstr>Espressioni logiche</vt:lpstr>
      <vt:lpstr>Espressioni logiche</vt:lpstr>
      <vt:lpstr>Espressioni logiche</vt:lpstr>
      <vt:lpstr>Espressioni logiche</vt:lpstr>
      <vt:lpstr>Espressioni logiche</vt:lpstr>
      <vt:lpstr>Espressioni logiche</vt:lpstr>
      <vt:lpstr>Espressioni logiche</vt:lpstr>
      <vt:lpstr>Circuiti digitali</vt:lpstr>
      <vt:lpstr>Circuiti digitali</vt:lpstr>
      <vt:lpstr>Circuiti digitali</vt:lpstr>
      <vt:lpstr>Circuiti digitali</vt:lpstr>
      <vt:lpstr>Circuiti digitali</vt:lpstr>
      <vt:lpstr>Circuiti digitali</vt:lpstr>
      <vt:lpstr>Circuiti digitali</vt:lpstr>
      <vt:lpstr>Circuiti digitali</vt:lpstr>
      <vt:lpstr>Circuiti digitali</vt:lpstr>
      <vt:lpstr>Codice di Hamming</vt:lpstr>
      <vt:lpstr>Codice di Hamming</vt:lpstr>
      <vt:lpstr>Codice di Hamming</vt:lpstr>
      <vt:lpstr>Codice di Hamming</vt:lpstr>
      <vt:lpstr>Codice di Hamming</vt:lpstr>
      <vt:lpstr>Codice di Hamming</vt:lpstr>
      <vt:lpstr>Codice di Hamming</vt:lpstr>
      <vt:lpstr>Codice di Hamming</vt:lpstr>
      <vt:lpstr>Codice di Hamming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>alessandro simonetta</cp:lastModifiedBy>
  <cp:revision>1310</cp:revision>
  <dcterms:created xsi:type="dcterms:W3CDTF">2024-03-02T00:19:07Z</dcterms:created>
  <dcterms:modified xsi:type="dcterms:W3CDTF">2025-03-17T07:51:04Z</dcterms:modified>
</cp:coreProperties>
</file>