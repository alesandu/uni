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6" r:id="rId20"/>
    <p:sldId id="287" r:id="rId21"/>
    <p:sldId id="278" r:id="rId22"/>
    <p:sldId id="284" r:id="rId23"/>
    <p:sldId id="285" r:id="rId24"/>
    <p:sldId id="274" r:id="rId25"/>
    <p:sldId id="275" r:id="rId26"/>
    <p:sldId id="276" r:id="rId27"/>
    <p:sldId id="277" r:id="rId28"/>
    <p:sldId id="288" r:id="rId29"/>
    <p:sldId id="289" r:id="rId30"/>
    <p:sldId id="279" r:id="rId31"/>
    <p:sldId id="280" r:id="rId32"/>
    <p:sldId id="281" r:id="rId33"/>
    <p:sldId id="282" r:id="rId34"/>
    <p:sldId id="292" r:id="rId35"/>
    <p:sldId id="283" r:id="rId36"/>
    <p:sldId id="293" r:id="rId37"/>
    <p:sldId id="294" r:id="rId38"/>
    <p:sldId id="290" r:id="rId39"/>
    <p:sldId id="291" r:id="rId40"/>
    <p:sldId id="300" r:id="rId41"/>
    <p:sldId id="301" r:id="rId42"/>
    <p:sldId id="307" r:id="rId43"/>
    <p:sldId id="308" r:id="rId44"/>
    <p:sldId id="295" r:id="rId45"/>
    <p:sldId id="296" r:id="rId46"/>
    <p:sldId id="298" r:id="rId47"/>
    <p:sldId id="297" r:id="rId48"/>
    <p:sldId id="299" r:id="rId49"/>
    <p:sldId id="302" r:id="rId50"/>
    <p:sldId id="303" r:id="rId51"/>
    <p:sldId id="304" r:id="rId52"/>
    <p:sldId id="305" r:id="rId53"/>
    <p:sldId id="306" r:id="rId54"/>
    <p:sldId id="309" r:id="rId55"/>
    <p:sldId id="310" r:id="rId5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3F6CDE-DA44-82FA-334F-DAD1D5FCA287}" v="1939" dt="2024-03-02T00:20:49.437"/>
    <p1510:client id="{D09CF799-2CA0-D25B-0AAF-C32C749E8A28}" v="1093" dt="2024-03-01T13:01:29.0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02.03.2024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02.03.2024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02.03.2024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02.03.2024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02.03.2024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02.03.2024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02.03.2024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02.03.2024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02.03.2024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02.03.2024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02.03.2024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02.03.2024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3301E07F-4F79-4B58-8698-EF24DC1EC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Arc 10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22BE375-2B9F-2B29-D380-35E3BCA4FB7A}"/>
              </a:ext>
            </a:extLst>
          </p:cNvPr>
          <p:cNvSpPr txBox="1"/>
          <p:nvPr/>
        </p:nvSpPr>
        <p:spPr>
          <a:xfrm>
            <a:off x="642938" y="642938"/>
            <a:ext cx="5451475" cy="5570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r>
              <a:rPr lang="it-IT" sz="2800">
                <a:ea typeface="Calibri"/>
                <a:cs typeface="Calibri"/>
              </a:rPr>
              <a:t>Architettura dei sistemi di elaborazione</a:t>
            </a:r>
            <a:endParaRPr lang="it-IT" sz="2800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417732" y="957715"/>
            <a:ext cx="5130798" cy="2750419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  <a:ea typeface="Calibri Light"/>
                <a:cs typeface="Calibri Light"/>
              </a:rPr>
              <a:t>Esercitazione 1</a:t>
            </a:r>
            <a:endParaRPr lang="de-DE">
              <a:solidFill>
                <a:srgbClr val="FFFFFF"/>
              </a:solidFill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417732" y="3800209"/>
            <a:ext cx="5130798" cy="23070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>
                <a:solidFill>
                  <a:srgbClr val="FFFFFF"/>
                </a:solidFill>
                <a:ea typeface="Calibri"/>
                <a:cs typeface="Calibri"/>
              </a:rPr>
              <a:t>andrea.bonifati@students.uniroma2.eu</a:t>
            </a:r>
            <a:endParaRPr lang="de-DE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magine 3" descr="Immagine che contiene testo, schermata, aqua, grafica&#10;&#10;Descrizione generata automaticamente">
            <a:extLst>
              <a:ext uri="{FF2B5EF4-FFF2-40B4-BE49-F238E27FC236}">
                <a16:creationId xmlns:a16="http://schemas.microsoft.com/office/drawing/2014/main" id="{589C2766-5D6E-6FEE-8DCC-AAE1ACB1F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53" y="1725098"/>
            <a:ext cx="3044129" cy="446535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327A6A1-1342-6CD3-3672-9E517CB2AFD8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 err="1"/>
              <a:t>Capitoli</a:t>
            </a:r>
            <a:r>
              <a:rPr lang="en-US" dirty="0"/>
              <a:t>:</a:t>
            </a:r>
            <a:endParaRPr lang="it-IT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dirty="0">
              <a:solidFill>
                <a:schemeClr val="accent2"/>
              </a:solidFill>
              <a:ea typeface="Calibri" panose="020F0502020204030204"/>
              <a:cs typeface="Calibri" panose="020F0502020204030204"/>
            </a:endParaRP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err="1">
                <a:solidFill>
                  <a:schemeClr val="accent2"/>
                </a:solidFill>
              </a:rPr>
              <a:t>Sistemi</a:t>
            </a:r>
            <a:r>
              <a:rPr lang="en-US" dirty="0">
                <a:solidFill>
                  <a:schemeClr val="accent2"/>
                </a:solidFill>
              </a:rPr>
              <a:t> di </a:t>
            </a:r>
            <a:r>
              <a:rPr lang="en-US" err="1">
                <a:solidFill>
                  <a:schemeClr val="accent2"/>
                </a:solidFill>
              </a:rPr>
              <a:t>numerazioni</a:t>
            </a:r>
            <a:r>
              <a:rPr lang="en-US" dirty="0">
                <a:solidFill>
                  <a:schemeClr val="accent2"/>
                </a:solidFill>
              </a:rPr>
              <a:t> ed algebra di Boole.</a:t>
            </a:r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dirty="0"/>
              <a:t> 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digitali</a:t>
            </a:r>
            <a:r>
              <a:rPr lang="en-US" dirty="0"/>
              <a:t> e </a:t>
            </a:r>
            <a:r>
              <a:rPr lang="en-US" dirty="0" err="1"/>
              <a:t>codifica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dirty="0"/>
              <a:t>  Architettura ARM.</a:t>
            </a:r>
            <a:endParaRPr lang="en-US" dirty="0">
              <a:ea typeface="Calibri"/>
              <a:cs typeface="Calibri"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dirty="0"/>
              <a:t>  </a:t>
            </a:r>
            <a:r>
              <a:rPr lang="en-US" dirty="0" err="1"/>
              <a:t>Programmazione</a:t>
            </a:r>
            <a:r>
              <a:rPr lang="en-US" dirty="0"/>
              <a:t> in ARM.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873A4E1-0C1C-3755-4B99-92450FC7B465}"/>
              </a:ext>
            </a:extLst>
          </p:cNvPr>
          <p:cNvSpPr txBox="1"/>
          <p:nvPr/>
        </p:nvSpPr>
        <p:spPr>
          <a:xfrm>
            <a:off x="4066247" y="674336"/>
            <a:ext cx="366029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>
                <a:ea typeface="Calibri"/>
                <a:cs typeface="Calibri"/>
              </a:rPr>
              <a:t>Testo di riferimento</a:t>
            </a:r>
            <a:endParaRPr lang="it-IT" sz="3200"/>
          </a:p>
        </p:txBody>
      </p:sp>
    </p:spTree>
    <p:extLst>
      <p:ext uri="{BB962C8B-B14F-4D97-AF65-F5344CB8AC3E}">
        <p14:creationId xmlns:p14="http://schemas.microsoft.com/office/powerpoint/2010/main" val="234027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5B420A9-9E22-FA9C-3A83-CA6F3934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Sistemi di numerazione ed algebra di Boole </a:t>
            </a:r>
          </a:p>
        </p:txBody>
      </p:sp>
      <p:pic>
        <p:nvPicPr>
          <p:cNvPr id="4" name="Picture 3" descr="Programmazione dei dati sul monitor di un computer">
            <a:extLst>
              <a:ext uri="{FF2B5EF4-FFF2-40B4-BE49-F238E27FC236}">
                <a16:creationId xmlns:a16="http://schemas.microsoft.com/office/drawing/2014/main" id="{D215D5E1-B770-6D52-4A78-9C60314E89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585" r="9151" b="-3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749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3EC1E3-F0B1-7112-53E1-677C30C94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430" y="413090"/>
            <a:ext cx="5748043" cy="1325563"/>
          </a:xfrm>
        </p:spPr>
        <p:txBody>
          <a:bodyPr/>
          <a:lstStyle/>
          <a:p>
            <a:r>
              <a:rPr lang="it-IT">
                <a:ea typeface="Calibri Light"/>
                <a:cs typeface="Calibri Light"/>
              </a:rPr>
              <a:t>Sistemi di numerazione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5CD321-D5C9-3682-AC86-98D109C16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>
                <a:ea typeface="Calibri"/>
                <a:cs typeface="Calibri"/>
              </a:rPr>
              <a:t>Sistema di numerazione binario</a:t>
            </a:r>
          </a:p>
          <a:p>
            <a:r>
              <a:rPr lang="it-IT">
                <a:ea typeface="Calibri"/>
                <a:cs typeface="Calibri"/>
              </a:rPr>
              <a:t>Sistemi di numerazione esadecimale ed ottale</a:t>
            </a: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3A3A2014-5B86-0FD4-C5D8-783A7FD8D5B9}"/>
              </a:ext>
            </a:extLst>
          </p:cNvPr>
          <p:cNvSpPr txBox="1">
            <a:spLocks/>
          </p:cNvSpPr>
          <p:nvPr/>
        </p:nvSpPr>
        <p:spPr>
          <a:xfrm>
            <a:off x="765459" y="2765458"/>
            <a:ext cx="574804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ea typeface="Calibri Light"/>
                <a:cs typeface="Calibri Light"/>
              </a:rPr>
              <a:t>Algebra di Boole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6CB2AA6-F1B5-7E96-8946-B6C970D6BBAA}"/>
              </a:ext>
            </a:extLst>
          </p:cNvPr>
          <p:cNvSpPr txBox="1"/>
          <p:nvPr/>
        </p:nvSpPr>
        <p:spPr>
          <a:xfrm>
            <a:off x="742335" y="3999271"/>
            <a:ext cx="11278829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Char char="•"/>
            </a:pPr>
            <a:r>
              <a:rPr lang="it-IT" sz="2800">
                <a:cs typeface="Arial"/>
              </a:rPr>
              <a:t>Operatori logici e le loro proprietà</a:t>
            </a:r>
            <a:endParaRPr lang="en-US" sz="2800">
              <a:cs typeface="Arial"/>
            </a:endParaRPr>
          </a:p>
          <a:p>
            <a:pPr marL="228600" indent="-228600">
              <a:buChar char="•"/>
            </a:pPr>
            <a:r>
              <a:rPr lang="it-IT" sz="2800">
                <a:cs typeface="Arial"/>
              </a:rPr>
              <a:t>Espressioni booleane</a:t>
            </a:r>
          </a:p>
          <a:p>
            <a:pPr marL="228600" indent="-228600">
              <a:buChar char="•"/>
            </a:pPr>
            <a:r>
              <a:rPr lang="it-IT" sz="2800">
                <a:cs typeface="Arial"/>
              </a:rPr>
              <a:t>Equivalenze ed operatori universali</a:t>
            </a:r>
          </a:p>
          <a:p>
            <a:pPr marL="228600" indent="-228600">
              <a:buChar char="•"/>
            </a:pPr>
            <a:r>
              <a:rPr lang="it-IT" sz="2800">
                <a:cs typeface="Arial"/>
              </a:rPr>
              <a:t>Trasformazioni nel dominio di Boole</a:t>
            </a:r>
          </a:p>
          <a:p>
            <a:pPr marL="228600" indent="-228600">
              <a:buChar char="•"/>
            </a:pPr>
            <a:r>
              <a:rPr lang="it-IT" sz="2800">
                <a:cs typeface="Arial"/>
              </a:rPr>
              <a:t>Mappe di </a:t>
            </a:r>
            <a:r>
              <a:rPr lang="it-IT" sz="2800" err="1">
                <a:cs typeface="Arial"/>
              </a:rPr>
              <a:t>Karnaugh</a:t>
            </a:r>
          </a:p>
          <a:p>
            <a:endParaRPr lang="it-IT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72533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7E978B-B25E-B23D-D00C-F25C33E3C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>
                <a:ea typeface="Calibri"/>
                <a:cs typeface="Calibri"/>
              </a:rPr>
              <a:t>I sistemi di numerazione permettono di rappresentare i numeri e le operazioni tra di essi.</a:t>
            </a:r>
          </a:p>
          <a:p>
            <a:r>
              <a:rPr lang="it-IT">
                <a:ea typeface="Calibri"/>
                <a:cs typeface="Calibri"/>
              </a:rPr>
              <a:t>Un sistema numerico è un linguaggio per scrivere numeri, composto da: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>
                <a:ea typeface="Calibri"/>
                <a:cs typeface="Calibri"/>
              </a:rPr>
              <a:t>Alfabeto: Un insieme di simboli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it-IT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it-IT">
                <a:ea typeface="Calibri"/>
                <a:cs typeface="Calibri"/>
              </a:rPr>
              <a:t>Sintassi: Regole per comporre sequenze valide di numeri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it-IT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it-IT">
                <a:ea typeface="Calibri"/>
                <a:cs typeface="Calibri"/>
              </a:rPr>
              <a:t>Semantica: Regole per dedurne il significato.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D3114D4F-A250-6997-776D-06405B4D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607" y="-72378"/>
            <a:ext cx="5748043" cy="1325563"/>
          </a:xfrm>
        </p:spPr>
        <p:txBody>
          <a:bodyPr/>
          <a:lstStyle/>
          <a:p>
            <a:r>
              <a:rPr lang="it-IT">
                <a:ea typeface="Calibri Light"/>
                <a:cs typeface="Calibri Light"/>
              </a:rPr>
              <a:t>Sistemi di numerazione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4361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BA4A0144-C4D1-5FBC-09C9-C6D52DAB813C}"/>
              </a:ext>
            </a:extLst>
          </p:cNvPr>
          <p:cNvSpPr txBox="1"/>
          <p:nvPr/>
        </p:nvSpPr>
        <p:spPr>
          <a:xfrm>
            <a:off x="316937" y="310194"/>
            <a:ext cx="11645787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>
                <a:ea typeface="Calibri"/>
                <a:cs typeface="Calibri"/>
              </a:rPr>
              <a:t>I primi sistemi di numerazione erano non posizionali e di tipo additivo:</a:t>
            </a:r>
          </a:p>
          <a:p>
            <a:pPr marL="285750" indent="-285750">
              <a:buFont typeface="Arial"/>
              <a:buChar char="•"/>
            </a:pPr>
            <a:r>
              <a:rPr lang="it-IT" sz="2400">
                <a:ea typeface="Calibri"/>
                <a:cs typeface="Calibri"/>
              </a:rPr>
              <a:t>Le cifre avevano sempre lo stesso valore indipendentemente dalla posizione occupata.</a:t>
            </a:r>
          </a:p>
          <a:p>
            <a:pPr marL="285750" indent="-285750">
              <a:buFont typeface="Arial"/>
              <a:buChar char="•"/>
            </a:pPr>
            <a:r>
              <a:rPr lang="it-IT" sz="2400">
                <a:ea typeface="Calibri"/>
                <a:cs typeface="Calibri"/>
              </a:rPr>
              <a:t>Il valore del numero si calcolava sommando o sottraendo le cifre adiacenti secondo un preciso algoritmo.</a:t>
            </a:r>
          </a:p>
          <a:p>
            <a:endParaRPr lang="it-IT">
              <a:ea typeface="Calibri"/>
              <a:cs typeface="Calibri"/>
            </a:endParaRPr>
          </a:p>
          <a:p>
            <a:r>
              <a:rPr lang="it-IT" sz="3600">
                <a:ea typeface="Calibri"/>
                <a:cs typeface="Calibri"/>
              </a:rPr>
              <a:t>Queste tipologie di sistemi di numerazione presentavano due svantaggi:</a:t>
            </a:r>
          </a:p>
          <a:p>
            <a:pPr marL="285750" indent="-285750">
              <a:buFont typeface="Arial"/>
              <a:buChar char="•"/>
            </a:pPr>
            <a:r>
              <a:rPr lang="it-IT" sz="2400">
                <a:ea typeface="Calibri"/>
                <a:cs typeface="Calibri"/>
              </a:rPr>
              <a:t>Non riuscivano a rappresentare tutti i numeri, e una volta giunti al limite di rappresentazione, richiedevano l'utilizzo di nuovi simboli.</a:t>
            </a:r>
          </a:p>
          <a:p>
            <a:pPr marL="285750" indent="-285750">
              <a:buFont typeface="Arial"/>
              <a:buChar char="•"/>
            </a:pPr>
            <a:r>
              <a:rPr lang="it-IT" sz="2400">
                <a:ea typeface="Calibri"/>
                <a:cs typeface="Calibri"/>
              </a:rPr>
              <a:t>Le operazioni di somma, sottrazione, moltiplicazione e divisione non erano semplici</a:t>
            </a:r>
          </a:p>
        </p:txBody>
      </p:sp>
    </p:spTree>
    <p:extLst>
      <p:ext uri="{BB962C8B-B14F-4D97-AF65-F5344CB8AC3E}">
        <p14:creationId xmlns:p14="http://schemas.microsoft.com/office/powerpoint/2010/main" val="2244262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1D36AD8F-1066-AE99-4CB1-A9B107C09E7C}"/>
              </a:ext>
            </a:extLst>
          </p:cNvPr>
          <p:cNvSpPr txBox="1"/>
          <p:nvPr/>
        </p:nvSpPr>
        <p:spPr>
          <a:xfrm>
            <a:off x="242761" y="168583"/>
            <a:ext cx="11612070" cy="6001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ea typeface="Calibri"/>
                <a:cs typeface="Calibri"/>
              </a:rPr>
              <a:t>Il sistema di numerazione decimale, utilizzato comunemente per rappresentare i numeri, è un sistema posizionale a base dieci:</a:t>
            </a:r>
          </a:p>
          <a:p>
            <a:pPr marL="285750" indent="-285750">
              <a:buFont typeface="Calibri"/>
              <a:buChar char="-"/>
            </a:pPr>
            <a:r>
              <a:rPr lang="it-IT" sz="2400" dirty="0">
                <a:ea typeface="Calibri"/>
                <a:cs typeface="Calibri"/>
              </a:rPr>
              <a:t>Sistema posizionale: ogni cifra assume un valore diverso a seconda della posizione che occupa</a:t>
            </a:r>
          </a:p>
          <a:p>
            <a:pPr marL="285750" indent="-285750">
              <a:buFont typeface="Calibri"/>
              <a:buChar char="-"/>
            </a:pPr>
            <a:r>
              <a:rPr lang="it-IT" sz="2400" dirty="0">
                <a:ea typeface="Calibri"/>
                <a:cs typeface="Calibri"/>
              </a:rPr>
              <a:t>L'alfabeto dei simboli sono le prime dieci cifre {0,1,…,9}</a:t>
            </a:r>
          </a:p>
          <a:p>
            <a:pPr marL="285750" indent="-285750">
              <a:buFont typeface="Calibri"/>
              <a:buChar char="-"/>
            </a:pPr>
            <a:endParaRPr lang="it-IT" sz="2400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endParaRPr lang="it-IT" sz="2400" dirty="0">
              <a:ea typeface="Calibri"/>
              <a:cs typeface="Calibri"/>
            </a:endParaRPr>
          </a:p>
          <a:p>
            <a:r>
              <a:rPr lang="it-IT" sz="2400" dirty="0">
                <a:ea typeface="Calibri"/>
                <a:cs typeface="Calibri"/>
              </a:rPr>
              <a:t>In un sistema posizionale, la base rappresenta il numero di simboli dell'alfabeto. Se la base di un sistema posizionale è B, si utilizzeranno le cifre da 0 a B-1 per comporre qualsiasi numero.</a:t>
            </a:r>
          </a:p>
          <a:p>
            <a:endParaRPr lang="it-IT" sz="2400" dirty="0">
              <a:ea typeface="Calibri"/>
              <a:cs typeface="Calibri"/>
            </a:endParaRPr>
          </a:p>
          <a:p>
            <a:endParaRPr lang="it-IT" sz="2400" dirty="0">
              <a:ea typeface="Calibri"/>
              <a:cs typeface="Calibri"/>
            </a:endParaRPr>
          </a:p>
          <a:p>
            <a:endParaRPr lang="it-IT" sz="2400">
              <a:ea typeface="Calibri"/>
              <a:cs typeface="Calibri"/>
            </a:endParaRPr>
          </a:p>
          <a:p>
            <a:r>
              <a:rPr lang="it-IT" sz="2400" dirty="0">
                <a:ea typeface="Calibri"/>
                <a:cs typeface="Calibri"/>
              </a:rPr>
              <a:t>Qualsiasi sequenza numerica espressa in base B utilizzerà i simboli dell'alfabeto, cioè le cifre {0,1,…,B-1}, ed il loro contributo dipenderà dalla </a:t>
            </a:r>
            <a:r>
              <a:rPr lang="it-IT" sz="2400" b="1" dirty="0">
                <a:ea typeface="Calibri"/>
                <a:cs typeface="Calibri"/>
              </a:rPr>
              <a:t>cifra stessa</a:t>
            </a:r>
            <a:r>
              <a:rPr lang="it-IT" sz="2400" dirty="0">
                <a:ea typeface="Calibri"/>
                <a:cs typeface="Calibri"/>
              </a:rPr>
              <a:t> e dalla sua </a:t>
            </a:r>
            <a:r>
              <a:rPr lang="it-IT" sz="2400" b="1" dirty="0">
                <a:ea typeface="Calibri"/>
                <a:cs typeface="Calibri"/>
              </a:rPr>
              <a:t>posizione</a:t>
            </a:r>
            <a:r>
              <a:rPr lang="it-IT" sz="2400" dirty="0">
                <a:ea typeface="Calibri"/>
                <a:cs typeface="Calibri"/>
              </a:rPr>
              <a:t> nella sequenza numerica.</a:t>
            </a:r>
          </a:p>
        </p:txBody>
      </p:sp>
    </p:spTree>
    <p:extLst>
      <p:ext uri="{BB962C8B-B14F-4D97-AF65-F5344CB8AC3E}">
        <p14:creationId xmlns:p14="http://schemas.microsoft.com/office/powerpoint/2010/main" val="3766906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E83B56AE-212D-AEDC-E12A-E5231D7CFD7B}"/>
              </a:ext>
            </a:extLst>
          </p:cNvPr>
          <p:cNvSpPr txBox="1"/>
          <p:nvPr/>
        </p:nvSpPr>
        <p:spPr>
          <a:xfrm>
            <a:off x="101150" y="80919"/>
            <a:ext cx="11915522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>
                <a:ea typeface="Calibri"/>
                <a:cs typeface="Calibri"/>
              </a:rPr>
              <a:t>Il peso di una cifra nel numero è determinato in relazione alla cifra ed alla sua posizione all'interno del numero. </a:t>
            </a:r>
          </a:p>
          <a:p>
            <a:r>
              <a:rPr lang="it-IT" sz="2000">
                <a:ea typeface="Calibri"/>
                <a:cs typeface="Calibri"/>
              </a:rPr>
              <a:t>Si considera come posizione iniziale quella della cifra più a destra, iniziando a contare da 0.</a:t>
            </a:r>
          </a:p>
          <a:p>
            <a:r>
              <a:rPr lang="it-IT" sz="2000">
                <a:ea typeface="Calibri"/>
                <a:cs typeface="Calibri"/>
              </a:rPr>
              <a:t>Una cifra x in posizione k di un numero espresso in base B è pari a B</a:t>
            </a:r>
            <a:r>
              <a:rPr lang="it-IT" sz="2000" baseline="30000">
                <a:ea typeface="Calibri"/>
                <a:cs typeface="Calibri"/>
              </a:rPr>
              <a:t>k </a:t>
            </a:r>
            <a:r>
              <a:rPr lang="it-IT" sz="2000">
                <a:ea typeface="Calibri"/>
                <a:cs typeface="Calibri"/>
              </a:rPr>
              <a:t>,</a:t>
            </a:r>
            <a:r>
              <a:rPr lang="it-IT" sz="2000" baseline="30000">
                <a:ea typeface="Calibri"/>
                <a:cs typeface="Calibri"/>
              </a:rPr>
              <a:t> </a:t>
            </a:r>
            <a:r>
              <a:rPr lang="it-IT" sz="2000">
                <a:ea typeface="Calibri"/>
                <a:cs typeface="Calibri"/>
              </a:rPr>
              <a:t>mentre il suo contributo totale al numero rappresentato è </a:t>
            </a:r>
            <a:r>
              <a:rPr lang="it-IT" sz="2000" err="1">
                <a:ea typeface="Calibri"/>
                <a:cs typeface="Calibri"/>
              </a:rPr>
              <a:t>xB</a:t>
            </a:r>
            <a:r>
              <a:rPr lang="it-IT" sz="2000" baseline="30000" err="1">
                <a:ea typeface="Calibri"/>
                <a:cs typeface="Calibri"/>
              </a:rPr>
              <a:t>k</a:t>
            </a:r>
            <a:r>
              <a:rPr lang="it-IT" sz="2000" baseline="30000">
                <a:ea typeface="Calibri"/>
                <a:cs typeface="Calibri"/>
              </a:rPr>
              <a:t> </a:t>
            </a:r>
            <a:endParaRPr lang="it-IT" sz="1200" baseline="30000" err="1">
              <a:ea typeface="+mn-lt"/>
              <a:cs typeface="+mn-lt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1FFE2E2-72FD-9706-6867-48D96D5B2310}"/>
              </a:ext>
            </a:extLst>
          </p:cNvPr>
          <p:cNvSpPr txBox="1"/>
          <p:nvPr/>
        </p:nvSpPr>
        <p:spPr>
          <a:xfrm>
            <a:off x="4430389" y="1928601"/>
            <a:ext cx="28187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ea typeface="Calibri"/>
                <a:cs typeface="Calibri"/>
              </a:rPr>
              <a:t>Inserire tabella 1 pagina 6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D8D8C34-4FAD-392A-28BC-DFAD0AB05884}"/>
              </a:ext>
            </a:extLst>
          </p:cNvPr>
          <p:cNvSpPr txBox="1"/>
          <p:nvPr/>
        </p:nvSpPr>
        <p:spPr>
          <a:xfrm>
            <a:off x="1159858" y="4066247"/>
            <a:ext cx="92775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ea typeface="Calibri"/>
                <a:cs typeface="Calibri"/>
              </a:rPr>
              <a:t>Il valore del numero, indipendentemente dalla base, è esprimibile nella sua forma polinomiale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872604B-2EAE-3F29-264F-85E90D23FC0A}"/>
              </a:ext>
            </a:extLst>
          </p:cNvPr>
          <p:cNvSpPr txBox="1"/>
          <p:nvPr/>
        </p:nvSpPr>
        <p:spPr>
          <a:xfrm>
            <a:off x="2157878" y="4996831"/>
            <a:ext cx="120706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ea typeface="Calibri"/>
                <a:cs typeface="Calibri"/>
              </a:rPr>
              <a:t>N</a:t>
            </a:r>
            <a:r>
              <a:rPr lang="it-IT" sz="2800" baseline="-25000">
                <a:ea typeface="Calibri"/>
                <a:cs typeface="Calibri"/>
              </a:rPr>
              <a:t>10</a:t>
            </a:r>
            <a:r>
              <a:rPr lang="it-IT" sz="2000">
                <a:ea typeface="Calibri"/>
                <a:cs typeface="Calibri"/>
              </a:rPr>
              <a:t> </a:t>
            </a:r>
            <a:r>
              <a:rPr lang="it-IT" sz="2800">
                <a:ea typeface="Calibri"/>
                <a:cs typeface="Calibri"/>
              </a:rPr>
              <a:t>=</a:t>
            </a:r>
            <a:r>
              <a:rPr lang="it-IT" sz="2000">
                <a:ea typeface="Calibri"/>
                <a:cs typeface="Calibri"/>
              </a:rPr>
              <a:t> </a:t>
            </a:r>
            <a:r>
              <a:rPr lang="it-IT" sz="2000">
                <a:ea typeface="+mn-lt"/>
                <a:cs typeface="+mn-lt"/>
              </a:rPr>
              <a:t> </a:t>
            </a:r>
            <a:endParaRPr lang="it-IT">
              <a:ea typeface="Calibri"/>
              <a:cs typeface="Calibri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7E400B2-8EE6-0A53-9406-AD5F6804B7EA}"/>
              </a:ext>
            </a:extLst>
          </p:cNvPr>
          <p:cNvSpPr txBox="1"/>
          <p:nvPr/>
        </p:nvSpPr>
        <p:spPr>
          <a:xfrm>
            <a:off x="2994054" y="4774301"/>
            <a:ext cx="5529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5400">
                <a:ea typeface="Calibri"/>
                <a:cs typeface="Calibri"/>
              </a:rPr>
              <a:t>Σ</a:t>
            </a:r>
            <a:endParaRPr lang="it-IT" sz="540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F68A5A5-8AE7-4A14-5FED-52CF0A328886}"/>
              </a:ext>
            </a:extLst>
          </p:cNvPr>
          <p:cNvSpPr txBox="1"/>
          <p:nvPr/>
        </p:nvSpPr>
        <p:spPr>
          <a:xfrm>
            <a:off x="2913134" y="5435150"/>
            <a:ext cx="306013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ea typeface="Calibri"/>
                <a:cs typeface="Calibri"/>
              </a:rPr>
              <a:t>k= 0</a:t>
            </a:r>
            <a:endParaRPr lang="it-IT" sz="280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0CE2151-49FF-D948-7AA9-B32BF93CD9AA}"/>
              </a:ext>
            </a:extLst>
          </p:cNvPr>
          <p:cNvSpPr txBox="1"/>
          <p:nvPr/>
        </p:nvSpPr>
        <p:spPr>
          <a:xfrm>
            <a:off x="2933364" y="4551769"/>
            <a:ext cx="306013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800">
                <a:ea typeface="Calibri"/>
                <a:cs typeface="Calibri"/>
              </a:rPr>
              <a:t>n-1</a:t>
            </a:r>
            <a:endParaRPr lang="it-IT" sz="280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0031CDF-560E-0837-DBBC-9B5E19CE5B82}"/>
              </a:ext>
            </a:extLst>
          </p:cNvPr>
          <p:cNvSpPr txBox="1"/>
          <p:nvPr/>
        </p:nvSpPr>
        <p:spPr>
          <a:xfrm>
            <a:off x="3439116" y="4949628"/>
            <a:ext cx="9629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err="1">
                <a:ea typeface="Calibri"/>
                <a:cs typeface="Calibri"/>
              </a:rPr>
              <a:t>x</a:t>
            </a:r>
            <a:r>
              <a:rPr lang="it-IT" sz="2800" baseline="-25000" err="1">
                <a:ea typeface="Calibri"/>
                <a:cs typeface="Calibri"/>
              </a:rPr>
              <a:t>k</a:t>
            </a:r>
            <a:r>
              <a:rPr lang="it-IT" sz="2800">
                <a:ea typeface="Calibri"/>
                <a:cs typeface="Calibri"/>
              </a:rPr>
              <a:t> B</a:t>
            </a:r>
            <a:r>
              <a:rPr lang="it-IT" sz="2800" baseline="30000">
                <a:ea typeface="Calibri"/>
                <a:cs typeface="Calibri"/>
              </a:rPr>
              <a:t>k</a:t>
            </a:r>
            <a:endParaRPr lang="it-IT" sz="2800" baseline="3000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4546B94-1281-F8BC-3053-1877F7BA1B01}"/>
              </a:ext>
            </a:extLst>
          </p:cNvPr>
          <p:cNvSpPr txBox="1"/>
          <p:nvPr/>
        </p:nvSpPr>
        <p:spPr>
          <a:xfrm>
            <a:off x="4261803" y="4949628"/>
            <a:ext cx="578580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ea typeface="Calibri"/>
                <a:cs typeface="Calibri"/>
              </a:rPr>
              <a:t>= x</a:t>
            </a:r>
            <a:r>
              <a:rPr lang="it-IT" sz="2800" baseline="-25000">
                <a:ea typeface="Calibri"/>
                <a:cs typeface="Calibri"/>
              </a:rPr>
              <a:t>0</a:t>
            </a:r>
            <a:r>
              <a:rPr lang="it-IT" sz="2800">
                <a:ea typeface="Calibri"/>
                <a:cs typeface="Calibri"/>
              </a:rPr>
              <a:t>B</a:t>
            </a:r>
            <a:r>
              <a:rPr lang="it-IT" sz="2800" baseline="30000">
                <a:ea typeface="Calibri"/>
                <a:cs typeface="Calibri"/>
              </a:rPr>
              <a:t>0</a:t>
            </a:r>
            <a:r>
              <a:rPr lang="it-IT" sz="2800">
                <a:ea typeface="Calibri"/>
                <a:cs typeface="Calibri"/>
              </a:rPr>
              <a:t> + x</a:t>
            </a:r>
            <a:r>
              <a:rPr lang="it-IT" sz="2800" baseline="-25000">
                <a:ea typeface="Calibri"/>
                <a:cs typeface="Calibri"/>
              </a:rPr>
              <a:t>1</a:t>
            </a:r>
            <a:r>
              <a:rPr lang="it-IT" sz="2800">
                <a:ea typeface="Calibri"/>
                <a:cs typeface="Calibri"/>
              </a:rPr>
              <a:t>B</a:t>
            </a:r>
            <a:r>
              <a:rPr lang="it-IT" sz="2800" baseline="30000">
                <a:ea typeface="Calibri"/>
                <a:cs typeface="Calibri"/>
              </a:rPr>
              <a:t>1</a:t>
            </a:r>
            <a:r>
              <a:rPr lang="it-IT" sz="2800">
                <a:ea typeface="Calibri"/>
                <a:cs typeface="Calibri"/>
              </a:rPr>
              <a:t> + … + x</a:t>
            </a:r>
            <a:r>
              <a:rPr lang="it-IT" sz="2800" baseline="-25000">
                <a:ea typeface="Calibri"/>
                <a:cs typeface="Calibri"/>
              </a:rPr>
              <a:t>n-1</a:t>
            </a:r>
            <a:r>
              <a:rPr lang="it-IT" sz="2800">
                <a:ea typeface="Calibri"/>
                <a:cs typeface="Calibri"/>
              </a:rPr>
              <a:t> B</a:t>
            </a:r>
            <a:r>
              <a:rPr lang="it-IT" sz="2800" baseline="30000">
                <a:ea typeface="Calibri"/>
                <a:cs typeface="Calibri"/>
              </a:rPr>
              <a:t>n-1</a:t>
            </a:r>
            <a:endParaRPr lang="it-IT" sz="2800" baseline="30000"/>
          </a:p>
        </p:txBody>
      </p:sp>
    </p:spTree>
    <p:extLst>
      <p:ext uri="{BB962C8B-B14F-4D97-AF65-F5344CB8AC3E}">
        <p14:creationId xmlns:p14="http://schemas.microsoft.com/office/powerpoint/2010/main" val="4248136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AE3B938-C722-0602-14EA-4FC8994BB63C}"/>
              </a:ext>
            </a:extLst>
          </p:cNvPr>
          <p:cNvSpPr txBox="1"/>
          <p:nvPr/>
        </p:nvSpPr>
        <p:spPr>
          <a:xfrm>
            <a:off x="5360973" y="175327"/>
            <a:ext cx="146870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800">
                <a:ea typeface="Calibri"/>
                <a:cs typeface="Calibri"/>
              </a:rPr>
              <a:t>Esempio</a:t>
            </a:r>
            <a:endParaRPr lang="it-IT" sz="280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2E2C3A3-6386-872F-2E3F-6194D69489F8}"/>
              </a:ext>
            </a:extLst>
          </p:cNvPr>
          <p:cNvSpPr txBox="1"/>
          <p:nvPr/>
        </p:nvSpPr>
        <p:spPr>
          <a:xfrm>
            <a:off x="465291" y="937327"/>
            <a:ext cx="32300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>
                <a:ea typeface="Calibri"/>
                <a:cs typeface="Calibri"/>
              </a:rPr>
              <a:t>N = 2024 in base 10</a:t>
            </a:r>
            <a:endParaRPr lang="it-IT" sz="240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0A2275C-3B07-C771-EC3B-B3753EF981EB}"/>
              </a:ext>
            </a:extLst>
          </p:cNvPr>
          <p:cNvSpPr txBox="1"/>
          <p:nvPr/>
        </p:nvSpPr>
        <p:spPr>
          <a:xfrm>
            <a:off x="60691" y="2157875"/>
            <a:ext cx="190162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ea typeface="Calibri"/>
                <a:cs typeface="Calibri"/>
              </a:rPr>
              <a:t>(2024)</a:t>
            </a:r>
            <a:r>
              <a:rPr lang="it-IT" sz="2800" baseline="-25000">
                <a:ea typeface="Calibri"/>
                <a:cs typeface="Calibri"/>
              </a:rPr>
              <a:t>10</a:t>
            </a:r>
            <a:r>
              <a:rPr lang="it-IT" sz="2000">
                <a:ea typeface="Calibri"/>
                <a:cs typeface="Calibri"/>
              </a:rPr>
              <a:t> </a:t>
            </a:r>
            <a:r>
              <a:rPr lang="it-IT" sz="2800">
                <a:ea typeface="Calibri"/>
                <a:cs typeface="Calibri"/>
              </a:rPr>
              <a:t>=</a:t>
            </a:r>
            <a:r>
              <a:rPr lang="it-IT" sz="2000">
                <a:ea typeface="Calibri"/>
                <a:cs typeface="Calibri"/>
              </a:rPr>
              <a:t> </a:t>
            </a:r>
            <a:r>
              <a:rPr lang="it-IT" sz="2000">
                <a:ea typeface="+mn-lt"/>
                <a:cs typeface="+mn-lt"/>
              </a:rPr>
              <a:t> </a:t>
            </a:r>
            <a:endParaRPr lang="it-IT">
              <a:ea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C4587F3-C1CA-96CE-6988-6578AE3C11F6}"/>
              </a:ext>
            </a:extLst>
          </p:cNvPr>
          <p:cNvSpPr txBox="1"/>
          <p:nvPr/>
        </p:nvSpPr>
        <p:spPr>
          <a:xfrm>
            <a:off x="1807222" y="1894885"/>
            <a:ext cx="5529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5400">
                <a:ea typeface="Calibri"/>
                <a:cs typeface="Calibri"/>
              </a:rPr>
              <a:t>Σ</a:t>
            </a:r>
            <a:endParaRPr lang="it-IT" sz="540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76B52E3-E605-5552-EF07-6B5E5CF106CC}"/>
              </a:ext>
            </a:extLst>
          </p:cNvPr>
          <p:cNvSpPr txBox="1"/>
          <p:nvPr/>
        </p:nvSpPr>
        <p:spPr>
          <a:xfrm>
            <a:off x="1726302" y="2555734"/>
            <a:ext cx="306013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ea typeface="Calibri"/>
                <a:cs typeface="Calibri"/>
              </a:rPr>
              <a:t>k= 0</a:t>
            </a:r>
            <a:endParaRPr lang="it-IT" sz="280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BCBFB71-A5FE-3BA1-D4C5-919009FA7F06}"/>
              </a:ext>
            </a:extLst>
          </p:cNvPr>
          <p:cNvSpPr txBox="1"/>
          <p:nvPr/>
        </p:nvSpPr>
        <p:spPr>
          <a:xfrm>
            <a:off x="1867913" y="1685840"/>
            <a:ext cx="306013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800">
                <a:ea typeface="Calibri"/>
                <a:cs typeface="Calibri"/>
              </a:rPr>
              <a:t>3</a:t>
            </a:r>
            <a:endParaRPr lang="it-IT" sz="280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A5AC04D-C48B-BAFA-B478-01035B6D81E0}"/>
              </a:ext>
            </a:extLst>
          </p:cNvPr>
          <p:cNvSpPr txBox="1"/>
          <p:nvPr/>
        </p:nvSpPr>
        <p:spPr>
          <a:xfrm>
            <a:off x="2252284" y="2070212"/>
            <a:ext cx="9629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err="1">
                <a:ea typeface="Calibri"/>
                <a:cs typeface="Calibri"/>
              </a:rPr>
              <a:t>x</a:t>
            </a:r>
            <a:r>
              <a:rPr lang="it-IT" sz="2800" baseline="-25000" err="1">
                <a:ea typeface="Calibri"/>
                <a:cs typeface="Calibri"/>
              </a:rPr>
              <a:t>k</a:t>
            </a:r>
            <a:r>
              <a:rPr lang="it-IT" sz="2800">
                <a:ea typeface="Calibri"/>
                <a:cs typeface="Calibri"/>
              </a:rPr>
              <a:t> B</a:t>
            </a:r>
            <a:r>
              <a:rPr lang="it-IT" sz="2800" baseline="30000">
                <a:ea typeface="Calibri"/>
                <a:cs typeface="Calibri"/>
              </a:rPr>
              <a:t>k</a:t>
            </a:r>
            <a:endParaRPr lang="it-IT" sz="2800" baseline="3000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C7D2CE4-BE1D-6BBC-2907-B30CDBC580FA}"/>
              </a:ext>
            </a:extLst>
          </p:cNvPr>
          <p:cNvSpPr txBox="1"/>
          <p:nvPr/>
        </p:nvSpPr>
        <p:spPr>
          <a:xfrm>
            <a:off x="3074971" y="2070212"/>
            <a:ext cx="851686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ea typeface="Calibri"/>
                <a:cs typeface="Calibri"/>
              </a:rPr>
              <a:t>= 2</a:t>
            </a:r>
            <a:r>
              <a:rPr lang="it-IT" sz="2800">
                <a:ea typeface="+mn-lt"/>
                <a:cs typeface="+mn-lt"/>
              </a:rPr>
              <a:t>⋅</a:t>
            </a:r>
            <a:r>
              <a:rPr lang="it-IT" sz="2800">
                <a:ea typeface="Calibri"/>
                <a:cs typeface="Calibri"/>
              </a:rPr>
              <a:t>1000 + 0</a:t>
            </a:r>
            <a:r>
              <a:rPr lang="it-IT" sz="2800">
                <a:ea typeface="+mn-lt"/>
                <a:cs typeface="+mn-lt"/>
              </a:rPr>
              <a:t>⋅</a:t>
            </a:r>
            <a:r>
              <a:rPr lang="it-IT" sz="2800">
                <a:ea typeface="Calibri"/>
                <a:cs typeface="Calibri"/>
              </a:rPr>
              <a:t>100 + 2</a:t>
            </a:r>
            <a:r>
              <a:rPr lang="it-IT" sz="2800">
                <a:ea typeface="+mn-lt"/>
                <a:cs typeface="+mn-lt"/>
              </a:rPr>
              <a:t>⋅</a:t>
            </a:r>
            <a:r>
              <a:rPr lang="it-IT" sz="2800">
                <a:ea typeface="Calibri"/>
                <a:cs typeface="Calibri"/>
              </a:rPr>
              <a:t>10 + 4</a:t>
            </a:r>
            <a:r>
              <a:rPr lang="it-IT" sz="2800">
                <a:ea typeface="+mn-lt"/>
                <a:cs typeface="+mn-lt"/>
              </a:rPr>
              <a:t>⋅</a:t>
            </a:r>
            <a:r>
              <a:rPr lang="it-IT" sz="2800">
                <a:ea typeface="Calibri"/>
                <a:cs typeface="Calibri"/>
              </a:rPr>
              <a:t>1 = 2000 + 20 + 4 = 2024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5FCC37C-2483-83F9-A767-FF54B80E3522}"/>
              </a:ext>
            </a:extLst>
          </p:cNvPr>
          <p:cNvSpPr txBox="1"/>
          <p:nvPr/>
        </p:nvSpPr>
        <p:spPr>
          <a:xfrm>
            <a:off x="3364938" y="3931380"/>
            <a:ext cx="4329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ea typeface="Calibri"/>
                <a:cs typeface="Calibri"/>
              </a:rPr>
              <a:t>Inserire tabella 1.1 </a:t>
            </a:r>
            <a:r>
              <a:rPr lang="it-IT" err="1">
                <a:ea typeface="Calibri"/>
                <a:cs typeface="Calibri"/>
              </a:rPr>
              <a:t>pag</a:t>
            </a:r>
            <a:r>
              <a:rPr lang="it-IT">
                <a:ea typeface="Calibri"/>
                <a:cs typeface="Calibri"/>
              </a:rPr>
              <a:t> 7</a:t>
            </a:r>
          </a:p>
        </p:txBody>
      </p:sp>
    </p:spTree>
    <p:extLst>
      <p:ext uri="{BB962C8B-B14F-4D97-AF65-F5344CB8AC3E}">
        <p14:creationId xmlns:p14="http://schemas.microsoft.com/office/powerpoint/2010/main" val="1753049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CD4145DC-A013-9E48-B5CF-AC0295D2CCA4}"/>
              </a:ext>
            </a:extLst>
          </p:cNvPr>
          <p:cNvSpPr txBox="1"/>
          <p:nvPr/>
        </p:nvSpPr>
        <p:spPr>
          <a:xfrm>
            <a:off x="3128921" y="26974"/>
            <a:ext cx="51573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ea typeface="Calibri"/>
                <a:cs typeface="Calibri"/>
              </a:rPr>
              <a:t>Il sistema di numerazione binario</a:t>
            </a:r>
            <a:endParaRPr lang="it-IT" sz="280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E6A484-AFE2-6D21-6D29-8B8B084AA563}"/>
              </a:ext>
            </a:extLst>
          </p:cNvPr>
          <p:cNvSpPr txBox="1"/>
          <p:nvPr/>
        </p:nvSpPr>
        <p:spPr>
          <a:xfrm>
            <a:off x="627132" y="654106"/>
            <a:ext cx="1091750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it-IT" sz="2000">
                <a:ea typeface="Calibri"/>
                <a:cs typeface="Calibri"/>
              </a:rPr>
              <a:t>Alfabeto: {0,1}</a:t>
            </a:r>
          </a:p>
          <a:p>
            <a:pPr marL="285750" indent="-285750">
              <a:buFont typeface="Calibri"/>
              <a:buChar char="-"/>
            </a:pPr>
            <a:r>
              <a:rPr lang="it-IT" sz="2000">
                <a:ea typeface="Calibri"/>
                <a:cs typeface="Calibri"/>
              </a:rPr>
              <a:t>Base: |{0,1}|=2</a:t>
            </a:r>
          </a:p>
          <a:p>
            <a:r>
              <a:rPr lang="it-IT" sz="2000">
                <a:ea typeface="Calibri"/>
                <a:cs typeface="Calibri"/>
              </a:rPr>
              <a:t>Una variabile che assume due soli valori è detta bit (</a:t>
            </a:r>
            <a:r>
              <a:rPr lang="it-IT" sz="2000" err="1">
                <a:ea typeface="Calibri"/>
                <a:cs typeface="Calibri"/>
              </a:rPr>
              <a:t>Binary</a:t>
            </a:r>
            <a:r>
              <a:rPr lang="it-IT" sz="2000">
                <a:ea typeface="Calibri"/>
                <a:cs typeface="Calibri"/>
              </a:rPr>
              <a:t> </a:t>
            </a:r>
            <a:r>
              <a:rPr lang="it-IT" sz="2000" err="1">
                <a:ea typeface="Calibri"/>
                <a:cs typeface="Calibri"/>
              </a:rPr>
              <a:t>digIt</a:t>
            </a:r>
            <a:r>
              <a:rPr lang="it-IT" sz="2000">
                <a:ea typeface="Calibri"/>
                <a:cs typeface="Calibri"/>
              </a:rPr>
              <a:t>).</a:t>
            </a:r>
          </a:p>
          <a:p>
            <a:endParaRPr lang="it-IT" sz="2000">
              <a:ea typeface="Calibri"/>
              <a:cs typeface="Calibri"/>
            </a:endParaRPr>
          </a:p>
          <a:p>
            <a:r>
              <a:rPr lang="it-IT" sz="2000">
                <a:ea typeface="Calibri"/>
                <a:cs typeface="Calibri"/>
              </a:rPr>
              <a:t>Dato un numero binario ad n cifre, per trasformarlo in decimale occorre sommare le potenze di due che hanno il corrispondente bit </a:t>
            </a:r>
            <a:r>
              <a:rPr lang="it-IT" sz="2000" err="1">
                <a:ea typeface="Calibri"/>
                <a:cs typeface="Calibri"/>
              </a:rPr>
              <a:t>x</a:t>
            </a:r>
            <a:r>
              <a:rPr lang="it-IT" sz="2000" baseline="-25000" err="1">
                <a:ea typeface="Calibri"/>
                <a:cs typeface="Calibri"/>
              </a:rPr>
              <a:t>k</a:t>
            </a:r>
            <a:r>
              <a:rPr lang="it-IT" sz="2000">
                <a:ea typeface="Calibri"/>
                <a:cs typeface="Calibri"/>
              </a:rPr>
              <a:t> ad 1.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3DC8D06-E22F-5AAB-4A47-BAA4574C9705}"/>
              </a:ext>
            </a:extLst>
          </p:cNvPr>
          <p:cNvSpPr txBox="1"/>
          <p:nvPr/>
        </p:nvSpPr>
        <p:spPr>
          <a:xfrm>
            <a:off x="4504568" y="2994053"/>
            <a:ext cx="110591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ea typeface="Calibri"/>
                <a:cs typeface="Calibri"/>
              </a:rPr>
              <a:t>N</a:t>
            </a:r>
            <a:r>
              <a:rPr lang="it-IT" sz="2800" baseline="-25000">
                <a:ea typeface="Calibri"/>
                <a:cs typeface="Calibri"/>
              </a:rPr>
              <a:t>10</a:t>
            </a:r>
            <a:r>
              <a:rPr lang="it-IT" sz="2000">
                <a:ea typeface="Calibri"/>
                <a:cs typeface="Calibri"/>
              </a:rPr>
              <a:t> </a:t>
            </a:r>
            <a:r>
              <a:rPr lang="it-IT" sz="2800">
                <a:ea typeface="Calibri"/>
                <a:cs typeface="Calibri"/>
              </a:rPr>
              <a:t>=</a:t>
            </a:r>
            <a:r>
              <a:rPr lang="it-IT" sz="2000">
                <a:ea typeface="Calibri"/>
                <a:cs typeface="Calibri"/>
              </a:rPr>
              <a:t> </a:t>
            </a:r>
            <a:r>
              <a:rPr lang="it-IT" sz="2000">
                <a:ea typeface="+mn-lt"/>
                <a:cs typeface="+mn-lt"/>
              </a:rPr>
              <a:t> </a:t>
            </a:r>
            <a:endParaRPr lang="it-IT">
              <a:ea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EB21DFA-AF87-17D9-FE49-9062FEDE237E}"/>
              </a:ext>
            </a:extLst>
          </p:cNvPr>
          <p:cNvSpPr txBox="1"/>
          <p:nvPr/>
        </p:nvSpPr>
        <p:spPr>
          <a:xfrm>
            <a:off x="5334001" y="2771523"/>
            <a:ext cx="5529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5400">
                <a:ea typeface="Calibri"/>
                <a:cs typeface="Calibri"/>
              </a:rPr>
              <a:t>Σ</a:t>
            </a:r>
            <a:endParaRPr lang="it-IT" sz="540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B0B64EB-4260-78A1-BEE1-34871EFF4CD2}"/>
              </a:ext>
            </a:extLst>
          </p:cNvPr>
          <p:cNvSpPr txBox="1"/>
          <p:nvPr/>
        </p:nvSpPr>
        <p:spPr>
          <a:xfrm>
            <a:off x="5253081" y="3432372"/>
            <a:ext cx="306013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ea typeface="Calibri"/>
                <a:cs typeface="Calibri"/>
              </a:rPr>
              <a:t>k= 0</a:t>
            </a:r>
            <a:endParaRPr lang="it-IT" sz="280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6C5D358-EED2-09A5-A420-AD2760B19AF3}"/>
              </a:ext>
            </a:extLst>
          </p:cNvPr>
          <p:cNvSpPr txBox="1"/>
          <p:nvPr/>
        </p:nvSpPr>
        <p:spPr>
          <a:xfrm>
            <a:off x="5313771" y="2548991"/>
            <a:ext cx="306013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800">
                <a:ea typeface="Calibri"/>
                <a:cs typeface="Calibri"/>
              </a:rPr>
              <a:t>n-1</a:t>
            </a:r>
            <a:endParaRPr lang="it-IT" sz="280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06302D0-7ABA-1D9A-6B83-1548C7A37A59}"/>
              </a:ext>
            </a:extLst>
          </p:cNvPr>
          <p:cNvSpPr txBox="1"/>
          <p:nvPr/>
        </p:nvSpPr>
        <p:spPr>
          <a:xfrm>
            <a:off x="5779063" y="2946850"/>
            <a:ext cx="9629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err="1">
                <a:ea typeface="Calibri"/>
                <a:cs typeface="Calibri"/>
              </a:rPr>
              <a:t>x</a:t>
            </a:r>
            <a:r>
              <a:rPr lang="it-IT" sz="2800" baseline="-25000" err="1">
                <a:ea typeface="Calibri"/>
                <a:cs typeface="Calibri"/>
              </a:rPr>
              <a:t>k</a:t>
            </a:r>
            <a:r>
              <a:rPr lang="it-IT" sz="2800">
                <a:ea typeface="Calibri"/>
                <a:cs typeface="Calibri"/>
              </a:rPr>
              <a:t> 2</a:t>
            </a:r>
            <a:r>
              <a:rPr lang="it-IT" sz="2800" baseline="30000">
                <a:ea typeface="Calibri"/>
                <a:cs typeface="Calibri"/>
              </a:rPr>
              <a:t>k</a:t>
            </a:r>
            <a:endParaRPr lang="it-IT" sz="2800" baseline="3000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CF067A7-FDC5-0ABD-1C03-C9F082A7119D}"/>
              </a:ext>
            </a:extLst>
          </p:cNvPr>
          <p:cNvSpPr txBox="1"/>
          <p:nvPr/>
        </p:nvSpPr>
        <p:spPr>
          <a:xfrm>
            <a:off x="418089" y="4147167"/>
            <a:ext cx="36279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ea typeface="Calibri"/>
                <a:cs typeface="Calibri"/>
              </a:rPr>
              <a:t>Esempio (Da binario a decimale)</a:t>
            </a:r>
            <a:endParaRPr lang="it-IT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92ED8E8B-7A19-BD6C-4396-EBF404C2DEA2}"/>
              </a:ext>
            </a:extLst>
          </p:cNvPr>
          <p:cNvSpPr txBox="1"/>
          <p:nvPr/>
        </p:nvSpPr>
        <p:spPr>
          <a:xfrm>
            <a:off x="923840" y="5097982"/>
            <a:ext cx="306148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ea typeface="Calibri"/>
                <a:cs typeface="Calibri"/>
              </a:rPr>
              <a:t>(111110)</a:t>
            </a:r>
            <a:r>
              <a:rPr lang="it-IT" sz="2800" baseline="-25000">
                <a:ea typeface="Calibri"/>
                <a:cs typeface="Calibri"/>
              </a:rPr>
              <a:t>2</a:t>
            </a:r>
            <a:r>
              <a:rPr lang="it-IT" sz="2800">
                <a:ea typeface="Calibri"/>
                <a:cs typeface="Calibri"/>
              </a:rPr>
              <a:t> = </a:t>
            </a:r>
            <a:endParaRPr lang="it-IT" sz="280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3873CF5-AE73-7943-35D4-070B46AD38B6}"/>
              </a:ext>
            </a:extLst>
          </p:cNvPr>
          <p:cNvSpPr txBox="1"/>
          <p:nvPr/>
        </p:nvSpPr>
        <p:spPr>
          <a:xfrm>
            <a:off x="2758036" y="4875452"/>
            <a:ext cx="5529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5400">
                <a:ea typeface="Calibri"/>
                <a:cs typeface="Calibri"/>
              </a:rPr>
              <a:t>Σ</a:t>
            </a:r>
            <a:endParaRPr lang="it-IT" sz="540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81C9CC4-F453-FF55-E572-2F732A1C6968}"/>
              </a:ext>
            </a:extLst>
          </p:cNvPr>
          <p:cNvSpPr txBox="1"/>
          <p:nvPr/>
        </p:nvSpPr>
        <p:spPr>
          <a:xfrm>
            <a:off x="2677116" y="5536301"/>
            <a:ext cx="306013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ea typeface="Calibri"/>
                <a:cs typeface="Calibri"/>
              </a:rPr>
              <a:t>k= 0</a:t>
            </a:r>
            <a:endParaRPr lang="it-IT" sz="280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235600E-A462-61CB-A3C4-6E1653176767}"/>
              </a:ext>
            </a:extLst>
          </p:cNvPr>
          <p:cNvSpPr txBox="1"/>
          <p:nvPr/>
        </p:nvSpPr>
        <p:spPr>
          <a:xfrm>
            <a:off x="2832213" y="4706867"/>
            <a:ext cx="306013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800">
                <a:ea typeface="Calibri"/>
                <a:cs typeface="Calibri"/>
              </a:rPr>
              <a:t>5</a:t>
            </a:r>
            <a:endParaRPr lang="it-IT" sz="280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854C6ED0-1FA5-1750-BD5F-738AB8728A96}"/>
              </a:ext>
            </a:extLst>
          </p:cNvPr>
          <p:cNvSpPr txBox="1"/>
          <p:nvPr/>
        </p:nvSpPr>
        <p:spPr>
          <a:xfrm>
            <a:off x="3203098" y="5050779"/>
            <a:ext cx="9629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err="1">
                <a:ea typeface="Calibri"/>
                <a:cs typeface="Calibri"/>
              </a:rPr>
              <a:t>x</a:t>
            </a:r>
            <a:r>
              <a:rPr lang="it-IT" sz="2800" baseline="-25000" err="1">
                <a:ea typeface="Calibri"/>
                <a:cs typeface="Calibri"/>
              </a:rPr>
              <a:t>k</a:t>
            </a:r>
            <a:r>
              <a:rPr lang="it-IT" sz="2800">
                <a:ea typeface="Calibri"/>
                <a:cs typeface="Calibri"/>
              </a:rPr>
              <a:t> 2</a:t>
            </a:r>
            <a:r>
              <a:rPr lang="it-IT" sz="2800" baseline="30000">
                <a:ea typeface="Calibri"/>
                <a:cs typeface="Calibri"/>
              </a:rPr>
              <a:t>k</a:t>
            </a:r>
            <a:endParaRPr lang="it-IT" sz="2800" baseline="3000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BF649595-D9FC-5017-0B78-506C68172CB9}"/>
              </a:ext>
            </a:extLst>
          </p:cNvPr>
          <p:cNvSpPr txBox="1"/>
          <p:nvPr/>
        </p:nvSpPr>
        <p:spPr>
          <a:xfrm>
            <a:off x="3985326" y="5077752"/>
            <a:ext cx="768743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ea typeface="Calibri"/>
                <a:cs typeface="Calibri"/>
              </a:rPr>
              <a:t>= 1</a:t>
            </a:r>
            <a:r>
              <a:rPr lang="it-IT" sz="2800">
                <a:ea typeface="+mn-lt"/>
                <a:cs typeface="+mn-lt"/>
              </a:rPr>
              <a:t>⋅</a:t>
            </a:r>
            <a:r>
              <a:rPr lang="it-IT" sz="2800">
                <a:ea typeface="Calibri"/>
                <a:cs typeface="Calibri"/>
              </a:rPr>
              <a:t>2</a:t>
            </a:r>
            <a:r>
              <a:rPr lang="it-IT" sz="2800" baseline="30000">
                <a:ea typeface="Calibri"/>
                <a:cs typeface="Calibri"/>
              </a:rPr>
              <a:t>5</a:t>
            </a:r>
            <a:r>
              <a:rPr lang="it-IT" sz="2800">
                <a:ea typeface="Calibri"/>
                <a:cs typeface="Calibri"/>
              </a:rPr>
              <a:t>+ 1</a:t>
            </a:r>
            <a:r>
              <a:rPr lang="it-IT" sz="2800">
                <a:ea typeface="+mn-lt"/>
                <a:cs typeface="+mn-lt"/>
              </a:rPr>
              <a:t>⋅</a:t>
            </a:r>
            <a:r>
              <a:rPr lang="it-IT" sz="2800">
                <a:ea typeface="Calibri"/>
                <a:cs typeface="Calibri"/>
              </a:rPr>
              <a:t>2</a:t>
            </a:r>
            <a:r>
              <a:rPr lang="it-IT" sz="2800" baseline="30000">
                <a:ea typeface="Calibri"/>
                <a:cs typeface="Calibri"/>
              </a:rPr>
              <a:t>4</a:t>
            </a:r>
            <a:r>
              <a:rPr lang="it-IT" sz="2800">
                <a:ea typeface="Calibri"/>
                <a:cs typeface="Calibri"/>
              </a:rPr>
              <a:t> + 1</a:t>
            </a:r>
            <a:r>
              <a:rPr lang="it-IT" sz="2800">
                <a:ea typeface="+mn-lt"/>
                <a:cs typeface="+mn-lt"/>
              </a:rPr>
              <a:t>⋅</a:t>
            </a:r>
            <a:r>
              <a:rPr lang="it-IT" sz="2800">
                <a:ea typeface="Calibri"/>
                <a:cs typeface="Calibri"/>
              </a:rPr>
              <a:t>2</a:t>
            </a:r>
            <a:r>
              <a:rPr lang="it-IT" sz="2800" baseline="30000">
                <a:ea typeface="Calibri"/>
                <a:cs typeface="Calibri"/>
              </a:rPr>
              <a:t>3</a:t>
            </a:r>
            <a:r>
              <a:rPr lang="it-IT" sz="2800">
                <a:ea typeface="Calibri"/>
                <a:cs typeface="Calibri"/>
              </a:rPr>
              <a:t> + 1</a:t>
            </a:r>
            <a:r>
              <a:rPr lang="it-IT" sz="2800">
                <a:ea typeface="+mn-lt"/>
                <a:cs typeface="+mn-lt"/>
              </a:rPr>
              <a:t>⋅</a:t>
            </a:r>
            <a:r>
              <a:rPr lang="it-IT" sz="2800">
                <a:ea typeface="Calibri"/>
                <a:cs typeface="Calibri"/>
              </a:rPr>
              <a:t>2</a:t>
            </a:r>
            <a:r>
              <a:rPr lang="it-IT" sz="2800" baseline="30000">
                <a:ea typeface="Calibri"/>
                <a:cs typeface="Calibri"/>
              </a:rPr>
              <a:t>2</a:t>
            </a:r>
            <a:r>
              <a:rPr lang="it-IT" sz="2800">
                <a:ea typeface="Calibri"/>
                <a:cs typeface="Calibri"/>
              </a:rPr>
              <a:t> + 1</a:t>
            </a:r>
            <a:r>
              <a:rPr lang="it-IT" sz="2800">
                <a:ea typeface="+mn-lt"/>
                <a:cs typeface="+mn-lt"/>
              </a:rPr>
              <a:t>⋅</a:t>
            </a:r>
            <a:r>
              <a:rPr lang="it-IT" sz="2800">
                <a:ea typeface="Calibri"/>
                <a:cs typeface="Calibri"/>
              </a:rPr>
              <a:t>2</a:t>
            </a:r>
            <a:r>
              <a:rPr lang="it-IT" sz="2800" baseline="30000">
                <a:ea typeface="Calibri"/>
                <a:cs typeface="Calibri"/>
              </a:rPr>
              <a:t>1 </a:t>
            </a:r>
            <a:r>
              <a:rPr lang="it-IT" sz="2800">
                <a:ea typeface="Calibri"/>
                <a:cs typeface="Calibri"/>
              </a:rPr>
              <a:t>+ 0</a:t>
            </a:r>
            <a:r>
              <a:rPr lang="it-IT" sz="2800">
                <a:ea typeface="+mn-lt"/>
                <a:cs typeface="+mn-lt"/>
              </a:rPr>
              <a:t>⋅</a:t>
            </a:r>
            <a:r>
              <a:rPr lang="it-IT" sz="2800">
                <a:ea typeface="Calibri"/>
                <a:cs typeface="Calibri"/>
              </a:rPr>
              <a:t>2</a:t>
            </a:r>
            <a:r>
              <a:rPr lang="it-IT" sz="2800" baseline="30000">
                <a:ea typeface="Calibri"/>
                <a:cs typeface="Calibri"/>
              </a:rPr>
              <a:t>0</a:t>
            </a:r>
            <a:r>
              <a:rPr lang="it-IT" sz="2800">
                <a:ea typeface="Calibri"/>
                <a:cs typeface="Calibri"/>
              </a:rPr>
              <a:t> = (62)</a:t>
            </a:r>
            <a:r>
              <a:rPr lang="it-IT" sz="2800" baseline="-25000">
                <a:ea typeface="Calibri"/>
                <a:cs typeface="Calibri"/>
              </a:rPr>
              <a:t>10</a:t>
            </a:r>
            <a:endParaRPr lang="it-IT" sz="2800" baseline="-25000"/>
          </a:p>
        </p:txBody>
      </p:sp>
    </p:spTree>
    <p:extLst>
      <p:ext uri="{BB962C8B-B14F-4D97-AF65-F5344CB8AC3E}">
        <p14:creationId xmlns:p14="http://schemas.microsoft.com/office/powerpoint/2010/main" val="243790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A06D7353-ABD3-C4E8-E13D-A24E4524B449}"/>
              </a:ext>
            </a:extLst>
          </p:cNvPr>
          <p:cNvSpPr txBox="1"/>
          <p:nvPr/>
        </p:nvSpPr>
        <p:spPr>
          <a:xfrm>
            <a:off x="3459346" y="161841"/>
            <a:ext cx="51573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ea typeface="Calibri"/>
                <a:cs typeface="Calibri"/>
              </a:rPr>
              <a:t>Il sistema di numerazione binario</a:t>
            </a:r>
            <a:endParaRPr lang="it-IT" sz="280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2C3EB85-1308-6F45-C1AA-36CF11105BC7}"/>
              </a:ext>
            </a:extLst>
          </p:cNvPr>
          <p:cNvSpPr txBox="1"/>
          <p:nvPr/>
        </p:nvSpPr>
        <p:spPr>
          <a:xfrm>
            <a:off x="472035" y="923840"/>
            <a:ext cx="11138683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ea typeface="Calibri"/>
                <a:cs typeface="Calibri"/>
              </a:rPr>
              <a:t>Per convertire un numero da decimale in </a:t>
            </a:r>
            <a:r>
              <a:rPr lang="it-IT" sz="2800" b="1">
                <a:ea typeface="Calibri"/>
                <a:cs typeface="Calibri"/>
              </a:rPr>
              <a:t>qualsiasi</a:t>
            </a:r>
            <a:r>
              <a:rPr lang="it-IT" sz="2800">
                <a:ea typeface="Calibri"/>
                <a:cs typeface="Calibri"/>
              </a:rPr>
              <a:t> base si può fare riferimento alla forma polinomiale di tale numero,</a:t>
            </a:r>
          </a:p>
          <a:p>
            <a:r>
              <a:rPr lang="it-IT" sz="2800">
                <a:ea typeface="Calibri"/>
                <a:cs typeface="Calibri"/>
              </a:rPr>
              <a:t>esprimendolo come segue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1469EAA-213F-94B3-BFCA-45659FA11EBE}"/>
              </a:ext>
            </a:extLst>
          </p:cNvPr>
          <p:cNvSpPr txBox="1"/>
          <p:nvPr/>
        </p:nvSpPr>
        <p:spPr>
          <a:xfrm>
            <a:off x="1840941" y="3074972"/>
            <a:ext cx="120706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ea typeface="Calibri"/>
                <a:cs typeface="Calibri"/>
              </a:rPr>
              <a:t>N</a:t>
            </a:r>
            <a:r>
              <a:rPr lang="it-IT" sz="2800" baseline="-25000">
                <a:ea typeface="Calibri"/>
                <a:cs typeface="Calibri"/>
              </a:rPr>
              <a:t>10</a:t>
            </a:r>
            <a:r>
              <a:rPr lang="it-IT" sz="2000">
                <a:ea typeface="Calibri"/>
                <a:cs typeface="Calibri"/>
              </a:rPr>
              <a:t> </a:t>
            </a:r>
            <a:r>
              <a:rPr lang="it-IT" sz="2800">
                <a:ea typeface="Calibri"/>
                <a:cs typeface="Calibri"/>
              </a:rPr>
              <a:t>=</a:t>
            </a:r>
            <a:r>
              <a:rPr lang="it-IT" sz="2000">
                <a:ea typeface="Calibri"/>
                <a:cs typeface="Calibri"/>
              </a:rPr>
              <a:t> </a:t>
            </a:r>
            <a:r>
              <a:rPr lang="it-IT" sz="2000">
                <a:ea typeface="+mn-lt"/>
                <a:cs typeface="+mn-lt"/>
              </a:rPr>
              <a:t> </a:t>
            </a:r>
            <a:endParaRPr lang="it-IT">
              <a:ea typeface="Calibri"/>
              <a:cs typeface="Calibri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81B631A-FB1E-9880-271B-FD441906191A}"/>
              </a:ext>
            </a:extLst>
          </p:cNvPr>
          <p:cNvSpPr txBox="1"/>
          <p:nvPr/>
        </p:nvSpPr>
        <p:spPr>
          <a:xfrm>
            <a:off x="2677117" y="2852442"/>
            <a:ext cx="5529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5400">
                <a:ea typeface="Calibri"/>
                <a:cs typeface="Calibri"/>
              </a:rPr>
              <a:t>Σ</a:t>
            </a:r>
            <a:endParaRPr lang="it-IT" sz="540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FCA4C6A-8496-514B-1421-366A7139DB3C}"/>
              </a:ext>
            </a:extLst>
          </p:cNvPr>
          <p:cNvSpPr txBox="1"/>
          <p:nvPr/>
        </p:nvSpPr>
        <p:spPr>
          <a:xfrm>
            <a:off x="2596197" y="3513291"/>
            <a:ext cx="306013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ea typeface="Calibri"/>
                <a:cs typeface="Calibri"/>
              </a:rPr>
              <a:t>k= 0</a:t>
            </a:r>
            <a:endParaRPr lang="it-IT" sz="280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E4ECEDB-1A54-EF0F-D07B-56A5A7EC52D1}"/>
              </a:ext>
            </a:extLst>
          </p:cNvPr>
          <p:cNvSpPr txBox="1"/>
          <p:nvPr/>
        </p:nvSpPr>
        <p:spPr>
          <a:xfrm>
            <a:off x="2616427" y="2629910"/>
            <a:ext cx="306013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800">
                <a:ea typeface="Calibri"/>
                <a:cs typeface="Calibri"/>
              </a:rPr>
              <a:t>n-1</a:t>
            </a:r>
            <a:endParaRPr lang="it-IT" sz="280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0E19FBB-7BD1-60AB-B06D-E0D4A16A040D}"/>
              </a:ext>
            </a:extLst>
          </p:cNvPr>
          <p:cNvSpPr txBox="1"/>
          <p:nvPr/>
        </p:nvSpPr>
        <p:spPr>
          <a:xfrm>
            <a:off x="3122179" y="3027769"/>
            <a:ext cx="9629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err="1">
                <a:ea typeface="Calibri"/>
                <a:cs typeface="Calibri"/>
              </a:rPr>
              <a:t>x</a:t>
            </a:r>
            <a:r>
              <a:rPr lang="it-IT" sz="2800" baseline="-25000" err="1">
                <a:ea typeface="Calibri"/>
                <a:cs typeface="Calibri"/>
              </a:rPr>
              <a:t>k</a:t>
            </a:r>
            <a:r>
              <a:rPr lang="it-IT" sz="2800">
                <a:ea typeface="Calibri"/>
                <a:cs typeface="Calibri"/>
              </a:rPr>
              <a:t> B</a:t>
            </a:r>
            <a:r>
              <a:rPr lang="it-IT" sz="2800" baseline="30000">
                <a:ea typeface="Calibri"/>
                <a:cs typeface="Calibri"/>
              </a:rPr>
              <a:t>k</a:t>
            </a:r>
            <a:endParaRPr lang="it-IT" sz="2800" baseline="3000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9B03C7B-23FA-F057-07CD-2DB3C58BAF00}"/>
              </a:ext>
            </a:extLst>
          </p:cNvPr>
          <p:cNvSpPr txBox="1"/>
          <p:nvPr/>
        </p:nvSpPr>
        <p:spPr>
          <a:xfrm>
            <a:off x="3944866" y="3027769"/>
            <a:ext cx="689845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ea typeface="Calibri"/>
                <a:cs typeface="Calibri"/>
              </a:rPr>
              <a:t>= x</a:t>
            </a:r>
            <a:r>
              <a:rPr lang="it-IT" sz="2800" baseline="-25000">
                <a:ea typeface="Calibri"/>
                <a:cs typeface="Calibri"/>
              </a:rPr>
              <a:t>0 </a:t>
            </a:r>
            <a:r>
              <a:rPr lang="it-IT" sz="2800">
                <a:ea typeface="Calibri"/>
                <a:cs typeface="Calibri"/>
              </a:rPr>
              <a:t>+B(x</a:t>
            </a:r>
            <a:r>
              <a:rPr lang="it-IT" sz="2800" baseline="-25000">
                <a:ea typeface="Calibri"/>
                <a:cs typeface="Calibri"/>
              </a:rPr>
              <a:t>1</a:t>
            </a:r>
            <a:r>
              <a:rPr lang="it-IT" sz="2800">
                <a:ea typeface="Calibri"/>
                <a:cs typeface="Calibri"/>
              </a:rPr>
              <a:t>+B(x</a:t>
            </a:r>
            <a:r>
              <a:rPr lang="it-IT" sz="2800" baseline="-25000">
                <a:ea typeface="Calibri"/>
                <a:cs typeface="Calibri"/>
              </a:rPr>
              <a:t>2</a:t>
            </a:r>
            <a:r>
              <a:rPr lang="it-IT" sz="2800">
                <a:ea typeface="Calibri"/>
                <a:cs typeface="Calibri"/>
              </a:rPr>
              <a:t>+B( … B(x</a:t>
            </a:r>
            <a:r>
              <a:rPr lang="it-IT" sz="2800" baseline="-25000">
                <a:ea typeface="Calibri"/>
                <a:cs typeface="Calibri"/>
              </a:rPr>
              <a:t>n-2</a:t>
            </a:r>
            <a:r>
              <a:rPr lang="it-IT" sz="2800">
                <a:ea typeface="Calibri"/>
                <a:cs typeface="Calibri"/>
              </a:rPr>
              <a:t> +B(x</a:t>
            </a:r>
            <a:r>
              <a:rPr lang="it-IT" sz="2800" baseline="-25000">
                <a:ea typeface="Calibri"/>
                <a:cs typeface="Calibri"/>
              </a:rPr>
              <a:t>n-1</a:t>
            </a:r>
            <a:r>
              <a:rPr lang="it-IT" sz="2800">
                <a:ea typeface="Calibri"/>
                <a:cs typeface="Calibri"/>
              </a:rPr>
              <a:t> +</a:t>
            </a:r>
            <a:r>
              <a:rPr lang="it-IT" sz="2800" err="1">
                <a:ea typeface="Calibri"/>
                <a:cs typeface="Calibri"/>
              </a:rPr>
              <a:t>Bx</a:t>
            </a:r>
            <a:r>
              <a:rPr lang="it-IT" sz="2800" baseline="-25000" err="1">
                <a:ea typeface="Calibri"/>
                <a:cs typeface="Calibri"/>
              </a:rPr>
              <a:t>n</a:t>
            </a:r>
            <a:r>
              <a:rPr lang="it-IT" sz="2800">
                <a:ea typeface="Calibri"/>
                <a:cs typeface="Calibri"/>
              </a:rPr>
              <a:t>)))))</a:t>
            </a:r>
            <a:endParaRPr lang="it-IT" sz="2800" baseline="30000" err="1"/>
          </a:p>
        </p:txBody>
      </p:sp>
    </p:spTree>
    <p:extLst>
      <p:ext uri="{BB962C8B-B14F-4D97-AF65-F5344CB8AC3E}">
        <p14:creationId xmlns:p14="http://schemas.microsoft.com/office/powerpoint/2010/main" val="3569973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6A433ECB-A349-5ADD-FA65-19A2E5AE8865}"/>
              </a:ext>
            </a:extLst>
          </p:cNvPr>
          <p:cNvSpPr txBox="1"/>
          <p:nvPr/>
        </p:nvSpPr>
        <p:spPr>
          <a:xfrm>
            <a:off x="5360973" y="175327"/>
            <a:ext cx="146870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800">
                <a:ea typeface="Calibri"/>
                <a:cs typeface="Calibri"/>
              </a:rPr>
              <a:t>Esempio</a:t>
            </a:r>
            <a:endParaRPr lang="it-IT" sz="2800"/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B4E82E04-6918-EFA6-C727-01BB0F6724E8}"/>
              </a:ext>
            </a:extLst>
          </p:cNvPr>
          <p:cNvCxnSpPr/>
          <p:nvPr/>
        </p:nvCxnSpPr>
        <p:spPr>
          <a:xfrm>
            <a:off x="4920478" y="1626409"/>
            <a:ext cx="4046" cy="550258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3C2ECC0B-CC9B-4D7D-F66F-83709AF5354E}"/>
              </a:ext>
            </a:extLst>
          </p:cNvPr>
          <p:cNvCxnSpPr>
            <a:cxnSpLocks/>
          </p:cNvCxnSpPr>
          <p:nvPr/>
        </p:nvCxnSpPr>
        <p:spPr>
          <a:xfrm flipV="1">
            <a:off x="4920477" y="1866472"/>
            <a:ext cx="530028" cy="269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81E0D6E8-FF96-E4BF-A46F-09483133965C}"/>
              </a:ext>
            </a:extLst>
          </p:cNvPr>
          <p:cNvCxnSpPr>
            <a:cxnSpLocks/>
          </p:cNvCxnSpPr>
          <p:nvPr/>
        </p:nvCxnSpPr>
        <p:spPr>
          <a:xfrm>
            <a:off x="5453203" y="1869169"/>
            <a:ext cx="4046" cy="550258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1FBC5D80-21EC-7629-2461-425A80A51F7F}"/>
              </a:ext>
            </a:extLst>
          </p:cNvPr>
          <p:cNvCxnSpPr>
            <a:cxnSpLocks/>
          </p:cNvCxnSpPr>
          <p:nvPr/>
        </p:nvCxnSpPr>
        <p:spPr>
          <a:xfrm flipV="1">
            <a:off x="5453202" y="2109232"/>
            <a:ext cx="530028" cy="269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51F2DFB5-8905-E818-3CA1-8FC2B814E4C6}"/>
              </a:ext>
            </a:extLst>
          </p:cNvPr>
          <p:cNvCxnSpPr>
            <a:cxnSpLocks/>
          </p:cNvCxnSpPr>
          <p:nvPr/>
        </p:nvCxnSpPr>
        <p:spPr>
          <a:xfrm>
            <a:off x="5985929" y="2105188"/>
            <a:ext cx="4046" cy="550258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97474253-144C-67F2-7478-88D518EFE7CF}"/>
              </a:ext>
            </a:extLst>
          </p:cNvPr>
          <p:cNvCxnSpPr>
            <a:cxnSpLocks/>
          </p:cNvCxnSpPr>
          <p:nvPr/>
        </p:nvCxnSpPr>
        <p:spPr>
          <a:xfrm flipV="1">
            <a:off x="5985928" y="2345250"/>
            <a:ext cx="530028" cy="269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41066349-B69D-243C-4BA5-7C6AF8B37189}"/>
              </a:ext>
            </a:extLst>
          </p:cNvPr>
          <p:cNvCxnSpPr>
            <a:cxnSpLocks/>
          </p:cNvCxnSpPr>
          <p:nvPr/>
        </p:nvCxnSpPr>
        <p:spPr>
          <a:xfrm>
            <a:off x="6511911" y="2341205"/>
            <a:ext cx="4046" cy="550258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3853DFB3-66D9-ADDB-ACEC-4393AD3231B4}"/>
              </a:ext>
            </a:extLst>
          </p:cNvPr>
          <p:cNvCxnSpPr>
            <a:cxnSpLocks/>
          </p:cNvCxnSpPr>
          <p:nvPr/>
        </p:nvCxnSpPr>
        <p:spPr>
          <a:xfrm flipV="1">
            <a:off x="6511910" y="2581268"/>
            <a:ext cx="530028" cy="269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AEE8D78A-32CE-792F-AB44-56667DF15C0E}"/>
              </a:ext>
            </a:extLst>
          </p:cNvPr>
          <p:cNvCxnSpPr>
            <a:cxnSpLocks/>
          </p:cNvCxnSpPr>
          <p:nvPr/>
        </p:nvCxnSpPr>
        <p:spPr>
          <a:xfrm>
            <a:off x="7044636" y="2583965"/>
            <a:ext cx="4046" cy="550258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907C6526-311C-5963-F489-10DD5D2440FA}"/>
              </a:ext>
            </a:extLst>
          </p:cNvPr>
          <p:cNvCxnSpPr>
            <a:cxnSpLocks/>
          </p:cNvCxnSpPr>
          <p:nvPr/>
        </p:nvCxnSpPr>
        <p:spPr>
          <a:xfrm flipV="1">
            <a:off x="7044635" y="2824028"/>
            <a:ext cx="530028" cy="269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C1A41997-230F-6C36-B6FB-84EBA2C014AE}"/>
              </a:ext>
            </a:extLst>
          </p:cNvPr>
          <p:cNvCxnSpPr>
            <a:cxnSpLocks/>
          </p:cNvCxnSpPr>
          <p:nvPr/>
        </p:nvCxnSpPr>
        <p:spPr>
          <a:xfrm>
            <a:off x="7577362" y="2826728"/>
            <a:ext cx="4046" cy="550258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39075098-2C37-C19B-90DC-B1543B076E73}"/>
              </a:ext>
            </a:extLst>
          </p:cNvPr>
          <p:cNvCxnSpPr>
            <a:cxnSpLocks/>
          </p:cNvCxnSpPr>
          <p:nvPr/>
        </p:nvCxnSpPr>
        <p:spPr>
          <a:xfrm flipV="1">
            <a:off x="7577361" y="3060046"/>
            <a:ext cx="530028" cy="269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338B00E-3A72-74EA-4704-153980BF96AC}"/>
              </a:ext>
            </a:extLst>
          </p:cNvPr>
          <p:cNvSpPr txBox="1"/>
          <p:nvPr/>
        </p:nvSpPr>
        <p:spPr>
          <a:xfrm>
            <a:off x="4443875" y="1537486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62</a:t>
            </a:r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787B5A7-FD34-14BD-FC97-4C60A18E2B90}"/>
              </a:ext>
            </a:extLst>
          </p:cNvPr>
          <p:cNvSpPr txBox="1"/>
          <p:nvPr/>
        </p:nvSpPr>
        <p:spPr>
          <a:xfrm>
            <a:off x="5014365" y="1534790"/>
            <a:ext cx="5313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ea typeface="Calibri"/>
                <a:cs typeface="Calibri"/>
              </a:rPr>
              <a:t>2</a:t>
            </a:r>
            <a:endParaRPr lang="it-IT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C35EEC1-401A-B8F8-BB74-50C4A2BE98BD}"/>
              </a:ext>
            </a:extLst>
          </p:cNvPr>
          <p:cNvSpPr txBox="1"/>
          <p:nvPr/>
        </p:nvSpPr>
        <p:spPr>
          <a:xfrm>
            <a:off x="5526861" y="1777551"/>
            <a:ext cx="457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ea typeface="Calibri"/>
                <a:cs typeface="Calibri"/>
              </a:rPr>
              <a:t>2</a:t>
            </a:r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FD2E2FE-5D62-F0BF-EACB-FE66F43C4CF4}"/>
              </a:ext>
            </a:extLst>
          </p:cNvPr>
          <p:cNvSpPr txBox="1"/>
          <p:nvPr/>
        </p:nvSpPr>
        <p:spPr>
          <a:xfrm>
            <a:off x="6079816" y="1979851"/>
            <a:ext cx="4032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ea typeface="Calibri"/>
                <a:cs typeface="Calibri"/>
              </a:rPr>
              <a:t>2</a:t>
            </a:r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3EAB21BF-1717-CAEB-D10F-8CFFA3AAA71D}"/>
              </a:ext>
            </a:extLst>
          </p:cNvPr>
          <p:cNvSpPr txBox="1"/>
          <p:nvPr/>
        </p:nvSpPr>
        <p:spPr>
          <a:xfrm>
            <a:off x="6626029" y="2256330"/>
            <a:ext cx="457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ea typeface="Calibri"/>
                <a:cs typeface="Calibri"/>
              </a:rPr>
              <a:t>2</a:t>
            </a:r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D2DE0BA-4210-8639-34AB-61372D70FAAE}"/>
              </a:ext>
            </a:extLst>
          </p:cNvPr>
          <p:cNvSpPr txBox="1"/>
          <p:nvPr/>
        </p:nvSpPr>
        <p:spPr>
          <a:xfrm>
            <a:off x="7125037" y="2458630"/>
            <a:ext cx="457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ea typeface="Calibri"/>
                <a:cs typeface="Calibri"/>
              </a:rPr>
              <a:t>2</a:t>
            </a:r>
            <a:endParaRPr lang="it-IT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AEB279AF-6110-7903-AFB8-E44C61151F6F}"/>
              </a:ext>
            </a:extLst>
          </p:cNvPr>
          <p:cNvSpPr txBox="1"/>
          <p:nvPr/>
        </p:nvSpPr>
        <p:spPr>
          <a:xfrm>
            <a:off x="7651020" y="2728365"/>
            <a:ext cx="457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ea typeface="Calibri"/>
                <a:cs typeface="Calibri"/>
              </a:rPr>
              <a:t>2</a:t>
            </a:r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F39202F-7258-6E0C-B279-645F389F6C08}"/>
              </a:ext>
            </a:extLst>
          </p:cNvPr>
          <p:cNvSpPr txBox="1"/>
          <p:nvPr/>
        </p:nvSpPr>
        <p:spPr>
          <a:xfrm>
            <a:off x="4969858" y="2346691"/>
            <a:ext cx="3371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1</a:t>
            </a:r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9511057D-8632-2EBC-5D18-9A191BEE7C26}"/>
              </a:ext>
            </a:extLst>
          </p:cNvPr>
          <p:cNvSpPr txBox="1"/>
          <p:nvPr/>
        </p:nvSpPr>
        <p:spPr>
          <a:xfrm>
            <a:off x="5536300" y="2643398"/>
            <a:ext cx="3371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1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13DB4BD6-C1DD-911E-031E-8F4853E39E90}"/>
              </a:ext>
            </a:extLst>
          </p:cNvPr>
          <p:cNvSpPr txBox="1"/>
          <p:nvPr/>
        </p:nvSpPr>
        <p:spPr>
          <a:xfrm>
            <a:off x="6089256" y="2960337"/>
            <a:ext cx="3371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1</a:t>
            </a:r>
            <a:endParaRPr lang="it-IT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CA2F4C42-9A58-25AB-BE57-17582C06AC45}"/>
              </a:ext>
            </a:extLst>
          </p:cNvPr>
          <p:cNvSpPr txBox="1"/>
          <p:nvPr/>
        </p:nvSpPr>
        <p:spPr>
          <a:xfrm>
            <a:off x="6615238" y="3243558"/>
            <a:ext cx="3371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1</a:t>
            </a:r>
            <a:endParaRPr lang="it-IT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713A4137-564E-DDE3-2291-376B4A5947C3}"/>
              </a:ext>
            </a:extLst>
          </p:cNvPr>
          <p:cNvSpPr txBox="1"/>
          <p:nvPr/>
        </p:nvSpPr>
        <p:spPr>
          <a:xfrm>
            <a:off x="7188424" y="3547009"/>
            <a:ext cx="3371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1</a:t>
            </a:r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85103CA7-C47B-18B8-6F90-F3B072D23873}"/>
              </a:ext>
            </a:extLst>
          </p:cNvPr>
          <p:cNvSpPr txBox="1"/>
          <p:nvPr/>
        </p:nvSpPr>
        <p:spPr>
          <a:xfrm>
            <a:off x="4491079" y="2063469"/>
            <a:ext cx="357399" cy="3760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0</a:t>
            </a:r>
            <a:endParaRPr lang="it-IT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996E6F87-D904-8632-E5BE-ED944E4F4A9B}"/>
              </a:ext>
            </a:extLst>
          </p:cNvPr>
          <p:cNvSpPr txBox="1"/>
          <p:nvPr/>
        </p:nvSpPr>
        <p:spPr>
          <a:xfrm>
            <a:off x="7141220" y="2859185"/>
            <a:ext cx="3371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1</a:t>
            </a:r>
            <a:endParaRPr lang="it-IT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3A970DA-7B5D-0299-B0F4-B1A57F298714}"/>
              </a:ext>
            </a:extLst>
          </p:cNvPr>
          <p:cNvSpPr txBox="1"/>
          <p:nvPr/>
        </p:nvSpPr>
        <p:spPr>
          <a:xfrm>
            <a:off x="7700919" y="3095203"/>
            <a:ext cx="357399" cy="3760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0</a:t>
            </a:r>
            <a:endParaRPr lang="it-IT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E97A7901-1ED6-4977-D541-94840E3A5AEF}"/>
              </a:ext>
            </a:extLst>
          </p:cNvPr>
          <p:cNvSpPr txBox="1"/>
          <p:nvPr/>
        </p:nvSpPr>
        <p:spPr>
          <a:xfrm>
            <a:off x="6628726" y="2623167"/>
            <a:ext cx="2225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3</a:t>
            </a:r>
            <a:endParaRPr lang="it-IT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55D07B21-63A6-2025-C3AD-3D8B0FFEC948}"/>
              </a:ext>
            </a:extLst>
          </p:cNvPr>
          <p:cNvSpPr txBox="1"/>
          <p:nvPr/>
        </p:nvSpPr>
        <p:spPr>
          <a:xfrm>
            <a:off x="6082513" y="2360177"/>
            <a:ext cx="2832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7</a:t>
            </a:r>
            <a:endParaRPr lang="it-IT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476E8C80-EDED-E2D3-AA17-09F50E449898}"/>
              </a:ext>
            </a:extLst>
          </p:cNvPr>
          <p:cNvSpPr txBox="1"/>
          <p:nvPr/>
        </p:nvSpPr>
        <p:spPr>
          <a:xfrm>
            <a:off x="5543044" y="2124159"/>
            <a:ext cx="8968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15</a:t>
            </a:r>
            <a:endParaRPr lang="it-IT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77FE932E-5C36-522F-3710-C2A47B6EAD78}"/>
              </a:ext>
            </a:extLst>
          </p:cNvPr>
          <p:cNvSpPr txBox="1"/>
          <p:nvPr/>
        </p:nvSpPr>
        <p:spPr>
          <a:xfrm>
            <a:off x="4967161" y="1878701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ea typeface="Calibri"/>
                <a:cs typeface="Calibri"/>
              </a:rPr>
              <a:t>31</a:t>
            </a:r>
            <a:endParaRPr lang="it-IT"/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ED233C0D-C6FB-F748-6F28-566149393846}"/>
              </a:ext>
            </a:extLst>
          </p:cNvPr>
          <p:cNvCxnSpPr/>
          <p:nvPr/>
        </p:nvCxnSpPr>
        <p:spPr>
          <a:xfrm flipH="1" flipV="1">
            <a:off x="4344747" y="2412775"/>
            <a:ext cx="2673070" cy="16211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F04F0AFC-FD5B-287D-5BED-2537B5665439}"/>
              </a:ext>
            </a:extLst>
          </p:cNvPr>
          <p:cNvSpPr txBox="1"/>
          <p:nvPr/>
        </p:nvSpPr>
        <p:spPr>
          <a:xfrm>
            <a:off x="3631974" y="4751374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4800">
                <a:ea typeface="Calibri"/>
                <a:cs typeface="Calibri"/>
              </a:rPr>
              <a:t>(62)</a:t>
            </a:r>
            <a:r>
              <a:rPr lang="it-IT" sz="4800" baseline="-25000">
                <a:ea typeface="Calibri"/>
                <a:cs typeface="Calibri"/>
              </a:rPr>
              <a:t>10</a:t>
            </a:r>
            <a:endParaRPr lang="it-IT" sz="4800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648AA13E-F724-ACDA-8F64-0A739E1BF159}"/>
              </a:ext>
            </a:extLst>
          </p:cNvPr>
          <p:cNvSpPr txBox="1"/>
          <p:nvPr/>
        </p:nvSpPr>
        <p:spPr>
          <a:xfrm>
            <a:off x="5884258" y="4751374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4800">
                <a:ea typeface="Calibri"/>
                <a:cs typeface="Calibri"/>
              </a:rPr>
              <a:t>(111110)</a:t>
            </a:r>
            <a:r>
              <a:rPr lang="it-IT" sz="4800" baseline="-25000">
                <a:ea typeface="Calibri"/>
                <a:cs typeface="Calibri"/>
              </a:rPr>
              <a:t>2</a:t>
            </a:r>
            <a:endParaRPr lang="it-IT" sz="480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D64B44EC-A51E-F2B8-D934-B3D915C20117}"/>
              </a:ext>
            </a:extLst>
          </p:cNvPr>
          <p:cNvSpPr txBox="1"/>
          <p:nvPr/>
        </p:nvSpPr>
        <p:spPr>
          <a:xfrm>
            <a:off x="5239593" y="4754071"/>
            <a:ext cx="7013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4800">
                <a:ea typeface="Calibri"/>
                <a:cs typeface="Calibri"/>
              </a:rPr>
              <a:t>=</a:t>
            </a:r>
            <a:endParaRPr lang="it-IT" sz="4800"/>
          </a:p>
        </p:txBody>
      </p:sp>
    </p:spTree>
    <p:extLst>
      <p:ext uri="{BB962C8B-B14F-4D97-AF65-F5344CB8AC3E}">
        <p14:creationId xmlns:p14="http://schemas.microsoft.com/office/powerpoint/2010/main" val="1427923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A8D479DE-6719-1BD8-5E2F-2EBD70260573}"/>
              </a:ext>
            </a:extLst>
          </p:cNvPr>
          <p:cNvSpPr txBox="1"/>
          <p:nvPr/>
        </p:nvSpPr>
        <p:spPr>
          <a:xfrm>
            <a:off x="3459346" y="161841"/>
            <a:ext cx="51573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ea typeface="Calibri"/>
                <a:cs typeface="Calibri"/>
              </a:rPr>
              <a:t>Il sistema di numerazione binario</a:t>
            </a:r>
            <a:endParaRPr lang="it-IT" sz="280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2BDE3AD-6C16-ACCD-2F2D-1A7D6BDB0C45}"/>
              </a:ext>
            </a:extLst>
          </p:cNvPr>
          <p:cNvSpPr txBox="1"/>
          <p:nvPr/>
        </p:nvSpPr>
        <p:spPr>
          <a:xfrm>
            <a:off x="478779" y="971044"/>
            <a:ext cx="1133559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ea typeface="Calibri"/>
                <a:cs typeface="Calibri"/>
              </a:rPr>
              <a:t>Esiste un algoritmo più efficiente per trasformare un numero decimale in binario, che si basa sulla nozione di parità di un numero. Si costruisce una tabella a due colonne, inserendo inizialmente nella prima posizione a sinistra il numero da trasformare. Ad ogni passaggio si verifica la parità del numero:</a:t>
            </a:r>
          </a:p>
          <a:p>
            <a:pPr marL="285750" indent="-285750">
              <a:buFont typeface="Calibri"/>
              <a:buChar char="-"/>
            </a:pPr>
            <a:r>
              <a:rPr lang="it-IT">
                <a:ea typeface="Calibri"/>
                <a:cs typeface="Calibri"/>
              </a:rPr>
              <a:t>Se è pari, si scrive 0 alla sua destra, e si riporta nella successiva riga della prima colonna la sua metà</a:t>
            </a:r>
          </a:p>
          <a:p>
            <a:pPr marL="285750" indent="-285750">
              <a:buFont typeface="Calibri"/>
              <a:buChar char="-"/>
            </a:pPr>
            <a:r>
              <a:rPr lang="it-IT">
                <a:ea typeface="Calibri"/>
                <a:cs typeface="Calibri"/>
              </a:rPr>
              <a:t>Se è dispari, si scrive 1 alla sua destra e si riporta nella successiva riga della prima colonna la metà del numero decrementato di uno (che ovviamente è un numero pari)</a:t>
            </a:r>
          </a:p>
          <a:p>
            <a:r>
              <a:rPr lang="it-IT">
                <a:ea typeface="Calibri"/>
                <a:cs typeface="Calibri"/>
              </a:rPr>
              <a:t>Il processo termina quando nei valori decimali si arriva a 0.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D32FB1A2-300F-6FBC-680A-41601F2FAF5C}"/>
              </a:ext>
            </a:extLst>
          </p:cNvPr>
          <p:cNvSpPr txBox="1"/>
          <p:nvPr/>
        </p:nvSpPr>
        <p:spPr>
          <a:xfrm>
            <a:off x="3054743" y="3520035"/>
            <a:ext cx="6055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62</a:t>
            </a:r>
            <a:endParaRPr lang="it-IT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1DE11436-E6E1-764E-3F8F-728D09106D3F}"/>
              </a:ext>
            </a:extLst>
          </p:cNvPr>
          <p:cNvSpPr txBox="1"/>
          <p:nvPr/>
        </p:nvSpPr>
        <p:spPr>
          <a:xfrm>
            <a:off x="3648159" y="3816744"/>
            <a:ext cx="3371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1</a:t>
            </a:r>
            <a:endParaRPr lang="it-IT"/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E998FE60-D2DE-91CB-BE40-A263F6B6D0EC}"/>
              </a:ext>
            </a:extLst>
          </p:cNvPr>
          <p:cNvSpPr txBox="1"/>
          <p:nvPr/>
        </p:nvSpPr>
        <p:spPr>
          <a:xfrm>
            <a:off x="3648159" y="4248318"/>
            <a:ext cx="3371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1</a:t>
            </a:r>
            <a:endParaRPr lang="it-IT"/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80C00AE4-7C34-C093-9170-1CAF9D4E4AD0}"/>
              </a:ext>
            </a:extLst>
          </p:cNvPr>
          <p:cNvSpPr txBox="1"/>
          <p:nvPr/>
        </p:nvSpPr>
        <p:spPr>
          <a:xfrm>
            <a:off x="3648159" y="4693381"/>
            <a:ext cx="3371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1</a:t>
            </a:r>
            <a:endParaRPr lang="it-IT"/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87BB1EF5-A236-FEF5-34AE-3B924673CC35}"/>
              </a:ext>
            </a:extLst>
          </p:cNvPr>
          <p:cNvSpPr txBox="1"/>
          <p:nvPr/>
        </p:nvSpPr>
        <p:spPr>
          <a:xfrm>
            <a:off x="3648158" y="5111469"/>
            <a:ext cx="3371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1</a:t>
            </a:r>
            <a:endParaRPr lang="it-IT"/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050D161F-F6B1-C2C5-46F5-0C0580DDBE91}"/>
              </a:ext>
            </a:extLst>
          </p:cNvPr>
          <p:cNvSpPr txBox="1"/>
          <p:nvPr/>
        </p:nvSpPr>
        <p:spPr>
          <a:xfrm>
            <a:off x="3661646" y="5603735"/>
            <a:ext cx="3371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1</a:t>
            </a:r>
            <a:endParaRPr lang="it-IT"/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5786B620-3BE5-1F56-BBE9-4D7590498D98}"/>
              </a:ext>
            </a:extLst>
          </p:cNvPr>
          <p:cNvSpPr txBox="1"/>
          <p:nvPr/>
        </p:nvSpPr>
        <p:spPr>
          <a:xfrm>
            <a:off x="3648159" y="3499805"/>
            <a:ext cx="357399" cy="3760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0</a:t>
            </a:r>
            <a:endParaRPr lang="it-IT"/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EC38DAC2-6233-73E2-E75C-9CA48785B064}"/>
              </a:ext>
            </a:extLst>
          </p:cNvPr>
          <p:cNvSpPr txBox="1"/>
          <p:nvPr/>
        </p:nvSpPr>
        <p:spPr>
          <a:xfrm>
            <a:off x="3074973" y="5603733"/>
            <a:ext cx="3371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1</a:t>
            </a:r>
            <a:endParaRPr lang="it-IT"/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C0F07705-B129-F205-1682-DA2B4C4E2B29}"/>
              </a:ext>
            </a:extLst>
          </p:cNvPr>
          <p:cNvSpPr txBox="1"/>
          <p:nvPr/>
        </p:nvSpPr>
        <p:spPr>
          <a:xfrm>
            <a:off x="3074974" y="5131697"/>
            <a:ext cx="2832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3</a:t>
            </a:r>
            <a:endParaRPr lang="it-IT"/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3C9ADCD4-5B85-5E1F-7624-222DD3DF48BC}"/>
              </a:ext>
            </a:extLst>
          </p:cNvPr>
          <p:cNvSpPr txBox="1"/>
          <p:nvPr/>
        </p:nvSpPr>
        <p:spPr>
          <a:xfrm>
            <a:off x="3074974" y="4713611"/>
            <a:ext cx="2832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7</a:t>
            </a:r>
            <a:endParaRPr lang="it-IT"/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2A67436E-68AB-4DBD-94D8-CF82791BFFF1}"/>
              </a:ext>
            </a:extLst>
          </p:cNvPr>
          <p:cNvSpPr txBox="1"/>
          <p:nvPr/>
        </p:nvSpPr>
        <p:spPr>
          <a:xfrm>
            <a:off x="3021026" y="4268548"/>
            <a:ext cx="4652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ea typeface="Calibri"/>
                <a:cs typeface="Calibri"/>
              </a:rPr>
              <a:t>15</a:t>
            </a:r>
            <a:endParaRPr lang="it-IT"/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03EBE63C-BCAC-3AD9-43D3-3E1604F4618C}"/>
              </a:ext>
            </a:extLst>
          </p:cNvPr>
          <p:cNvSpPr txBox="1"/>
          <p:nvPr/>
        </p:nvSpPr>
        <p:spPr>
          <a:xfrm>
            <a:off x="3018329" y="3894966"/>
            <a:ext cx="4369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ea typeface="Calibri"/>
                <a:cs typeface="Calibri"/>
              </a:rPr>
              <a:t>31</a:t>
            </a:r>
            <a:endParaRPr lang="it-IT"/>
          </a:p>
        </p:txBody>
      </p:sp>
      <p:cxnSp>
        <p:nvCxnSpPr>
          <p:cNvPr id="69" name="Connettore 2 68">
            <a:extLst>
              <a:ext uri="{FF2B5EF4-FFF2-40B4-BE49-F238E27FC236}">
                <a16:creationId xmlns:a16="http://schemas.microsoft.com/office/drawing/2014/main" id="{838812A7-7485-AD50-26B9-E82151B60451}"/>
              </a:ext>
            </a:extLst>
          </p:cNvPr>
          <p:cNvCxnSpPr/>
          <p:nvPr/>
        </p:nvCxnSpPr>
        <p:spPr>
          <a:xfrm flipH="1">
            <a:off x="3545659" y="3477551"/>
            <a:ext cx="2698" cy="2613726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ABE9B84A-9AA2-6094-9190-E0C99FC967E5}"/>
              </a:ext>
            </a:extLst>
          </p:cNvPr>
          <p:cNvCxnSpPr/>
          <p:nvPr/>
        </p:nvCxnSpPr>
        <p:spPr>
          <a:xfrm flipH="1" flipV="1">
            <a:off x="4106622" y="3476118"/>
            <a:ext cx="16185" cy="25719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9A056F7-E4B0-AE3B-E4D9-B79C17BE9DFC}"/>
              </a:ext>
            </a:extLst>
          </p:cNvPr>
          <p:cNvSpPr txBox="1"/>
          <p:nvPr/>
        </p:nvSpPr>
        <p:spPr>
          <a:xfrm>
            <a:off x="5837054" y="4056808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4800">
                <a:ea typeface="Calibri"/>
                <a:cs typeface="Calibri"/>
              </a:rPr>
              <a:t>(62)</a:t>
            </a:r>
            <a:r>
              <a:rPr lang="it-IT" sz="4800" baseline="-25000">
                <a:ea typeface="Calibri"/>
                <a:cs typeface="Calibri"/>
              </a:rPr>
              <a:t>10</a:t>
            </a:r>
            <a:endParaRPr lang="it-IT" sz="4800"/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9381DC59-BA93-741A-E1A4-53B5D50FAE1B}"/>
              </a:ext>
            </a:extLst>
          </p:cNvPr>
          <p:cNvSpPr txBox="1"/>
          <p:nvPr/>
        </p:nvSpPr>
        <p:spPr>
          <a:xfrm>
            <a:off x="8089338" y="4056808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4800">
                <a:ea typeface="Calibri"/>
                <a:cs typeface="Calibri"/>
              </a:rPr>
              <a:t>(111110)</a:t>
            </a:r>
            <a:r>
              <a:rPr lang="it-IT" sz="4800" baseline="-25000">
                <a:ea typeface="Calibri"/>
                <a:cs typeface="Calibri"/>
              </a:rPr>
              <a:t>2</a:t>
            </a:r>
            <a:endParaRPr lang="it-IT" sz="4800"/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998CD98D-2864-12E5-4A91-C1F4B29C527F}"/>
              </a:ext>
            </a:extLst>
          </p:cNvPr>
          <p:cNvSpPr txBox="1"/>
          <p:nvPr/>
        </p:nvSpPr>
        <p:spPr>
          <a:xfrm>
            <a:off x="7444673" y="4059505"/>
            <a:ext cx="7013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4800">
                <a:ea typeface="Calibri"/>
                <a:cs typeface="Calibri"/>
              </a:rPr>
              <a:t>=</a:t>
            </a:r>
            <a:endParaRPr lang="it-IT" sz="4800"/>
          </a:p>
        </p:txBody>
      </p:sp>
    </p:spTree>
    <p:extLst>
      <p:ext uri="{BB962C8B-B14F-4D97-AF65-F5344CB8AC3E}">
        <p14:creationId xmlns:p14="http://schemas.microsoft.com/office/powerpoint/2010/main" val="1616529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B0277CE-5CFF-79E3-7605-EBB84604132E}"/>
              </a:ext>
            </a:extLst>
          </p:cNvPr>
          <p:cNvSpPr txBox="1"/>
          <p:nvPr/>
        </p:nvSpPr>
        <p:spPr>
          <a:xfrm>
            <a:off x="2095500" y="294968"/>
            <a:ext cx="80034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>
                <a:cs typeface="Calibri"/>
              </a:rPr>
              <a:t>Sistemi di numerazione esadecimale ed ottale</a:t>
            </a:r>
            <a:endParaRPr lang="it-IT" sz="320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CB952B7-E80D-047B-22ED-603CB881726A}"/>
              </a:ext>
            </a:extLst>
          </p:cNvPr>
          <p:cNvSpPr txBox="1"/>
          <p:nvPr/>
        </p:nvSpPr>
        <p:spPr>
          <a:xfrm>
            <a:off x="159774" y="1020097"/>
            <a:ext cx="10946989" cy="532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it-IT" sz="2000" dirty="0">
                <a:cs typeface="Calibri"/>
              </a:rPr>
              <a:t>Alfabeto del sistema di numerazione ottale: {0,1,2,…,7}</a:t>
            </a:r>
          </a:p>
          <a:p>
            <a:pPr marL="285750" indent="-285750">
              <a:buFont typeface="Calibri"/>
              <a:buChar char="-"/>
            </a:pPr>
            <a:r>
              <a:rPr lang="it-IT" sz="2000" dirty="0">
                <a:cs typeface="Calibri"/>
              </a:rPr>
              <a:t>Alfabeto del sistema di numerazione esadecimale: {0,1,…,9,A,B,C,D,E,F}</a:t>
            </a:r>
          </a:p>
          <a:p>
            <a:r>
              <a:rPr lang="it-IT" sz="2000" dirty="0">
                <a:cs typeface="Calibri"/>
              </a:rPr>
              <a:t>Nei sistemi di numerazione posizionali che hanno come basi delle potenze di una medesima radice accade che il rapporto tra gli esponenti è lo stesso di quello che sussiste tra le cifre dei numeri che originano.</a:t>
            </a:r>
          </a:p>
          <a:p>
            <a:endParaRPr lang="it-IT" sz="2000" dirty="0"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it-IT" sz="2000" dirty="0">
                <a:cs typeface="Calibri"/>
              </a:rPr>
              <a:t>Ad una cifra esadecimale corrispondono quattro bit nel sistema binario, essendo 4 radice in base 2 di 16.</a:t>
            </a:r>
          </a:p>
          <a:p>
            <a:pPr marL="285750" indent="-285750">
              <a:buFont typeface="Calibri"/>
              <a:buChar char="-"/>
            </a:pPr>
            <a:r>
              <a:rPr lang="it-IT" sz="2000" dirty="0">
                <a:cs typeface="Calibri"/>
              </a:rPr>
              <a:t>Ad  una cifra in ottale corrispondono tre bit nel sistema binario, essendo 3 radice in base 2 di 8.</a:t>
            </a:r>
          </a:p>
          <a:p>
            <a:pPr marL="285750" indent="-285750">
              <a:buFont typeface="Calibri"/>
              <a:buChar char="-"/>
            </a:pPr>
            <a:endParaRPr lang="it-IT" sz="2000">
              <a:cs typeface="Calibri"/>
            </a:endParaRPr>
          </a:p>
          <a:p>
            <a:endParaRPr lang="it-IT" sz="2000" dirty="0">
              <a:cs typeface="Calibri"/>
            </a:endParaRPr>
          </a:p>
          <a:p>
            <a:endParaRPr lang="it-IT" sz="2000" dirty="0">
              <a:cs typeface="Calibri"/>
            </a:endParaRPr>
          </a:p>
          <a:p>
            <a:endParaRPr lang="it-IT" sz="2000">
              <a:cs typeface="Calibri"/>
            </a:endParaRPr>
          </a:p>
          <a:p>
            <a:r>
              <a:rPr lang="it-IT" sz="2000" dirty="0">
                <a:cs typeface="Calibri"/>
              </a:rPr>
              <a:t>Per trasformare un numero binario in esadecimale si divide il numero in gruppi di quattro bit, partendo dalla cifra meno significativa, e aggiungendo tanti zeri nelle posizioni più significative quanti ne servono a completare i quattro bit. Successivamente si sommano le prime 4 potenze di due aventi corrispondente bit ad uno.</a:t>
            </a:r>
          </a:p>
        </p:txBody>
      </p:sp>
    </p:spTree>
    <p:extLst>
      <p:ext uri="{BB962C8B-B14F-4D97-AF65-F5344CB8AC3E}">
        <p14:creationId xmlns:p14="http://schemas.microsoft.com/office/powerpoint/2010/main" val="2520685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07CC55DF-E396-F869-6657-08CECE61EA42}"/>
              </a:ext>
            </a:extLst>
          </p:cNvPr>
          <p:cNvSpPr txBox="1"/>
          <p:nvPr/>
        </p:nvSpPr>
        <p:spPr>
          <a:xfrm>
            <a:off x="4814054" y="163037"/>
            <a:ext cx="146870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800">
                <a:ea typeface="Calibri"/>
                <a:cs typeface="Calibri"/>
              </a:rPr>
              <a:t>Esempio</a:t>
            </a:r>
            <a:endParaRPr lang="it-IT" sz="280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C92F711-5D0F-66A7-AA8E-5430FCE90614}"/>
              </a:ext>
            </a:extLst>
          </p:cNvPr>
          <p:cNvSpPr txBox="1"/>
          <p:nvPr/>
        </p:nvSpPr>
        <p:spPr>
          <a:xfrm>
            <a:off x="393290" y="995516"/>
            <a:ext cx="58133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Scrivere</a:t>
            </a:r>
            <a:r>
              <a:rPr lang="it-IT">
                <a:ea typeface="+mn-lt"/>
                <a:cs typeface="+mn-lt"/>
              </a:rPr>
              <a:t> (111110)</a:t>
            </a:r>
            <a:r>
              <a:rPr lang="it-IT" baseline="-25000">
                <a:ea typeface="+mn-lt"/>
                <a:cs typeface="+mn-lt"/>
              </a:rPr>
              <a:t>2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>
                <a:cs typeface="Calibri"/>
              </a:rPr>
              <a:t>in base esadecimale H.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148EEED-413F-2D6B-A9BA-3F7D488472AC}"/>
              </a:ext>
            </a:extLst>
          </p:cNvPr>
          <p:cNvSpPr txBox="1"/>
          <p:nvPr/>
        </p:nvSpPr>
        <p:spPr>
          <a:xfrm>
            <a:off x="4387645" y="2322870"/>
            <a:ext cx="55060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0   0   1   1     1   1   1   0   </a:t>
            </a:r>
            <a:endParaRPr lang="it-IT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7CD5F9A7-4DE0-917E-B0C1-7323DC29E38F}"/>
              </a:ext>
            </a:extLst>
          </p:cNvPr>
          <p:cNvCxnSpPr/>
          <p:nvPr/>
        </p:nvCxnSpPr>
        <p:spPr>
          <a:xfrm>
            <a:off x="5506680" y="2016227"/>
            <a:ext cx="11062" cy="97585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955F5C2-77C0-743A-AC72-4D72E20F498D}"/>
              </a:ext>
            </a:extLst>
          </p:cNvPr>
          <p:cNvSpPr txBox="1"/>
          <p:nvPr/>
        </p:nvSpPr>
        <p:spPr>
          <a:xfrm>
            <a:off x="6268065" y="3539613"/>
            <a:ext cx="335156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>
                <a:cs typeface="Calibri"/>
              </a:rPr>
              <a:t>2</a:t>
            </a:r>
            <a:r>
              <a:rPr lang="it-IT" sz="2000" baseline="30000">
                <a:cs typeface="Calibri"/>
              </a:rPr>
              <a:t>3</a:t>
            </a:r>
            <a:r>
              <a:rPr lang="it-IT" sz="2000">
                <a:cs typeface="Calibri"/>
              </a:rPr>
              <a:t> </a:t>
            </a:r>
            <a:r>
              <a:rPr lang="it-IT" sz="2000">
                <a:ea typeface="+mn-lt"/>
                <a:cs typeface="+mn-lt"/>
              </a:rPr>
              <a:t>⋅</a:t>
            </a:r>
            <a:r>
              <a:rPr lang="it-IT" sz="2000">
                <a:cs typeface="Calibri"/>
              </a:rPr>
              <a:t>1 + 2</a:t>
            </a:r>
            <a:r>
              <a:rPr lang="it-IT" sz="2000" baseline="30000">
                <a:cs typeface="Calibri"/>
              </a:rPr>
              <a:t>2</a:t>
            </a:r>
            <a:r>
              <a:rPr lang="it-IT" sz="2000">
                <a:cs typeface="Calibri"/>
              </a:rPr>
              <a:t> </a:t>
            </a:r>
            <a:r>
              <a:rPr lang="it-IT" sz="2000">
                <a:ea typeface="+mn-lt"/>
                <a:cs typeface="+mn-lt"/>
              </a:rPr>
              <a:t>⋅</a:t>
            </a:r>
            <a:r>
              <a:rPr lang="it-IT" sz="2000">
                <a:cs typeface="Calibri"/>
              </a:rPr>
              <a:t>1 + 2</a:t>
            </a:r>
            <a:r>
              <a:rPr lang="it-IT" sz="2000" baseline="30000">
                <a:cs typeface="Calibri"/>
              </a:rPr>
              <a:t>1</a:t>
            </a:r>
            <a:r>
              <a:rPr lang="it-IT" sz="2000">
                <a:cs typeface="Calibri"/>
              </a:rPr>
              <a:t> </a:t>
            </a:r>
            <a:r>
              <a:rPr lang="it-IT" sz="2000">
                <a:ea typeface="+mn-lt"/>
                <a:cs typeface="+mn-lt"/>
              </a:rPr>
              <a:t>⋅</a:t>
            </a:r>
            <a:r>
              <a:rPr lang="it-IT" sz="2000">
                <a:cs typeface="Calibri"/>
              </a:rPr>
              <a:t>1 + 2</a:t>
            </a:r>
            <a:r>
              <a:rPr lang="it-IT" sz="2000" baseline="30000">
                <a:cs typeface="Calibri"/>
              </a:rPr>
              <a:t>0</a:t>
            </a:r>
            <a:r>
              <a:rPr lang="it-IT" sz="2000">
                <a:cs typeface="Calibri"/>
              </a:rPr>
              <a:t> </a:t>
            </a:r>
            <a:r>
              <a:rPr lang="it-IT" sz="2000">
                <a:ea typeface="+mn-lt"/>
                <a:cs typeface="+mn-lt"/>
              </a:rPr>
              <a:t>⋅</a:t>
            </a:r>
            <a:r>
              <a:rPr lang="it-IT" sz="2000">
                <a:cs typeface="Calibri"/>
              </a:rPr>
              <a:t>0 = E</a:t>
            </a: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6560E322-D46A-306B-1836-5C7F2110B033}"/>
              </a:ext>
            </a:extLst>
          </p:cNvPr>
          <p:cNvCxnSpPr/>
          <p:nvPr/>
        </p:nvCxnSpPr>
        <p:spPr>
          <a:xfrm>
            <a:off x="6259462" y="2769008"/>
            <a:ext cx="773061" cy="75462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BEA55AD-ED3E-EF49-4DF8-08428C931237}"/>
              </a:ext>
            </a:extLst>
          </p:cNvPr>
          <p:cNvSpPr txBox="1"/>
          <p:nvPr/>
        </p:nvSpPr>
        <p:spPr>
          <a:xfrm>
            <a:off x="1843549" y="3508886"/>
            <a:ext cx="33884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>
                <a:cs typeface="Calibri"/>
              </a:rPr>
              <a:t>2</a:t>
            </a:r>
            <a:r>
              <a:rPr lang="it-IT" sz="2000" baseline="30000">
                <a:cs typeface="Calibri"/>
              </a:rPr>
              <a:t>3</a:t>
            </a:r>
            <a:r>
              <a:rPr lang="it-IT" sz="2000">
                <a:cs typeface="Calibri"/>
              </a:rPr>
              <a:t> </a:t>
            </a:r>
            <a:r>
              <a:rPr lang="it-IT" sz="2000">
                <a:ea typeface="+mn-lt"/>
                <a:cs typeface="+mn-lt"/>
              </a:rPr>
              <a:t>⋅</a:t>
            </a:r>
            <a:r>
              <a:rPr lang="it-IT" sz="2000">
                <a:cs typeface="Calibri"/>
              </a:rPr>
              <a:t>0 + 2</a:t>
            </a:r>
            <a:r>
              <a:rPr lang="it-IT" sz="2000" baseline="30000">
                <a:cs typeface="Calibri"/>
              </a:rPr>
              <a:t>2</a:t>
            </a:r>
            <a:r>
              <a:rPr lang="it-IT" sz="2000">
                <a:cs typeface="Calibri"/>
              </a:rPr>
              <a:t> </a:t>
            </a:r>
            <a:r>
              <a:rPr lang="it-IT" sz="2000">
                <a:ea typeface="+mn-lt"/>
                <a:cs typeface="+mn-lt"/>
              </a:rPr>
              <a:t>⋅</a:t>
            </a:r>
            <a:r>
              <a:rPr lang="it-IT" sz="2000">
                <a:cs typeface="Calibri"/>
              </a:rPr>
              <a:t>0 + 2</a:t>
            </a:r>
            <a:r>
              <a:rPr lang="it-IT" sz="2000" baseline="30000">
                <a:cs typeface="Calibri"/>
              </a:rPr>
              <a:t>1</a:t>
            </a:r>
            <a:r>
              <a:rPr lang="it-IT" sz="2000">
                <a:cs typeface="Calibri"/>
              </a:rPr>
              <a:t> </a:t>
            </a:r>
            <a:r>
              <a:rPr lang="it-IT" sz="2000">
                <a:ea typeface="+mn-lt"/>
                <a:cs typeface="+mn-lt"/>
              </a:rPr>
              <a:t>⋅</a:t>
            </a:r>
            <a:r>
              <a:rPr lang="it-IT" sz="2000">
                <a:cs typeface="Calibri"/>
              </a:rPr>
              <a:t>1 + 2</a:t>
            </a:r>
            <a:r>
              <a:rPr lang="it-IT" sz="2000" baseline="30000">
                <a:cs typeface="Calibri"/>
              </a:rPr>
              <a:t>0</a:t>
            </a:r>
            <a:r>
              <a:rPr lang="it-IT" sz="2000">
                <a:cs typeface="Calibri"/>
              </a:rPr>
              <a:t> </a:t>
            </a:r>
            <a:r>
              <a:rPr lang="it-IT" sz="2000">
                <a:ea typeface="+mn-lt"/>
                <a:cs typeface="+mn-lt"/>
              </a:rPr>
              <a:t>⋅</a:t>
            </a:r>
            <a:r>
              <a:rPr lang="it-IT" sz="2000">
                <a:cs typeface="Calibri"/>
              </a:rPr>
              <a:t>1 = 3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3E4F2F6-E9C4-08AD-F959-FC9D424FA847}"/>
              </a:ext>
            </a:extLst>
          </p:cNvPr>
          <p:cNvCxnSpPr>
            <a:cxnSpLocks/>
          </p:cNvCxnSpPr>
          <p:nvPr/>
        </p:nvCxnSpPr>
        <p:spPr>
          <a:xfrm flipH="1">
            <a:off x="3707990" y="2775151"/>
            <a:ext cx="1064342" cy="7423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B99962F-8F4A-1C39-F1FB-9CC9173457F9}"/>
              </a:ext>
            </a:extLst>
          </p:cNvPr>
          <p:cNvSpPr txBox="1"/>
          <p:nvPr/>
        </p:nvSpPr>
        <p:spPr>
          <a:xfrm>
            <a:off x="3988209" y="4787080"/>
            <a:ext cx="334911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 dirty="0">
                <a:ea typeface="+mn-lt"/>
                <a:cs typeface="+mn-lt"/>
              </a:rPr>
              <a:t>(111110)</a:t>
            </a:r>
            <a:r>
              <a:rPr lang="it-IT" sz="3200" baseline="-25000" dirty="0">
                <a:ea typeface="+mn-lt"/>
                <a:cs typeface="+mn-lt"/>
              </a:rPr>
              <a:t>2</a:t>
            </a:r>
            <a:r>
              <a:rPr lang="it-IT" sz="3200" dirty="0">
                <a:ea typeface="+mn-lt"/>
                <a:cs typeface="+mn-lt"/>
              </a:rPr>
              <a:t>  = (3E)</a:t>
            </a:r>
            <a:r>
              <a:rPr lang="it-IT" sz="3200" baseline="-25000" dirty="0">
                <a:ea typeface="+mn-lt"/>
                <a:cs typeface="+mn-lt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727650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9E26D099-AF45-A736-E68B-D9B2EC1784CE}"/>
              </a:ext>
            </a:extLst>
          </p:cNvPr>
          <p:cNvSpPr txBox="1"/>
          <p:nvPr/>
        </p:nvSpPr>
        <p:spPr>
          <a:xfrm>
            <a:off x="282677" y="829597"/>
            <a:ext cx="1049224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La trasformazione da esadecimale a binario si effettua applicando lo stesso algoritmo in modo inverso</a:t>
            </a:r>
          </a:p>
          <a:p>
            <a:endParaRPr lang="it-IT">
              <a:cs typeface="Calibri"/>
            </a:endParaRPr>
          </a:p>
          <a:p>
            <a:r>
              <a:rPr lang="it-IT">
                <a:cs typeface="Calibri"/>
              </a:rPr>
              <a:t>Esempio:</a:t>
            </a:r>
          </a:p>
          <a:p>
            <a:r>
              <a:rPr lang="it-IT">
                <a:cs typeface="Calibri"/>
              </a:rPr>
              <a:t>Scrivere (5D7A)</a:t>
            </a:r>
            <a:r>
              <a:rPr lang="it-IT" baseline="-25000">
                <a:cs typeface="Calibri"/>
              </a:rPr>
              <a:t>H</a:t>
            </a:r>
            <a:r>
              <a:rPr lang="it-IT">
                <a:cs typeface="Calibri"/>
              </a:rPr>
              <a:t> in binario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E12A6D8-D198-AFBB-83CF-50831E7ECED5}"/>
              </a:ext>
            </a:extLst>
          </p:cNvPr>
          <p:cNvSpPr txBox="1"/>
          <p:nvPr/>
        </p:nvSpPr>
        <p:spPr>
          <a:xfrm>
            <a:off x="1917290" y="2617838"/>
            <a:ext cx="37116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cs typeface="Calibri"/>
              </a:rPr>
              <a:t>5</a:t>
            </a:r>
          </a:p>
          <a:p>
            <a:endParaRPr lang="it-IT">
              <a:cs typeface="Calibri"/>
            </a:endParaRPr>
          </a:p>
          <a:p>
            <a:r>
              <a:rPr lang="it-IT">
                <a:cs typeface="Calibri"/>
              </a:rPr>
              <a:t>D</a:t>
            </a:r>
          </a:p>
          <a:p>
            <a:endParaRPr lang="it-IT">
              <a:cs typeface="Calibri"/>
            </a:endParaRPr>
          </a:p>
          <a:p>
            <a:r>
              <a:rPr lang="it-IT">
                <a:cs typeface="Calibri"/>
              </a:rPr>
              <a:t>7</a:t>
            </a:r>
          </a:p>
          <a:p>
            <a:endParaRPr lang="it-IT">
              <a:cs typeface="Calibri"/>
            </a:endParaRPr>
          </a:p>
          <a:p>
            <a:r>
              <a:rPr lang="it-IT">
                <a:cs typeface="Calibri"/>
              </a:rPr>
              <a:t>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67F9AF8-248E-755A-13D9-95588E36671E}"/>
              </a:ext>
            </a:extLst>
          </p:cNvPr>
          <p:cNvSpPr txBox="1"/>
          <p:nvPr/>
        </p:nvSpPr>
        <p:spPr>
          <a:xfrm>
            <a:off x="2095500" y="153629"/>
            <a:ext cx="80034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>
                <a:cs typeface="Calibri"/>
              </a:rPr>
              <a:t>Sistemi di numerazione esadecimale ed ottale</a:t>
            </a:r>
            <a:endParaRPr lang="it-IT" sz="3200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CA0FFDFE-DDC2-A9C4-0D57-07C2F3FE7B61}"/>
              </a:ext>
            </a:extLst>
          </p:cNvPr>
          <p:cNvCxnSpPr/>
          <p:nvPr/>
        </p:nvCxnSpPr>
        <p:spPr>
          <a:xfrm>
            <a:off x="2412590" y="2781299"/>
            <a:ext cx="1111045" cy="49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8222570-776D-90C2-DC86-B0166B29B82C}"/>
              </a:ext>
            </a:extLst>
          </p:cNvPr>
          <p:cNvSpPr txBox="1"/>
          <p:nvPr/>
        </p:nvSpPr>
        <p:spPr>
          <a:xfrm>
            <a:off x="2585883" y="2505997"/>
            <a:ext cx="73373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>
                <a:cs typeface="Calibri"/>
              </a:rPr>
              <a:t> 2</a:t>
            </a:r>
            <a:r>
              <a:rPr lang="it-IT" sz="1200" baseline="30000">
                <a:cs typeface="Calibri"/>
              </a:rPr>
              <a:t>2</a:t>
            </a:r>
            <a:r>
              <a:rPr lang="it-IT" sz="1200">
                <a:cs typeface="Calibri"/>
              </a:rPr>
              <a:t>  + 2</a:t>
            </a:r>
            <a:r>
              <a:rPr lang="it-IT" sz="1200" baseline="30000">
                <a:cs typeface="Calibri"/>
              </a:rPr>
              <a:t>0</a:t>
            </a:r>
            <a:r>
              <a:rPr lang="it-IT" sz="1200">
                <a:cs typeface="Calibri"/>
              </a:rPr>
              <a:t> </a:t>
            </a:r>
            <a:endParaRPr lang="it-IT" sz="1200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AB86C662-F932-1E0E-2FAC-3E4954EFAFCD}"/>
              </a:ext>
            </a:extLst>
          </p:cNvPr>
          <p:cNvCxnSpPr>
            <a:cxnSpLocks/>
          </p:cNvCxnSpPr>
          <p:nvPr/>
        </p:nvCxnSpPr>
        <p:spPr>
          <a:xfrm>
            <a:off x="2412589" y="3377379"/>
            <a:ext cx="1111045" cy="49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305D4C4-8F91-D121-D38C-B013F80DA728}"/>
              </a:ext>
            </a:extLst>
          </p:cNvPr>
          <p:cNvSpPr txBox="1"/>
          <p:nvPr/>
        </p:nvSpPr>
        <p:spPr>
          <a:xfrm>
            <a:off x="2505995" y="3132803"/>
            <a:ext cx="104713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>
                <a:cs typeface="Calibri"/>
              </a:rPr>
              <a:t>2</a:t>
            </a:r>
            <a:r>
              <a:rPr lang="it-IT" sz="1200" baseline="30000">
                <a:cs typeface="Calibri"/>
              </a:rPr>
              <a:t>3</a:t>
            </a:r>
            <a:r>
              <a:rPr lang="it-IT" sz="1200">
                <a:cs typeface="Calibri"/>
              </a:rPr>
              <a:t> + 2</a:t>
            </a:r>
            <a:r>
              <a:rPr lang="it-IT" sz="1200" baseline="30000">
                <a:cs typeface="Calibri"/>
              </a:rPr>
              <a:t>2</a:t>
            </a:r>
            <a:r>
              <a:rPr lang="it-IT" sz="1200">
                <a:cs typeface="Calibri"/>
              </a:rPr>
              <a:t>  + 2</a:t>
            </a:r>
            <a:r>
              <a:rPr lang="it-IT" sz="1200" baseline="30000">
                <a:cs typeface="Calibri"/>
              </a:rPr>
              <a:t>0</a:t>
            </a:r>
            <a:r>
              <a:rPr lang="it-IT" sz="1200">
                <a:cs typeface="Calibri"/>
              </a:rPr>
              <a:t> </a:t>
            </a:r>
            <a:endParaRPr lang="it-IT" sz="1200"/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42D0BFC6-71AF-908F-2F21-661B481A417B}"/>
              </a:ext>
            </a:extLst>
          </p:cNvPr>
          <p:cNvCxnSpPr>
            <a:cxnSpLocks/>
          </p:cNvCxnSpPr>
          <p:nvPr/>
        </p:nvCxnSpPr>
        <p:spPr>
          <a:xfrm>
            <a:off x="2418735" y="3918153"/>
            <a:ext cx="1111045" cy="49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D172104-F640-F4D0-31E7-C6D527BAE25C}"/>
              </a:ext>
            </a:extLst>
          </p:cNvPr>
          <p:cNvSpPr txBox="1"/>
          <p:nvPr/>
        </p:nvSpPr>
        <p:spPr>
          <a:xfrm>
            <a:off x="2419964" y="3673577"/>
            <a:ext cx="124378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>
                <a:cs typeface="Calibri"/>
              </a:rPr>
              <a:t> 2</a:t>
            </a:r>
            <a:r>
              <a:rPr lang="it-IT" sz="1200" baseline="30000">
                <a:cs typeface="Calibri"/>
              </a:rPr>
              <a:t>2</a:t>
            </a:r>
            <a:r>
              <a:rPr lang="it-IT" sz="1200">
                <a:cs typeface="Calibri"/>
              </a:rPr>
              <a:t>  + 2</a:t>
            </a:r>
            <a:r>
              <a:rPr lang="it-IT" sz="1200" baseline="30000">
                <a:cs typeface="Calibri"/>
              </a:rPr>
              <a:t>1</a:t>
            </a:r>
            <a:r>
              <a:rPr lang="it-IT" sz="1200">
                <a:cs typeface="Calibri"/>
              </a:rPr>
              <a:t>  + 2</a:t>
            </a:r>
            <a:r>
              <a:rPr lang="it-IT" sz="1200" baseline="30000">
                <a:cs typeface="Calibri"/>
              </a:rPr>
              <a:t>0</a:t>
            </a:r>
            <a:r>
              <a:rPr lang="it-IT" sz="1200">
                <a:cs typeface="Calibri"/>
              </a:rPr>
              <a:t> </a:t>
            </a:r>
            <a:endParaRPr lang="it-IT" sz="1200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7B8EFAA-E0CB-DC1C-673E-CF6095DF6D20}"/>
              </a:ext>
            </a:extLst>
          </p:cNvPr>
          <p:cNvCxnSpPr>
            <a:cxnSpLocks/>
          </p:cNvCxnSpPr>
          <p:nvPr/>
        </p:nvCxnSpPr>
        <p:spPr>
          <a:xfrm>
            <a:off x="2375719" y="4483509"/>
            <a:ext cx="1111045" cy="49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43B8A00-1563-FB6F-F28B-81A896BAF5DA}"/>
              </a:ext>
            </a:extLst>
          </p:cNvPr>
          <p:cNvSpPr txBox="1"/>
          <p:nvPr/>
        </p:nvSpPr>
        <p:spPr>
          <a:xfrm>
            <a:off x="2506734" y="4202750"/>
            <a:ext cx="64155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>
                <a:cs typeface="Calibri"/>
              </a:rPr>
              <a:t>2</a:t>
            </a:r>
            <a:r>
              <a:rPr lang="it-IT" sz="1200" baseline="30000">
                <a:cs typeface="Calibri"/>
              </a:rPr>
              <a:t>3</a:t>
            </a:r>
            <a:r>
              <a:rPr lang="it-IT" sz="1200">
                <a:cs typeface="Calibri"/>
              </a:rPr>
              <a:t> + 2</a:t>
            </a:r>
            <a:r>
              <a:rPr lang="it-IT" sz="1200" baseline="30000">
                <a:cs typeface="Calibri"/>
              </a:rPr>
              <a:t>1</a:t>
            </a:r>
            <a:r>
              <a:rPr lang="it-IT" sz="1200">
                <a:cs typeface="Calibri"/>
              </a:rPr>
              <a:t>   </a:t>
            </a:r>
            <a:endParaRPr lang="it-IT" sz="120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F1F0BDA-1AF7-C62D-7E8A-8EF984A0A71B}"/>
              </a:ext>
            </a:extLst>
          </p:cNvPr>
          <p:cNvSpPr txBox="1"/>
          <p:nvPr/>
        </p:nvSpPr>
        <p:spPr>
          <a:xfrm>
            <a:off x="3601063" y="259940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cs typeface="Calibri"/>
              </a:rPr>
              <a:t>0101</a:t>
            </a:r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DD22C5F-736A-B03B-6EF0-E65862F169FC}"/>
              </a:ext>
            </a:extLst>
          </p:cNvPr>
          <p:cNvSpPr txBox="1"/>
          <p:nvPr/>
        </p:nvSpPr>
        <p:spPr>
          <a:xfrm>
            <a:off x="3601062" y="3134031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cs typeface="Calibri"/>
              </a:rPr>
              <a:t>1101</a:t>
            </a:r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9DE6F4F-2376-911B-4E5E-3563629CC7D7}"/>
              </a:ext>
            </a:extLst>
          </p:cNvPr>
          <p:cNvSpPr txBox="1"/>
          <p:nvPr/>
        </p:nvSpPr>
        <p:spPr>
          <a:xfrm>
            <a:off x="3601063" y="370553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cs typeface="Calibri"/>
              </a:rPr>
              <a:t>0111</a:t>
            </a:r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1E119A5-0858-4451-6378-46C61CAD7669}"/>
              </a:ext>
            </a:extLst>
          </p:cNvPr>
          <p:cNvSpPr txBox="1"/>
          <p:nvPr/>
        </p:nvSpPr>
        <p:spPr>
          <a:xfrm>
            <a:off x="3601063" y="429546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cs typeface="Calibri"/>
              </a:rPr>
              <a:t>1010</a:t>
            </a:r>
            <a:endParaRPr lang="it-IT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099352B-62A1-7B8B-6BA2-264FD6F6B7C9}"/>
              </a:ext>
            </a:extLst>
          </p:cNvPr>
          <p:cNvSpPr txBox="1"/>
          <p:nvPr/>
        </p:nvSpPr>
        <p:spPr>
          <a:xfrm>
            <a:off x="3527323" y="5438467"/>
            <a:ext cx="46297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>
                <a:ea typeface="+mn-lt"/>
                <a:cs typeface="+mn-lt"/>
              </a:rPr>
              <a:t>(5D7A)</a:t>
            </a:r>
            <a:r>
              <a:rPr lang="it-IT" sz="2400" baseline="-25000">
                <a:ea typeface="+mn-lt"/>
                <a:cs typeface="+mn-lt"/>
              </a:rPr>
              <a:t>H</a:t>
            </a:r>
            <a:r>
              <a:rPr lang="it-IT" sz="2400">
                <a:ea typeface="+mn-lt"/>
                <a:cs typeface="+mn-lt"/>
              </a:rPr>
              <a:t> = (0101110101111010)</a:t>
            </a:r>
            <a:r>
              <a:rPr lang="it-IT" sz="2400" baseline="-25000">
                <a:ea typeface="+mn-lt"/>
                <a:cs typeface="+mn-lt"/>
              </a:rPr>
              <a:t>2</a:t>
            </a:r>
            <a:endParaRPr lang="it-IT" sz="2400" baseline="-2500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EDA00B4-AD11-D4B5-38F8-14F21F460676}"/>
              </a:ext>
            </a:extLst>
          </p:cNvPr>
          <p:cNvSpPr txBox="1"/>
          <p:nvPr/>
        </p:nvSpPr>
        <p:spPr>
          <a:xfrm>
            <a:off x="7152968" y="2531806"/>
            <a:ext cx="381860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it-IT">
                <a:cs typeface="Calibri"/>
              </a:rPr>
              <a:t>Si analizzano separatamente le cifre esadecimali</a:t>
            </a:r>
          </a:p>
          <a:p>
            <a:pPr marL="285750" indent="-285750">
              <a:buFont typeface="Calibri"/>
              <a:buChar char="-"/>
            </a:pPr>
            <a:r>
              <a:rPr lang="it-IT">
                <a:cs typeface="Calibri"/>
              </a:rPr>
              <a:t>Si codificano in modo unico con i pesi {8,4,2,1}</a:t>
            </a:r>
          </a:p>
        </p:txBody>
      </p:sp>
    </p:spTree>
    <p:extLst>
      <p:ext uri="{BB962C8B-B14F-4D97-AF65-F5344CB8AC3E}">
        <p14:creationId xmlns:p14="http://schemas.microsoft.com/office/powerpoint/2010/main" val="3621661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0CD90404-8EE5-CC34-D75B-264E28A79523}"/>
              </a:ext>
            </a:extLst>
          </p:cNvPr>
          <p:cNvSpPr txBox="1"/>
          <p:nvPr/>
        </p:nvSpPr>
        <p:spPr>
          <a:xfrm>
            <a:off x="2095500" y="153629"/>
            <a:ext cx="80034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>
                <a:cs typeface="Calibri"/>
              </a:rPr>
              <a:t>Sistemi di numerazione esadecimale ed ottale</a:t>
            </a:r>
            <a:endParaRPr lang="it-IT" sz="320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05CEBF5-7E70-1CA6-0F99-9E4A475D532E}"/>
              </a:ext>
            </a:extLst>
          </p:cNvPr>
          <p:cNvSpPr txBox="1"/>
          <p:nvPr/>
        </p:nvSpPr>
        <p:spPr>
          <a:xfrm>
            <a:off x="467032" y="983225"/>
            <a:ext cx="946600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 panose="020F0502020204030204"/>
              </a:rPr>
              <a:t>Proprietà analoghe per il sistema di numerazione ottale. Una cifra ottale corrisponde a 3 bit.</a:t>
            </a:r>
          </a:p>
          <a:p>
            <a:endParaRPr lang="it-IT">
              <a:cs typeface="Calibri" panose="020F0502020204030204"/>
            </a:endParaRPr>
          </a:p>
          <a:p>
            <a:r>
              <a:rPr lang="it-IT">
                <a:cs typeface="Calibri" panose="020F0502020204030204"/>
              </a:rPr>
              <a:t>Esempio:</a:t>
            </a:r>
          </a:p>
          <a:p>
            <a:r>
              <a:rPr lang="it-IT">
                <a:cs typeface="Calibri" panose="020F0502020204030204"/>
              </a:rPr>
              <a:t>Scrivere (1111110)</a:t>
            </a:r>
            <a:r>
              <a:rPr lang="it-IT" baseline="-25000">
                <a:cs typeface="Calibri" panose="020F0502020204030204"/>
              </a:rPr>
              <a:t>2 </a:t>
            </a:r>
            <a:r>
              <a:rPr lang="it-IT">
                <a:cs typeface="Calibri" panose="020F0502020204030204"/>
              </a:rPr>
              <a:t>in ottale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8AAAF80-FFF1-ED86-EB1B-531130DDB0C0}"/>
              </a:ext>
            </a:extLst>
          </p:cNvPr>
          <p:cNvSpPr txBox="1"/>
          <p:nvPr/>
        </p:nvSpPr>
        <p:spPr>
          <a:xfrm>
            <a:off x="4485969" y="2556386"/>
            <a:ext cx="278990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0    0   1    1   1   1     1   1   0   </a:t>
            </a:r>
            <a:endParaRPr lang="it-IT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AB7B7644-C0D0-AECA-D4CF-AE0CCB95C03E}"/>
              </a:ext>
            </a:extLst>
          </p:cNvPr>
          <p:cNvCxnSpPr/>
          <p:nvPr/>
        </p:nvCxnSpPr>
        <p:spPr>
          <a:xfrm>
            <a:off x="6250245" y="2225163"/>
            <a:ext cx="11062" cy="115406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3AC8B930-8153-E71B-18DB-979B18F8AA2E}"/>
              </a:ext>
            </a:extLst>
          </p:cNvPr>
          <p:cNvCxnSpPr>
            <a:cxnSpLocks/>
          </p:cNvCxnSpPr>
          <p:nvPr/>
        </p:nvCxnSpPr>
        <p:spPr>
          <a:xfrm>
            <a:off x="5377631" y="2225162"/>
            <a:ext cx="11062" cy="115406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12E792A4-DE1D-1F70-DBBE-935B78F315F3}"/>
              </a:ext>
            </a:extLst>
          </p:cNvPr>
          <p:cNvCxnSpPr>
            <a:cxnSpLocks/>
          </p:cNvCxnSpPr>
          <p:nvPr/>
        </p:nvCxnSpPr>
        <p:spPr>
          <a:xfrm flipH="1">
            <a:off x="3707990" y="3051683"/>
            <a:ext cx="1064342" cy="7423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BD26FDDF-EEB1-E268-2513-E7907F7DDDC4}"/>
              </a:ext>
            </a:extLst>
          </p:cNvPr>
          <p:cNvCxnSpPr>
            <a:cxnSpLocks/>
          </p:cNvCxnSpPr>
          <p:nvPr/>
        </p:nvCxnSpPr>
        <p:spPr>
          <a:xfrm>
            <a:off x="5847735" y="3094700"/>
            <a:ext cx="10864" cy="12339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1B105FE5-FC02-EA26-723E-880B7FB79A78}"/>
              </a:ext>
            </a:extLst>
          </p:cNvPr>
          <p:cNvCxnSpPr>
            <a:cxnSpLocks/>
          </p:cNvCxnSpPr>
          <p:nvPr/>
        </p:nvCxnSpPr>
        <p:spPr>
          <a:xfrm>
            <a:off x="6726494" y="3057828"/>
            <a:ext cx="969705" cy="7792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59436D2E-5FC9-67F0-5AE0-0126E29E8942}"/>
              </a:ext>
            </a:extLst>
          </p:cNvPr>
          <p:cNvSpPr txBox="1"/>
          <p:nvPr/>
        </p:nvSpPr>
        <p:spPr>
          <a:xfrm>
            <a:off x="2032820" y="3845642"/>
            <a:ext cx="34560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 2</a:t>
            </a:r>
            <a:r>
              <a:rPr lang="it-IT" baseline="30000">
                <a:cs typeface="Calibri"/>
              </a:rPr>
              <a:t>2</a:t>
            </a:r>
            <a:r>
              <a:rPr lang="it-IT">
                <a:cs typeface="Calibri"/>
              </a:rPr>
              <a:t> ⋅0 + 2</a:t>
            </a:r>
            <a:r>
              <a:rPr lang="it-IT" baseline="30000">
                <a:cs typeface="Calibri"/>
              </a:rPr>
              <a:t>1</a:t>
            </a:r>
            <a:r>
              <a:rPr lang="it-IT">
                <a:cs typeface="Calibri"/>
              </a:rPr>
              <a:t> ⋅0 + 2</a:t>
            </a:r>
            <a:r>
              <a:rPr lang="it-IT" baseline="30000">
                <a:cs typeface="Calibri"/>
              </a:rPr>
              <a:t>0</a:t>
            </a:r>
            <a:r>
              <a:rPr lang="it-IT">
                <a:cs typeface="Calibri"/>
              </a:rPr>
              <a:t> ⋅1 = 1</a:t>
            </a:r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DE84453-C132-2ABC-36FE-150092453F2A}"/>
              </a:ext>
            </a:extLst>
          </p:cNvPr>
          <p:cNvSpPr txBox="1"/>
          <p:nvPr/>
        </p:nvSpPr>
        <p:spPr>
          <a:xfrm>
            <a:off x="4595352" y="4367981"/>
            <a:ext cx="24973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2</a:t>
            </a:r>
            <a:r>
              <a:rPr lang="it-IT" baseline="30000">
                <a:cs typeface="Calibri"/>
              </a:rPr>
              <a:t>2</a:t>
            </a:r>
            <a:r>
              <a:rPr lang="it-IT">
                <a:cs typeface="Calibri"/>
              </a:rPr>
              <a:t> ⋅1 + 2</a:t>
            </a:r>
            <a:r>
              <a:rPr lang="it-IT" baseline="30000">
                <a:cs typeface="Calibri"/>
              </a:rPr>
              <a:t>1</a:t>
            </a:r>
            <a:r>
              <a:rPr lang="it-IT">
                <a:cs typeface="Calibri"/>
              </a:rPr>
              <a:t> ⋅1 + 2</a:t>
            </a:r>
            <a:r>
              <a:rPr lang="it-IT" baseline="30000">
                <a:cs typeface="Calibri"/>
              </a:rPr>
              <a:t>0</a:t>
            </a:r>
            <a:r>
              <a:rPr lang="it-IT">
                <a:cs typeface="Calibri"/>
              </a:rPr>
              <a:t> ⋅1 = 7</a:t>
            </a:r>
            <a:endParaRPr lang="it-IT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D8E3110C-5F41-9D5F-92D9-FD02BE4B63B3}"/>
              </a:ext>
            </a:extLst>
          </p:cNvPr>
          <p:cNvSpPr txBox="1"/>
          <p:nvPr/>
        </p:nvSpPr>
        <p:spPr>
          <a:xfrm>
            <a:off x="7415981" y="388865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2</a:t>
            </a:r>
            <a:r>
              <a:rPr lang="it-IT" baseline="30000">
                <a:cs typeface="Calibri"/>
              </a:rPr>
              <a:t>2</a:t>
            </a:r>
            <a:r>
              <a:rPr lang="it-IT">
                <a:cs typeface="Calibri"/>
              </a:rPr>
              <a:t> ⋅1 + 2</a:t>
            </a:r>
            <a:r>
              <a:rPr lang="it-IT" baseline="30000">
                <a:cs typeface="Calibri"/>
              </a:rPr>
              <a:t>1</a:t>
            </a:r>
            <a:r>
              <a:rPr lang="it-IT">
                <a:cs typeface="Calibri"/>
              </a:rPr>
              <a:t> ⋅1 + 2</a:t>
            </a:r>
            <a:r>
              <a:rPr lang="it-IT" baseline="30000">
                <a:cs typeface="Calibri"/>
              </a:rPr>
              <a:t>0</a:t>
            </a:r>
            <a:r>
              <a:rPr lang="it-IT">
                <a:cs typeface="Calibri"/>
              </a:rPr>
              <a:t> ⋅0 = 6</a:t>
            </a:r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C8325FA1-72C9-789B-E0F1-40A35959B1EB}"/>
              </a:ext>
            </a:extLst>
          </p:cNvPr>
          <p:cNvSpPr txBox="1"/>
          <p:nvPr/>
        </p:nvSpPr>
        <p:spPr>
          <a:xfrm>
            <a:off x="4152900" y="5259029"/>
            <a:ext cx="338229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cs typeface="Calibri"/>
              </a:rPr>
              <a:t>(1111110)</a:t>
            </a:r>
            <a:r>
              <a:rPr lang="it-IT" sz="2800" baseline="-25000">
                <a:cs typeface="Calibri"/>
              </a:rPr>
              <a:t>2 </a:t>
            </a:r>
            <a:r>
              <a:rPr lang="it-IT" sz="2800">
                <a:cs typeface="Calibri"/>
              </a:rPr>
              <a:t>= (176)</a:t>
            </a:r>
            <a:r>
              <a:rPr lang="it-IT" sz="2800" baseline="-25000">
                <a:cs typeface="Calibri"/>
              </a:rPr>
              <a:t>8</a:t>
            </a:r>
            <a:endParaRPr lang="it-IT" sz="2800" baseline="-25000"/>
          </a:p>
        </p:txBody>
      </p:sp>
    </p:spTree>
    <p:extLst>
      <p:ext uri="{BB962C8B-B14F-4D97-AF65-F5344CB8AC3E}">
        <p14:creationId xmlns:p14="http://schemas.microsoft.com/office/powerpoint/2010/main" val="1860298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E59F02E-1AEE-AFAF-FF05-DC53C250A0F3}"/>
              </a:ext>
            </a:extLst>
          </p:cNvPr>
          <p:cNvSpPr txBox="1"/>
          <p:nvPr/>
        </p:nvSpPr>
        <p:spPr>
          <a:xfrm>
            <a:off x="473177" y="417871"/>
            <a:ext cx="1124810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Estratto esercizio 2 – Pagina 34</a:t>
            </a:r>
          </a:p>
          <a:p>
            <a:endParaRPr lang="it-IT">
              <a:cs typeface="Calibri"/>
            </a:endParaRPr>
          </a:p>
          <a:p>
            <a:r>
              <a:rPr lang="it-IT">
                <a:cs typeface="Calibri"/>
              </a:rPr>
              <a:t>Trasformare in binario, decimale ed esadecimale il numero ottale (23)</a:t>
            </a:r>
            <a:r>
              <a:rPr lang="it-IT" baseline="-25000">
                <a:cs typeface="Calibri"/>
              </a:rPr>
              <a:t>8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864C00D-43C4-2B84-DA4F-1CDA1315EB07}"/>
              </a:ext>
            </a:extLst>
          </p:cNvPr>
          <p:cNvSpPr txBox="1"/>
          <p:nvPr/>
        </p:nvSpPr>
        <p:spPr>
          <a:xfrm>
            <a:off x="4068194" y="2242983"/>
            <a:ext cx="4713633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it-IT" dirty="0">
              <a:cs typeface="Calibri"/>
            </a:endParaRPr>
          </a:p>
          <a:p>
            <a:endParaRPr lang="it-IT" sz="2800" dirty="0">
              <a:cs typeface="Calibri"/>
            </a:endParaRPr>
          </a:p>
          <a:p>
            <a:r>
              <a:rPr lang="it-IT" sz="2800" dirty="0">
                <a:cs typeface="Calibri"/>
              </a:rPr>
              <a:t>2                    010</a:t>
            </a:r>
          </a:p>
          <a:p>
            <a:endParaRPr lang="it-IT" sz="2800" dirty="0">
              <a:cs typeface="Calibri"/>
            </a:endParaRPr>
          </a:p>
          <a:p>
            <a:endParaRPr lang="it-IT" sz="2800" dirty="0">
              <a:cs typeface="Calibri"/>
            </a:endParaRPr>
          </a:p>
          <a:p>
            <a:r>
              <a:rPr lang="it-IT" sz="2800" dirty="0">
                <a:cs typeface="Calibri"/>
              </a:rPr>
              <a:t>3                    011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F355CF4A-D469-9CBA-AEF2-7085A06DA6CE}"/>
              </a:ext>
            </a:extLst>
          </p:cNvPr>
          <p:cNvCxnSpPr>
            <a:cxnSpLocks/>
          </p:cNvCxnSpPr>
          <p:nvPr/>
        </p:nvCxnSpPr>
        <p:spPr>
          <a:xfrm flipV="1">
            <a:off x="4557251" y="4537587"/>
            <a:ext cx="1332269" cy="135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6E0D1AF-2082-C1BE-1011-B05CC63F049D}"/>
              </a:ext>
            </a:extLst>
          </p:cNvPr>
          <p:cNvSpPr txBox="1"/>
          <p:nvPr/>
        </p:nvSpPr>
        <p:spPr>
          <a:xfrm>
            <a:off x="4779706" y="4208206"/>
            <a:ext cx="98568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 2</a:t>
            </a:r>
            <a:r>
              <a:rPr lang="it-IT" sz="1600" baseline="30000" dirty="0">
                <a:cs typeface="Calibri"/>
              </a:rPr>
              <a:t>1</a:t>
            </a:r>
            <a:r>
              <a:rPr lang="it-IT" sz="1600" dirty="0">
                <a:cs typeface="Calibri"/>
              </a:rPr>
              <a:t>  + 2</a:t>
            </a:r>
            <a:r>
              <a:rPr lang="it-IT" sz="1600" baseline="30000" dirty="0">
                <a:cs typeface="Calibri"/>
              </a:rPr>
              <a:t>0</a:t>
            </a:r>
            <a:r>
              <a:rPr lang="it-IT" sz="1600" dirty="0">
                <a:cs typeface="Calibri"/>
              </a:rPr>
              <a:t>  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45A4E4D7-7AA1-DF5C-3C8A-9DACA9F3EAFB}"/>
              </a:ext>
            </a:extLst>
          </p:cNvPr>
          <p:cNvCxnSpPr>
            <a:cxnSpLocks/>
          </p:cNvCxnSpPr>
          <p:nvPr/>
        </p:nvCxnSpPr>
        <p:spPr>
          <a:xfrm flipV="1">
            <a:off x="4526524" y="3191797"/>
            <a:ext cx="1393722" cy="73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D6BE0AF-2A2D-E9F5-8845-3D3CBEFBA514}"/>
              </a:ext>
            </a:extLst>
          </p:cNvPr>
          <p:cNvSpPr txBox="1"/>
          <p:nvPr/>
        </p:nvSpPr>
        <p:spPr>
          <a:xfrm>
            <a:off x="5068528" y="2800965"/>
            <a:ext cx="85049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cs typeface="Calibri"/>
              </a:rPr>
              <a:t> 2</a:t>
            </a:r>
            <a:r>
              <a:rPr lang="it-IT" sz="1600" baseline="30000" dirty="0">
                <a:cs typeface="Calibri"/>
              </a:rPr>
              <a:t>1</a:t>
            </a:r>
            <a:r>
              <a:rPr lang="it-IT" sz="1600" dirty="0">
                <a:cs typeface="Calibri"/>
              </a:rPr>
              <a:t>  </a:t>
            </a:r>
          </a:p>
        </p:txBody>
      </p:sp>
      <p:sp>
        <p:nvSpPr>
          <p:cNvPr id="12" name="Parentesi graffa chiusa 11">
            <a:extLst>
              <a:ext uri="{FF2B5EF4-FFF2-40B4-BE49-F238E27FC236}">
                <a16:creationId xmlns:a16="http://schemas.microsoft.com/office/drawing/2014/main" id="{26FEB096-6651-AEF1-518D-509A9D1E953B}"/>
              </a:ext>
            </a:extLst>
          </p:cNvPr>
          <p:cNvSpPr/>
          <p:nvPr/>
        </p:nvSpPr>
        <p:spPr>
          <a:xfrm>
            <a:off x="6710516" y="3048000"/>
            <a:ext cx="374854" cy="162846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C201F2C-3747-51F9-BD2F-39324B0C9951}"/>
              </a:ext>
            </a:extLst>
          </p:cNvPr>
          <p:cNvSpPr txBox="1"/>
          <p:nvPr/>
        </p:nvSpPr>
        <p:spPr>
          <a:xfrm>
            <a:off x="7085370" y="3508886"/>
            <a:ext cx="2743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3200" dirty="0">
                <a:cs typeface="Calibri"/>
              </a:rPr>
              <a:t>(10011)</a:t>
            </a:r>
            <a:r>
              <a:rPr lang="it-IT" sz="3200" baseline="-25000" dirty="0">
                <a:cs typeface="Calibri"/>
              </a:rPr>
              <a:t>2</a:t>
            </a:r>
            <a:endParaRPr lang="it-IT" sz="3200" baseline="-250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EECE572-190F-997B-293A-8759867B88EA}"/>
              </a:ext>
            </a:extLst>
          </p:cNvPr>
          <p:cNvSpPr txBox="1"/>
          <p:nvPr/>
        </p:nvSpPr>
        <p:spPr>
          <a:xfrm>
            <a:off x="551835" y="138143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Binario: 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5849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EE39A6B-EC22-E751-FB7D-8C8E9D1781C8}"/>
              </a:ext>
            </a:extLst>
          </p:cNvPr>
          <p:cNvSpPr txBox="1"/>
          <p:nvPr/>
        </p:nvSpPr>
        <p:spPr>
          <a:xfrm>
            <a:off x="473177" y="417871"/>
            <a:ext cx="1124810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Estratto esercizio 2 – Pagina 34</a:t>
            </a:r>
          </a:p>
          <a:p>
            <a:endParaRPr lang="it-IT">
              <a:cs typeface="Calibri"/>
            </a:endParaRPr>
          </a:p>
          <a:p>
            <a:r>
              <a:rPr lang="it-IT">
                <a:cs typeface="Calibri"/>
              </a:rPr>
              <a:t>Trasformare in binario, decimale ed esadecimale il numero ottale (23)</a:t>
            </a:r>
            <a:r>
              <a:rPr lang="it-IT" baseline="-25000">
                <a:cs typeface="Calibri"/>
              </a:rPr>
              <a:t>8</a:t>
            </a:r>
          </a:p>
        </p:txBody>
      </p:sp>
      <p:sp>
        <p:nvSpPr>
          <p:cNvPr id="4" name="CasellaDiTesto 13">
            <a:extLst>
              <a:ext uri="{FF2B5EF4-FFF2-40B4-BE49-F238E27FC236}">
                <a16:creationId xmlns:a16="http://schemas.microsoft.com/office/drawing/2014/main" id="{05B4237D-4860-44F8-BBC6-521C8B67EF4F}"/>
              </a:ext>
            </a:extLst>
          </p:cNvPr>
          <p:cNvSpPr txBox="1"/>
          <p:nvPr/>
        </p:nvSpPr>
        <p:spPr>
          <a:xfrm>
            <a:off x="460886" y="1351935"/>
            <a:ext cx="4688758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>
                <a:cs typeface="Calibri"/>
              </a:rPr>
              <a:t>Decimale:</a:t>
            </a:r>
          </a:p>
          <a:p>
            <a:endParaRPr lang="it-IT">
              <a:cs typeface="Calibri"/>
            </a:endParaRPr>
          </a:p>
          <a:p>
            <a:endParaRPr lang="it-IT" baseline="-25000" dirty="0">
              <a:cs typeface="Calibri"/>
            </a:endParaRPr>
          </a:p>
        </p:txBody>
      </p:sp>
      <p:sp>
        <p:nvSpPr>
          <p:cNvPr id="5" name="CasellaDiTesto 17">
            <a:extLst>
              <a:ext uri="{FF2B5EF4-FFF2-40B4-BE49-F238E27FC236}">
                <a16:creationId xmlns:a16="http://schemas.microsoft.com/office/drawing/2014/main" id="{B918E721-02DA-8B32-00CF-C59C7D12DA40}"/>
              </a:ext>
            </a:extLst>
          </p:cNvPr>
          <p:cNvSpPr txBox="1"/>
          <p:nvPr/>
        </p:nvSpPr>
        <p:spPr>
          <a:xfrm>
            <a:off x="2895730" y="3668171"/>
            <a:ext cx="55295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3600" dirty="0">
                <a:ea typeface="Calibri"/>
                <a:cs typeface="Calibri"/>
              </a:rPr>
              <a:t>Σ</a:t>
            </a:r>
            <a:endParaRPr lang="it-IT" sz="3600" dirty="0">
              <a:cs typeface="Calibri"/>
            </a:endParaRPr>
          </a:p>
        </p:txBody>
      </p:sp>
      <p:sp>
        <p:nvSpPr>
          <p:cNvPr id="6" name="CasellaDiTesto 19">
            <a:extLst>
              <a:ext uri="{FF2B5EF4-FFF2-40B4-BE49-F238E27FC236}">
                <a16:creationId xmlns:a16="http://schemas.microsoft.com/office/drawing/2014/main" id="{CD26B94B-9A16-1414-844D-56977F9E9737}"/>
              </a:ext>
            </a:extLst>
          </p:cNvPr>
          <p:cNvSpPr txBox="1"/>
          <p:nvPr/>
        </p:nvSpPr>
        <p:spPr>
          <a:xfrm>
            <a:off x="2759504" y="4101649"/>
            <a:ext cx="3060137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ea typeface="Calibri"/>
                <a:cs typeface="Calibri"/>
              </a:rPr>
              <a:t>k= 0</a:t>
            </a:r>
            <a:endParaRPr lang="it-IT" dirty="0"/>
          </a:p>
        </p:txBody>
      </p:sp>
      <p:sp>
        <p:nvSpPr>
          <p:cNvPr id="7" name="CasellaDiTesto 21">
            <a:extLst>
              <a:ext uri="{FF2B5EF4-FFF2-40B4-BE49-F238E27FC236}">
                <a16:creationId xmlns:a16="http://schemas.microsoft.com/office/drawing/2014/main" id="{A19FD1C4-B761-9610-BDB1-4B29097EC55D}"/>
              </a:ext>
            </a:extLst>
          </p:cNvPr>
          <p:cNvSpPr txBox="1"/>
          <p:nvPr/>
        </p:nvSpPr>
        <p:spPr>
          <a:xfrm>
            <a:off x="2841186" y="3513237"/>
            <a:ext cx="3060137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>
                <a:ea typeface="Calibri"/>
                <a:cs typeface="Calibri"/>
              </a:rPr>
              <a:t>n-1</a:t>
            </a:r>
            <a:endParaRPr lang="it-IT" dirty="0"/>
          </a:p>
        </p:txBody>
      </p:sp>
      <p:sp>
        <p:nvSpPr>
          <p:cNvPr id="8" name="CasellaDiTesto 23">
            <a:extLst>
              <a:ext uri="{FF2B5EF4-FFF2-40B4-BE49-F238E27FC236}">
                <a16:creationId xmlns:a16="http://schemas.microsoft.com/office/drawing/2014/main" id="{4512C6FD-45C3-0F78-B801-3E031B90C966}"/>
              </a:ext>
            </a:extLst>
          </p:cNvPr>
          <p:cNvSpPr txBox="1"/>
          <p:nvPr/>
        </p:nvSpPr>
        <p:spPr>
          <a:xfrm>
            <a:off x="3156437" y="3775901"/>
            <a:ext cx="962952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err="1">
                <a:ea typeface="Calibri"/>
                <a:cs typeface="Calibri"/>
              </a:rPr>
              <a:t>x</a:t>
            </a:r>
            <a:r>
              <a:rPr lang="it-IT" baseline="-25000" err="1">
                <a:ea typeface="Calibri"/>
                <a:cs typeface="Calibri"/>
              </a:rPr>
              <a:t>k</a:t>
            </a:r>
            <a:r>
              <a:rPr lang="it-IT" dirty="0">
                <a:ea typeface="Calibri"/>
                <a:cs typeface="Calibri"/>
              </a:rPr>
              <a:t> B</a:t>
            </a:r>
            <a:r>
              <a:rPr lang="it-IT" baseline="30000" dirty="0">
                <a:ea typeface="Calibri"/>
                <a:cs typeface="Calibri"/>
              </a:rPr>
              <a:t>k</a:t>
            </a:r>
            <a:endParaRPr lang="it-IT" baseline="30000" dirty="0">
              <a:cs typeface="Calibri" panose="020F0502020204030204"/>
            </a:endParaRPr>
          </a:p>
        </p:txBody>
      </p:sp>
      <p:sp>
        <p:nvSpPr>
          <p:cNvPr id="9" name="CasellaDiTesto 25">
            <a:extLst>
              <a:ext uri="{FF2B5EF4-FFF2-40B4-BE49-F238E27FC236}">
                <a16:creationId xmlns:a16="http://schemas.microsoft.com/office/drawing/2014/main" id="{2446472F-17AA-FC50-543C-AB69C6110EE9}"/>
              </a:ext>
            </a:extLst>
          </p:cNvPr>
          <p:cNvSpPr txBox="1"/>
          <p:nvPr/>
        </p:nvSpPr>
        <p:spPr>
          <a:xfrm>
            <a:off x="3659576" y="3775901"/>
            <a:ext cx="2852547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ea typeface="Calibri"/>
                <a:cs typeface="Calibri"/>
              </a:rPr>
              <a:t>= x</a:t>
            </a:r>
            <a:r>
              <a:rPr lang="it-IT" baseline="-25000" dirty="0">
                <a:ea typeface="Calibri"/>
                <a:cs typeface="Calibri"/>
              </a:rPr>
              <a:t>0</a:t>
            </a:r>
            <a:r>
              <a:rPr lang="it-IT" dirty="0">
                <a:ea typeface="Calibri"/>
                <a:cs typeface="Calibri"/>
              </a:rPr>
              <a:t>B</a:t>
            </a:r>
            <a:r>
              <a:rPr lang="it-IT" baseline="30000" dirty="0">
                <a:ea typeface="Calibri"/>
                <a:cs typeface="Calibri"/>
              </a:rPr>
              <a:t>0</a:t>
            </a:r>
            <a:r>
              <a:rPr lang="it-IT" dirty="0">
                <a:ea typeface="Calibri"/>
                <a:cs typeface="Calibri"/>
              </a:rPr>
              <a:t> + x</a:t>
            </a:r>
            <a:r>
              <a:rPr lang="it-IT" baseline="-25000" dirty="0">
                <a:ea typeface="Calibri"/>
                <a:cs typeface="Calibri"/>
              </a:rPr>
              <a:t>1</a:t>
            </a:r>
            <a:r>
              <a:rPr lang="it-IT" dirty="0">
                <a:ea typeface="Calibri"/>
                <a:cs typeface="Calibri"/>
              </a:rPr>
              <a:t>B</a:t>
            </a:r>
            <a:r>
              <a:rPr lang="it-IT" baseline="30000" dirty="0">
                <a:ea typeface="Calibri"/>
                <a:cs typeface="Calibri"/>
              </a:rPr>
              <a:t>1</a:t>
            </a:r>
            <a:r>
              <a:rPr lang="it-IT" dirty="0">
                <a:ea typeface="Calibri"/>
                <a:cs typeface="Calibri"/>
              </a:rPr>
              <a:t> + … + x</a:t>
            </a:r>
            <a:r>
              <a:rPr lang="it-IT" baseline="-25000" dirty="0">
                <a:ea typeface="Calibri"/>
                <a:cs typeface="Calibri"/>
              </a:rPr>
              <a:t>n-1</a:t>
            </a:r>
            <a:r>
              <a:rPr lang="it-IT" dirty="0">
                <a:ea typeface="Calibri"/>
                <a:cs typeface="Calibri"/>
              </a:rPr>
              <a:t> B</a:t>
            </a:r>
            <a:r>
              <a:rPr lang="it-IT" baseline="30000" dirty="0">
                <a:ea typeface="Calibri"/>
                <a:cs typeface="Calibri"/>
              </a:rPr>
              <a:t>n-1</a:t>
            </a:r>
            <a:endParaRPr lang="it-IT" baseline="30000" dirty="0"/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12457812-64E2-5E17-F335-CFDB806E2B37}"/>
              </a:ext>
            </a:extLst>
          </p:cNvPr>
          <p:cNvCxnSpPr/>
          <p:nvPr/>
        </p:nvCxnSpPr>
        <p:spPr>
          <a:xfrm flipH="1" flipV="1">
            <a:off x="3781731" y="3068892"/>
            <a:ext cx="7373" cy="76937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27">
            <a:extLst>
              <a:ext uri="{FF2B5EF4-FFF2-40B4-BE49-F238E27FC236}">
                <a16:creationId xmlns:a16="http://schemas.microsoft.com/office/drawing/2014/main" id="{EF3DB0F0-C44D-B3ED-33D4-0673C9A1DF07}"/>
              </a:ext>
            </a:extLst>
          </p:cNvPr>
          <p:cNvSpPr txBox="1"/>
          <p:nvPr/>
        </p:nvSpPr>
        <p:spPr>
          <a:xfrm>
            <a:off x="3994353" y="3349113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cs typeface="Calibri"/>
              </a:rPr>
              <a:t>B = 8</a:t>
            </a:r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8BADDD3-4B32-402C-C1B7-9A03DD9ABA32}"/>
              </a:ext>
            </a:extLst>
          </p:cNvPr>
          <p:cNvSpPr txBox="1"/>
          <p:nvPr/>
        </p:nvSpPr>
        <p:spPr>
          <a:xfrm>
            <a:off x="2599403" y="2525660"/>
            <a:ext cx="67105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dirty="0">
                <a:ea typeface="+mn-lt"/>
                <a:cs typeface="+mn-lt"/>
              </a:rPr>
              <a:t>(23)</a:t>
            </a:r>
            <a:r>
              <a:rPr lang="it-IT" sz="3600" baseline="-25000" dirty="0">
                <a:ea typeface="+mn-lt"/>
                <a:cs typeface="+mn-lt"/>
              </a:rPr>
              <a:t>8</a:t>
            </a:r>
            <a:r>
              <a:rPr lang="it-IT" sz="3600" dirty="0">
                <a:ea typeface="+mn-lt"/>
                <a:cs typeface="+mn-lt"/>
              </a:rPr>
              <a:t> = 2⋅8</a:t>
            </a:r>
            <a:r>
              <a:rPr lang="it-IT" sz="3600" baseline="30000" dirty="0">
                <a:ea typeface="+mn-lt"/>
                <a:cs typeface="+mn-lt"/>
              </a:rPr>
              <a:t>1</a:t>
            </a:r>
            <a:r>
              <a:rPr lang="it-IT" sz="3600" dirty="0">
                <a:ea typeface="+mn-lt"/>
                <a:cs typeface="+mn-lt"/>
              </a:rPr>
              <a:t> + 3⋅8</a:t>
            </a:r>
            <a:r>
              <a:rPr lang="it-IT" sz="3600" baseline="30000" dirty="0">
                <a:ea typeface="+mn-lt"/>
                <a:cs typeface="+mn-lt"/>
              </a:rPr>
              <a:t>0</a:t>
            </a:r>
            <a:r>
              <a:rPr lang="it-IT" sz="3600" dirty="0">
                <a:ea typeface="+mn-lt"/>
                <a:cs typeface="+mn-lt"/>
              </a:rPr>
              <a:t> = 16+3 = (19)</a:t>
            </a:r>
            <a:r>
              <a:rPr lang="it-IT" sz="3600" baseline="-25000" dirty="0">
                <a:ea typeface="+mn-lt"/>
                <a:cs typeface="+mn-lt"/>
              </a:rPr>
              <a:t>10</a:t>
            </a:r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829142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FFB4C9D5-B7BE-9D32-6496-75DCFC4F95A8}"/>
              </a:ext>
            </a:extLst>
          </p:cNvPr>
          <p:cNvSpPr txBox="1"/>
          <p:nvPr/>
        </p:nvSpPr>
        <p:spPr>
          <a:xfrm>
            <a:off x="473177" y="417871"/>
            <a:ext cx="1124810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Estratto esercizio 2 – Pagina 34</a:t>
            </a:r>
          </a:p>
          <a:p>
            <a:endParaRPr lang="it-IT">
              <a:cs typeface="Calibri"/>
            </a:endParaRPr>
          </a:p>
          <a:p>
            <a:r>
              <a:rPr lang="it-IT">
                <a:cs typeface="Calibri"/>
              </a:rPr>
              <a:t>Trasformare in binario, decimale ed esadecimale il numero ottale (23)</a:t>
            </a:r>
            <a:r>
              <a:rPr lang="it-IT" baseline="-25000">
                <a:cs typeface="Calibri"/>
              </a:rPr>
              <a:t>8</a:t>
            </a:r>
          </a:p>
        </p:txBody>
      </p:sp>
      <p:sp>
        <p:nvSpPr>
          <p:cNvPr id="4" name="CasellaDiTesto 28">
            <a:extLst>
              <a:ext uri="{FF2B5EF4-FFF2-40B4-BE49-F238E27FC236}">
                <a16:creationId xmlns:a16="http://schemas.microsoft.com/office/drawing/2014/main" id="{ED2A1501-BF8E-EBA9-0B67-AA778CF2E1A5}"/>
              </a:ext>
            </a:extLst>
          </p:cNvPr>
          <p:cNvSpPr txBox="1"/>
          <p:nvPr/>
        </p:nvSpPr>
        <p:spPr>
          <a:xfrm>
            <a:off x="516194" y="1364225"/>
            <a:ext cx="3723967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>
                <a:cs typeface="Calibri"/>
              </a:rPr>
              <a:t>Esadecimale:</a:t>
            </a:r>
          </a:p>
          <a:p>
            <a:r>
              <a:rPr lang="it-IT">
                <a:cs typeface="Calibri"/>
              </a:rPr>
              <a:t>Si passa dal binario</a:t>
            </a:r>
          </a:p>
        </p:txBody>
      </p:sp>
      <p:sp>
        <p:nvSpPr>
          <p:cNvPr id="5" name="CasellaDiTesto 32">
            <a:extLst>
              <a:ext uri="{FF2B5EF4-FFF2-40B4-BE49-F238E27FC236}">
                <a16:creationId xmlns:a16="http://schemas.microsoft.com/office/drawing/2014/main" id="{13B4AB6E-AC82-FE84-2EC9-7A4F06A07BA1}"/>
              </a:ext>
            </a:extLst>
          </p:cNvPr>
          <p:cNvSpPr txBox="1"/>
          <p:nvPr/>
        </p:nvSpPr>
        <p:spPr>
          <a:xfrm>
            <a:off x="2826773" y="2980402"/>
            <a:ext cx="7036209" cy="147732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cs typeface="Calibri"/>
              </a:rPr>
              <a:t>Binario: </a:t>
            </a:r>
          </a:p>
          <a:p>
            <a:endParaRPr lang="it-IT">
              <a:cs typeface="Calibri"/>
            </a:endParaRPr>
          </a:p>
          <a:p>
            <a:r>
              <a:rPr lang="it-IT">
                <a:cs typeface="Calibri"/>
              </a:rPr>
              <a:t>2                  010</a:t>
            </a:r>
          </a:p>
          <a:p>
            <a:endParaRPr lang="it-IT">
              <a:cs typeface="Calibri"/>
            </a:endParaRPr>
          </a:p>
          <a:p>
            <a:r>
              <a:rPr lang="it-IT">
                <a:cs typeface="Calibri"/>
              </a:rPr>
              <a:t>3                  011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2E6FBDF-F8C4-BC8A-7748-18054F525E77}"/>
              </a:ext>
            </a:extLst>
          </p:cNvPr>
          <p:cNvCxnSpPr>
            <a:cxnSpLocks/>
          </p:cNvCxnSpPr>
          <p:nvPr/>
        </p:nvCxnSpPr>
        <p:spPr>
          <a:xfrm flipV="1">
            <a:off x="3199169" y="4254909"/>
            <a:ext cx="754625" cy="73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34">
            <a:extLst>
              <a:ext uri="{FF2B5EF4-FFF2-40B4-BE49-F238E27FC236}">
                <a16:creationId xmlns:a16="http://schemas.microsoft.com/office/drawing/2014/main" id="{02C9953A-1828-30FD-F850-5507068CF102}"/>
              </a:ext>
            </a:extLst>
          </p:cNvPr>
          <p:cNvSpPr txBox="1"/>
          <p:nvPr/>
        </p:nvSpPr>
        <p:spPr>
          <a:xfrm>
            <a:off x="3224979" y="4023851"/>
            <a:ext cx="727587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200">
                <a:cs typeface="Calibri"/>
              </a:rPr>
              <a:t> 2</a:t>
            </a:r>
            <a:r>
              <a:rPr lang="it-IT" sz="1200" baseline="30000">
                <a:cs typeface="Calibri"/>
              </a:rPr>
              <a:t>1</a:t>
            </a:r>
            <a:r>
              <a:rPr lang="it-IT" sz="1200">
                <a:cs typeface="Calibri"/>
              </a:rPr>
              <a:t>  + 2</a:t>
            </a:r>
            <a:r>
              <a:rPr lang="it-IT" sz="1200" baseline="30000">
                <a:cs typeface="Calibri"/>
              </a:rPr>
              <a:t>0</a:t>
            </a:r>
            <a:r>
              <a:rPr lang="it-IT" sz="1200">
                <a:cs typeface="Calibri"/>
              </a:rPr>
              <a:t>  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CAF825B8-795F-C694-B30C-29F296747360}"/>
              </a:ext>
            </a:extLst>
          </p:cNvPr>
          <p:cNvCxnSpPr>
            <a:cxnSpLocks/>
          </p:cNvCxnSpPr>
          <p:nvPr/>
        </p:nvCxnSpPr>
        <p:spPr>
          <a:xfrm>
            <a:off x="3162298" y="3752234"/>
            <a:ext cx="760771" cy="49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36">
            <a:extLst>
              <a:ext uri="{FF2B5EF4-FFF2-40B4-BE49-F238E27FC236}">
                <a16:creationId xmlns:a16="http://schemas.microsoft.com/office/drawing/2014/main" id="{F45EFB22-71B9-EFF8-D9B3-9B5A7ED0B283}"/>
              </a:ext>
            </a:extLst>
          </p:cNvPr>
          <p:cNvSpPr txBox="1"/>
          <p:nvPr/>
        </p:nvSpPr>
        <p:spPr>
          <a:xfrm>
            <a:off x="3335592" y="3507658"/>
            <a:ext cx="85049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200">
                <a:cs typeface="Calibri"/>
              </a:rPr>
              <a:t> 2</a:t>
            </a:r>
            <a:r>
              <a:rPr lang="it-IT" sz="1200" baseline="30000">
                <a:cs typeface="Calibri"/>
              </a:rPr>
              <a:t>1</a:t>
            </a:r>
            <a:r>
              <a:rPr lang="it-IT" sz="1200">
                <a:cs typeface="Calibri"/>
              </a:rPr>
              <a:t>  </a:t>
            </a:r>
          </a:p>
        </p:txBody>
      </p:sp>
      <p:sp>
        <p:nvSpPr>
          <p:cNvPr id="10" name="Parentesi graffa chiusa 9">
            <a:extLst>
              <a:ext uri="{FF2B5EF4-FFF2-40B4-BE49-F238E27FC236}">
                <a16:creationId xmlns:a16="http://schemas.microsoft.com/office/drawing/2014/main" id="{C70DA1B7-289B-6CA4-DF93-3E0952B46C2E}"/>
              </a:ext>
            </a:extLst>
          </p:cNvPr>
          <p:cNvSpPr/>
          <p:nvPr/>
        </p:nvSpPr>
        <p:spPr>
          <a:xfrm>
            <a:off x="4363064" y="3508886"/>
            <a:ext cx="374854" cy="9525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11" name="CasellaDiTesto 39">
            <a:extLst>
              <a:ext uri="{FF2B5EF4-FFF2-40B4-BE49-F238E27FC236}">
                <a16:creationId xmlns:a16="http://schemas.microsoft.com/office/drawing/2014/main" id="{F9FA30DC-7C13-FF07-1D0D-BB4852A30357}"/>
              </a:ext>
            </a:extLst>
          </p:cNvPr>
          <p:cNvSpPr txBox="1"/>
          <p:nvPr/>
        </p:nvSpPr>
        <p:spPr>
          <a:xfrm>
            <a:off x="5671984" y="2697725"/>
            <a:ext cx="1167580" cy="258532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>
                <a:cs typeface="Calibri"/>
              </a:rPr>
              <a:t>0</a:t>
            </a:r>
          </a:p>
          <a:p>
            <a:r>
              <a:rPr lang="it-IT">
                <a:cs typeface="Calibri"/>
              </a:rPr>
              <a:t>0</a:t>
            </a:r>
          </a:p>
          <a:p>
            <a:r>
              <a:rPr lang="it-IT">
                <a:cs typeface="Calibri"/>
              </a:rPr>
              <a:t>0</a:t>
            </a:r>
          </a:p>
          <a:p>
            <a:r>
              <a:rPr lang="it-IT">
                <a:cs typeface="Calibri"/>
              </a:rPr>
              <a:t>1</a:t>
            </a:r>
          </a:p>
          <a:p>
            <a:endParaRPr lang="it-IT">
              <a:cs typeface="Calibri"/>
            </a:endParaRPr>
          </a:p>
          <a:p>
            <a:r>
              <a:rPr lang="it-IT">
                <a:cs typeface="Calibri"/>
              </a:rPr>
              <a:t>0</a:t>
            </a:r>
          </a:p>
          <a:p>
            <a:r>
              <a:rPr lang="it-IT">
                <a:cs typeface="Calibri"/>
              </a:rPr>
              <a:t>0</a:t>
            </a:r>
          </a:p>
          <a:p>
            <a:r>
              <a:rPr lang="it-IT">
                <a:cs typeface="Calibri"/>
              </a:rPr>
              <a:t>1</a:t>
            </a:r>
          </a:p>
          <a:p>
            <a:r>
              <a:rPr lang="it-IT">
                <a:cs typeface="Calibri"/>
              </a:rPr>
              <a:t>1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7F06AEB-A0A2-96AA-45A7-07AD56B44085}"/>
              </a:ext>
            </a:extLst>
          </p:cNvPr>
          <p:cNvCxnSpPr>
            <a:cxnSpLocks/>
          </p:cNvCxnSpPr>
          <p:nvPr/>
        </p:nvCxnSpPr>
        <p:spPr>
          <a:xfrm flipV="1">
            <a:off x="5399138" y="2767777"/>
            <a:ext cx="11061" cy="24408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ED9B82C8-0C3A-F79C-FA28-F3A112051F74}"/>
              </a:ext>
            </a:extLst>
          </p:cNvPr>
          <p:cNvCxnSpPr>
            <a:cxnSpLocks/>
          </p:cNvCxnSpPr>
          <p:nvPr/>
        </p:nvCxnSpPr>
        <p:spPr>
          <a:xfrm>
            <a:off x="5494391" y="3982677"/>
            <a:ext cx="846803" cy="491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49">
            <a:extLst>
              <a:ext uri="{FF2B5EF4-FFF2-40B4-BE49-F238E27FC236}">
                <a16:creationId xmlns:a16="http://schemas.microsoft.com/office/drawing/2014/main" id="{B752BE19-BBAD-97A1-73E4-4F98F8CD8F93}"/>
              </a:ext>
            </a:extLst>
          </p:cNvPr>
          <p:cNvSpPr txBox="1"/>
          <p:nvPr/>
        </p:nvSpPr>
        <p:spPr>
          <a:xfrm>
            <a:off x="6309849" y="2979172"/>
            <a:ext cx="727587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200">
                <a:cs typeface="Calibri"/>
              </a:rPr>
              <a:t>  2</a:t>
            </a:r>
            <a:r>
              <a:rPr lang="it-IT" sz="1200" baseline="30000">
                <a:cs typeface="Calibri"/>
              </a:rPr>
              <a:t>0</a:t>
            </a:r>
            <a:r>
              <a:rPr lang="it-IT" sz="1200">
                <a:cs typeface="Calibri"/>
              </a:rPr>
              <a:t>  </a:t>
            </a:r>
          </a:p>
        </p:txBody>
      </p:sp>
      <p:sp>
        <p:nvSpPr>
          <p:cNvPr id="15" name="CasellaDiTesto 50">
            <a:extLst>
              <a:ext uri="{FF2B5EF4-FFF2-40B4-BE49-F238E27FC236}">
                <a16:creationId xmlns:a16="http://schemas.microsoft.com/office/drawing/2014/main" id="{8D9062F5-10E8-B0B9-CB34-3F232CE712F5}"/>
              </a:ext>
            </a:extLst>
          </p:cNvPr>
          <p:cNvSpPr txBox="1"/>
          <p:nvPr/>
        </p:nvSpPr>
        <p:spPr>
          <a:xfrm>
            <a:off x="6229962" y="4343399"/>
            <a:ext cx="727587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200">
                <a:cs typeface="Calibri"/>
              </a:rPr>
              <a:t> 2</a:t>
            </a:r>
            <a:r>
              <a:rPr lang="it-IT" sz="1200" baseline="30000">
                <a:cs typeface="Calibri"/>
              </a:rPr>
              <a:t>1</a:t>
            </a:r>
            <a:r>
              <a:rPr lang="it-IT" sz="1200">
                <a:cs typeface="Calibri"/>
              </a:rPr>
              <a:t>  + 2</a:t>
            </a:r>
            <a:r>
              <a:rPr lang="it-IT" sz="1200" baseline="30000">
                <a:cs typeface="Calibri"/>
              </a:rPr>
              <a:t>0</a:t>
            </a:r>
            <a:r>
              <a:rPr lang="it-IT" sz="1200">
                <a:cs typeface="Calibri"/>
              </a:rPr>
              <a:t>  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C570BBF3-48D0-8DDA-DC86-388715BBBED0}"/>
              </a:ext>
            </a:extLst>
          </p:cNvPr>
          <p:cNvCxnSpPr>
            <a:cxnSpLocks/>
          </p:cNvCxnSpPr>
          <p:nvPr/>
        </p:nvCxnSpPr>
        <p:spPr>
          <a:xfrm>
            <a:off x="6253313" y="3223749"/>
            <a:ext cx="760771" cy="49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4754A0EE-2D8A-86A9-45F2-B4C1B4783C3C}"/>
              </a:ext>
            </a:extLst>
          </p:cNvPr>
          <p:cNvCxnSpPr>
            <a:cxnSpLocks/>
          </p:cNvCxnSpPr>
          <p:nvPr/>
        </p:nvCxnSpPr>
        <p:spPr>
          <a:xfrm>
            <a:off x="6198007" y="4618701"/>
            <a:ext cx="760771" cy="49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53">
            <a:extLst>
              <a:ext uri="{FF2B5EF4-FFF2-40B4-BE49-F238E27FC236}">
                <a16:creationId xmlns:a16="http://schemas.microsoft.com/office/drawing/2014/main" id="{103017D5-C09C-57BD-8711-1C39AD506DA0}"/>
              </a:ext>
            </a:extLst>
          </p:cNvPr>
          <p:cNvSpPr txBox="1"/>
          <p:nvPr/>
        </p:nvSpPr>
        <p:spPr>
          <a:xfrm>
            <a:off x="7085371" y="3011128"/>
            <a:ext cx="56535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>
                <a:cs typeface="Calibri"/>
              </a:rPr>
              <a:t>1</a:t>
            </a:r>
            <a:endParaRPr lang="it-IT"/>
          </a:p>
        </p:txBody>
      </p:sp>
      <p:sp>
        <p:nvSpPr>
          <p:cNvPr id="19" name="CasellaDiTesto 54">
            <a:extLst>
              <a:ext uri="{FF2B5EF4-FFF2-40B4-BE49-F238E27FC236}">
                <a16:creationId xmlns:a16="http://schemas.microsoft.com/office/drawing/2014/main" id="{37A2A055-765D-DFAE-AEC7-9ED39407382A}"/>
              </a:ext>
            </a:extLst>
          </p:cNvPr>
          <p:cNvSpPr txBox="1"/>
          <p:nvPr/>
        </p:nvSpPr>
        <p:spPr>
          <a:xfrm>
            <a:off x="7036209" y="4467531"/>
            <a:ext cx="56535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>
                <a:cs typeface="Calibri"/>
              </a:rPr>
              <a:t>3</a:t>
            </a:r>
            <a:endParaRPr lang="it-IT"/>
          </a:p>
        </p:txBody>
      </p:sp>
      <p:sp>
        <p:nvSpPr>
          <p:cNvPr id="20" name="CasellaDiTesto 55">
            <a:extLst>
              <a:ext uri="{FF2B5EF4-FFF2-40B4-BE49-F238E27FC236}">
                <a16:creationId xmlns:a16="http://schemas.microsoft.com/office/drawing/2014/main" id="{DA0E41E3-48C9-6904-00A5-B3C376AFF41D}"/>
              </a:ext>
            </a:extLst>
          </p:cNvPr>
          <p:cNvSpPr txBox="1"/>
          <p:nvPr/>
        </p:nvSpPr>
        <p:spPr>
          <a:xfrm>
            <a:off x="7988709" y="3508887"/>
            <a:ext cx="151170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cs typeface="Calibri"/>
              </a:rPr>
              <a:t>(23)</a:t>
            </a:r>
            <a:r>
              <a:rPr lang="it-IT" baseline="-25000">
                <a:cs typeface="Calibri"/>
              </a:rPr>
              <a:t>8</a:t>
            </a:r>
            <a:r>
              <a:rPr lang="it-IT">
                <a:cs typeface="Calibri"/>
              </a:rPr>
              <a:t> = (13)</a:t>
            </a:r>
            <a:r>
              <a:rPr lang="it-IT" baseline="-25000">
                <a:cs typeface="Calibri"/>
              </a:rPr>
              <a:t>H</a:t>
            </a:r>
            <a:endParaRPr lang="it-IT" baseline="-25000"/>
          </a:p>
        </p:txBody>
      </p:sp>
    </p:spTree>
    <p:extLst>
      <p:ext uri="{BB962C8B-B14F-4D97-AF65-F5344CB8AC3E}">
        <p14:creationId xmlns:p14="http://schemas.microsoft.com/office/powerpoint/2010/main" val="2922585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05A7D79-ADE9-2F1B-1B24-E0204C0DA919}"/>
              </a:ext>
            </a:extLst>
          </p:cNvPr>
          <p:cNvSpPr txBox="1"/>
          <p:nvPr/>
        </p:nvSpPr>
        <p:spPr>
          <a:xfrm>
            <a:off x="435077" y="287593"/>
            <a:ext cx="879003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Estratto esercizio 4 – Pagina 34</a:t>
            </a:r>
            <a:r>
              <a:rPr lang="en-US" dirty="0"/>
              <a:t>​</a:t>
            </a:r>
          </a:p>
          <a:p>
            <a:r>
              <a:rPr lang="it-IT" dirty="0"/>
              <a:t>​</a:t>
            </a:r>
            <a:endParaRPr lang="it-IT" dirty="0">
              <a:cs typeface="Calibri"/>
            </a:endParaRPr>
          </a:p>
          <a:p>
            <a:r>
              <a:rPr lang="it-IT" dirty="0"/>
              <a:t>Trasformare in binario, decimale ed ottale il numero esadecimale </a:t>
            </a:r>
            <a:r>
              <a:rPr lang="it-IT" sz="2400" dirty="0"/>
              <a:t>(FEAD)</a:t>
            </a:r>
            <a:r>
              <a:rPr lang="it-IT" sz="2400" baseline="-25000" dirty="0"/>
              <a:t>H</a:t>
            </a:r>
            <a:endParaRPr lang="it-IT" sz="2400" baseline="-25000" dirty="0">
              <a:cs typeface="Calibri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5332D30-A165-5B4F-A5A1-F8A386CD955B}"/>
              </a:ext>
            </a:extLst>
          </p:cNvPr>
          <p:cNvSpPr txBox="1"/>
          <p:nvPr/>
        </p:nvSpPr>
        <p:spPr>
          <a:xfrm>
            <a:off x="3047999" y="1840992"/>
            <a:ext cx="627888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it-IT" dirty="0">
              <a:ea typeface="Calibri"/>
              <a:cs typeface="Calibri"/>
            </a:endParaRPr>
          </a:p>
          <a:p>
            <a:pPr algn="l"/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F                            1111</a:t>
            </a:r>
          </a:p>
          <a:p>
            <a:endParaRPr lang="it-IT" dirty="0">
              <a:ea typeface="Calibri"/>
              <a:cs typeface="Calibri"/>
            </a:endParaRP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E                            1110</a:t>
            </a:r>
          </a:p>
          <a:p>
            <a:endParaRPr lang="it-IT" dirty="0">
              <a:ea typeface="Calibri"/>
              <a:cs typeface="Calibri"/>
            </a:endParaRP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A                           1010</a:t>
            </a:r>
          </a:p>
          <a:p>
            <a:endParaRPr lang="it-IT" dirty="0">
              <a:ea typeface="Calibri"/>
              <a:cs typeface="Calibri"/>
            </a:endParaRP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D                           1101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9BCC160A-5B04-5E95-6DF7-1AFE7B6594F3}"/>
              </a:ext>
            </a:extLst>
          </p:cNvPr>
          <p:cNvCxnSpPr>
            <a:cxnSpLocks/>
          </p:cNvCxnSpPr>
          <p:nvPr/>
        </p:nvCxnSpPr>
        <p:spPr>
          <a:xfrm>
            <a:off x="3356830" y="2583228"/>
            <a:ext cx="1285027" cy="232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F4ECA583-B1A5-8E86-774B-62D6EC859C0F}"/>
              </a:ext>
            </a:extLst>
          </p:cNvPr>
          <p:cNvCxnSpPr>
            <a:cxnSpLocks/>
          </p:cNvCxnSpPr>
          <p:nvPr/>
        </p:nvCxnSpPr>
        <p:spPr>
          <a:xfrm>
            <a:off x="3375118" y="3381804"/>
            <a:ext cx="1285027" cy="171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C8E9DD46-277D-C8A6-AC1E-B33F8CDA7359}"/>
              </a:ext>
            </a:extLst>
          </p:cNvPr>
          <p:cNvCxnSpPr>
            <a:cxnSpLocks/>
          </p:cNvCxnSpPr>
          <p:nvPr/>
        </p:nvCxnSpPr>
        <p:spPr>
          <a:xfrm>
            <a:off x="3411694" y="4223052"/>
            <a:ext cx="1217971" cy="171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E758ABF6-5D0F-4C37-5287-D5EF67332A88}"/>
              </a:ext>
            </a:extLst>
          </p:cNvPr>
          <p:cNvCxnSpPr>
            <a:cxnSpLocks/>
          </p:cNvCxnSpPr>
          <p:nvPr/>
        </p:nvCxnSpPr>
        <p:spPr>
          <a:xfrm>
            <a:off x="3387310" y="5052108"/>
            <a:ext cx="1242355" cy="110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5BF0FAD-FD2F-091A-C60E-78ED8B999296}"/>
              </a:ext>
            </a:extLst>
          </p:cNvPr>
          <p:cNvSpPr txBox="1"/>
          <p:nvPr/>
        </p:nvSpPr>
        <p:spPr>
          <a:xfrm>
            <a:off x="3450875" y="4784819"/>
            <a:ext cx="132755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>
                <a:cs typeface="Calibri"/>
              </a:rPr>
              <a:t>2</a:t>
            </a:r>
            <a:r>
              <a:rPr lang="it-IT" sz="1200" baseline="30000">
                <a:cs typeface="Calibri"/>
              </a:rPr>
              <a:t>3</a:t>
            </a:r>
            <a:r>
              <a:rPr lang="it-IT" sz="1200">
                <a:cs typeface="Calibri"/>
              </a:rPr>
              <a:t> + 2</a:t>
            </a:r>
            <a:r>
              <a:rPr lang="it-IT" sz="1200" baseline="30000">
                <a:cs typeface="Calibri"/>
              </a:rPr>
              <a:t>2</a:t>
            </a:r>
            <a:r>
              <a:rPr lang="it-IT" sz="1200">
                <a:cs typeface="Calibri"/>
              </a:rPr>
              <a:t>  + 2</a:t>
            </a:r>
            <a:r>
              <a:rPr lang="it-IT" sz="1200" baseline="30000">
                <a:cs typeface="Calibri"/>
              </a:rPr>
              <a:t>0</a:t>
            </a:r>
            <a:r>
              <a:rPr lang="it-IT" sz="1200">
                <a:cs typeface="Calibri"/>
              </a:rPr>
              <a:t> </a:t>
            </a:r>
            <a:endParaRPr lang="it-IT" sz="120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268C19E-7756-BB72-62B7-01136D8F809A}"/>
              </a:ext>
            </a:extLst>
          </p:cNvPr>
          <p:cNvSpPr txBox="1"/>
          <p:nvPr/>
        </p:nvSpPr>
        <p:spPr>
          <a:xfrm>
            <a:off x="3316763" y="2279363"/>
            <a:ext cx="159577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 dirty="0">
                <a:cs typeface="Calibri"/>
              </a:rPr>
              <a:t>2</a:t>
            </a:r>
            <a:r>
              <a:rPr lang="it-IT" sz="1200" baseline="30000" dirty="0">
                <a:cs typeface="Calibri"/>
              </a:rPr>
              <a:t>3</a:t>
            </a:r>
            <a:r>
              <a:rPr lang="it-IT" sz="1200" dirty="0">
                <a:cs typeface="Calibri"/>
              </a:rPr>
              <a:t> + 2</a:t>
            </a:r>
            <a:r>
              <a:rPr lang="it-IT" sz="1200" baseline="30000" dirty="0">
                <a:cs typeface="Calibri"/>
              </a:rPr>
              <a:t>2</a:t>
            </a:r>
            <a:r>
              <a:rPr lang="it-IT" sz="1200" dirty="0">
                <a:cs typeface="Calibri"/>
              </a:rPr>
              <a:t>  + 2</a:t>
            </a:r>
            <a:r>
              <a:rPr lang="it-IT" sz="1200" baseline="30000" dirty="0">
                <a:cs typeface="Calibri"/>
              </a:rPr>
              <a:t>1</a:t>
            </a:r>
            <a:r>
              <a:rPr lang="it-IT" sz="1200" dirty="0">
                <a:cs typeface="Calibri"/>
              </a:rPr>
              <a:t> </a:t>
            </a:r>
            <a:r>
              <a:rPr lang="it-IT" sz="1200" dirty="0">
                <a:ea typeface="+mn-lt"/>
                <a:cs typeface="+mn-lt"/>
              </a:rPr>
              <a:t>+ 2</a:t>
            </a:r>
            <a:r>
              <a:rPr lang="it-IT" sz="1200" baseline="30000" dirty="0">
                <a:ea typeface="+mn-lt"/>
                <a:cs typeface="+mn-lt"/>
              </a:rPr>
              <a:t>0</a:t>
            </a:r>
            <a:r>
              <a:rPr lang="it-IT" sz="1200" dirty="0">
                <a:ea typeface="+mn-lt"/>
                <a:cs typeface="+mn-lt"/>
              </a:rPr>
              <a:t> </a:t>
            </a:r>
            <a:endParaRPr lang="it-IT" sz="1200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DFB42B6-8398-9610-377D-D308E51F1E38}"/>
              </a:ext>
            </a:extLst>
          </p:cNvPr>
          <p:cNvSpPr txBox="1"/>
          <p:nvPr/>
        </p:nvSpPr>
        <p:spPr>
          <a:xfrm>
            <a:off x="3621563" y="3919187"/>
            <a:ext cx="132755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 dirty="0">
                <a:cs typeface="Calibri"/>
              </a:rPr>
              <a:t>2</a:t>
            </a:r>
            <a:r>
              <a:rPr lang="it-IT" sz="1200" baseline="30000" dirty="0">
                <a:cs typeface="Calibri"/>
              </a:rPr>
              <a:t>3</a:t>
            </a:r>
            <a:r>
              <a:rPr lang="it-IT" sz="1200" dirty="0">
                <a:cs typeface="Calibri"/>
              </a:rPr>
              <a:t> + 2</a:t>
            </a:r>
            <a:r>
              <a:rPr lang="it-IT" sz="1200" baseline="30000" dirty="0">
                <a:cs typeface="Calibri"/>
              </a:rPr>
              <a:t>1</a:t>
            </a:r>
            <a:r>
              <a:rPr lang="it-IT" sz="1200" dirty="0">
                <a:cs typeface="Calibri"/>
              </a:rPr>
              <a:t>  </a:t>
            </a:r>
            <a:endParaRPr lang="it-IT" sz="1200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60F1BE70-8B1B-F24F-48B6-2FE11B57C2EA}"/>
              </a:ext>
            </a:extLst>
          </p:cNvPr>
          <p:cNvSpPr txBox="1"/>
          <p:nvPr/>
        </p:nvSpPr>
        <p:spPr>
          <a:xfrm>
            <a:off x="3450875" y="3108419"/>
            <a:ext cx="132755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 dirty="0">
                <a:cs typeface="Calibri"/>
              </a:rPr>
              <a:t>2</a:t>
            </a:r>
            <a:r>
              <a:rPr lang="it-IT" sz="1200" baseline="30000" dirty="0">
                <a:cs typeface="Calibri"/>
              </a:rPr>
              <a:t>3</a:t>
            </a:r>
            <a:r>
              <a:rPr lang="it-IT" sz="1200" dirty="0">
                <a:cs typeface="Calibri"/>
              </a:rPr>
              <a:t> + 2</a:t>
            </a:r>
            <a:r>
              <a:rPr lang="it-IT" sz="1200" baseline="30000" dirty="0">
                <a:cs typeface="Calibri"/>
              </a:rPr>
              <a:t>2</a:t>
            </a:r>
            <a:r>
              <a:rPr lang="it-IT" sz="1200" dirty="0">
                <a:cs typeface="Calibri"/>
              </a:rPr>
              <a:t>  + 2</a:t>
            </a:r>
            <a:r>
              <a:rPr lang="it-IT" sz="1200" baseline="30000" dirty="0">
                <a:cs typeface="Calibri"/>
              </a:rPr>
              <a:t>1</a:t>
            </a:r>
            <a:endParaRPr lang="it-IT" sz="1200" dirty="0">
              <a:ea typeface="Calibri"/>
              <a:cs typeface="Calibri"/>
            </a:endParaRPr>
          </a:p>
        </p:txBody>
      </p:sp>
      <p:sp>
        <p:nvSpPr>
          <p:cNvPr id="22" name="Parentesi graffa chiusa 21">
            <a:extLst>
              <a:ext uri="{FF2B5EF4-FFF2-40B4-BE49-F238E27FC236}">
                <a16:creationId xmlns:a16="http://schemas.microsoft.com/office/drawing/2014/main" id="{E164F22D-5CE3-FCD2-8894-251890A1B79B}"/>
              </a:ext>
            </a:extLst>
          </p:cNvPr>
          <p:cNvSpPr/>
          <p:nvPr/>
        </p:nvSpPr>
        <p:spPr>
          <a:xfrm>
            <a:off x="5283020" y="2449608"/>
            <a:ext cx="472390" cy="2738628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BF671A2-66D7-FE16-E526-65808B23BEF5}"/>
              </a:ext>
            </a:extLst>
          </p:cNvPr>
          <p:cNvSpPr txBox="1"/>
          <p:nvPr/>
        </p:nvSpPr>
        <p:spPr>
          <a:xfrm>
            <a:off x="5852160" y="3608832"/>
            <a:ext cx="30967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ea typeface="Calibri"/>
                <a:cs typeface="Calibri"/>
              </a:rPr>
              <a:t>(1111111010101101)</a:t>
            </a:r>
            <a:r>
              <a:rPr lang="it-IT" baseline="-25000" dirty="0">
                <a:ea typeface="Calibri"/>
                <a:cs typeface="Calibri"/>
              </a:rPr>
              <a:t>2</a:t>
            </a:r>
            <a:endParaRPr lang="it-IT" baseline="-25000" dirty="0"/>
          </a:p>
        </p:txBody>
      </p:sp>
      <p:sp>
        <p:nvSpPr>
          <p:cNvPr id="41" name="CasellaDiTesto 24">
            <a:extLst>
              <a:ext uri="{FF2B5EF4-FFF2-40B4-BE49-F238E27FC236}">
                <a16:creationId xmlns:a16="http://schemas.microsoft.com/office/drawing/2014/main" id="{9193472D-BFBB-64BB-9402-B9CB45D73C6A}"/>
              </a:ext>
            </a:extLst>
          </p:cNvPr>
          <p:cNvSpPr txBox="1"/>
          <p:nvPr/>
        </p:nvSpPr>
        <p:spPr>
          <a:xfrm>
            <a:off x="435175" y="1476116"/>
            <a:ext cx="2000422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>
                <a:cs typeface="Calibri"/>
              </a:rPr>
              <a:t>Binario:</a:t>
            </a:r>
          </a:p>
          <a:p>
            <a:endParaRPr lang="it-IT">
              <a:cs typeface="Calibri"/>
            </a:endParaRPr>
          </a:p>
          <a:p>
            <a:endParaRPr lang="it-IT" baseline="-25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2993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24">
            <a:extLst>
              <a:ext uri="{FF2B5EF4-FFF2-40B4-BE49-F238E27FC236}">
                <a16:creationId xmlns:a16="http://schemas.microsoft.com/office/drawing/2014/main" id="{AE7D25D8-CCE7-82AC-A314-71EA3A5A2B04}"/>
              </a:ext>
            </a:extLst>
          </p:cNvPr>
          <p:cNvSpPr txBox="1"/>
          <p:nvPr/>
        </p:nvSpPr>
        <p:spPr>
          <a:xfrm>
            <a:off x="435175" y="1476116"/>
            <a:ext cx="2000422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>
                <a:cs typeface="Calibri"/>
              </a:rPr>
              <a:t>Decimale:</a:t>
            </a:r>
          </a:p>
          <a:p>
            <a:endParaRPr lang="it-IT">
              <a:cs typeface="Calibri"/>
            </a:endParaRPr>
          </a:p>
          <a:p>
            <a:endParaRPr lang="it-IT" baseline="-25000" dirty="0">
              <a:ea typeface="Calibri"/>
              <a:cs typeface="Calibri"/>
            </a:endParaRPr>
          </a:p>
        </p:txBody>
      </p:sp>
      <p:sp>
        <p:nvSpPr>
          <p:cNvPr id="3" name="CasellaDiTesto 26">
            <a:extLst>
              <a:ext uri="{FF2B5EF4-FFF2-40B4-BE49-F238E27FC236}">
                <a16:creationId xmlns:a16="http://schemas.microsoft.com/office/drawing/2014/main" id="{C8B8E3F5-2CCE-0E8E-FC49-020C22C5FC02}"/>
              </a:ext>
            </a:extLst>
          </p:cNvPr>
          <p:cNvSpPr txBox="1"/>
          <p:nvPr/>
        </p:nvSpPr>
        <p:spPr>
          <a:xfrm>
            <a:off x="2727944" y="2420261"/>
            <a:ext cx="552955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2000">
                <a:ea typeface="Calibri"/>
                <a:cs typeface="Calibri"/>
              </a:rPr>
              <a:t>Σ</a:t>
            </a:r>
            <a:endParaRPr lang="it-IT" sz="2000"/>
          </a:p>
        </p:txBody>
      </p:sp>
      <p:sp>
        <p:nvSpPr>
          <p:cNvPr id="4" name="CasellaDiTesto 28">
            <a:extLst>
              <a:ext uri="{FF2B5EF4-FFF2-40B4-BE49-F238E27FC236}">
                <a16:creationId xmlns:a16="http://schemas.microsoft.com/office/drawing/2014/main" id="{98B2C3F1-C0D1-13F7-9ACE-2D5740A63DFE}"/>
              </a:ext>
            </a:extLst>
          </p:cNvPr>
          <p:cNvSpPr txBox="1"/>
          <p:nvPr/>
        </p:nvSpPr>
        <p:spPr>
          <a:xfrm>
            <a:off x="2628589" y="2663239"/>
            <a:ext cx="3060137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400">
                <a:ea typeface="Calibri"/>
                <a:cs typeface="Calibri"/>
              </a:rPr>
              <a:t>k= 0</a:t>
            </a:r>
            <a:endParaRPr lang="it-IT" sz="1400"/>
          </a:p>
        </p:txBody>
      </p:sp>
      <p:sp>
        <p:nvSpPr>
          <p:cNvPr id="5" name="CasellaDiTesto 30">
            <a:extLst>
              <a:ext uri="{FF2B5EF4-FFF2-40B4-BE49-F238E27FC236}">
                <a16:creationId xmlns:a16="http://schemas.microsoft.com/office/drawing/2014/main" id="{C9A7AD0E-A958-25CB-EE77-238869E71B01}"/>
              </a:ext>
            </a:extLst>
          </p:cNvPr>
          <p:cNvSpPr txBox="1"/>
          <p:nvPr/>
        </p:nvSpPr>
        <p:spPr>
          <a:xfrm>
            <a:off x="2691835" y="2253036"/>
            <a:ext cx="3060137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1400">
                <a:ea typeface="Calibri"/>
                <a:cs typeface="Calibri"/>
              </a:rPr>
              <a:t>n-1</a:t>
            </a:r>
            <a:endParaRPr lang="it-IT" sz="1400"/>
          </a:p>
        </p:txBody>
      </p:sp>
      <p:sp>
        <p:nvSpPr>
          <p:cNvPr id="6" name="CasellaDiTesto 32">
            <a:extLst>
              <a:ext uri="{FF2B5EF4-FFF2-40B4-BE49-F238E27FC236}">
                <a16:creationId xmlns:a16="http://schemas.microsoft.com/office/drawing/2014/main" id="{A6537ECB-6A1B-BBBF-6231-51DC8684D43F}"/>
              </a:ext>
            </a:extLst>
          </p:cNvPr>
          <p:cNvSpPr txBox="1"/>
          <p:nvPr/>
        </p:nvSpPr>
        <p:spPr>
          <a:xfrm>
            <a:off x="2921054" y="2460394"/>
            <a:ext cx="962952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400" err="1">
                <a:ea typeface="Calibri"/>
                <a:cs typeface="Calibri"/>
              </a:rPr>
              <a:t>x</a:t>
            </a:r>
            <a:r>
              <a:rPr lang="it-IT" sz="1400" baseline="-25000" err="1">
                <a:ea typeface="Calibri"/>
                <a:cs typeface="Calibri"/>
              </a:rPr>
              <a:t>k</a:t>
            </a:r>
            <a:r>
              <a:rPr lang="it-IT" sz="1400">
                <a:ea typeface="Calibri"/>
                <a:cs typeface="Calibri"/>
              </a:rPr>
              <a:t> B</a:t>
            </a:r>
            <a:r>
              <a:rPr lang="it-IT" sz="1400" baseline="30000">
                <a:ea typeface="Calibri"/>
                <a:cs typeface="Calibri"/>
              </a:rPr>
              <a:t>k</a:t>
            </a:r>
            <a:endParaRPr lang="it-IT" sz="2800" baseline="30000">
              <a:cs typeface="Calibri" panose="020F0502020204030204"/>
            </a:endParaRPr>
          </a:p>
        </p:txBody>
      </p:sp>
      <p:sp>
        <p:nvSpPr>
          <p:cNvPr id="7" name="CasellaDiTesto 34">
            <a:extLst>
              <a:ext uri="{FF2B5EF4-FFF2-40B4-BE49-F238E27FC236}">
                <a16:creationId xmlns:a16="http://schemas.microsoft.com/office/drawing/2014/main" id="{90C7CBC6-EA0C-C7B1-902F-1FC42E1BD89F}"/>
              </a:ext>
            </a:extLst>
          </p:cNvPr>
          <p:cNvSpPr txBox="1"/>
          <p:nvPr/>
        </p:nvSpPr>
        <p:spPr>
          <a:xfrm>
            <a:off x="3307435" y="2441959"/>
            <a:ext cx="2225741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400">
                <a:ea typeface="Calibri"/>
                <a:cs typeface="Calibri"/>
              </a:rPr>
              <a:t>= x</a:t>
            </a:r>
            <a:r>
              <a:rPr lang="it-IT" sz="1400" baseline="-25000">
                <a:ea typeface="Calibri"/>
                <a:cs typeface="Calibri"/>
              </a:rPr>
              <a:t>0</a:t>
            </a:r>
            <a:r>
              <a:rPr lang="it-IT" sz="1400">
                <a:ea typeface="Calibri"/>
                <a:cs typeface="Calibri"/>
              </a:rPr>
              <a:t>B</a:t>
            </a:r>
            <a:r>
              <a:rPr lang="it-IT" sz="1400" baseline="30000">
                <a:ea typeface="Calibri"/>
                <a:cs typeface="Calibri"/>
              </a:rPr>
              <a:t>0</a:t>
            </a:r>
            <a:r>
              <a:rPr lang="it-IT" sz="1400">
                <a:ea typeface="Calibri"/>
                <a:cs typeface="Calibri"/>
              </a:rPr>
              <a:t> + x</a:t>
            </a:r>
            <a:r>
              <a:rPr lang="it-IT" sz="1400" baseline="-25000">
                <a:ea typeface="Calibri"/>
                <a:cs typeface="Calibri"/>
              </a:rPr>
              <a:t>1</a:t>
            </a:r>
            <a:r>
              <a:rPr lang="it-IT" sz="1400">
                <a:ea typeface="Calibri"/>
                <a:cs typeface="Calibri"/>
              </a:rPr>
              <a:t>B</a:t>
            </a:r>
            <a:r>
              <a:rPr lang="it-IT" sz="1400" baseline="30000">
                <a:ea typeface="Calibri"/>
                <a:cs typeface="Calibri"/>
              </a:rPr>
              <a:t>1</a:t>
            </a:r>
            <a:r>
              <a:rPr lang="it-IT" sz="1400">
                <a:ea typeface="Calibri"/>
                <a:cs typeface="Calibri"/>
              </a:rPr>
              <a:t> + … + x</a:t>
            </a:r>
            <a:r>
              <a:rPr lang="it-IT" sz="1400" baseline="-25000">
                <a:ea typeface="Calibri"/>
                <a:cs typeface="Calibri"/>
              </a:rPr>
              <a:t>n-1</a:t>
            </a:r>
            <a:r>
              <a:rPr lang="it-IT" sz="1400">
                <a:ea typeface="Calibri"/>
                <a:cs typeface="Calibri"/>
              </a:rPr>
              <a:t> B</a:t>
            </a:r>
            <a:r>
              <a:rPr lang="it-IT" sz="1400" baseline="30000">
                <a:ea typeface="Calibri"/>
                <a:cs typeface="Calibri"/>
              </a:rPr>
              <a:t>n-1</a:t>
            </a:r>
            <a:endParaRPr lang="it-IT" sz="1400" baseline="30000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585B1FAF-60B2-485F-FD02-A4C5E4EF91B5}"/>
              </a:ext>
            </a:extLst>
          </p:cNvPr>
          <p:cNvCxnSpPr/>
          <p:nvPr/>
        </p:nvCxnSpPr>
        <p:spPr>
          <a:xfrm flipH="1">
            <a:off x="3442077" y="2717831"/>
            <a:ext cx="1277" cy="85216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38">
            <a:extLst>
              <a:ext uri="{FF2B5EF4-FFF2-40B4-BE49-F238E27FC236}">
                <a16:creationId xmlns:a16="http://schemas.microsoft.com/office/drawing/2014/main" id="{2D1887C8-6E1F-AF95-A369-A62EB2B8621B}"/>
              </a:ext>
            </a:extLst>
          </p:cNvPr>
          <p:cNvSpPr txBox="1"/>
          <p:nvPr/>
        </p:nvSpPr>
        <p:spPr>
          <a:xfrm>
            <a:off x="3569109" y="2825594"/>
            <a:ext cx="1261872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cs typeface="Calibri"/>
              </a:rPr>
              <a:t>B = 16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897EEA0-1DE0-3107-226C-F117DFB4BF94}"/>
              </a:ext>
            </a:extLst>
          </p:cNvPr>
          <p:cNvSpPr txBox="1"/>
          <p:nvPr/>
        </p:nvSpPr>
        <p:spPr>
          <a:xfrm>
            <a:off x="435077" y="287593"/>
            <a:ext cx="879003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Estratto esercizio 4 – Pagina 34</a:t>
            </a:r>
            <a:r>
              <a:rPr lang="en-US" dirty="0"/>
              <a:t>​</a:t>
            </a:r>
          </a:p>
          <a:p>
            <a:r>
              <a:rPr lang="it-IT" dirty="0"/>
              <a:t>​</a:t>
            </a:r>
            <a:endParaRPr lang="it-IT" dirty="0">
              <a:cs typeface="Calibri"/>
            </a:endParaRPr>
          </a:p>
          <a:p>
            <a:r>
              <a:rPr lang="it-IT" dirty="0"/>
              <a:t>Trasformare in binario, decimale ed ottale il numero esadecimale </a:t>
            </a:r>
            <a:r>
              <a:rPr lang="it-IT" sz="2400" dirty="0"/>
              <a:t>(FEAD)</a:t>
            </a:r>
            <a:r>
              <a:rPr lang="it-IT" sz="2400" baseline="-25000" dirty="0"/>
              <a:t>H</a:t>
            </a:r>
            <a:endParaRPr lang="it-IT" sz="2400" baseline="-25000" dirty="0">
              <a:cs typeface="Calibri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1B72244-25D1-F043-F09E-8751DF79DF92}"/>
              </a:ext>
            </a:extLst>
          </p:cNvPr>
          <p:cNvSpPr txBox="1"/>
          <p:nvPr/>
        </p:nvSpPr>
        <p:spPr>
          <a:xfrm>
            <a:off x="1694688" y="3316224"/>
            <a:ext cx="1116177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dirty="0">
                <a:ea typeface="+mn-lt"/>
                <a:cs typeface="+mn-lt"/>
              </a:rPr>
              <a:t>(FEAD)</a:t>
            </a:r>
            <a:r>
              <a:rPr lang="it-IT" sz="3600" baseline="-25000" dirty="0">
                <a:ea typeface="+mn-lt"/>
                <a:cs typeface="+mn-lt"/>
              </a:rPr>
              <a:t>H</a:t>
            </a:r>
            <a:r>
              <a:rPr lang="it-IT" sz="3600" dirty="0">
                <a:ea typeface="+mn-lt"/>
                <a:cs typeface="+mn-lt"/>
              </a:rPr>
              <a:t> = 15⋅16</a:t>
            </a:r>
            <a:r>
              <a:rPr lang="it-IT" sz="3600" baseline="30000" dirty="0">
                <a:ea typeface="+mn-lt"/>
                <a:cs typeface="+mn-lt"/>
              </a:rPr>
              <a:t>3</a:t>
            </a:r>
            <a:r>
              <a:rPr lang="it-IT" sz="3600" dirty="0">
                <a:ea typeface="+mn-lt"/>
                <a:cs typeface="+mn-lt"/>
              </a:rPr>
              <a:t> +14⋅16</a:t>
            </a:r>
            <a:r>
              <a:rPr lang="it-IT" sz="3600" baseline="30000" dirty="0">
                <a:ea typeface="+mn-lt"/>
                <a:cs typeface="+mn-lt"/>
              </a:rPr>
              <a:t>2</a:t>
            </a:r>
            <a:r>
              <a:rPr lang="it-IT" sz="3600" dirty="0">
                <a:ea typeface="+mn-lt"/>
                <a:cs typeface="+mn-lt"/>
              </a:rPr>
              <a:t> + 10⋅16</a:t>
            </a:r>
            <a:r>
              <a:rPr lang="it-IT" sz="3600" baseline="30000" dirty="0">
                <a:ea typeface="+mn-lt"/>
                <a:cs typeface="+mn-lt"/>
              </a:rPr>
              <a:t>1</a:t>
            </a:r>
            <a:r>
              <a:rPr lang="it-IT" sz="3600" dirty="0">
                <a:ea typeface="+mn-lt"/>
                <a:cs typeface="+mn-lt"/>
              </a:rPr>
              <a:t> + 13⋅16</a:t>
            </a:r>
            <a:r>
              <a:rPr lang="it-IT" sz="3600" baseline="30000" dirty="0">
                <a:ea typeface="+mn-lt"/>
                <a:cs typeface="+mn-lt"/>
              </a:rPr>
              <a:t>0</a:t>
            </a:r>
            <a:r>
              <a:rPr lang="it-IT" sz="3600" dirty="0">
                <a:ea typeface="+mn-lt"/>
                <a:cs typeface="+mn-lt"/>
              </a:rPr>
              <a:t> = </a:t>
            </a:r>
          </a:p>
          <a:p>
            <a:r>
              <a:rPr lang="it-IT" sz="3600" dirty="0">
                <a:ea typeface="+mn-lt"/>
                <a:cs typeface="+mn-lt"/>
              </a:rPr>
              <a:t>               = 61440 + 3584 + 160 + 13  = (65197)</a:t>
            </a:r>
            <a:r>
              <a:rPr lang="it-IT" sz="3600" baseline="-25000" dirty="0">
                <a:ea typeface="+mn-lt"/>
                <a:cs typeface="+mn-lt"/>
              </a:rPr>
              <a:t>10</a:t>
            </a:r>
            <a:r>
              <a:rPr lang="it-IT" sz="3600" dirty="0">
                <a:ea typeface="+mn-lt"/>
                <a:cs typeface="+mn-lt"/>
              </a:rPr>
              <a:t>   </a:t>
            </a:r>
            <a:r>
              <a:rPr lang="it-IT" sz="2800" dirty="0">
                <a:ea typeface="+mn-lt"/>
                <a:cs typeface="+mn-lt"/>
              </a:rPr>
              <a:t>                        </a:t>
            </a:r>
            <a:endParaRPr lang="it-IT" sz="2800" baseline="-25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9833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A98F70C-FBD6-8B95-9690-CB017499D7FC}"/>
              </a:ext>
            </a:extLst>
          </p:cNvPr>
          <p:cNvSpPr txBox="1"/>
          <p:nvPr/>
        </p:nvSpPr>
        <p:spPr>
          <a:xfrm>
            <a:off x="435077" y="287593"/>
            <a:ext cx="879003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Estratto esercizio 4 – Pagina 34</a:t>
            </a:r>
            <a:r>
              <a:rPr lang="en-US" dirty="0"/>
              <a:t>​</a:t>
            </a:r>
          </a:p>
          <a:p>
            <a:r>
              <a:rPr lang="it-IT" dirty="0"/>
              <a:t>​</a:t>
            </a:r>
            <a:endParaRPr lang="it-IT" dirty="0">
              <a:cs typeface="Calibri"/>
            </a:endParaRPr>
          </a:p>
          <a:p>
            <a:r>
              <a:rPr lang="it-IT" dirty="0"/>
              <a:t>Trasformare in binario, decimale ed ottale il numero esadecimale </a:t>
            </a:r>
            <a:r>
              <a:rPr lang="it-IT" sz="2400" dirty="0"/>
              <a:t>(FEAD)</a:t>
            </a:r>
            <a:r>
              <a:rPr lang="it-IT" sz="2400" baseline="-25000" dirty="0"/>
              <a:t>H</a:t>
            </a:r>
            <a:endParaRPr lang="it-IT" sz="2400" baseline="-25000" dirty="0">
              <a:cs typeface="Calibri"/>
            </a:endParaRPr>
          </a:p>
        </p:txBody>
      </p:sp>
      <p:sp>
        <p:nvSpPr>
          <p:cNvPr id="5" name="CasellaDiTesto 24">
            <a:extLst>
              <a:ext uri="{FF2B5EF4-FFF2-40B4-BE49-F238E27FC236}">
                <a16:creationId xmlns:a16="http://schemas.microsoft.com/office/drawing/2014/main" id="{2CBD59CC-2836-4F5A-3342-89428FF44056}"/>
              </a:ext>
            </a:extLst>
          </p:cNvPr>
          <p:cNvSpPr txBox="1"/>
          <p:nvPr/>
        </p:nvSpPr>
        <p:spPr>
          <a:xfrm>
            <a:off x="435175" y="1476116"/>
            <a:ext cx="5115478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cs typeface="Calibri"/>
              </a:rPr>
              <a:t>Ottale: </a:t>
            </a:r>
            <a:r>
              <a:rPr lang="it-IT" dirty="0">
                <a:ea typeface="+mn-lt"/>
                <a:cs typeface="+mn-lt"/>
              </a:rPr>
              <a:t>Si passa dal binario</a:t>
            </a:r>
            <a:endParaRPr lang="it-IT" dirty="0">
              <a:cs typeface="Calibri"/>
            </a:endParaRPr>
          </a:p>
          <a:p>
            <a:endParaRPr lang="it-IT">
              <a:cs typeface="Calibri"/>
            </a:endParaRPr>
          </a:p>
          <a:p>
            <a:endParaRPr lang="it-IT" baseline="-25000" dirty="0">
              <a:ea typeface="Calibri"/>
              <a:cs typeface="Calibri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CC67CC0-D735-CACA-F562-927859E7C599}"/>
              </a:ext>
            </a:extLst>
          </p:cNvPr>
          <p:cNvSpPr txBox="1"/>
          <p:nvPr/>
        </p:nvSpPr>
        <p:spPr>
          <a:xfrm>
            <a:off x="3096767" y="2474976"/>
            <a:ext cx="51816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dirty="0">
                <a:ea typeface="Calibri"/>
                <a:cs typeface="Calibri"/>
              </a:rPr>
              <a:t>001    111    111    010    101    101</a:t>
            </a:r>
            <a:endParaRPr lang="it-IT" sz="2800" dirty="0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34826A6D-2254-9003-F984-628606C42821}"/>
              </a:ext>
            </a:extLst>
          </p:cNvPr>
          <p:cNvCxnSpPr/>
          <p:nvPr/>
        </p:nvCxnSpPr>
        <p:spPr>
          <a:xfrm>
            <a:off x="7310949" y="2273931"/>
            <a:ext cx="11062" cy="115406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9AB2EACC-D10D-40B0-81C3-B5CB9A96E473}"/>
              </a:ext>
            </a:extLst>
          </p:cNvPr>
          <p:cNvCxnSpPr/>
          <p:nvPr/>
        </p:nvCxnSpPr>
        <p:spPr>
          <a:xfrm>
            <a:off x="3891093" y="2273931"/>
            <a:ext cx="11062" cy="115406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BF5DFC49-24BF-F930-840C-B660790B50F0}"/>
              </a:ext>
            </a:extLst>
          </p:cNvPr>
          <p:cNvCxnSpPr/>
          <p:nvPr/>
        </p:nvCxnSpPr>
        <p:spPr>
          <a:xfrm>
            <a:off x="5604069" y="2273931"/>
            <a:ext cx="11062" cy="115406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9BFF0281-42AA-0DBE-EADE-B1B0D4FCD51B}"/>
              </a:ext>
            </a:extLst>
          </p:cNvPr>
          <p:cNvCxnSpPr/>
          <p:nvPr/>
        </p:nvCxnSpPr>
        <p:spPr>
          <a:xfrm>
            <a:off x="4768917" y="2273931"/>
            <a:ext cx="11062" cy="115406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4B8E68D2-A86C-E760-354E-29A7DB0BF386}"/>
              </a:ext>
            </a:extLst>
          </p:cNvPr>
          <p:cNvCxnSpPr/>
          <p:nvPr/>
        </p:nvCxnSpPr>
        <p:spPr>
          <a:xfrm>
            <a:off x="6433125" y="2225163"/>
            <a:ext cx="11062" cy="115406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0407B68B-0334-AC31-357E-42C5AA73589B}"/>
              </a:ext>
            </a:extLst>
          </p:cNvPr>
          <p:cNvCxnSpPr>
            <a:cxnSpLocks/>
          </p:cNvCxnSpPr>
          <p:nvPr/>
        </p:nvCxnSpPr>
        <p:spPr>
          <a:xfrm>
            <a:off x="3403239" y="3106892"/>
            <a:ext cx="10864" cy="12339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31DBE3E8-93B5-1B75-A9BC-F26558715505}"/>
              </a:ext>
            </a:extLst>
          </p:cNvPr>
          <p:cNvCxnSpPr>
            <a:cxnSpLocks/>
          </p:cNvCxnSpPr>
          <p:nvPr/>
        </p:nvCxnSpPr>
        <p:spPr>
          <a:xfrm>
            <a:off x="4317639" y="3106892"/>
            <a:ext cx="10864" cy="12339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80EC8A16-BEC6-37B7-809C-7354B3936855}"/>
              </a:ext>
            </a:extLst>
          </p:cNvPr>
          <p:cNvCxnSpPr>
            <a:cxnSpLocks/>
          </p:cNvCxnSpPr>
          <p:nvPr/>
        </p:nvCxnSpPr>
        <p:spPr>
          <a:xfrm>
            <a:off x="5171079" y="3106892"/>
            <a:ext cx="10864" cy="12339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D1754718-742A-2C15-EC91-CC52938297D3}"/>
              </a:ext>
            </a:extLst>
          </p:cNvPr>
          <p:cNvCxnSpPr>
            <a:cxnSpLocks/>
          </p:cNvCxnSpPr>
          <p:nvPr/>
        </p:nvCxnSpPr>
        <p:spPr>
          <a:xfrm>
            <a:off x="6054999" y="3106892"/>
            <a:ext cx="10864" cy="12339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1D424940-9179-6F3A-FA88-0A7339C209E1}"/>
              </a:ext>
            </a:extLst>
          </p:cNvPr>
          <p:cNvCxnSpPr>
            <a:cxnSpLocks/>
          </p:cNvCxnSpPr>
          <p:nvPr/>
        </p:nvCxnSpPr>
        <p:spPr>
          <a:xfrm>
            <a:off x="6908439" y="3106892"/>
            <a:ext cx="10864" cy="12339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F4283F1B-3A5D-270B-44BC-401C29ED2DB2}"/>
              </a:ext>
            </a:extLst>
          </p:cNvPr>
          <p:cNvCxnSpPr>
            <a:cxnSpLocks/>
          </p:cNvCxnSpPr>
          <p:nvPr/>
        </p:nvCxnSpPr>
        <p:spPr>
          <a:xfrm>
            <a:off x="7804551" y="3106892"/>
            <a:ext cx="10864" cy="12339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D0AF4DBB-EF92-A930-284C-34F7259DCCC2}"/>
              </a:ext>
            </a:extLst>
          </p:cNvPr>
          <p:cNvSpPr txBox="1"/>
          <p:nvPr/>
        </p:nvSpPr>
        <p:spPr>
          <a:xfrm>
            <a:off x="3236976" y="4504944"/>
            <a:ext cx="34747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400" dirty="0">
                <a:ea typeface="Calibri"/>
                <a:cs typeface="Calibri"/>
              </a:rPr>
              <a:t>1</a:t>
            </a:r>
            <a:endParaRPr lang="it-IT" sz="2400" dirty="0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B7B5C976-79C9-AED1-3D7B-FCB7FC6F1504}"/>
              </a:ext>
            </a:extLst>
          </p:cNvPr>
          <p:cNvSpPr txBox="1"/>
          <p:nvPr/>
        </p:nvSpPr>
        <p:spPr>
          <a:xfrm>
            <a:off x="4151376" y="4504943"/>
            <a:ext cx="34747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400" dirty="0">
                <a:ea typeface="Calibri"/>
                <a:cs typeface="Calibri"/>
              </a:rPr>
              <a:t>7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ECF50F48-3E54-0676-62C6-07F71C872AE0}"/>
              </a:ext>
            </a:extLst>
          </p:cNvPr>
          <p:cNvSpPr txBox="1"/>
          <p:nvPr/>
        </p:nvSpPr>
        <p:spPr>
          <a:xfrm>
            <a:off x="5041392" y="4504943"/>
            <a:ext cx="34747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400" dirty="0">
                <a:ea typeface="Calibri"/>
                <a:cs typeface="Calibri"/>
              </a:rPr>
              <a:t>7</a:t>
            </a:r>
            <a:endParaRPr lang="it-IT" sz="2400" dirty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E5B95684-5F43-BD9F-2000-E1011BF54915}"/>
              </a:ext>
            </a:extLst>
          </p:cNvPr>
          <p:cNvSpPr txBox="1"/>
          <p:nvPr/>
        </p:nvSpPr>
        <p:spPr>
          <a:xfrm>
            <a:off x="5925312" y="4486655"/>
            <a:ext cx="34747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400" dirty="0">
                <a:ea typeface="Calibri"/>
                <a:cs typeface="Calibri"/>
              </a:rPr>
              <a:t>2</a:t>
            </a:r>
            <a:endParaRPr lang="it-IT" sz="2400" dirty="0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5739A8CE-A73D-6E05-764F-4B6BC79BA794}"/>
              </a:ext>
            </a:extLst>
          </p:cNvPr>
          <p:cNvSpPr txBox="1"/>
          <p:nvPr/>
        </p:nvSpPr>
        <p:spPr>
          <a:xfrm>
            <a:off x="6778752" y="4486655"/>
            <a:ext cx="34747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400" dirty="0">
                <a:ea typeface="Calibri"/>
                <a:cs typeface="Calibri"/>
              </a:rPr>
              <a:t>5</a:t>
            </a:r>
            <a:endParaRPr lang="it-IT" sz="2400" dirty="0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D6C73C64-467C-13C0-C442-D5F687C6A136}"/>
              </a:ext>
            </a:extLst>
          </p:cNvPr>
          <p:cNvSpPr txBox="1"/>
          <p:nvPr/>
        </p:nvSpPr>
        <p:spPr>
          <a:xfrm>
            <a:off x="7674864" y="4504943"/>
            <a:ext cx="34747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400" dirty="0">
                <a:ea typeface="Calibri"/>
                <a:cs typeface="Calibri"/>
              </a:rPr>
              <a:t>5</a:t>
            </a:r>
            <a:endParaRPr lang="it-IT" sz="2400" dirty="0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505C59CC-F8C6-7098-2376-3E33328299F8}"/>
              </a:ext>
            </a:extLst>
          </p:cNvPr>
          <p:cNvSpPr txBox="1"/>
          <p:nvPr/>
        </p:nvSpPr>
        <p:spPr>
          <a:xfrm>
            <a:off x="3295721" y="3496349"/>
            <a:ext cx="72758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>
                <a:cs typeface="Calibri"/>
              </a:rPr>
              <a:t>  2</a:t>
            </a:r>
            <a:r>
              <a:rPr lang="it-IT" sz="1200" baseline="30000">
                <a:cs typeface="Calibri"/>
              </a:rPr>
              <a:t>0</a:t>
            </a:r>
            <a:r>
              <a:rPr lang="it-IT" sz="1200">
                <a:cs typeface="Calibri"/>
              </a:rPr>
              <a:t>  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2BB76ECA-3C72-7721-4AAB-A6FE9DF8A48D}"/>
              </a:ext>
            </a:extLst>
          </p:cNvPr>
          <p:cNvSpPr txBox="1"/>
          <p:nvPr/>
        </p:nvSpPr>
        <p:spPr>
          <a:xfrm>
            <a:off x="4313114" y="3214656"/>
            <a:ext cx="727587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 dirty="0">
                <a:ea typeface="+mn-lt"/>
                <a:cs typeface="+mn-lt"/>
              </a:rPr>
              <a:t>2</a:t>
            </a:r>
            <a:r>
              <a:rPr lang="it-IT" sz="1200" baseline="30000" dirty="0">
                <a:ea typeface="+mn-lt"/>
                <a:cs typeface="+mn-lt"/>
              </a:rPr>
              <a:t>2</a:t>
            </a:r>
            <a:r>
              <a:rPr lang="it-IT" sz="1200" dirty="0">
                <a:ea typeface="+mn-lt"/>
                <a:cs typeface="+mn-lt"/>
              </a:rPr>
              <a:t>  </a:t>
            </a:r>
          </a:p>
          <a:p>
            <a:r>
              <a:rPr lang="it-IT" sz="1200" dirty="0">
                <a:ea typeface="+mn-lt"/>
                <a:cs typeface="+mn-lt"/>
              </a:rPr>
              <a:t>+</a:t>
            </a:r>
            <a:endParaRPr lang="it-IT" sz="1200">
              <a:ea typeface="Calibri"/>
              <a:cs typeface="Calibri"/>
            </a:endParaRPr>
          </a:p>
          <a:p>
            <a:r>
              <a:rPr lang="it-IT" sz="1200" dirty="0">
                <a:cs typeface="Calibri"/>
              </a:rPr>
              <a:t>2</a:t>
            </a:r>
            <a:r>
              <a:rPr lang="it-IT" sz="1200" baseline="30000" dirty="0">
                <a:cs typeface="Calibri"/>
              </a:rPr>
              <a:t>1</a:t>
            </a:r>
            <a:r>
              <a:rPr lang="it-IT" sz="1200" dirty="0">
                <a:cs typeface="Calibri"/>
              </a:rPr>
              <a:t>  </a:t>
            </a:r>
            <a:endParaRPr lang="it-IT" sz="1200">
              <a:ea typeface="Calibri"/>
              <a:cs typeface="Calibri"/>
            </a:endParaRPr>
          </a:p>
          <a:p>
            <a:r>
              <a:rPr lang="it-IT" sz="1200" dirty="0">
                <a:cs typeface="Calibri"/>
              </a:rPr>
              <a:t>+</a:t>
            </a:r>
            <a:endParaRPr lang="it-IT" sz="1200" dirty="0">
              <a:ea typeface="Calibri"/>
              <a:cs typeface="Calibri"/>
            </a:endParaRPr>
          </a:p>
          <a:p>
            <a:r>
              <a:rPr lang="it-IT" sz="1200" dirty="0">
                <a:cs typeface="Calibri"/>
              </a:rPr>
              <a:t>2</a:t>
            </a:r>
            <a:r>
              <a:rPr lang="it-IT" sz="1200" baseline="30000" dirty="0">
                <a:cs typeface="Calibri"/>
              </a:rPr>
              <a:t>0</a:t>
            </a:r>
            <a:r>
              <a:rPr lang="it-IT" sz="1200" dirty="0">
                <a:cs typeface="Calibri"/>
              </a:rPr>
              <a:t>  </a:t>
            </a:r>
            <a:endParaRPr lang="it-IT">
              <a:ea typeface="Calibri"/>
              <a:cs typeface="Calibri"/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17115467-B661-28BD-30F1-FE63D5A7C54C}"/>
              </a:ext>
            </a:extLst>
          </p:cNvPr>
          <p:cNvSpPr txBox="1"/>
          <p:nvPr/>
        </p:nvSpPr>
        <p:spPr>
          <a:xfrm>
            <a:off x="5178745" y="3171983"/>
            <a:ext cx="727587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 dirty="0">
                <a:ea typeface="+mn-lt"/>
                <a:cs typeface="+mn-lt"/>
              </a:rPr>
              <a:t>2</a:t>
            </a:r>
            <a:r>
              <a:rPr lang="it-IT" sz="1200" baseline="30000" dirty="0">
                <a:ea typeface="+mn-lt"/>
                <a:cs typeface="+mn-lt"/>
              </a:rPr>
              <a:t>2</a:t>
            </a:r>
            <a:r>
              <a:rPr lang="it-IT" sz="1200" dirty="0">
                <a:ea typeface="+mn-lt"/>
                <a:cs typeface="+mn-lt"/>
              </a:rPr>
              <a:t>  </a:t>
            </a:r>
          </a:p>
          <a:p>
            <a:r>
              <a:rPr lang="it-IT" sz="1200" dirty="0">
                <a:ea typeface="+mn-lt"/>
                <a:cs typeface="+mn-lt"/>
              </a:rPr>
              <a:t>+</a:t>
            </a:r>
            <a:endParaRPr lang="it-IT" sz="1200">
              <a:ea typeface="Calibri"/>
              <a:cs typeface="Calibri"/>
            </a:endParaRPr>
          </a:p>
          <a:p>
            <a:r>
              <a:rPr lang="it-IT" sz="1200" dirty="0">
                <a:cs typeface="Calibri"/>
              </a:rPr>
              <a:t>2</a:t>
            </a:r>
            <a:r>
              <a:rPr lang="it-IT" sz="1200" baseline="30000" dirty="0">
                <a:cs typeface="Calibri"/>
              </a:rPr>
              <a:t>1</a:t>
            </a:r>
            <a:r>
              <a:rPr lang="it-IT" sz="1200" dirty="0">
                <a:cs typeface="Calibri"/>
              </a:rPr>
              <a:t>  </a:t>
            </a:r>
            <a:endParaRPr lang="it-IT" sz="1200">
              <a:ea typeface="Calibri"/>
              <a:cs typeface="Calibri"/>
            </a:endParaRPr>
          </a:p>
          <a:p>
            <a:r>
              <a:rPr lang="it-IT" sz="1200" dirty="0">
                <a:cs typeface="Calibri"/>
              </a:rPr>
              <a:t>+</a:t>
            </a:r>
            <a:endParaRPr lang="it-IT" sz="1200" dirty="0">
              <a:ea typeface="Calibri"/>
              <a:cs typeface="Calibri"/>
            </a:endParaRPr>
          </a:p>
          <a:p>
            <a:r>
              <a:rPr lang="it-IT" sz="1200" dirty="0">
                <a:cs typeface="Calibri"/>
              </a:rPr>
              <a:t>2</a:t>
            </a:r>
            <a:r>
              <a:rPr lang="it-IT" sz="1200" baseline="30000" dirty="0">
                <a:cs typeface="Calibri"/>
              </a:rPr>
              <a:t>0</a:t>
            </a:r>
            <a:r>
              <a:rPr lang="it-IT" sz="1200" dirty="0">
                <a:cs typeface="Calibri"/>
              </a:rPr>
              <a:t>  </a:t>
            </a:r>
            <a:endParaRPr lang="it-IT">
              <a:ea typeface="Calibri"/>
              <a:cs typeface="Calibri"/>
            </a:endParaRP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FDE5018F-A115-E3A9-3580-AFFF4BAE016D}"/>
              </a:ext>
            </a:extLst>
          </p:cNvPr>
          <p:cNvSpPr txBox="1"/>
          <p:nvPr/>
        </p:nvSpPr>
        <p:spPr>
          <a:xfrm>
            <a:off x="6074857" y="3348767"/>
            <a:ext cx="72758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it-IT" sz="1200" dirty="0">
              <a:ea typeface="Calibri"/>
              <a:cs typeface="Calibri"/>
            </a:endParaRPr>
          </a:p>
          <a:p>
            <a:r>
              <a:rPr lang="it-IT" sz="1200" dirty="0">
                <a:cs typeface="Calibri"/>
              </a:rPr>
              <a:t>2</a:t>
            </a:r>
            <a:r>
              <a:rPr lang="it-IT" sz="1200" baseline="30000" dirty="0">
                <a:cs typeface="Calibri"/>
              </a:rPr>
              <a:t>1</a:t>
            </a:r>
            <a:r>
              <a:rPr lang="it-IT" sz="1200" dirty="0">
                <a:cs typeface="Calibri"/>
              </a:rPr>
              <a:t>  </a:t>
            </a:r>
            <a:endParaRPr lang="it-IT" sz="1200">
              <a:ea typeface="Calibri"/>
              <a:cs typeface="Calibri"/>
            </a:endParaRPr>
          </a:p>
          <a:p>
            <a:endParaRPr lang="it-IT">
              <a:ea typeface="Calibri"/>
              <a:cs typeface="Calibri"/>
            </a:endParaRP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62D70C6E-7A3C-8E12-0707-9BB4BF5D201B}"/>
              </a:ext>
            </a:extLst>
          </p:cNvPr>
          <p:cNvSpPr txBox="1"/>
          <p:nvPr/>
        </p:nvSpPr>
        <p:spPr>
          <a:xfrm>
            <a:off x="6916105" y="3360959"/>
            <a:ext cx="72758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 dirty="0">
                <a:ea typeface="+mn-lt"/>
                <a:cs typeface="+mn-lt"/>
              </a:rPr>
              <a:t>2</a:t>
            </a:r>
            <a:r>
              <a:rPr lang="it-IT" sz="1200" baseline="30000" dirty="0">
                <a:ea typeface="+mn-lt"/>
                <a:cs typeface="+mn-lt"/>
              </a:rPr>
              <a:t>2</a:t>
            </a:r>
            <a:r>
              <a:rPr lang="it-IT" sz="1200" dirty="0">
                <a:ea typeface="+mn-lt"/>
                <a:cs typeface="+mn-lt"/>
              </a:rPr>
              <a:t>  </a:t>
            </a:r>
          </a:p>
          <a:p>
            <a:r>
              <a:rPr lang="it-IT" sz="1200" dirty="0">
                <a:ea typeface="+mn-lt"/>
                <a:cs typeface="+mn-lt"/>
              </a:rPr>
              <a:t>+</a:t>
            </a:r>
            <a:endParaRPr lang="it-IT" sz="1200" dirty="0">
              <a:ea typeface="Calibri"/>
              <a:cs typeface="Calibri"/>
            </a:endParaRPr>
          </a:p>
          <a:p>
            <a:r>
              <a:rPr lang="it-IT" sz="1200" dirty="0">
                <a:cs typeface="Calibri"/>
              </a:rPr>
              <a:t>2</a:t>
            </a:r>
            <a:r>
              <a:rPr lang="it-IT" sz="1200" baseline="30000" dirty="0">
                <a:cs typeface="Calibri"/>
              </a:rPr>
              <a:t>0</a:t>
            </a:r>
            <a:r>
              <a:rPr lang="it-IT" sz="1200" dirty="0">
                <a:cs typeface="Calibri"/>
              </a:rPr>
              <a:t>  </a:t>
            </a:r>
            <a:endParaRPr lang="it-IT">
              <a:ea typeface="Calibri"/>
              <a:cs typeface="Calibri"/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AE84946F-E3AA-7978-A1AD-0BA1AFA6214C}"/>
              </a:ext>
            </a:extLst>
          </p:cNvPr>
          <p:cNvSpPr txBox="1"/>
          <p:nvPr/>
        </p:nvSpPr>
        <p:spPr>
          <a:xfrm>
            <a:off x="7848793" y="3360959"/>
            <a:ext cx="72758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 dirty="0">
                <a:ea typeface="+mn-lt"/>
                <a:cs typeface="+mn-lt"/>
              </a:rPr>
              <a:t>2</a:t>
            </a:r>
            <a:r>
              <a:rPr lang="it-IT" sz="1200" baseline="30000" dirty="0">
                <a:ea typeface="+mn-lt"/>
                <a:cs typeface="+mn-lt"/>
              </a:rPr>
              <a:t>2</a:t>
            </a:r>
            <a:r>
              <a:rPr lang="it-IT" sz="1200" dirty="0">
                <a:ea typeface="+mn-lt"/>
                <a:cs typeface="+mn-lt"/>
              </a:rPr>
              <a:t>  </a:t>
            </a:r>
          </a:p>
          <a:p>
            <a:r>
              <a:rPr lang="it-IT" sz="1200" dirty="0">
                <a:cs typeface="Calibri"/>
              </a:rPr>
              <a:t>+</a:t>
            </a:r>
            <a:endParaRPr lang="it-IT" sz="1200" dirty="0">
              <a:ea typeface="Calibri"/>
              <a:cs typeface="Calibri"/>
            </a:endParaRPr>
          </a:p>
          <a:p>
            <a:r>
              <a:rPr lang="it-IT" sz="1200" dirty="0">
                <a:cs typeface="Calibri"/>
              </a:rPr>
              <a:t>2</a:t>
            </a:r>
            <a:r>
              <a:rPr lang="it-IT" sz="1200" baseline="30000" dirty="0">
                <a:cs typeface="Calibri"/>
              </a:rPr>
              <a:t>0</a:t>
            </a:r>
            <a:r>
              <a:rPr lang="it-IT" sz="1200" dirty="0">
                <a:cs typeface="Calibri"/>
              </a:rPr>
              <a:t>  </a:t>
            </a:r>
            <a:endParaRPr lang="it-IT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6971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F0A9F8E-E686-3CFD-3C67-5B389591E749}"/>
              </a:ext>
            </a:extLst>
          </p:cNvPr>
          <p:cNvSpPr txBox="1"/>
          <p:nvPr/>
        </p:nvSpPr>
        <p:spPr>
          <a:xfrm>
            <a:off x="4025080" y="172064"/>
            <a:ext cx="290666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>
                <a:cs typeface="Calibri"/>
              </a:rPr>
              <a:t>Algebra di Boole</a:t>
            </a:r>
            <a:endParaRPr lang="it-IT" sz="320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38DF72D-A61E-FC02-D7BE-5CDB97EF7639}"/>
              </a:ext>
            </a:extLst>
          </p:cNvPr>
          <p:cNvSpPr txBox="1"/>
          <p:nvPr/>
        </p:nvSpPr>
        <p:spPr>
          <a:xfrm>
            <a:off x="313402" y="1173725"/>
            <a:ext cx="11516032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>
                <a:cs typeface="Calibri"/>
              </a:rPr>
              <a:t>L'algebra di Boole è un'algebra astratta che utilizza come dominio quello costituito dai soli valori 1=Vero e 0=falso, detti valori di verità.</a:t>
            </a:r>
          </a:p>
          <a:p>
            <a:r>
              <a:rPr lang="it-IT" sz="2200">
                <a:cs typeface="Calibri"/>
              </a:rPr>
              <a:t>Una variabile booleana può quindi assumere solamente uno di questi due valori.</a:t>
            </a:r>
          </a:p>
          <a:p>
            <a:endParaRPr lang="it-IT" sz="2200">
              <a:cs typeface="Calibri"/>
            </a:endParaRPr>
          </a:p>
          <a:p>
            <a:r>
              <a:rPr lang="it-IT" sz="2200">
                <a:cs typeface="Calibri"/>
              </a:rPr>
              <a:t>Costituisce il modello matematico utilizzabile in molteplici contesti e applicazioni:</a:t>
            </a:r>
          </a:p>
          <a:p>
            <a:pPr marL="285750" indent="-285750">
              <a:buFont typeface="Calibri"/>
              <a:buChar char="-"/>
            </a:pPr>
            <a:r>
              <a:rPr lang="it-IT" sz="2200">
                <a:cs typeface="Calibri"/>
              </a:rPr>
              <a:t>Linguaggi di programmazione</a:t>
            </a:r>
          </a:p>
          <a:p>
            <a:pPr marL="285750" indent="-285750">
              <a:buFont typeface="Calibri"/>
              <a:buChar char="-"/>
            </a:pPr>
            <a:r>
              <a:rPr lang="it-IT" sz="2200">
                <a:cs typeface="Calibri"/>
              </a:rPr>
              <a:t>Teoria degli insiemi</a:t>
            </a:r>
          </a:p>
          <a:p>
            <a:pPr marL="285750" indent="-285750">
              <a:buFont typeface="Calibri"/>
              <a:buChar char="-"/>
            </a:pPr>
            <a:r>
              <a:rPr lang="it-IT" sz="2200">
                <a:cs typeface="Calibri"/>
              </a:rPr>
              <a:t>Calcolo della probabilità</a:t>
            </a:r>
          </a:p>
          <a:p>
            <a:pPr marL="285750" indent="-285750">
              <a:buFont typeface="Calibri"/>
              <a:buChar char="-"/>
            </a:pPr>
            <a:r>
              <a:rPr lang="it-IT" sz="2200">
                <a:cs typeface="Calibri"/>
              </a:rPr>
              <a:t>Crittografia</a:t>
            </a:r>
          </a:p>
          <a:p>
            <a:pPr marL="285750" indent="-285750">
              <a:buFont typeface="Calibri"/>
              <a:buChar char="-"/>
            </a:pPr>
            <a:r>
              <a:rPr lang="it-IT" sz="2200">
                <a:cs typeface="Calibri"/>
              </a:rPr>
              <a:t>Architetture dei calcolatori</a:t>
            </a:r>
          </a:p>
          <a:p>
            <a:pPr marL="285750" indent="-285750">
              <a:buFont typeface="Calibri"/>
              <a:buChar char="-"/>
            </a:pPr>
            <a:endParaRPr lang="it-IT" sz="2200">
              <a:cs typeface="Calibri"/>
            </a:endParaRPr>
          </a:p>
          <a:p>
            <a:r>
              <a:rPr lang="it-IT" sz="2200">
                <a:cs typeface="Calibri"/>
              </a:rPr>
              <a:t>L'ambito principale oggetto di studio in questo corso è il livello logico digitale di un'architettura di calcolatore.</a:t>
            </a:r>
          </a:p>
          <a:p>
            <a:r>
              <a:rPr lang="it-IT" sz="2200">
                <a:cs typeface="Calibri"/>
              </a:rPr>
              <a:t>Le porte logiche sono circuiti elettronici digitali che realizzano le operazioni booleane, e costituiscono gli elementi di base dai quali è possibile costruire circuiti sempre più complessi, fino a definire una completa architettura di un calcolatore.</a:t>
            </a:r>
          </a:p>
        </p:txBody>
      </p:sp>
    </p:spTree>
    <p:extLst>
      <p:ext uri="{BB962C8B-B14F-4D97-AF65-F5344CB8AC3E}">
        <p14:creationId xmlns:p14="http://schemas.microsoft.com/office/powerpoint/2010/main" val="627027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4A1BCA11-8BBE-FCB1-9A94-B71C11A78142}"/>
              </a:ext>
            </a:extLst>
          </p:cNvPr>
          <p:cNvSpPr txBox="1"/>
          <p:nvPr/>
        </p:nvSpPr>
        <p:spPr>
          <a:xfrm>
            <a:off x="3975919" y="258096"/>
            <a:ext cx="419099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>
                <a:cs typeface="Calibri"/>
              </a:rPr>
              <a:t>Macchine combinatorie</a:t>
            </a:r>
            <a:endParaRPr lang="it-IT" sz="320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CD10119-D3A9-6ED6-3CBE-18C5F8F4CDF4}"/>
              </a:ext>
            </a:extLst>
          </p:cNvPr>
          <p:cNvSpPr txBox="1"/>
          <p:nvPr/>
        </p:nvSpPr>
        <p:spPr>
          <a:xfrm>
            <a:off x="854177" y="1622322"/>
            <a:ext cx="4338483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Macchina astratta combinatoria: macchina rappresentata attraverso una scatola nera, ossia, è possibile osservare il suo comportamento solo attraverso le sue interazioni con il mondo esterno. Non si può quindi ispezionare il suo interno.</a:t>
            </a:r>
          </a:p>
          <a:p>
            <a:endParaRPr lang="it-IT">
              <a:cs typeface="Calibri"/>
            </a:endParaRPr>
          </a:p>
          <a:p>
            <a:endParaRPr lang="it-IT">
              <a:cs typeface="Calibri"/>
            </a:endParaRPr>
          </a:p>
          <a:p>
            <a:r>
              <a:rPr lang="it-IT">
                <a:cs typeface="Calibri"/>
              </a:rPr>
              <a:t>Genericamente, una macchina astratta combinatoria può avere n ingressi ed m uscite, tutte di tipo booleano.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DC35DE26-E4FA-1CDD-0CAD-608FB0DA2308}"/>
              </a:ext>
            </a:extLst>
          </p:cNvPr>
          <p:cNvSpPr/>
          <p:nvPr/>
        </p:nvSpPr>
        <p:spPr>
          <a:xfrm>
            <a:off x="7048499" y="1892709"/>
            <a:ext cx="2408903" cy="277761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94849FE-C22C-09DD-B49E-A85F47CACB97}"/>
              </a:ext>
            </a:extLst>
          </p:cNvPr>
          <p:cNvSpPr txBox="1"/>
          <p:nvPr/>
        </p:nvSpPr>
        <p:spPr>
          <a:xfrm>
            <a:off x="5942371" y="2310580"/>
            <a:ext cx="27432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cs typeface="Calibri"/>
              </a:rPr>
              <a:t>I</a:t>
            </a:r>
            <a:r>
              <a:rPr lang="it-IT" baseline="-25000">
                <a:cs typeface="Calibri"/>
              </a:rPr>
              <a:t>1</a:t>
            </a:r>
          </a:p>
          <a:p>
            <a:r>
              <a:rPr lang="it-IT">
                <a:cs typeface="Calibri"/>
              </a:rPr>
              <a:t>I</a:t>
            </a:r>
            <a:r>
              <a:rPr lang="it-IT" baseline="-25000">
                <a:cs typeface="Calibri"/>
              </a:rPr>
              <a:t>2</a:t>
            </a:r>
          </a:p>
          <a:p>
            <a:r>
              <a:rPr lang="it-IT">
                <a:cs typeface="Calibri"/>
              </a:rPr>
              <a:t>.</a:t>
            </a:r>
          </a:p>
          <a:p>
            <a:r>
              <a:rPr lang="it-IT">
                <a:cs typeface="Calibri"/>
              </a:rPr>
              <a:t>.</a:t>
            </a:r>
          </a:p>
          <a:p>
            <a:r>
              <a:rPr lang="it-IT">
                <a:cs typeface="Calibri"/>
              </a:rPr>
              <a:t>.</a:t>
            </a:r>
          </a:p>
          <a:p>
            <a:r>
              <a:rPr lang="it-IT">
                <a:cs typeface="Calibri"/>
              </a:rPr>
              <a:t>I</a:t>
            </a:r>
            <a:r>
              <a:rPr lang="it-IT" baseline="-25000">
                <a:cs typeface="Calibri"/>
              </a:rPr>
              <a:t>n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6601E32-CAE8-2757-15BA-4966223D965C}"/>
              </a:ext>
            </a:extLst>
          </p:cNvPr>
          <p:cNvSpPr txBox="1"/>
          <p:nvPr/>
        </p:nvSpPr>
        <p:spPr>
          <a:xfrm>
            <a:off x="10305435" y="2335161"/>
            <a:ext cx="14711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cs typeface="Calibri"/>
              </a:rPr>
              <a:t>U</a:t>
            </a:r>
            <a:r>
              <a:rPr lang="it-IT" baseline="-25000">
                <a:cs typeface="Calibri"/>
              </a:rPr>
              <a:t>1</a:t>
            </a:r>
          </a:p>
          <a:p>
            <a:r>
              <a:rPr lang="it-IT">
                <a:cs typeface="Calibri"/>
              </a:rPr>
              <a:t>U</a:t>
            </a:r>
            <a:r>
              <a:rPr lang="it-IT" baseline="-25000">
                <a:cs typeface="Calibri"/>
              </a:rPr>
              <a:t>2</a:t>
            </a:r>
          </a:p>
          <a:p>
            <a:r>
              <a:rPr lang="it-IT">
                <a:cs typeface="Calibri"/>
              </a:rPr>
              <a:t>.</a:t>
            </a:r>
          </a:p>
          <a:p>
            <a:r>
              <a:rPr lang="it-IT">
                <a:cs typeface="Calibri"/>
              </a:rPr>
              <a:t>.</a:t>
            </a:r>
          </a:p>
          <a:p>
            <a:r>
              <a:rPr lang="it-IT">
                <a:cs typeface="Calibri"/>
              </a:rPr>
              <a:t>.</a:t>
            </a:r>
          </a:p>
          <a:p>
            <a:r>
              <a:rPr lang="it-IT" err="1">
                <a:cs typeface="Calibri"/>
              </a:rPr>
              <a:t>U</a:t>
            </a:r>
            <a:r>
              <a:rPr lang="it-IT" baseline="-25000" err="1">
                <a:cs typeface="Calibri"/>
              </a:rPr>
              <a:t>m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88E3F238-09B5-4BF4-DC09-2A1469FA378F}"/>
              </a:ext>
            </a:extLst>
          </p:cNvPr>
          <p:cNvCxnSpPr/>
          <p:nvPr/>
        </p:nvCxnSpPr>
        <p:spPr>
          <a:xfrm flipV="1">
            <a:off x="6219519" y="2537336"/>
            <a:ext cx="766917" cy="737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6D9AF56D-1241-0396-76E3-0473905C2192}"/>
              </a:ext>
            </a:extLst>
          </p:cNvPr>
          <p:cNvCxnSpPr>
            <a:cxnSpLocks/>
          </p:cNvCxnSpPr>
          <p:nvPr/>
        </p:nvCxnSpPr>
        <p:spPr>
          <a:xfrm flipV="1">
            <a:off x="6219518" y="2820013"/>
            <a:ext cx="766917" cy="737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240D360C-2C28-F319-AAC0-887AE19901D8}"/>
              </a:ext>
            </a:extLst>
          </p:cNvPr>
          <p:cNvCxnSpPr>
            <a:cxnSpLocks/>
          </p:cNvCxnSpPr>
          <p:nvPr/>
        </p:nvCxnSpPr>
        <p:spPr>
          <a:xfrm flipV="1">
            <a:off x="6237954" y="3907707"/>
            <a:ext cx="766917" cy="737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ADA0D4A7-5DAB-16ED-2C07-5F5B7621F109}"/>
              </a:ext>
            </a:extLst>
          </p:cNvPr>
          <p:cNvCxnSpPr>
            <a:cxnSpLocks/>
          </p:cNvCxnSpPr>
          <p:nvPr/>
        </p:nvCxnSpPr>
        <p:spPr>
          <a:xfrm flipV="1">
            <a:off x="9507180" y="2506610"/>
            <a:ext cx="766917" cy="737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0BB8CCD0-44E1-D4C4-CF95-657E9F43B219}"/>
              </a:ext>
            </a:extLst>
          </p:cNvPr>
          <p:cNvCxnSpPr>
            <a:cxnSpLocks/>
          </p:cNvCxnSpPr>
          <p:nvPr/>
        </p:nvCxnSpPr>
        <p:spPr>
          <a:xfrm flipV="1">
            <a:off x="9537905" y="2820013"/>
            <a:ext cx="766917" cy="737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B490E6B3-861B-68AD-A99B-31E55E64721A}"/>
              </a:ext>
            </a:extLst>
          </p:cNvPr>
          <p:cNvCxnSpPr>
            <a:cxnSpLocks/>
          </p:cNvCxnSpPr>
          <p:nvPr/>
        </p:nvCxnSpPr>
        <p:spPr>
          <a:xfrm flipV="1">
            <a:off x="9507180" y="3993739"/>
            <a:ext cx="766917" cy="737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4512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9530743-1213-D368-0695-EE0E1CCF3DA3}"/>
              </a:ext>
            </a:extLst>
          </p:cNvPr>
          <p:cNvSpPr txBox="1"/>
          <p:nvPr/>
        </p:nvSpPr>
        <p:spPr>
          <a:xfrm>
            <a:off x="3716594" y="250723"/>
            <a:ext cx="475881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>
                <a:cs typeface="Calibri"/>
              </a:rPr>
              <a:t>Macchine combinatorie</a:t>
            </a:r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27E9911-ABA4-B097-34E7-3376BBA7FE58}"/>
              </a:ext>
            </a:extLst>
          </p:cNvPr>
          <p:cNvSpPr txBox="1"/>
          <p:nvPr/>
        </p:nvSpPr>
        <p:spPr>
          <a:xfrm>
            <a:off x="405580" y="1339644"/>
            <a:ext cx="1086464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Le macchine combinatorie sono </a:t>
            </a:r>
            <a:r>
              <a:rPr lang="it-IT" err="1">
                <a:cs typeface="Calibri"/>
              </a:rPr>
              <a:t>stateless</a:t>
            </a:r>
            <a:r>
              <a:rPr lang="it-IT">
                <a:cs typeface="Calibri"/>
              </a:rPr>
              <a:t>, ossia, il valore delle uscite (</a:t>
            </a:r>
            <a:r>
              <a:rPr lang="it-IT" err="1">
                <a:cs typeface="Calibri"/>
              </a:rPr>
              <a:t>U</a:t>
            </a:r>
            <a:r>
              <a:rPr lang="it-IT" baseline="-25000" err="1">
                <a:cs typeface="Calibri"/>
              </a:rPr>
              <a:t>j</a:t>
            </a:r>
            <a:r>
              <a:rPr lang="it-IT">
                <a:cs typeface="Calibri"/>
              </a:rPr>
              <a:t>) è in funzione dei soli ingressi (I</a:t>
            </a:r>
            <a:r>
              <a:rPr lang="it-IT" baseline="-25000">
                <a:cs typeface="Calibri"/>
              </a:rPr>
              <a:t>1</a:t>
            </a:r>
            <a:r>
              <a:rPr lang="it-IT">
                <a:cs typeface="Calibri"/>
              </a:rPr>
              <a:t>,…,I</a:t>
            </a:r>
            <a:r>
              <a:rPr lang="it-IT" baseline="-25000">
                <a:cs typeface="Calibri"/>
              </a:rPr>
              <a:t>n</a:t>
            </a:r>
            <a:r>
              <a:rPr lang="it-IT">
                <a:cs typeface="Calibri"/>
              </a:rPr>
              <a:t>).</a:t>
            </a:r>
          </a:p>
          <a:p>
            <a:endParaRPr lang="it-IT">
              <a:cs typeface="Calibri"/>
            </a:endParaRPr>
          </a:p>
          <a:p>
            <a:endParaRPr lang="it-IT">
              <a:cs typeface="Calibri"/>
            </a:endParaRPr>
          </a:p>
          <a:p>
            <a:endParaRPr lang="it-IT">
              <a:cs typeface="Calibri"/>
            </a:endParaRPr>
          </a:p>
          <a:p>
            <a:endParaRPr lang="it-IT">
              <a:cs typeface="Calibri"/>
            </a:endParaRPr>
          </a:p>
          <a:p>
            <a:endParaRPr lang="it-IT">
              <a:cs typeface="Calibri"/>
            </a:endParaRPr>
          </a:p>
          <a:p>
            <a:r>
              <a:rPr lang="it-IT">
                <a:cs typeface="Calibri"/>
              </a:rPr>
              <a:t>Per le macchine sequenziali, invece, l'uscita dipende sia dagli ingressi che dallo stato (S) in cui si trova la macchina. 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8C23D68-AF51-EBCD-9379-8844B86F7B27}"/>
              </a:ext>
            </a:extLst>
          </p:cNvPr>
          <p:cNvSpPr txBox="1"/>
          <p:nvPr/>
        </p:nvSpPr>
        <p:spPr>
          <a:xfrm>
            <a:off x="5137355" y="2126226"/>
            <a:ext cx="191974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err="1">
                <a:cs typeface="Calibri"/>
              </a:rPr>
              <a:t>U</a:t>
            </a:r>
            <a:r>
              <a:rPr lang="it-IT" sz="2400" baseline="-25000" err="1">
                <a:cs typeface="Calibri"/>
              </a:rPr>
              <a:t>j</a:t>
            </a:r>
            <a:r>
              <a:rPr lang="it-IT" sz="2400" baseline="-25000">
                <a:cs typeface="Calibri"/>
              </a:rPr>
              <a:t> </a:t>
            </a:r>
            <a:r>
              <a:rPr lang="it-IT" sz="2400">
                <a:cs typeface="Calibri"/>
              </a:rPr>
              <a:t>= </a:t>
            </a:r>
            <a:r>
              <a:rPr lang="it-IT" sz="2400" err="1">
                <a:cs typeface="Calibri"/>
              </a:rPr>
              <a:t>f</a:t>
            </a:r>
            <a:r>
              <a:rPr lang="it-IT" sz="2400" baseline="-25000" err="1">
                <a:cs typeface="Calibri"/>
              </a:rPr>
              <a:t>j</a:t>
            </a:r>
            <a:r>
              <a:rPr lang="it-IT" sz="2400">
                <a:ea typeface="+mn-lt"/>
                <a:cs typeface="+mn-lt"/>
              </a:rPr>
              <a:t>(I</a:t>
            </a:r>
            <a:r>
              <a:rPr lang="it-IT" sz="2400" baseline="-25000">
                <a:ea typeface="+mn-lt"/>
                <a:cs typeface="+mn-lt"/>
              </a:rPr>
              <a:t>1</a:t>
            </a:r>
            <a:r>
              <a:rPr lang="it-IT" sz="2400">
                <a:ea typeface="+mn-lt"/>
                <a:cs typeface="+mn-lt"/>
              </a:rPr>
              <a:t>,…,I</a:t>
            </a:r>
            <a:r>
              <a:rPr lang="it-IT" sz="2400" baseline="-25000">
                <a:ea typeface="+mn-lt"/>
                <a:cs typeface="+mn-lt"/>
              </a:rPr>
              <a:t>n</a:t>
            </a:r>
            <a:r>
              <a:rPr lang="it-IT" sz="2400">
                <a:ea typeface="+mn-lt"/>
                <a:cs typeface="+mn-lt"/>
              </a:rPr>
              <a:t>)</a:t>
            </a:r>
            <a:endParaRPr lang="it-IT" sz="2400" err="1">
              <a:cs typeface="Calibri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F1918B6-5A4A-15BE-C555-258696F36AC9}"/>
              </a:ext>
            </a:extLst>
          </p:cNvPr>
          <p:cNvSpPr txBox="1"/>
          <p:nvPr/>
        </p:nvSpPr>
        <p:spPr>
          <a:xfrm>
            <a:off x="5137354" y="4295467"/>
            <a:ext cx="215940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err="1">
                <a:cs typeface="Calibri"/>
              </a:rPr>
              <a:t>U</a:t>
            </a:r>
            <a:r>
              <a:rPr lang="it-IT" sz="2400" baseline="-25000" err="1">
                <a:cs typeface="Calibri"/>
              </a:rPr>
              <a:t>j</a:t>
            </a:r>
            <a:r>
              <a:rPr lang="it-IT" sz="2400" baseline="-25000">
                <a:cs typeface="Calibri"/>
              </a:rPr>
              <a:t> </a:t>
            </a:r>
            <a:r>
              <a:rPr lang="it-IT" sz="2400">
                <a:cs typeface="Calibri"/>
              </a:rPr>
              <a:t>= </a:t>
            </a:r>
            <a:r>
              <a:rPr lang="it-IT" sz="2400" err="1">
                <a:cs typeface="Calibri"/>
              </a:rPr>
              <a:t>f</a:t>
            </a:r>
            <a:r>
              <a:rPr lang="it-IT" sz="2400" baseline="-25000" err="1">
                <a:cs typeface="Calibri"/>
              </a:rPr>
              <a:t>j</a:t>
            </a:r>
            <a:r>
              <a:rPr lang="it-IT" sz="2400">
                <a:ea typeface="+mn-lt"/>
                <a:cs typeface="+mn-lt"/>
              </a:rPr>
              <a:t>(I</a:t>
            </a:r>
            <a:r>
              <a:rPr lang="it-IT" sz="2400" baseline="-25000">
                <a:ea typeface="+mn-lt"/>
                <a:cs typeface="+mn-lt"/>
              </a:rPr>
              <a:t>1</a:t>
            </a:r>
            <a:r>
              <a:rPr lang="it-IT" sz="2400">
                <a:ea typeface="+mn-lt"/>
                <a:cs typeface="+mn-lt"/>
              </a:rPr>
              <a:t>,…,I</a:t>
            </a:r>
            <a:r>
              <a:rPr lang="it-IT" sz="2400" baseline="-25000">
                <a:ea typeface="+mn-lt"/>
                <a:cs typeface="+mn-lt"/>
              </a:rPr>
              <a:t>n </a:t>
            </a:r>
            <a:r>
              <a:rPr lang="it-IT" sz="2400">
                <a:ea typeface="+mn-lt"/>
                <a:cs typeface="+mn-lt"/>
              </a:rPr>
              <a:t>,S)</a:t>
            </a:r>
            <a:endParaRPr lang="it-IT" sz="2400" err="1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56158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1CC55D7-C7C5-3459-CC15-78236262752F}"/>
              </a:ext>
            </a:extLst>
          </p:cNvPr>
          <p:cNvSpPr txBox="1"/>
          <p:nvPr/>
        </p:nvSpPr>
        <p:spPr>
          <a:xfrm>
            <a:off x="190500" y="294967"/>
            <a:ext cx="1157748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La tavola di verità permette di esplorare tutte le possibili combinazioni degli ingressi e di rappresentare il comportamento</a:t>
            </a:r>
          </a:p>
          <a:p>
            <a:r>
              <a:rPr lang="it-IT" dirty="0">
                <a:cs typeface="Calibri"/>
              </a:rPr>
              <a:t>delle uscite in corrispondenza delle combinazioni degli ingressi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FC282951-FB07-CDD4-2347-A981490A9D50}"/>
              </a:ext>
            </a:extLst>
          </p:cNvPr>
          <p:cNvSpPr/>
          <p:nvPr/>
        </p:nvSpPr>
        <p:spPr>
          <a:xfrm>
            <a:off x="2605548" y="2163096"/>
            <a:ext cx="2408903" cy="277761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EFF4559-240A-45F6-900E-55846894A749}"/>
              </a:ext>
            </a:extLst>
          </p:cNvPr>
          <p:cNvSpPr txBox="1"/>
          <p:nvPr/>
        </p:nvSpPr>
        <p:spPr>
          <a:xfrm>
            <a:off x="1499420" y="2580967"/>
            <a:ext cx="27432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cs typeface="Calibri"/>
              </a:rPr>
              <a:t>I</a:t>
            </a:r>
            <a:r>
              <a:rPr lang="it-IT" baseline="-25000">
                <a:cs typeface="Calibri"/>
              </a:rPr>
              <a:t>1</a:t>
            </a:r>
          </a:p>
          <a:p>
            <a:r>
              <a:rPr lang="it-IT">
                <a:cs typeface="Calibri"/>
              </a:rPr>
              <a:t>I</a:t>
            </a:r>
            <a:r>
              <a:rPr lang="it-IT" baseline="-25000">
                <a:cs typeface="Calibri"/>
              </a:rPr>
              <a:t>2</a:t>
            </a:r>
          </a:p>
          <a:p>
            <a:r>
              <a:rPr lang="it-IT">
                <a:cs typeface="Calibri"/>
              </a:rPr>
              <a:t>.</a:t>
            </a:r>
          </a:p>
          <a:p>
            <a:r>
              <a:rPr lang="it-IT">
                <a:cs typeface="Calibri"/>
              </a:rPr>
              <a:t>.</a:t>
            </a:r>
          </a:p>
          <a:p>
            <a:r>
              <a:rPr lang="it-IT">
                <a:cs typeface="Calibri"/>
              </a:rPr>
              <a:t>.</a:t>
            </a:r>
          </a:p>
          <a:p>
            <a:r>
              <a:rPr lang="it-IT">
                <a:cs typeface="Calibri"/>
              </a:rPr>
              <a:t>I</a:t>
            </a:r>
            <a:r>
              <a:rPr lang="it-IT" baseline="-25000">
                <a:cs typeface="Calibri"/>
              </a:rPr>
              <a:t>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218AFDA-2324-2025-244A-17BBD55E06E9}"/>
              </a:ext>
            </a:extLst>
          </p:cNvPr>
          <p:cNvSpPr txBox="1"/>
          <p:nvPr/>
        </p:nvSpPr>
        <p:spPr>
          <a:xfrm>
            <a:off x="5942371" y="3318387"/>
            <a:ext cx="14711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U</a:t>
            </a:r>
            <a:endParaRPr lang="it-IT" baseline="-25000" dirty="0">
              <a:cs typeface="Calibri"/>
            </a:endParaRP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91B4BB78-DBBD-B5F2-CDD0-12567E627BAF}"/>
              </a:ext>
            </a:extLst>
          </p:cNvPr>
          <p:cNvCxnSpPr/>
          <p:nvPr/>
        </p:nvCxnSpPr>
        <p:spPr>
          <a:xfrm flipV="1">
            <a:off x="1776568" y="2807723"/>
            <a:ext cx="766917" cy="737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184BC48B-A2DD-0ABF-25BF-E9E7589BAB85}"/>
              </a:ext>
            </a:extLst>
          </p:cNvPr>
          <p:cNvCxnSpPr>
            <a:cxnSpLocks/>
          </p:cNvCxnSpPr>
          <p:nvPr/>
        </p:nvCxnSpPr>
        <p:spPr>
          <a:xfrm flipV="1">
            <a:off x="1776567" y="3090400"/>
            <a:ext cx="766917" cy="737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DD4B2719-DA22-2574-2126-6762F2475BFC}"/>
              </a:ext>
            </a:extLst>
          </p:cNvPr>
          <p:cNvCxnSpPr>
            <a:cxnSpLocks/>
          </p:cNvCxnSpPr>
          <p:nvPr/>
        </p:nvCxnSpPr>
        <p:spPr>
          <a:xfrm flipV="1">
            <a:off x="1795003" y="4178094"/>
            <a:ext cx="766917" cy="737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0EA955B8-45FD-D3E0-F253-0139FA02F62F}"/>
              </a:ext>
            </a:extLst>
          </p:cNvPr>
          <p:cNvCxnSpPr>
            <a:cxnSpLocks/>
          </p:cNvCxnSpPr>
          <p:nvPr/>
        </p:nvCxnSpPr>
        <p:spPr>
          <a:xfrm flipV="1">
            <a:off x="5113389" y="3489835"/>
            <a:ext cx="766917" cy="737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AD91C4E-FD36-8C3B-A623-D53C9668E2D2}"/>
              </a:ext>
            </a:extLst>
          </p:cNvPr>
          <p:cNvSpPr txBox="1"/>
          <p:nvPr/>
        </p:nvSpPr>
        <p:spPr>
          <a:xfrm>
            <a:off x="3373693" y="3060290"/>
            <a:ext cx="1093839" cy="664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Funzione</a:t>
            </a:r>
          </a:p>
          <a:p>
            <a:pPr algn="l"/>
            <a:r>
              <a:rPr lang="it-IT" dirty="0">
                <a:cs typeface="Calibri"/>
              </a:rPr>
              <a:t>n-aria</a:t>
            </a:r>
          </a:p>
        </p:txBody>
      </p:sp>
      <p:sp>
        <p:nvSpPr>
          <p:cNvPr id="5" name="Parentesi graffa aperta 4">
            <a:extLst>
              <a:ext uri="{FF2B5EF4-FFF2-40B4-BE49-F238E27FC236}">
                <a16:creationId xmlns:a16="http://schemas.microsoft.com/office/drawing/2014/main" id="{A3446B1B-DCEB-EB70-3B02-BFB8768A9CA6}"/>
              </a:ext>
            </a:extLst>
          </p:cNvPr>
          <p:cNvSpPr/>
          <p:nvPr/>
        </p:nvSpPr>
        <p:spPr>
          <a:xfrm>
            <a:off x="1112273" y="2611694"/>
            <a:ext cx="368709" cy="1757516"/>
          </a:xfrm>
          <a:prstGeom prst="leftBrac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422646D-29B5-7DB9-25F5-3E2930F771F9}"/>
              </a:ext>
            </a:extLst>
          </p:cNvPr>
          <p:cNvSpPr txBox="1"/>
          <p:nvPr/>
        </p:nvSpPr>
        <p:spPr>
          <a:xfrm>
            <a:off x="626806" y="3306096"/>
            <a:ext cx="6145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2</a:t>
            </a:r>
            <a:r>
              <a:rPr lang="it-IT" baseline="30000" dirty="0">
                <a:cs typeface="Calibri"/>
              </a:rPr>
              <a:t>n</a:t>
            </a:r>
            <a:endParaRPr lang="it-IT" baseline="300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B4D44BC-748B-9C01-8129-2A326DD75DE8}"/>
              </a:ext>
            </a:extLst>
          </p:cNvPr>
          <p:cNvSpPr txBox="1"/>
          <p:nvPr/>
        </p:nvSpPr>
        <p:spPr>
          <a:xfrm>
            <a:off x="7650726" y="1782097"/>
            <a:ext cx="406195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it-IT" dirty="0">
                <a:cs typeface="Calibri"/>
              </a:rPr>
              <a:t>n input, 1 output</a:t>
            </a:r>
          </a:p>
          <a:p>
            <a:pPr marL="285750" indent="-285750">
              <a:buFont typeface="Calibri"/>
              <a:buChar char="-"/>
            </a:pPr>
            <a:r>
              <a:rPr lang="it-IT" dirty="0">
                <a:cs typeface="Calibri"/>
              </a:rPr>
              <a:t>k=2</a:t>
            </a:r>
            <a:r>
              <a:rPr lang="it-IT" baseline="30000" dirty="0">
                <a:cs typeface="Calibri"/>
              </a:rPr>
              <a:t>n</a:t>
            </a:r>
            <a:r>
              <a:rPr lang="it-IT" dirty="0">
                <a:cs typeface="Calibri"/>
              </a:rPr>
              <a:t> possibili combinazioni distinte per le variabili in ingresso </a:t>
            </a:r>
          </a:p>
          <a:p>
            <a:pPr marL="285750" indent="-285750">
              <a:buFont typeface="Calibri"/>
              <a:buChar char="-"/>
            </a:pPr>
            <a:r>
              <a:rPr lang="it-IT" dirty="0">
                <a:cs typeface="Calibri"/>
              </a:rPr>
              <a:t>2</a:t>
            </a:r>
            <a:r>
              <a:rPr lang="it-IT" baseline="30000" dirty="0">
                <a:cs typeface="Calibri"/>
              </a:rPr>
              <a:t>k</a:t>
            </a:r>
            <a:r>
              <a:rPr lang="it-IT" dirty="0">
                <a:cs typeface="Calibri"/>
              </a:rPr>
              <a:t>  possibili funzioni in input</a:t>
            </a:r>
          </a:p>
          <a:p>
            <a:pPr marL="285750" indent="-285750">
              <a:buFont typeface="Calibri"/>
              <a:buChar char="-"/>
            </a:pPr>
            <a:endParaRPr lang="it-IT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4042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3C1DA6B-3285-2FB4-8890-5610FB777359}"/>
              </a:ext>
            </a:extLst>
          </p:cNvPr>
          <p:cNvSpPr txBox="1"/>
          <p:nvPr/>
        </p:nvSpPr>
        <p:spPr>
          <a:xfrm>
            <a:off x="356419" y="172064"/>
            <a:ext cx="1085235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Si vogliono individuare delle funzioni logiche in grado di rappresentare qualsiasi funzione logica indipendentemente dall'</a:t>
            </a:r>
            <a:r>
              <a:rPr lang="it-IT" err="1">
                <a:cs typeface="Calibri"/>
              </a:rPr>
              <a:t>arità</a:t>
            </a:r>
            <a:r>
              <a:rPr lang="it-IT" dirty="0">
                <a:cs typeface="Calibri"/>
              </a:rPr>
              <a:t> della funzione</a:t>
            </a:r>
          </a:p>
          <a:p>
            <a:r>
              <a:rPr lang="it-IT" dirty="0">
                <a:cs typeface="Calibri"/>
              </a:rPr>
              <a:t>Esempio: Funzioni unarie, n=1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B793C3B8-3759-5E98-1D2F-1945B2669A5C}"/>
              </a:ext>
            </a:extLst>
          </p:cNvPr>
          <p:cNvSpPr/>
          <p:nvPr/>
        </p:nvSpPr>
        <p:spPr>
          <a:xfrm>
            <a:off x="4787080" y="1567016"/>
            <a:ext cx="1573162" cy="1210596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151B5C9-E3F6-2597-085E-2C25CC7C242A}"/>
              </a:ext>
            </a:extLst>
          </p:cNvPr>
          <p:cNvSpPr txBox="1"/>
          <p:nvPr/>
        </p:nvSpPr>
        <p:spPr>
          <a:xfrm>
            <a:off x="3742404" y="1941871"/>
            <a:ext cx="27432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I</a:t>
            </a:r>
            <a:endParaRPr lang="it-IT" baseline="-25000" dirty="0">
              <a:cs typeface="Calibri"/>
            </a:endParaRPr>
          </a:p>
          <a:p>
            <a:endParaRPr lang="it-IT" baseline="-25000" dirty="0"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AB1FF32-947F-C107-ED18-9A70FC9A6C04}"/>
              </a:ext>
            </a:extLst>
          </p:cNvPr>
          <p:cNvSpPr txBox="1"/>
          <p:nvPr/>
        </p:nvSpPr>
        <p:spPr>
          <a:xfrm>
            <a:off x="7165258" y="1978742"/>
            <a:ext cx="14711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U</a:t>
            </a:r>
            <a:endParaRPr lang="it-IT" baseline="-25000" dirty="0">
              <a:cs typeface="Calibri"/>
            </a:endParaRP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2E1D5A35-67B1-7D7C-E8F9-F253619EB6C2}"/>
              </a:ext>
            </a:extLst>
          </p:cNvPr>
          <p:cNvCxnSpPr/>
          <p:nvPr/>
        </p:nvCxnSpPr>
        <p:spPr>
          <a:xfrm flipV="1">
            <a:off x="4019552" y="2168627"/>
            <a:ext cx="766917" cy="737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46E1EA77-A592-36A9-2B61-A44F711084DA}"/>
              </a:ext>
            </a:extLst>
          </p:cNvPr>
          <p:cNvCxnSpPr>
            <a:cxnSpLocks/>
          </p:cNvCxnSpPr>
          <p:nvPr/>
        </p:nvCxnSpPr>
        <p:spPr>
          <a:xfrm flipV="1">
            <a:off x="6336276" y="2150190"/>
            <a:ext cx="766917" cy="737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1E29207D-D24B-CD50-3701-FDC7C2F80263}"/>
              </a:ext>
            </a:extLst>
          </p:cNvPr>
          <p:cNvSpPr txBox="1"/>
          <p:nvPr/>
        </p:nvSpPr>
        <p:spPr>
          <a:xfrm>
            <a:off x="1327355" y="4737919"/>
            <a:ext cx="29005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Inserire qui tabella 1.3 pp 13</a:t>
            </a:r>
            <a:endParaRPr lang="it-IT"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C37C9CDA-982C-DCB9-A24B-0E896C8858E9}"/>
              </a:ext>
            </a:extLst>
          </p:cNvPr>
          <p:cNvSpPr txBox="1"/>
          <p:nvPr/>
        </p:nvSpPr>
        <p:spPr>
          <a:xfrm>
            <a:off x="7195984" y="3926758"/>
            <a:ext cx="457199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Combinazioni distinte in ingresso: k=2</a:t>
            </a:r>
            <a:r>
              <a:rPr lang="it-IT" baseline="30000" dirty="0">
                <a:cs typeface="Calibri"/>
              </a:rPr>
              <a:t>n</a:t>
            </a:r>
            <a:r>
              <a:rPr lang="it-IT" dirty="0">
                <a:cs typeface="Calibri"/>
              </a:rPr>
              <a:t>=2</a:t>
            </a:r>
          </a:p>
          <a:p>
            <a:r>
              <a:rPr lang="it-IT" dirty="0">
                <a:cs typeface="Calibri"/>
              </a:rPr>
              <a:t>Possibili funzioni: 2</a:t>
            </a:r>
            <a:r>
              <a:rPr lang="it-IT" baseline="30000" dirty="0">
                <a:cs typeface="Calibri"/>
              </a:rPr>
              <a:t>k</a:t>
            </a:r>
            <a:r>
              <a:rPr lang="it-IT" dirty="0">
                <a:cs typeface="Calibri"/>
              </a:rPr>
              <a:t>=4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La tavola di verità contiene tutte le possibili funzioni definibili a partire da due variabili</a:t>
            </a:r>
          </a:p>
        </p:txBody>
      </p:sp>
    </p:spTree>
    <p:extLst>
      <p:ext uri="{BB962C8B-B14F-4D97-AF65-F5344CB8AC3E}">
        <p14:creationId xmlns:p14="http://schemas.microsoft.com/office/powerpoint/2010/main" val="1303831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518E4EE-7DFF-7A9A-9CE9-A52B228B3CA3}"/>
              </a:ext>
            </a:extLst>
          </p:cNvPr>
          <p:cNvSpPr txBox="1"/>
          <p:nvPr/>
        </p:nvSpPr>
        <p:spPr>
          <a:xfrm>
            <a:off x="571499" y="294968"/>
            <a:ext cx="36256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Esempio: funzioni binarie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42FD8C3-BF1D-05AE-2988-7B3FF8E6B2EC}"/>
              </a:ext>
            </a:extLst>
          </p:cNvPr>
          <p:cNvSpPr txBox="1"/>
          <p:nvPr/>
        </p:nvSpPr>
        <p:spPr>
          <a:xfrm>
            <a:off x="4479822" y="2390467"/>
            <a:ext cx="273459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Inserire tabella 1.4 pp 14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525771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5D19AE2-9E84-5345-87B6-23282B1DA532}"/>
              </a:ext>
            </a:extLst>
          </p:cNvPr>
          <p:cNvSpPr txBox="1"/>
          <p:nvPr/>
        </p:nvSpPr>
        <p:spPr>
          <a:xfrm>
            <a:off x="4842387" y="165918"/>
            <a:ext cx="294967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>
                <a:cs typeface="Calibri"/>
              </a:rPr>
              <a:t>Operatori logici</a:t>
            </a:r>
            <a:endParaRPr lang="it-IT" sz="320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346DCF2-CBE6-C3F2-CA9A-BE4FC9D7DCA0}"/>
              </a:ext>
            </a:extLst>
          </p:cNvPr>
          <p:cNvSpPr txBox="1"/>
          <p:nvPr/>
        </p:nvSpPr>
        <p:spPr>
          <a:xfrm>
            <a:off x="620661" y="1063112"/>
            <a:ext cx="8836741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Negazione (NOT):</a:t>
            </a:r>
          </a:p>
          <a:p>
            <a:r>
              <a:rPr lang="it-IT">
                <a:cs typeface="Calibri"/>
              </a:rPr>
              <a:t>Il risultato è 1 se l'operando in input è 0, mentre il risultato è 0 se l'operando in input è 1.</a:t>
            </a:r>
          </a:p>
          <a:p>
            <a:endParaRPr lang="it-IT">
              <a:cs typeface="Calibri"/>
            </a:endParaRPr>
          </a:p>
          <a:p>
            <a:r>
              <a:rPr lang="it-IT">
                <a:cs typeface="Calibri"/>
              </a:rPr>
              <a:t>Proprietà: Eliminazione di un numero pari di negazioni     A = A</a:t>
            </a:r>
          </a:p>
          <a:p>
            <a:endParaRPr lang="it-IT">
              <a:cs typeface="Calibri"/>
            </a:endParaRPr>
          </a:p>
          <a:p>
            <a:endParaRPr lang="it-IT">
              <a:cs typeface="Calibri"/>
            </a:endParaRPr>
          </a:p>
          <a:p>
            <a:r>
              <a:rPr lang="it-IT">
                <a:cs typeface="Calibri"/>
              </a:rPr>
              <a:t>Congiunzione logica (AND):</a:t>
            </a:r>
          </a:p>
          <a:p>
            <a:r>
              <a:rPr lang="it-IT">
                <a:cs typeface="Calibri"/>
              </a:rPr>
              <a:t>Il risultato è 1 se e solo se tutti gli operandi sono 1. Specularmente, il risultato è 0 se esiste almeno un operando al valore 0.</a:t>
            </a:r>
          </a:p>
          <a:p>
            <a:endParaRPr lang="it-IT">
              <a:cs typeface="Calibri"/>
            </a:endParaRPr>
          </a:p>
          <a:p>
            <a:r>
              <a:rPr lang="it-IT">
                <a:cs typeface="Calibri"/>
              </a:rPr>
              <a:t>Proprietà:</a:t>
            </a:r>
          </a:p>
          <a:p>
            <a:r>
              <a:rPr lang="it-IT">
                <a:cs typeface="Calibri"/>
              </a:rPr>
              <a:t>Idempotenza                         A</a:t>
            </a:r>
            <a:r>
              <a:rPr lang="it-IT">
                <a:ea typeface="+mn-lt"/>
                <a:cs typeface="+mn-lt"/>
              </a:rPr>
              <a:t>⋅</a:t>
            </a:r>
            <a:r>
              <a:rPr lang="it-IT">
                <a:cs typeface="Calibri"/>
              </a:rPr>
              <a:t>A=A</a:t>
            </a:r>
          </a:p>
          <a:p>
            <a:r>
              <a:rPr lang="it-IT">
                <a:cs typeface="Calibri"/>
              </a:rPr>
              <a:t>Commutativa                        A</a:t>
            </a:r>
            <a:r>
              <a:rPr lang="it-IT">
                <a:ea typeface="+mn-lt"/>
                <a:cs typeface="+mn-lt"/>
              </a:rPr>
              <a:t>⋅</a:t>
            </a:r>
            <a:r>
              <a:rPr lang="it-IT">
                <a:cs typeface="Calibri"/>
              </a:rPr>
              <a:t>B=B</a:t>
            </a:r>
            <a:r>
              <a:rPr lang="it-IT">
                <a:ea typeface="+mn-lt"/>
                <a:cs typeface="+mn-lt"/>
              </a:rPr>
              <a:t>⋅</a:t>
            </a:r>
            <a:r>
              <a:rPr lang="it-IT">
                <a:cs typeface="Calibri"/>
              </a:rPr>
              <a:t>A</a:t>
            </a:r>
          </a:p>
          <a:p>
            <a:r>
              <a:rPr lang="it-IT">
                <a:cs typeface="Calibri"/>
              </a:rPr>
              <a:t>Associativa                            A</a:t>
            </a:r>
            <a:r>
              <a:rPr lang="it-IT">
                <a:ea typeface="+mn-lt"/>
                <a:cs typeface="+mn-lt"/>
              </a:rPr>
              <a:t>⋅</a:t>
            </a:r>
            <a:r>
              <a:rPr lang="it-IT">
                <a:cs typeface="Calibri"/>
              </a:rPr>
              <a:t>(B</a:t>
            </a:r>
            <a:r>
              <a:rPr lang="it-IT">
                <a:ea typeface="+mn-lt"/>
                <a:cs typeface="+mn-lt"/>
              </a:rPr>
              <a:t>⋅</a:t>
            </a:r>
            <a:r>
              <a:rPr lang="it-IT">
                <a:cs typeface="Calibri"/>
              </a:rPr>
              <a:t>C) = (A</a:t>
            </a:r>
            <a:r>
              <a:rPr lang="it-IT">
                <a:ea typeface="+mn-lt"/>
                <a:cs typeface="+mn-lt"/>
              </a:rPr>
              <a:t>⋅</a:t>
            </a:r>
            <a:r>
              <a:rPr lang="it-IT">
                <a:cs typeface="Calibri"/>
              </a:rPr>
              <a:t>B)</a:t>
            </a:r>
            <a:r>
              <a:rPr lang="it-IT">
                <a:ea typeface="+mn-lt"/>
                <a:cs typeface="+mn-lt"/>
              </a:rPr>
              <a:t>⋅</a:t>
            </a:r>
            <a:r>
              <a:rPr lang="it-IT">
                <a:cs typeface="Calibri"/>
              </a:rPr>
              <a:t>C</a:t>
            </a:r>
          </a:p>
          <a:p>
            <a:r>
              <a:rPr lang="it-IT">
                <a:cs typeface="Calibri"/>
              </a:rPr>
              <a:t>Elemento neutro                 1</a:t>
            </a:r>
            <a:r>
              <a:rPr lang="it-IT">
                <a:ea typeface="+mn-lt"/>
                <a:cs typeface="+mn-lt"/>
              </a:rPr>
              <a:t>⋅</a:t>
            </a:r>
            <a:r>
              <a:rPr lang="it-IT">
                <a:cs typeface="Calibri"/>
              </a:rPr>
              <a:t>A = A</a:t>
            </a:r>
          </a:p>
          <a:p>
            <a:r>
              <a:rPr lang="it-IT">
                <a:cs typeface="Calibri"/>
              </a:rPr>
              <a:t>Elemento assorbente         0</a:t>
            </a:r>
            <a:r>
              <a:rPr lang="it-IT">
                <a:ea typeface="+mn-lt"/>
                <a:cs typeface="+mn-lt"/>
              </a:rPr>
              <a:t>⋅</a:t>
            </a:r>
            <a:r>
              <a:rPr lang="it-IT">
                <a:cs typeface="Calibri"/>
              </a:rPr>
              <a:t>A=0</a:t>
            </a:r>
          </a:p>
          <a:p>
            <a:r>
              <a:rPr lang="it-IT">
                <a:cs typeface="Calibri"/>
              </a:rPr>
              <a:t>Complementi                       A</a:t>
            </a:r>
            <a:r>
              <a:rPr lang="it-IT">
                <a:ea typeface="+mn-lt"/>
                <a:cs typeface="+mn-lt"/>
              </a:rPr>
              <a:t>⋅</a:t>
            </a:r>
            <a:r>
              <a:rPr lang="it-IT">
                <a:cs typeface="Calibri"/>
              </a:rPr>
              <a:t>A = 0 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44460B19-B8E5-5D9A-4932-79D3F5325A36}"/>
              </a:ext>
            </a:extLst>
          </p:cNvPr>
          <p:cNvCxnSpPr/>
          <p:nvPr/>
        </p:nvCxnSpPr>
        <p:spPr>
          <a:xfrm flipV="1">
            <a:off x="6317840" y="1971982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3E8F61DE-ECFB-427F-0124-BA6FF8F09142}"/>
              </a:ext>
            </a:extLst>
          </p:cNvPr>
          <p:cNvCxnSpPr>
            <a:cxnSpLocks/>
          </p:cNvCxnSpPr>
          <p:nvPr/>
        </p:nvCxnSpPr>
        <p:spPr>
          <a:xfrm flipV="1">
            <a:off x="6317839" y="1910530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B8738406-8B29-0E7A-D917-361D8315D14A}"/>
              </a:ext>
            </a:extLst>
          </p:cNvPr>
          <p:cNvCxnSpPr>
            <a:cxnSpLocks/>
          </p:cNvCxnSpPr>
          <p:nvPr/>
        </p:nvCxnSpPr>
        <p:spPr>
          <a:xfrm flipV="1">
            <a:off x="3134645" y="5476016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8549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6441A5FF-86B9-AF7E-D2BB-FB96EC8D24D3}"/>
              </a:ext>
            </a:extLst>
          </p:cNvPr>
          <p:cNvSpPr txBox="1"/>
          <p:nvPr/>
        </p:nvSpPr>
        <p:spPr>
          <a:xfrm>
            <a:off x="4842387" y="165918"/>
            <a:ext cx="294967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>
                <a:cs typeface="Calibri"/>
              </a:rPr>
              <a:t>Operatori logici</a:t>
            </a:r>
            <a:endParaRPr lang="it-IT" sz="320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366DCE7-1D2C-F221-41A0-BD54CA3CC4B8}"/>
              </a:ext>
            </a:extLst>
          </p:cNvPr>
          <p:cNvSpPr txBox="1"/>
          <p:nvPr/>
        </p:nvSpPr>
        <p:spPr>
          <a:xfrm>
            <a:off x="613287" y="1129480"/>
            <a:ext cx="10068232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Disgiunzione logica (OR):</a:t>
            </a:r>
            <a:r>
              <a:rPr lang="en-US"/>
              <a:t>​</a:t>
            </a:r>
          </a:p>
          <a:p>
            <a:r>
              <a:rPr lang="it-IT"/>
              <a:t>Il risultato è 1 se e solo se almeno un operando è 1. Specularmente, il valore è 0 se e solo se tutti gli operandi sono 0.</a:t>
            </a:r>
            <a:r>
              <a:rPr lang="en-US"/>
              <a:t>​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it-IT"/>
              <a:t>​</a:t>
            </a:r>
            <a:r>
              <a:rPr lang="it-IT">
                <a:ea typeface="+mn-lt"/>
                <a:cs typeface="+mn-lt"/>
              </a:rPr>
              <a:t>Proprietà:</a:t>
            </a:r>
            <a:r>
              <a:rPr lang="en-US">
                <a:ea typeface="+mn-lt"/>
                <a:cs typeface="+mn-lt"/>
              </a:rPr>
              <a:t> </a:t>
            </a:r>
          </a:p>
          <a:p>
            <a:r>
              <a:rPr lang="it-IT">
                <a:ea typeface="+mn-lt"/>
                <a:cs typeface="+mn-lt"/>
              </a:rPr>
              <a:t>Idempotenza                         A+A=A</a:t>
            </a:r>
            <a:r>
              <a:rPr lang="en-US">
                <a:ea typeface="+mn-lt"/>
                <a:cs typeface="+mn-lt"/>
              </a:rPr>
              <a:t> </a:t>
            </a:r>
          </a:p>
          <a:p>
            <a:r>
              <a:rPr lang="it-IT">
                <a:ea typeface="+mn-lt"/>
                <a:cs typeface="+mn-lt"/>
              </a:rPr>
              <a:t>Commutativa                        A+B=B+A</a:t>
            </a:r>
            <a:r>
              <a:rPr lang="en-US">
                <a:ea typeface="+mn-lt"/>
                <a:cs typeface="+mn-lt"/>
              </a:rPr>
              <a:t> </a:t>
            </a:r>
          </a:p>
          <a:p>
            <a:r>
              <a:rPr lang="it-IT">
                <a:ea typeface="+mn-lt"/>
                <a:cs typeface="+mn-lt"/>
              </a:rPr>
              <a:t>Associativa                            A+(B+C) = (A+B)+C</a:t>
            </a:r>
            <a:r>
              <a:rPr lang="en-US">
                <a:ea typeface="+mn-lt"/>
                <a:cs typeface="+mn-lt"/>
              </a:rPr>
              <a:t> </a:t>
            </a:r>
          </a:p>
          <a:p>
            <a:r>
              <a:rPr lang="it-IT">
                <a:ea typeface="+mn-lt"/>
                <a:cs typeface="+mn-lt"/>
              </a:rPr>
              <a:t>Elemento neutro                 0+A = A</a:t>
            </a:r>
            <a:r>
              <a:rPr lang="en-US">
                <a:ea typeface="+mn-lt"/>
                <a:cs typeface="+mn-lt"/>
              </a:rPr>
              <a:t> </a:t>
            </a:r>
            <a:endParaRPr lang="en-US"/>
          </a:p>
          <a:p>
            <a:r>
              <a:rPr lang="it-IT">
                <a:ea typeface="+mn-lt"/>
                <a:cs typeface="+mn-lt"/>
              </a:rPr>
              <a:t>Elemento assorbente         1⋅A=1 </a:t>
            </a:r>
            <a:endParaRPr lang="en-US">
              <a:ea typeface="+mn-lt"/>
              <a:cs typeface="+mn-lt"/>
            </a:endParaRPr>
          </a:p>
          <a:p>
            <a:r>
              <a:rPr lang="it-IT">
                <a:ea typeface="+mn-lt"/>
                <a:cs typeface="+mn-lt"/>
              </a:rPr>
              <a:t>Complementi                       A⋅A = 1</a:t>
            </a:r>
            <a:endParaRPr lang="en-US">
              <a:cs typeface="Calibri"/>
            </a:endParaRPr>
          </a:p>
          <a:p>
            <a:r>
              <a:rPr lang="it-IT"/>
              <a:t>​</a:t>
            </a:r>
            <a:endParaRPr lang="it-IT">
              <a:cs typeface="Calibri"/>
            </a:endParaRPr>
          </a:p>
          <a:p>
            <a:r>
              <a:rPr lang="it-IT"/>
              <a:t>​</a:t>
            </a:r>
            <a:endParaRPr lang="it-IT">
              <a:cs typeface="Calibri"/>
            </a:endParaRPr>
          </a:p>
          <a:p>
            <a:endParaRPr lang="en-US">
              <a:cs typeface="Calibri"/>
            </a:endParaRPr>
          </a:p>
          <a:p>
            <a:r>
              <a:rPr lang="it-IT"/>
              <a:t>​</a:t>
            </a:r>
            <a:endParaRPr lang="it-IT">
              <a:cs typeface="Calibri"/>
            </a:endParaRPr>
          </a:p>
          <a:p>
            <a:endParaRPr lang="en-US">
              <a:cs typeface="Calibri"/>
            </a:endParaRP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E374F1EB-CDD8-E28F-DCE8-75F75D9CCF16}"/>
              </a:ext>
            </a:extLst>
          </p:cNvPr>
          <p:cNvCxnSpPr>
            <a:cxnSpLocks/>
          </p:cNvCxnSpPr>
          <p:nvPr/>
        </p:nvCxnSpPr>
        <p:spPr>
          <a:xfrm flipV="1">
            <a:off x="3128500" y="3876657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8481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DEF4EFD4-25FC-8485-F428-68ACF2031839}"/>
              </a:ext>
            </a:extLst>
          </p:cNvPr>
          <p:cNvSpPr txBox="1"/>
          <p:nvPr/>
        </p:nvSpPr>
        <p:spPr>
          <a:xfrm>
            <a:off x="4842387" y="165918"/>
            <a:ext cx="294967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>
                <a:cs typeface="Calibri"/>
              </a:rPr>
              <a:t>Operatori logici</a:t>
            </a:r>
            <a:endParaRPr lang="it-IT" sz="320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2250AED-983F-6341-C7BB-28AE4CBA7BA2}"/>
              </a:ext>
            </a:extLst>
          </p:cNvPr>
          <p:cNvSpPr txBox="1"/>
          <p:nvPr/>
        </p:nvSpPr>
        <p:spPr>
          <a:xfrm>
            <a:off x="602225" y="1235177"/>
            <a:ext cx="10418505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Disgiunzione logica esclusiva (XOR o EXOR):</a:t>
            </a:r>
          </a:p>
          <a:p>
            <a:r>
              <a:rPr lang="it-IT" dirty="0">
                <a:cs typeface="Calibri"/>
              </a:rPr>
              <a:t>Il risultato è 1 se e solo se un numero dispari di operandi valgono 1. Specularmente, il risultato è 0 se e solo se un numero pari di operandi valgono 1</a:t>
            </a:r>
            <a:endParaRPr lang="it-IT" dirty="0">
              <a:ea typeface="Calibri"/>
              <a:cs typeface="Calibri"/>
            </a:endParaRPr>
          </a:p>
          <a:p>
            <a:endParaRPr lang="it-IT">
              <a:cs typeface="Calibri"/>
            </a:endParaRPr>
          </a:p>
          <a:p>
            <a:r>
              <a:rPr lang="it-IT" dirty="0">
                <a:cs typeface="Calibri"/>
              </a:rPr>
              <a:t>Proprietà: Conversione    A    B = A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cs typeface="Calibri"/>
              </a:rPr>
              <a:t>B + A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cs typeface="Calibri"/>
              </a:rPr>
              <a:t>B</a:t>
            </a:r>
            <a:endParaRPr lang="it-IT" dirty="0">
              <a:ea typeface="Calibri"/>
              <a:cs typeface="Calibri"/>
            </a:endParaRPr>
          </a:p>
          <a:p>
            <a:endParaRPr lang="it-IT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Altre proprietà tra gli operatori: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Distributiva di AND rispetto ad OR         A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(B+C) = A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B + A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C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Distributiva di OR rispetto ad AND         A+(B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C) = (A+B)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(A+C)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Primo teorema dell'assorbimento          A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(A+B) = A                 A+A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B=A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Secondo teorema dell'assorbimento     A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(A+B)=A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B                A+A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B=A+B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Teorema di De Morgan                             A+B=A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B                      A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B=A+B</a:t>
            </a:r>
          </a:p>
        </p:txBody>
      </p:sp>
      <p:sp>
        <p:nvSpPr>
          <p:cNvPr id="2" name="O 1">
            <a:extLst>
              <a:ext uri="{FF2B5EF4-FFF2-40B4-BE49-F238E27FC236}">
                <a16:creationId xmlns:a16="http://schemas.microsoft.com/office/drawing/2014/main" id="{501D9CC6-A1C0-17BB-5968-01BFE9F937E6}"/>
              </a:ext>
            </a:extLst>
          </p:cNvPr>
          <p:cNvSpPr/>
          <p:nvPr/>
        </p:nvSpPr>
        <p:spPr>
          <a:xfrm>
            <a:off x="3167022" y="2444155"/>
            <a:ext cx="135195" cy="135195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DE4EC2F9-082B-1AE2-07FA-054E9EB3B8A5}"/>
              </a:ext>
            </a:extLst>
          </p:cNvPr>
          <p:cNvCxnSpPr>
            <a:cxnSpLocks/>
          </p:cNvCxnSpPr>
          <p:nvPr/>
        </p:nvCxnSpPr>
        <p:spPr>
          <a:xfrm flipV="1">
            <a:off x="3669274" y="2408287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BF0CF31B-491B-3D29-1CDC-5BC9539163A1}"/>
              </a:ext>
            </a:extLst>
          </p:cNvPr>
          <p:cNvCxnSpPr>
            <a:cxnSpLocks/>
          </p:cNvCxnSpPr>
          <p:nvPr/>
        </p:nvCxnSpPr>
        <p:spPr>
          <a:xfrm flipV="1">
            <a:off x="4406694" y="2408287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55B4B917-1E27-7AB3-753D-35828E66E0D7}"/>
              </a:ext>
            </a:extLst>
          </p:cNvPr>
          <p:cNvCxnSpPr>
            <a:cxnSpLocks/>
          </p:cNvCxnSpPr>
          <p:nvPr/>
        </p:nvCxnSpPr>
        <p:spPr>
          <a:xfrm flipV="1">
            <a:off x="4554177" y="5136738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FD58DF5E-70CE-BB69-DEF2-1D323B77A087}"/>
              </a:ext>
            </a:extLst>
          </p:cNvPr>
          <p:cNvCxnSpPr>
            <a:cxnSpLocks/>
          </p:cNvCxnSpPr>
          <p:nvPr/>
        </p:nvCxnSpPr>
        <p:spPr>
          <a:xfrm flipV="1">
            <a:off x="6502193" y="5136738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97836034-E31F-993C-1C82-4E8A50A842B9}"/>
              </a:ext>
            </a:extLst>
          </p:cNvPr>
          <p:cNvCxnSpPr>
            <a:cxnSpLocks/>
          </p:cNvCxnSpPr>
          <p:nvPr/>
        </p:nvCxnSpPr>
        <p:spPr>
          <a:xfrm flipV="1">
            <a:off x="6713393" y="5631909"/>
            <a:ext cx="121675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B896174F-ECD1-4A05-C148-3FDB698A03E7}"/>
              </a:ext>
            </a:extLst>
          </p:cNvPr>
          <p:cNvCxnSpPr>
            <a:cxnSpLocks/>
          </p:cNvCxnSpPr>
          <p:nvPr/>
        </p:nvCxnSpPr>
        <p:spPr>
          <a:xfrm flipV="1">
            <a:off x="6926209" y="5631909"/>
            <a:ext cx="121675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AF49F09-9061-7187-BD60-F1FFE2CA8344}"/>
              </a:ext>
            </a:extLst>
          </p:cNvPr>
          <p:cNvCxnSpPr>
            <a:cxnSpLocks/>
          </p:cNvCxnSpPr>
          <p:nvPr/>
        </p:nvCxnSpPr>
        <p:spPr>
          <a:xfrm flipV="1">
            <a:off x="4779930" y="5631908"/>
            <a:ext cx="121675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7917AC92-1F05-A20D-FC53-E269F056383C}"/>
              </a:ext>
            </a:extLst>
          </p:cNvPr>
          <p:cNvCxnSpPr>
            <a:cxnSpLocks/>
          </p:cNvCxnSpPr>
          <p:nvPr/>
        </p:nvCxnSpPr>
        <p:spPr>
          <a:xfrm flipV="1">
            <a:off x="5004391" y="5631909"/>
            <a:ext cx="121675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D9183C20-0FA2-32D6-DD36-3ED1950C871F}"/>
              </a:ext>
            </a:extLst>
          </p:cNvPr>
          <p:cNvCxnSpPr>
            <a:cxnSpLocks/>
          </p:cNvCxnSpPr>
          <p:nvPr/>
        </p:nvCxnSpPr>
        <p:spPr>
          <a:xfrm flipV="1">
            <a:off x="4302225" y="5631909"/>
            <a:ext cx="392062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B9A82532-3DF3-FC2B-4255-B0197D23BF0E}"/>
              </a:ext>
            </a:extLst>
          </p:cNvPr>
          <p:cNvCxnSpPr>
            <a:cxnSpLocks/>
          </p:cNvCxnSpPr>
          <p:nvPr/>
        </p:nvCxnSpPr>
        <p:spPr>
          <a:xfrm flipV="1">
            <a:off x="6231805" y="5631908"/>
            <a:ext cx="336755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7263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59A9D173-8CAB-7DE0-C87C-DEB3497AF8F2}"/>
              </a:ext>
            </a:extLst>
          </p:cNvPr>
          <p:cNvSpPr txBox="1"/>
          <p:nvPr/>
        </p:nvSpPr>
        <p:spPr>
          <a:xfrm>
            <a:off x="299638" y="461280"/>
            <a:ext cx="1161356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Le proprietà appena enunciate possono essere tutte dimostrate mediante tavola di verità o algebricamente</a:t>
            </a:r>
          </a:p>
          <a:p>
            <a:r>
              <a:rPr lang="it-IT" dirty="0">
                <a:ea typeface="Calibri"/>
                <a:cs typeface="Calibri"/>
              </a:rPr>
              <a:t>Esempio: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C707E01-0AE8-048F-D743-C60008251AE6}"/>
              </a:ext>
            </a:extLst>
          </p:cNvPr>
          <p:cNvSpPr txBox="1"/>
          <p:nvPr/>
        </p:nvSpPr>
        <p:spPr>
          <a:xfrm>
            <a:off x="4613787" y="14859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A⋅(A+B) = A</a:t>
            </a:r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4B75FC0-927A-AA67-CDCC-3FDA10EDB340}"/>
              </a:ext>
            </a:extLst>
          </p:cNvPr>
          <p:cNvSpPr txBox="1"/>
          <p:nvPr/>
        </p:nvSpPr>
        <p:spPr>
          <a:xfrm>
            <a:off x="3730113" y="3607209"/>
            <a:ext cx="34658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Inserire tavola verità pp 17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795210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3D8AC38-7974-0F96-73C2-4AFBC70328D6}"/>
              </a:ext>
            </a:extLst>
          </p:cNvPr>
          <p:cNvSpPr txBox="1"/>
          <p:nvPr/>
        </p:nvSpPr>
        <p:spPr>
          <a:xfrm>
            <a:off x="3907536" y="115824"/>
            <a:ext cx="385267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 dirty="0">
                <a:ea typeface="Calibri"/>
                <a:cs typeface="Calibri"/>
              </a:rPr>
              <a:t>Espressioni booleane</a:t>
            </a:r>
            <a:endParaRPr lang="it-IT" sz="32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60E7470-B620-2B6F-53A2-0BA21669589E}"/>
              </a:ext>
            </a:extLst>
          </p:cNvPr>
          <p:cNvSpPr txBox="1"/>
          <p:nvPr/>
        </p:nvSpPr>
        <p:spPr>
          <a:xfrm>
            <a:off x="115823" y="774192"/>
            <a:ext cx="1196644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Esistono diverse notazioni per esprimere le funzioni booleane:</a:t>
            </a:r>
          </a:p>
          <a:p>
            <a:endParaRPr lang="it-IT" dirty="0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it-IT" dirty="0">
                <a:ea typeface="Calibri"/>
                <a:cs typeface="Calibri"/>
              </a:rPr>
              <a:t>Notazione algebrica, ad esempio:  Y = (A+B)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C</a:t>
            </a:r>
          </a:p>
          <a:p>
            <a:pPr marL="285750" indent="-285750">
              <a:buFont typeface="Calibri"/>
              <a:buChar char="-"/>
            </a:pPr>
            <a:endParaRPr lang="it-IT" dirty="0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it-IT" dirty="0">
                <a:ea typeface="Calibri"/>
                <a:cs typeface="Calibri"/>
              </a:rPr>
              <a:t>Notazione logica, ad esempio : Y = (A </a:t>
            </a:r>
            <a:r>
              <a:rPr lang="it-IT" dirty="0">
                <a:ea typeface="+mn-lt"/>
                <a:cs typeface="+mn-lt"/>
              </a:rPr>
              <a:t>∨¬B)</a:t>
            </a:r>
            <a:r>
              <a:rPr lang="en" dirty="0">
                <a:ea typeface="+mn-lt"/>
                <a:cs typeface="+mn-lt"/>
              </a:rPr>
              <a:t>∧C</a:t>
            </a:r>
          </a:p>
          <a:p>
            <a:pPr marL="285750" indent="-285750">
              <a:buFont typeface="Calibri"/>
              <a:buChar char="-"/>
            </a:pPr>
            <a:endParaRPr lang="it-IT" dirty="0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it-IT" dirty="0">
                <a:ea typeface="Calibri"/>
                <a:cs typeface="Calibri"/>
              </a:rPr>
              <a:t>Rappresentazione grafica mediante circuito, ad esempio: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2F60C10B-8269-CD9B-1DC7-601D5FA4B2BB}"/>
              </a:ext>
            </a:extLst>
          </p:cNvPr>
          <p:cNvCxnSpPr>
            <a:cxnSpLocks/>
          </p:cNvCxnSpPr>
          <p:nvPr/>
        </p:nvCxnSpPr>
        <p:spPr>
          <a:xfrm flipV="1">
            <a:off x="4277891" y="1380718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magine 18" descr="Immagine che contiene diagramma, schizzo, linea, design&#10;&#10;Descrizione generata automaticamente">
            <a:extLst>
              <a:ext uri="{FF2B5EF4-FFF2-40B4-BE49-F238E27FC236}">
                <a16:creationId xmlns:a16="http://schemas.microsoft.com/office/drawing/2014/main" id="{624AF290-3FB1-86FF-646D-450719A1B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548" y="3365716"/>
            <a:ext cx="6096000" cy="2609213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AAA8089B-749E-C33A-E927-5BC1A953D34A}"/>
              </a:ext>
            </a:extLst>
          </p:cNvPr>
          <p:cNvSpPr txBox="1"/>
          <p:nvPr/>
        </p:nvSpPr>
        <p:spPr>
          <a:xfrm>
            <a:off x="2562532" y="3803854"/>
            <a:ext cx="58993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ea typeface="Calibri"/>
                <a:cs typeface="Calibri"/>
              </a:rPr>
              <a:t>A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B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725269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29646E10-7D70-43D1-8B66-AD4D0B50C80A}"/>
              </a:ext>
            </a:extLst>
          </p:cNvPr>
          <p:cNvSpPr txBox="1"/>
          <p:nvPr/>
        </p:nvSpPr>
        <p:spPr>
          <a:xfrm>
            <a:off x="3047999" y="1782096"/>
            <a:ext cx="58071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Inserire schema circuiti digitali e relative notazioni</a:t>
            </a:r>
          </a:p>
          <a:p>
            <a:r>
              <a:rPr lang="it-IT" dirty="0">
                <a:cs typeface="Calibri"/>
              </a:rPr>
              <a:t>Tabella 1.5 pp 19</a:t>
            </a:r>
          </a:p>
        </p:txBody>
      </p:sp>
    </p:spTree>
    <p:extLst>
      <p:ext uri="{BB962C8B-B14F-4D97-AF65-F5344CB8AC3E}">
        <p14:creationId xmlns:p14="http://schemas.microsoft.com/office/powerpoint/2010/main" val="28772315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68D8CD1B-6F2C-8ED2-A543-A2AA3AE7FA2C}"/>
              </a:ext>
            </a:extLst>
          </p:cNvPr>
          <p:cNvSpPr txBox="1"/>
          <p:nvPr/>
        </p:nvSpPr>
        <p:spPr>
          <a:xfrm>
            <a:off x="3907536" y="115824"/>
            <a:ext cx="385267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 dirty="0">
                <a:ea typeface="Calibri"/>
                <a:cs typeface="Calibri"/>
              </a:rPr>
              <a:t>Espressioni booleane</a:t>
            </a:r>
            <a:endParaRPr lang="it-IT" sz="32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186AD93-1357-9738-193B-8F1376152208}"/>
              </a:ext>
            </a:extLst>
          </p:cNvPr>
          <p:cNvSpPr txBox="1"/>
          <p:nvPr/>
        </p:nvSpPr>
        <p:spPr>
          <a:xfrm>
            <a:off x="233516" y="1099984"/>
            <a:ext cx="116205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Esistono delle regole di precedenza tra gli operatori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NOT ha la maggior priorità rispetto a tutti gli altri.</a:t>
            </a:r>
          </a:p>
          <a:p>
            <a:r>
              <a:rPr lang="it-IT" dirty="0">
                <a:ea typeface="Calibri"/>
                <a:cs typeface="Calibri"/>
              </a:rPr>
              <a:t>Di seguito vengono rispettivamente AND ed OR.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Esempio:      A B+C</a:t>
            </a:r>
          </a:p>
          <a:p>
            <a:r>
              <a:rPr lang="it-IT" dirty="0">
                <a:ea typeface="Calibri"/>
                <a:cs typeface="Calibri"/>
              </a:rPr>
              <a:t>Si calcolano, in ordine:</a:t>
            </a:r>
          </a:p>
          <a:p>
            <a:pPr marL="285750" indent="-285750">
              <a:buFont typeface="Calibri"/>
              <a:buChar char="-"/>
            </a:pPr>
            <a:r>
              <a:rPr lang="it-IT" dirty="0">
                <a:ea typeface="Calibri"/>
                <a:cs typeface="Calibri"/>
              </a:rPr>
              <a:t>B+C = X</a:t>
            </a:r>
          </a:p>
          <a:p>
            <a:pPr marL="285750" indent="-285750">
              <a:buFont typeface="Calibri"/>
              <a:buChar char="-"/>
            </a:pPr>
            <a:r>
              <a:rPr lang="it-IT" dirty="0">
                <a:ea typeface="Calibri"/>
                <a:cs typeface="Calibri"/>
              </a:rPr>
              <a:t>B+C = X = Y</a:t>
            </a:r>
          </a:p>
          <a:p>
            <a:pPr marL="285750" indent="-285750">
              <a:buFont typeface="Calibri"/>
              <a:buChar char="-"/>
            </a:pPr>
            <a:r>
              <a:rPr lang="it-IT" dirty="0">
                <a:ea typeface="Calibri"/>
                <a:cs typeface="Calibri"/>
              </a:rPr>
              <a:t>A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 panose="020F0502020204030204"/>
                <a:cs typeface="Calibri" panose="020F0502020204030204"/>
              </a:rPr>
              <a:t> B+C = A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 panose="020F0502020204030204"/>
                <a:cs typeface="Calibri" panose="020F0502020204030204"/>
              </a:rPr>
              <a:t>Y</a:t>
            </a:r>
            <a:endParaRPr lang="it-IT" dirty="0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55C2CBD1-AB8F-0379-8993-99812F449F5D}"/>
              </a:ext>
            </a:extLst>
          </p:cNvPr>
          <p:cNvCxnSpPr>
            <a:cxnSpLocks/>
          </p:cNvCxnSpPr>
          <p:nvPr/>
        </p:nvCxnSpPr>
        <p:spPr>
          <a:xfrm flipV="1">
            <a:off x="1682123" y="2527310"/>
            <a:ext cx="349045" cy="737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54A5A90-9903-5EAB-077E-235DF959F7A7}"/>
              </a:ext>
            </a:extLst>
          </p:cNvPr>
          <p:cNvSpPr txBox="1"/>
          <p:nvPr/>
        </p:nvSpPr>
        <p:spPr>
          <a:xfrm>
            <a:off x="1516626" y="2481416"/>
            <a:ext cx="2605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ea typeface="Calibri"/>
                <a:cs typeface="Calibri"/>
              </a:rPr>
              <a:t>⋅</a:t>
            </a:r>
            <a:endParaRPr lang="it-IT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F4197831-4A62-D4F3-C4BF-679FD6FFCF66}"/>
              </a:ext>
            </a:extLst>
          </p:cNvPr>
          <p:cNvCxnSpPr>
            <a:cxnSpLocks/>
          </p:cNvCxnSpPr>
          <p:nvPr/>
        </p:nvCxnSpPr>
        <p:spPr>
          <a:xfrm flipV="1">
            <a:off x="621274" y="3322945"/>
            <a:ext cx="349045" cy="737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D4C5603F-1F63-99C8-48DA-06E34577AFD8}"/>
              </a:ext>
            </a:extLst>
          </p:cNvPr>
          <p:cNvCxnSpPr>
            <a:cxnSpLocks/>
          </p:cNvCxnSpPr>
          <p:nvPr/>
        </p:nvCxnSpPr>
        <p:spPr>
          <a:xfrm flipV="1">
            <a:off x="1168193" y="3322945"/>
            <a:ext cx="146254" cy="737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79CAC402-1AB2-5865-0CCD-D7E7F0678E9B}"/>
              </a:ext>
            </a:extLst>
          </p:cNvPr>
          <p:cNvCxnSpPr>
            <a:cxnSpLocks/>
          </p:cNvCxnSpPr>
          <p:nvPr/>
        </p:nvCxnSpPr>
        <p:spPr>
          <a:xfrm flipV="1">
            <a:off x="889396" y="3579424"/>
            <a:ext cx="349045" cy="737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15638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02557B58-14E0-1B17-537B-B447221B8B76}"/>
              </a:ext>
            </a:extLst>
          </p:cNvPr>
          <p:cNvSpPr txBox="1"/>
          <p:nvPr/>
        </p:nvSpPr>
        <p:spPr>
          <a:xfrm>
            <a:off x="3557262" y="109679"/>
            <a:ext cx="508170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 dirty="0">
                <a:ea typeface="Calibri"/>
                <a:cs typeface="Calibri"/>
              </a:rPr>
              <a:t>Definizione di nuove funzioni</a:t>
            </a:r>
            <a:endParaRPr lang="it-IT" sz="32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5D14BDC-9909-06BC-2DF5-4602F853040A}"/>
              </a:ext>
            </a:extLst>
          </p:cNvPr>
          <p:cNvSpPr txBox="1"/>
          <p:nvPr/>
        </p:nvSpPr>
        <p:spPr>
          <a:xfrm>
            <a:off x="215080" y="1020096"/>
            <a:ext cx="11866306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E' possibile descrivere completamente qualsiasi funzione, in termini delle variabili in ingresso, attraverso un'espressione logica.</a:t>
            </a:r>
          </a:p>
          <a:p>
            <a:r>
              <a:rPr lang="it-IT" dirty="0">
                <a:ea typeface="Calibri"/>
                <a:cs typeface="Calibri"/>
              </a:rPr>
              <a:t>Esistono due approcci, complementari e duali.</a:t>
            </a:r>
          </a:p>
          <a:p>
            <a:endParaRPr lang="it-IT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it-IT" dirty="0">
                <a:ea typeface="Calibri"/>
                <a:cs typeface="Calibri"/>
              </a:rPr>
              <a:t>Forma canonica disgiuntiva:</a:t>
            </a:r>
          </a:p>
          <a:p>
            <a:r>
              <a:rPr lang="it-IT" dirty="0">
                <a:ea typeface="Calibri"/>
                <a:cs typeface="Calibri"/>
              </a:rPr>
              <a:t>  A= E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P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W + E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P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W + E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P</a:t>
            </a:r>
            <a:r>
              <a:rPr lang="it-IT" dirty="0">
                <a:ea typeface="+mn-lt"/>
                <a:cs typeface="+mn-lt"/>
              </a:rPr>
              <a:t>⋅</a:t>
            </a:r>
            <a:r>
              <a:rPr lang="it-IT" dirty="0">
                <a:ea typeface="Calibri"/>
                <a:cs typeface="Calibri"/>
              </a:rPr>
              <a:t>W </a:t>
            </a:r>
          </a:p>
          <a:p>
            <a:endParaRPr lang="it-IT" dirty="0">
              <a:ea typeface="Calibri"/>
              <a:cs typeface="Calibri"/>
            </a:endParaRP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2.   Forma canonica congiuntiva:</a:t>
            </a:r>
          </a:p>
          <a:p>
            <a:r>
              <a:rPr lang="it-IT" dirty="0">
                <a:ea typeface="Calibri"/>
                <a:cs typeface="Calibri"/>
              </a:rPr>
              <a:t>  A = (E+P+W)</a:t>
            </a:r>
            <a:r>
              <a:rPr lang="it-IT" dirty="0">
                <a:ea typeface="+mn-lt"/>
                <a:cs typeface="+mn-lt"/>
              </a:rPr>
              <a:t>⋅(E+P+W)⋅(E+P+W)⋅(E+P+W)⋅(E+P+W)</a:t>
            </a: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F0CCC431-09B9-9C58-9652-A4DB26E37995}"/>
              </a:ext>
            </a:extLst>
          </p:cNvPr>
          <p:cNvCxnSpPr>
            <a:cxnSpLocks/>
          </p:cNvCxnSpPr>
          <p:nvPr/>
        </p:nvCxnSpPr>
        <p:spPr>
          <a:xfrm flipV="1">
            <a:off x="1205064" y="2463593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A4D91D1-2027-A76B-2FCE-2B327E33E676}"/>
              </a:ext>
            </a:extLst>
          </p:cNvPr>
          <p:cNvCxnSpPr>
            <a:cxnSpLocks/>
          </p:cNvCxnSpPr>
          <p:nvPr/>
        </p:nvCxnSpPr>
        <p:spPr>
          <a:xfrm flipV="1">
            <a:off x="1450871" y="2463593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E606F4AF-0EE1-254D-571E-BD0A485F06C8}"/>
              </a:ext>
            </a:extLst>
          </p:cNvPr>
          <p:cNvCxnSpPr>
            <a:cxnSpLocks/>
          </p:cNvCxnSpPr>
          <p:nvPr/>
        </p:nvCxnSpPr>
        <p:spPr>
          <a:xfrm flipV="1">
            <a:off x="2022371" y="2463593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44586F5B-8988-0AF4-36D7-88AAD11E1BBA}"/>
              </a:ext>
            </a:extLst>
          </p:cNvPr>
          <p:cNvCxnSpPr>
            <a:cxnSpLocks/>
          </p:cNvCxnSpPr>
          <p:nvPr/>
        </p:nvCxnSpPr>
        <p:spPr>
          <a:xfrm flipV="1">
            <a:off x="3048613" y="2463593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797BF5E1-F042-272C-B77E-703A4F63C9DD}"/>
              </a:ext>
            </a:extLst>
          </p:cNvPr>
          <p:cNvCxnSpPr>
            <a:cxnSpLocks/>
          </p:cNvCxnSpPr>
          <p:nvPr/>
        </p:nvCxnSpPr>
        <p:spPr>
          <a:xfrm flipV="1">
            <a:off x="2510102" y="3525734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8D5303C8-D614-2DA3-88DC-38FCAE2E8090}"/>
              </a:ext>
            </a:extLst>
          </p:cNvPr>
          <p:cNvCxnSpPr>
            <a:cxnSpLocks/>
          </p:cNvCxnSpPr>
          <p:nvPr/>
        </p:nvCxnSpPr>
        <p:spPr>
          <a:xfrm flipV="1">
            <a:off x="3116209" y="3525735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1FD49CA4-099D-0A8B-8474-35525C6F5219}"/>
              </a:ext>
            </a:extLst>
          </p:cNvPr>
          <p:cNvCxnSpPr>
            <a:cxnSpLocks/>
          </p:cNvCxnSpPr>
          <p:nvPr/>
        </p:nvCxnSpPr>
        <p:spPr>
          <a:xfrm flipV="1">
            <a:off x="3994967" y="3525735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C3381F24-8A74-B88E-0705-63C554BE2940}"/>
              </a:ext>
            </a:extLst>
          </p:cNvPr>
          <p:cNvCxnSpPr>
            <a:cxnSpLocks/>
          </p:cNvCxnSpPr>
          <p:nvPr/>
        </p:nvCxnSpPr>
        <p:spPr>
          <a:xfrm flipV="1">
            <a:off x="4271499" y="3525734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7D22DC0A-5F49-1E92-8E9D-82F579C7B463}"/>
              </a:ext>
            </a:extLst>
          </p:cNvPr>
          <p:cNvCxnSpPr>
            <a:cxnSpLocks/>
          </p:cNvCxnSpPr>
          <p:nvPr/>
        </p:nvCxnSpPr>
        <p:spPr>
          <a:xfrm flipV="1">
            <a:off x="4634063" y="3545141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4EE5E91A-F134-7848-5906-5481F8988E03}"/>
              </a:ext>
            </a:extLst>
          </p:cNvPr>
          <p:cNvCxnSpPr>
            <a:cxnSpLocks/>
          </p:cNvCxnSpPr>
          <p:nvPr/>
        </p:nvCxnSpPr>
        <p:spPr>
          <a:xfrm flipV="1">
            <a:off x="4873725" y="3545141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5F1E1124-2B88-E835-B1F9-68440418EDDE}"/>
              </a:ext>
            </a:extLst>
          </p:cNvPr>
          <p:cNvCxnSpPr>
            <a:cxnSpLocks/>
          </p:cNvCxnSpPr>
          <p:nvPr/>
        </p:nvCxnSpPr>
        <p:spPr>
          <a:xfrm flipV="1">
            <a:off x="5131821" y="3545140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DCDEEE9-31F7-B500-9866-84F215F1AD8D}"/>
              </a:ext>
            </a:extLst>
          </p:cNvPr>
          <p:cNvSpPr txBox="1"/>
          <p:nvPr/>
        </p:nvSpPr>
        <p:spPr>
          <a:xfrm>
            <a:off x="7294306" y="2476500"/>
            <a:ext cx="26977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Inserire tavola verità pp 21</a:t>
            </a:r>
          </a:p>
        </p:txBody>
      </p:sp>
    </p:spTree>
    <p:extLst>
      <p:ext uri="{BB962C8B-B14F-4D97-AF65-F5344CB8AC3E}">
        <p14:creationId xmlns:p14="http://schemas.microsoft.com/office/powerpoint/2010/main" val="9541434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22A29CB2-DFEE-DB93-21B4-52D97569625C}"/>
              </a:ext>
            </a:extLst>
          </p:cNvPr>
          <p:cNvSpPr txBox="1"/>
          <p:nvPr/>
        </p:nvSpPr>
        <p:spPr>
          <a:xfrm>
            <a:off x="374854" y="301112"/>
            <a:ext cx="89535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Estratto esercizio 1 pagina 35</a:t>
            </a:r>
          </a:p>
          <a:p>
            <a:r>
              <a:rPr lang="it-IT" dirty="0">
                <a:cs typeface="Calibri"/>
              </a:rPr>
              <a:t>Scrivere la tabella di verità che contiene la valutazione della seguente espressione logica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G(A,B) = A + B + AB + A+B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469D4040-CC3F-4434-0647-0C65DE26818A}"/>
              </a:ext>
            </a:extLst>
          </p:cNvPr>
          <p:cNvCxnSpPr>
            <a:cxnSpLocks/>
          </p:cNvCxnSpPr>
          <p:nvPr/>
        </p:nvCxnSpPr>
        <p:spPr>
          <a:xfrm flipV="1">
            <a:off x="1260371" y="1216126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BE92B877-E150-4748-9391-D63E2579DC78}"/>
              </a:ext>
            </a:extLst>
          </p:cNvPr>
          <p:cNvCxnSpPr>
            <a:cxnSpLocks/>
          </p:cNvCxnSpPr>
          <p:nvPr/>
        </p:nvCxnSpPr>
        <p:spPr>
          <a:xfrm flipV="1">
            <a:off x="2071533" y="1216126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E8BDC350-55C6-541C-043A-9B5015B9B0A9}"/>
              </a:ext>
            </a:extLst>
          </p:cNvPr>
          <p:cNvCxnSpPr>
            <a:cxnSpLocks/>
          </p:cNvCxnSpPr>
          <p:nvPr/>
        </p:nvCxnSpPr>
        <p:spPr>
          <a:xfrm flipV="1">
            <a:off x="2667613" y="1216126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C509365A-6EFD-FBEF-B8C5-031CA5D3869D}"/>
              </a:ext>
            </a:extLst>
          </p:cNvPr>
          <p:cNvCxnSpPr>
            <a:cxnSpLocks/>
          </p:cNvCxnSpPr>
          <p:nvPr/>
        </p:nvCxnSpPr>
        <p:spPr>
          <a:xfrm flipV="1">
            <a:off x="2421807" y="1154674"/>
            <a:ext cx="435076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F5F828B-381C-C75B-7187-F9FE3F267378}"/>
              </a:ext>
            </a:extLst>
          </p:cNvPr>
          <p:cNvSpPr txBox="1"/>
          <p:nvPr/>
        </p:nvSpPr>
        <p:spPr>
          <a:xfrm>
            <a:off x="3828435" y="1763661"/>
            <a:ext cx="52418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2 variabili           4 possibili interpretazioni</a:t>
            </a:r>
            <a:endParaRPr lang="it-IT" dirty="0" err="1"/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5029E653-F536-2A0D-3354-E7C224A97218}"/>
              </a:ext>
            </a:extLst>
          </p:cNvPr>
          <p:cNvCxnSpPr/>
          <p:nvPr/>
        </p:nvCxnSpPr>
        <p:spPr>
          <a:xfrm>
            <a:off x="4853756" y="1947093"/>
            <a:ext cx="496530" cy="49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BC761C6-990F-E297-7987-BBD04E6DC8EA}"/>
              </a:ext>
            </a:extLst>
          </p:cNvPr>
          <p:cNvSpPr txBox="1"/>
          <p:nvPr/>
        </p:nvSpPr>
        <p:spPr>
          <a:xfrm>
            <a:off x="5161934" y="2679290"/>
            <a:ext cx="122288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A          B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0          0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0          1 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1          0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1          1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DCC0B170-28C6-443D-63F3-95265AEC28FC}"/>
              </a:ext>
            </a:extLst>
          </p:cNvPr>
          <p:cNvCxnSpPr/>
          <p:nvPr/>
        </p:nvCxnSpPr>
        <p:spPr>
          <a:xfrm>
            <a:off x="5637264" y="2644570"/>
            <a:ext cx="4916" cy="265348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553419BA-CB33-79A7-7072-9B8A70C5BAC7}"/>
              </a:ext>
            </a:extLst>
          </p:cNvPr>
          <p:cNvCxnSpPr>
            <a:cxnSpLocks/>
          </p:cNvCxnSpPr>
          <p:nvPr/>
        </p:nvCxnSpPr>
        <p:spPr>
          <a:xfrm flipH="1" flipV="1">
            <a:off x="5119841" y="3024340"/>
            <a:ext cx="1045906" cy="737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8996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5C70474-2FF5-4197-F0BF-07F32FC2831F}"/>
              </a:ext>
            </a:extLst>
          </p:cNvPr>
          <p:cNvSpPr txBox="1"/>
          <p:nvPr/>
        </p:nvSpPr>
        <p:spPr>
          <a:xfrm>
            <a:off x="301112" y="294967"/>
            <a:ext cx="10784758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Per (A,B) = (0,0) 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ea typeface="+mn-lt"/>
                <a:cs typeface="+mn-lt"/>
              </a:rPr>
              <a:t>G(A,B) = A + B + AB + A+B = 0 + 0 + 00 + 0+0 = 1 + 0 + 01 + 0+1 = 1 + 0 + 0 + 1 = 1+0+0+0 = 1</a:t>
            </a:r>
          </a:p>
          <a:p>
            <a:endParaRPr lang="it-IT" dirty="0">
              <a:ea typeface="+mn-lt"/>
              <a:cs typeface="+mn-lt"/>
            </a:endParaRPr>
          </a:p>
          <a:p>
            <a:r>
              <a:rPr lang="it-IT" dirty="0">
                <a:ea typeface="+mn-lt"/>
                <a:cs typeface="+mn-lt"/>
              </a:rPr>
              <a:t>Per (A,B) = (0,1) </a:t>
            </a:r>
          </a:p>
          <a:p>
            <a:endParaRPr lang="it-IT" dirty="0">
              <a:ea typeface="+mn-lt"/>
              <a:cs typeface="+mn-lt"/>
            </a:endParaRPr>
          </a:p>
          <a:p>
            <a:r>
              <a:rPr lang="it-IT" dirty="0">
                <a:ea typeface="+mn-lt"/>
                <a:cs typeface="+mn-lt"/>
              </a:rPr>
              <a:t>G(A,B) = A + B + AB + A+B = 0 + 1 + 01 + 0+1  = 1 + 1 + 0 + 1 = 1</a:t>
            </a:r>
          </a:p>
          <a:p>
            <a:endParaRPr lang="it-IT" dirty="0">
              <a:ea typeface="+mn-lt"/>
              <a:cs typeface="+mn-lt"/>
            </a:endParaRPr>
          </a:p>
          <a:p>
            <a:r>
              <a:rPr lang="it-IT" dirty="0">
                <a:ea typeface="+mn-lt"/>
                <a:cs typeface="+mn-lt"/>
              </a:rPr>
              <a:t>Per (A,B) = (1,0)</a:t>
            </a:r>
          </a:p>
          <a:p>
            <a:endParaRPr lang="it-IT" dirty="0">
              <a:ea typeface="+mn-lt"/>
              <a:cs typeface="+mn-lt"/>
            </a:endParaRPr>
          </a:p>
          <a:p>
            <a:r>
              <a:rPr lang="it-IT" dirty="0">
                <a:ea typeface="+mn-lt"/>
                <a:cs typeface="+mn-lt"/>
              </a:rPr>
              <a:t>G(A,B) = A + B + AB + A+B = 1 + 0 + 10 + 1+0  = 0 + 0 + 1 + 0 = 1</a:t>
            </a:r>
          </a:p>
          <a:p>
            <a:endParaRPr lang="it-IT" dirty="0">
              <a:ea typeface="+mn-lt"/>
              <a:cs typeface="+mn-lt"/>
            </a:endParaRPr>
          </a:p>
          <a:p>
            <a:r>
              <a:rPr lang="it-IT" dirty="0">
                <a:ea typeface="+mn-lt"/>
                <a:cs typeface="+mn-lt"/>
              </a:rPr>
              <a:t>Per (A,A) = (1,1)</a:t>
            </a:r>
          </a:p>
          <a:p>
            <a:endParaRPr lang="it-IT" dirty="0">
              <a:ea typeface="+mn-lt"/>
              <a:cs typeface="+mn-lt"/>
            </a:endParaRPr>
          </a:p>
          <a:p>
            <a:r>
              <a:rPr lang="it-IT" dirty="0">
                <a:ea typeface="+mn-lt"/>
                <a:cs typeface="+mn-lt"/>
              </a:rPr>
              <a:t>G(A,B) =  A + B + AB + A+B = 1 + 1 + 11 + 1 + 1 = 0 + 1 + 0 + 0 = 1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22278583-2D19-03D5-0259-65707F8AA6AF}"/>
              </a:ext>
            </a:extLst>
          </p:cNvPr>
          <p:cNvCxnSpPr>
            <a:cxnSpLocks/>
          </p:cNvCxnSpPr>
          <p:nvPr/>
        </p:nvCxnSpPr>
        <p:spPr>
          <a:xfrm flipV="1">
            <a:off x="1223500" y="921158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ADFC67B5-EC05-F3CB-BB3F-A2E70C89DCB3}"/>
              </a:ext>
            </a:extLst>
          </p:cNvPr>
          <p:cNvCxnSpPr>
            <a:cxnSpLocks/>
          </p:cNvCxnSpPr>
          <p:nvPr/>
        </p:nvCxnSpPr>
        <p:spPr>
          <a:xfrm flipV="1">
            <a:off x="2003936" y="921158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DC9FD161-E80C-D3A4-325B-ED6D4BB720F4}"/>
              </a:ext>
            </a:extLst>
          </p:cNvPr>
          <p:cNvCxnSpPr>
            <a:cxnSpLocks/>
          </p:cNvCxnSpPr>
          <p:nvPr/>
        </p:nvCxnSpPr>
        <p:spPr>
          <a:xfrm flipV="1">
            <a:off x="2581581" y="902723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0488512A-B864-7F13-B9D3-7AD1450EC8CE}"/>
              </a:ext>
            </a:extLst>
          </p:cNvPr>
          <p:cNvCxnSpPr>
            <a:cxnSpLocks/>
          </p:cNvCxnSpPr>
          <p:nvPr/>
        </p:nvCxnSpPr>
        <p:spPr>
          <a:xfrm flipV="1">
            <a:off x="2360356" y="841271"/>
            <a:ext cx="435076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3C3AE36D-BE62-E1FE-CE32-0B84A26AA599}"/>
              </a:ext>
            </a:extLst>
          </p:cNvPr>
          <p:cNvCxnSpPr>
            <a:cxnSpLocks/>
          </p:cNvCxnSpPr>
          <p:nvPr/>
        </p:nvCxnSpPr>
        <p:spPr>
          <a:xfrm flipV="1">
            <a:off x="2962580" y="921157"/>
            <a:ext cx="133965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6D67DCD9-9F3E-1DBE-3A15-F944E1A35C56}"/>
              </a:ext>
            </a:extLst>
          </p:cNvPr>
          <p:cNvCxnSpPr>
            <a:cxnSpLocks/>
          </p:cNvCxnSpPr>
          <p:nvPr/>
        </p:nvCxnSpPr>
        <p:spPr>
          <a:xfrm flipV="1">
            <a:off x="3724580" y="921157"/>
            <a:ext cx="15240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ED09E356-4ACE-BCDD-018D-8350D5A054B0}"/>
              </a:ext>
            </a:extLst>
          </p:cNvPr>
          <p:cNvCxnSpPr>
            <a:cxnSpLocks/>
          </p:cNvCxnSpPr>
          <p:nvPr/>
        </p:nvCxnSpPr>
        <p:spPr>
          <a:xfrm flipV="1">
            <a:off x="4265355" y="896577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B2760C09-E68C-A6FD-4A8B-CE2DAD6D9C8E}"/>
              </a:ext>
            </a:extLst>
          </p:cNvPr>
          <p:cNvCxnSpPr>
            <a:cxnSpLocks/>
          </p:cNvCxnSpPr>
          <p:nvPr/>
        </p:nvCxnSpPr>
        <p:spPr>
          <a:xfrm flipV="1">
            <a:off x="4044130" y="835125"/>
            <a:ext cx="435076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6845BC72-0280-CCA1-A3CA-2999D51B27C9}"/>
              </a:ext>
            </a:extLst>
          </p:cNvPr>
          <p:cNvCxnSpPr>
            <a:cxnSpLocks/>
          </p:cNvCxnSpPr>
          <p:nvPr/>
        </p:nvCxnSpPr>
        <p:spPr>
          <a:xfrm flipV="1">
            <a:off x="5727903" y="927302"/>
            <a:ext cx="435076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385100F2-051B-8A9F-86E7-9CB00E88A4D2}"/>
              </a:ext>
            </a:extLst>
          </p:cNvPr>
          <p:cNvCxnSpPr>
            <a:cxnSpLocks/>
          </p:cNvCxnSpPr>
          <p:nvPr/>
        </p:nvCxnSpPr>
        <p:spPr>
          <a:xfrm flipV="1">
            <a:off x="7307208" y="933447"/>
            <a:ext cx="133965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32B7B363-7692-B595-B5EE-9A0EF8F7CAA3}"/>
              </a:ext>
            </a:extLst>
          </p:cNvPr>
          <p:cNvCxnSpPr>
            <a:cxnSpLocks/>
          </p:cNvCxnSpPr>
          <p:nvPr/>
        </p:nvCxnSpPr>
        <p:spPr>
          <a:xfrm flipV="1">
            <a:off x="1199115" y="2024534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62E52088-0A6C-0B71-EFBE-C0B804188169}"/>
              </a:ext>
            </a:extLst>
          </p:cNvPr>
          <p:cNvCxnSpPr>
            <a:cxnSpLocks/>
          </p:cNvCxnSpPr>
          <p:nvPr/>
        </p:nvCxnSpPr>
        <p:spPr>
          <a:xfrm flipV="1">
            <a:off x="2003936" y="2024534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7B23B5FE-416B-0CCA-EECD-746E28C7D956}"/>
              </a:ext>
            </a:extLst>
          </p:cNvPr>
          <p:cNvCxnSpPr>
            <a:cxnSpLocks/>
          </p:cNvCxnSpPr>
          <p:nvPr/>
        </p:nvCxnSpPr>
        <p:spPr>
          <a:xfrm flipV="1">
            <a:off x="2360356" y="1938550"/>
            <a:ext cx="435076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2C450F8B-BE71-6B7E-D84E-577488DAD9C8}"/>
              </a:ext>
            </a:extLst>
          </p:cNvPr>
          <p:cNvCxnSpPr>
            <a:cxnSpLocks/>
          </p:cNvCxnSpPr>
          <p:nvPr/>
        </p:nvCxnSpPr>
        <p:spPr>
          <a:xfrm flipV="1">
            <a:off x="2605965" y="1993906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2EE172F6-6C45-9348-340A-74FE7E84742D}"/>
              </a:ext>
            </a:extLst>
          </p:cNvPr>
          <p:cNvCxnSpPr>
            <a:cxnSpLocks/>
          </p:cNvCxnSpPr>
          <p:nvPr/>
        </p:nvCxnSpPr>
        <p:spPr>
          <a:xfrm flipV="1">
            <a:off x="2942571" y="2018438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52528FCE-6F57-6E4F-C635-532930446628}"/>
              </a:ext>
            </a:extLst>
          </p:cNvPr>
          <p:cNvCxnSpPr>
            <a:cxnSpLocks/>
          </p:cNvCxnSpPr>
          <p:nvPr/>
        </p:nvCxnSpPr>
        <p:spPr>
          <a:xfrm flipV="1">
            <a:off x="3747392" y="2024534"/>
            <a:ext cx="12831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14BAEE76-5898-CBE2-5DAD-5636927E038E}"/>
              </a:ext>
            </a:extLst>
          </p:cNvPr>
          <p:cNvCxnSpPr>
            <a:cxnSpLocks/>
          </p:cNvCxnSpPr>
          <p:nvPr/>
        </p:nvCxnSpPr>
        <p:spPr>
          <a:xfrm flipV="1">
            <a:off x="4128196" y="1969030"/>
            <a:ext cx="349732" cy="732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BDA52CB3-4C14-3DB0-8855-3303D46FA3AA}"/>
              </a:ext>
            </a:extLst>
          </p:cNvPr>
          <p:cNvCxnSpPr>
            <a:cxnSpLocks/>
          </p:cNvCxnSpPr>
          <p:nvPr/>
        </p:nvCxnSpPr>
        <p:spPr>
          <a:xfrm flipV="1">
            <a:off x="4276269" y="2024386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E48ECB-C4E6-FD1B-B9F9-B9C226C0DB4E}"/>
              </a:ext>
            </a:extLst>
          </p:cNvPr>
          <p:cNvCxnSpPr>
            <a:cxnSpLocks/>
          </p:cNvCxnSpPr>
          <p:nvPr/>
        </p:nvCxnSpPr>
        <p:spPr>
          <a:xfrm flipV="1">
            <a:off x="2952597" y="3035508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0296E99E-D136-4D1E-3230-28D4623CC9F1}"/>
              </a:ext>
            </a:extLst>
          </p:cNvPr>
          <p:cNvCxnSpPr>
            <a:cxnSpLocks/>
          </p:cNvCxnSpPr>
          <p:nvPr/>
        </p:nvCxnSpPr>
        <p:spPr>
          <a:xfrm flipV="1">
            <a:off x="3757418" y="3065586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BAD78F4B-168F-A3D7-7CCD-9BB212DB32FA}"/>
              </a:ext>
            </a:extLst>
          </p:cNvPr>
          <p:cNvCxnSpPr>
            <a:cxnSpLocks/>
          </p:cNvCxnSpPr>
          <p:nvPr/>
        </p:nvCxnSpPr>
        <p:spPr>
          <a:xfrm flipV="1">
            <a:off x="4065070" y="3026205"/>
            <a:ext cx="435076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1DE0D4A2-6C68-D44C-B207-7FE285EF3612}"/>
              </a:ext>
            </a:extLst>
          </p:cNvPr>
          <p:cNvCxnSpPr>
            <a:cxnSpLocks/>
          </p:cNvCxnSpPr>
          <p:nvPr/>
        </p:nvCxnSpPr>
        <p:spPr>
          <a:xfrm flipV="1">
            <a:off x="4288461" y="3075465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20ED9C17-FF22-A2E0-9280-E4C48020A546}"/>
              </a:ext>
            </a:extLst>
          </p:cNvPr>
          <p:cNvCxnSpPr>
            <a:cxnSpLocks/>
          </p:cNvCxnSpPr>
          <p:nvPr/>
        </p:nvCxnSpPr>
        <p:spPr>
          <a:xfrm flipV="1">
            <a:off x="1221333" y="3071682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0FD732BF-42DE-056E-40F8-D48F8832C20B}"/>
              </a:ext>
            </a:extLst>
          </p:cNvPr>
          <p:cNvCxnSpPr>
            <a:cxnSpLocks/>
          </p:cNvCxnSpPr>
          <p:nvPr/>
        </p:nvCxnSpPr>
        <p:spPr>
          <a:xfrm flipV="1">
            <a:off x="1965996" y="3061656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3F1BB3B9-8617-4753-BFE7-339A57AD2BA9}"/>
              </a:ext>
            </a:extLst>
          </p:cNvPr>
          <p:cNvCxnSpPr>
            <a:cxnSpLocks/>
          </p:cNvCxnSpPr>
          <p:nvPr/>
        </p:nvCxnSpPr>
        <p:spPr>
          <a:xfrm flipV="1">
            <a:off x="2372548" y="3035830"/>
            <a:ext cx="435076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1845499E-599C-EA88-E9B8-E02721C1FF34}"/>
              </a:ext>
            </a:extLst>
          </p:cNvPr>
          <p:cNvCxnSpPr>
            <a:cxnSpLocks/>
          </p:cNvCxnSpPr>
          <p:nvPr/>
        </p:nvCxnSpPr>
        <p:spPr>
          <a:xfrm flipV="1">
            <a:off x="2618157" y="3091186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1627BF58-2A9C-3AEF-4D17-8634F7803CC3}"/>
              </a:ext>
            </a:extLst>
          </p:cNvPr>
          <p:cNvCxnSpPr>
            <a:cxnSpLocks/>
          </p:cNvCxnSpPr>
          <p:nvPr/>
        </p:nvCxnSpPr>
        <p:spPr>
          <a:xfrm flipV="1">
            <a:off x="1270101" y="4190780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9BB005AC-68F6-BD7E-603A-4E5862A7D93D}"/>
              </a:ext>
            </a:extLst>
          </p:cNvPr>
          <p:cNvCxnSpPr>
            <a:cxnSpLocks/>
          </p:cNvCxnSpPr>
          <p:nvPr/>
        </p:nvCxnSpPr>
        <p:spPr>
          <a:xfrm flipV="1">
            <a:off x="2064896" y="4200806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1BE93E01-86A5-7DE6-599D-6AF7AA96AEF3}"/>
              </a:ext>
            </a:extLst>
          </p:cNvPr>
          <p:cNvCxnSpPr>
            <a:cxnSpLocks/>
          </p:cNvCxnSpPr>
          <p:nvPr/>
        </p:nvCxnSpPr>
        <p:spPr>
          <a:xfrm flipV="1">
            <a:off x="2372548" y="4091240"/>
            <a:ext cx="435076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03FA6F1A-48F7-F75C-D149-03455E342644}"/>
              </a:ext>
            </a:extLst>
          </p:cNvPr>
          <p:cNvCxnSpPr>
            <a:cxnSpLocks/>
          </p:cNvCxnSpPr>
          <p:nvPr/>
        </p:nvCxnSpPr>
        <p:spPr>
          <a:xfrm flipV="1">
            <a:off x="2618157" y="4152693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6FE184A1-1065-767A-EB7C-7A28AB8B433E}"/>
              </a:ext>
            </a:extLst>
          </p:cNvPr>
          <p:cNvCxnSpPr>
            <a:cxnSpLocks/>
          </p:cNvCxnSpPr>
          <p:nvPr/>
        </p:nvCxnSpPr>
        <p:spPr>
          <a:xfrm flipV="1">
            <a:off x="3021418" y="4154605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6CE72748-0381-6B6C-4BA5-C7E31CEAF6CE}"/>
              </a:ext>
            </a:extLst>
          </p:cNvPr>
          <p:cNvCxnSpPr>
            <a:cxnSpLocks/>
          </p:cNvCxnSpPr>
          <p:nvPr/>
        </p:nvCxnSpPr>
        <p:spPr>
          <a:xfrm flipV="1">
            <a:off x="3812282" y="4100543"/>
            <a:ext cx="91735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AC087097-1718-47CA-CF22-3C7DC855A5D5}"/>
              </a:ext>
            </a:extLst>
          </p:cNvPr>
          <p:cNvCxnSpPr>
            <a:cxnSpLocks/>
          </p:cNvCxnSpPr>
          <p:nvPr/>
        </p:nvCxnSpPr>
        <p:spPr>
          <a:xfrm flipV="1">
            <a:off x="4123865" y="4085144"/>
            <a:ext cx="435076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28E41C6A-4F14-9CF3-80F2-78F7B03BC12C}"/>
              </a:ext>
            </a:extLst>
          </p:cNvPr>
          <p:cNvCxnSpPr>
            <a:cxnSpLocks/>
          </p:cNvCxnSpPr>
          <p:nvPr/>
        </p:nvCxnSpPr>
        <p:spPr>
          <a:xfrm flipV="1">
            <a:off x="4416477" y="4150526"/>
            <a:ext cx="116119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FBA008E8-7768-BFE0-C8EB-F5668B3993CE}"/>
              </a:ext>
            </a:extLst>
          </p:cNvPr>
          <p:cNvSpPr txBox="1"/>
          <p:nvPr/>
        </p:nvSpPr>
        <p:spPr>
          <a:xfrm>
            <a:off x="7381279" y="3065905"/>
            <a:ext cx="2289688" cy="25792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A          B             G   </a:t>
            </a:r>
            <a:endParaRPr lang="it-IT"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>
                <a:cs typeface="Calibri"/>
              </a:rPr>
              <a:t>0          0              1</a:t>
            </a:r>
            <a:endParaRPr lang="it-IT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0          1              1</a:t>
            </a:r>
            <a:endParaRPr lang="it-IT" dirty="0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>
                <a:cs typeface="Calibri"/>
              </a:rPr>
              <a:t>1          0              1</a:t>
            </a:r>
            <a:endParaRPr lang="it-IT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1          1              1</a:t>
            </a:r>
            <a:endParaRPr lang="it-IT" dirty="0">
              <a:ea typeface="Calibri"/>
              <a:cs typeface="Calibri"/>
            </a:endParaRPr>
          </a:p>
        </p:txBody>
      </p: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A8098E3F-7CE4-F189-9906-9E64E7F68820}"/>
              </a:ext>
            </a:extLst>
          </p:cNvPr>
          <p:cNvCxnSpPr/>
          <p:nvPr/>
        </p:nvCxnSpPr>
        <p:spPr>
          <a:xfrm>
            <a:off x="7886688" y="3065194"/>
            <a:ext cx="4916" cy="265348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3494E995-4C34-4EBA-3C82-7E12C0ED34C0}"/>
              </a:ext>
            </a:extLst>
          </p:cNvPr>
          <p:cNvCxnSpPr>
            <a:cxnSpLocks/>
          </p:cNvCxnSpPr>
          <p:nvPr/>
        </p:nvCxnSpPr>
        <p:spPr>
          <a:xfrm flipH="1" flipV="1">
            <a:off x="7381457" y="3457156"/>
            <a:ext cx="2362642" cy="1347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89F66D5E-64FA-24CC-9BE9-7D8841321994}"/>
              </a:ext>
            </a:extLst>
          </p:cNvPr>
          <p:cNvCxnSpPr>
            <a:cxnSpLocks/>
          </p:cNvCxnSpPr>
          <p:nvPr/>
        </p:nvCxnSpPr>
        <p:spPr>
          <a:xfrm>
            <a:off x="8496287" y="3065194"/>
            <a:ext cx="4916" cy="265348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4E540DF3-010F-81E3-69C3-472A594CE64B}"/>
              </a:ext>
            </a:extLst>
          </p:cNvPr>
          <p:cNvCxnSpPr>
            <a:cxnSpLocks/>
          </p:cNvCxnSpPr>
          <p:nvPr/>
        </p:nvCxnSpPr>
        <p:spPr>
          <a:xfrm>
            <a:off x="8563343" y="3071290"/>
            <a:ext cx="4916" cy="265348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4170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849317B-FDB2-94E6-C947-04F315E18A84}"/>
              </a:ext>
            </a:extLst>
          </p:cNvPr>
          <p:cNvSpPr txBox="1"/>
          <p:nvPr/>
        </p:nvSpPr>
        <p:spPr>
          <a:xfrm>
            <a:off x="282677" y="159774"/>
            <a:ext cx="11350112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 panose="020F0502020204030204"/>
              </a:rPr>
              <a:t>Estratto esercizio 2 pagina 35.</a:t>
            </a:r>
          </a:p>
          <a:p>
            <a:r>
              <a:rPr lang="it-IT" dirty="0">
                <a:cs typeface="Calibri" panose="020F0502020204030204"/>
              </a:rPr>
              <a:t>Scrivere la tabella di verità che contiene la valutazione della seguente espressione logica</a:t>
            </a:r>
          </a:p>
          <a:p>
            <a:endParaRPr lang="it-IT" dirty="0">
              <a:cs typeface="Calibri" panose="020F0502020204030204"/>
            </a:endParaRPr>
          </a:p>
          <a:p>
            <a:r>
              <a:rPr lang="it-IT" dirty="0">
                <a:cs typeface="Calibri" panose="020F0502020204030204"/>
              </a:rPr>
              <a:t>L(A,B,C) = (A+B) (A+B) (A+B+C)</a:t>
            </a:r>
          </a:p>
          <a:p>
            <a:endParaRPr lang="it-IT" dirty="0">
              <a:cs typeface="Calibri" panose="020F0502020204030204"/>
            </a:endParaRPr>
          </a:p>
          <a:p>
            <a:r>
              <a:rPr lang="it-IT" dirty="0">
                <a:cs typeface="Calibri" panose="020F0502020204030204"/>
              </a:rPr>
              <a:t>Per (A,B,C)=(0,0,0):  (0+1)(0+0)(1+0+0) = 0</a:t>
            </a:r>
          </a:p>
          <a:p>
            <a:endParaRPr lang="it-IT" dirty="0">
              <a:cs typeface="Calibri" panose="020F0502020204030204"/>
            </a:endParaRPr>
          </a:p>
          <a:p>
            <a:r>
              <a:rPr lang="it-IT" dirty="0">
                <a:cs typeface="Calibri" panose="020F0502020204030204"/>
              </a:rPr>
              <a:t>Per (A,B,C)=(0,0,1): (0+1)(0+0)(1+0+1) = 0</a:t>
            </a:r>
          </a:p>
          <a:p>
            <a:endParaRPr lang="it-IT" dirty="0">
              <a:cs typeface="Calibri" panose="020F0502020204030204"/>
            </a:endParaRPr>
          </a:p>
          <a:p>
            <a:r>
              <a:rPr lang="it-IT" dirty="0">
                <a:cs typeface="Calibri" panose="020F0502020204030204"/>
              </a:rPr>
              <a:t>Per (A,B,C)=(0,1,0): (0+0)(0+1)(1+1+0) = 0</a:t>
            </a:r>
          </a:p>
          <a:p>
            <a:endParaRPr lang="it-IT" dirty="0">
              <a:cs typeface="Calibri" panose="020F0502020204030204"/>
            </a:endParaRPr>
          </a:p>
          <a:p>
            <a:r>
              <a:rPr lang="it-IT" dirty="0">
                <a:cs typeface="Calibri" panose="020F0502020204030204"/>
              </a:rPr>
              <a:t>Per (A,B,C)=(0,1,1): (0+0)(0+1)(1+1+1)=0</a:t>
            </a:r>
          </a:p>
          <a:p>
            <a:endParaRPr lang="it-IT" dirty="0">
              <a:cs typeface="Calibri" panose="020F0502020204030204"/>
            </a:endParaRPr>
          </a:p>
          <a:p>
            <a:r>
              <a:rPr lang="it-IT" dirty="0">
                <a:cs typeface="Calibri" panose="020F0502020204030204"/>
              </a:rPr>
              <a:t>Per (A,B,C)=(1,0,0): (1+1)(1+0)(0+0+0)=0</a:t>
            </a:r>
          </a:p>
          <a:p>
            <a:endParaRPr lang="it-IT" dirty="0">
              <a:cs typeface="Calibri" panose="020F0502020204030204"/>
            </a:endParaRPr>
          </a:p>
          <a:p>
            <a:r>
              <a:rPr lang="it-IT" dirty="0">
                <a:cs typeface="Calibri" panose="020F0502020204030204"/>
              </a:rPr>
              <a:t>Per (A,B,C)=(1,0,1): (1+1)(1+0)(0+1+1)=1</a:t>
            </a:r>
          </a:p>
          <a:p>
            <a:endParaRPr lang="it-IT" dirty="0">
              <a:cs typeface="Calibri" panose="020F0502020204030204"/>
            </a:endParaRPr>
          </a:p>
          <a:p>
            <a:r>
              <a:rPr lang="it-IT" dirty="0">
                <a:cs typeface="Calibri" panose="020F0502020204030204"/>
              </a:rPr>
              <a:t>Per (A,B,C)=(1,1,0): (1+0)(1+1)(0+1+0)=1</a:t>
            </a:r>
          </a:p>
          <a:p>
            <a:endParaRPr lang="it-IT" dirty="0">
              <a:cs typeface="Calibri" panose="020F0502020204030204"/>
            </a:endParaRPr>
          </a:p>
          <a:p>
            <a:r>
              <a:rPr lang="it-IT" dirty="0">
                <a:cs typeface="Calibri" panose="020F0502020204030204"/>
              </a:rPr>
              <a:t>Per (A,B,C)=(1,1,1): (1+0)(1+1)(0+1+1)=1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70D42517-FBF4-19B5-E131-B9A49F2C4E62}"/>
              </a:ext>
            </a:extLst>
          </p:cNvPr>
          <p:cNvCxnSpPr>
            <a:cxnSpLocks/>
          </p:cNvCxnSpPr>
          <p:nvPr/>
        </p:nvCxnSpPr>
        <p:spPr>
          <a:xfrm flipV="1">
            <a:off x="1610645" y="1062497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09528A1D-F555-CDAB-C8E0-98A3CC81491E}"/>
              </a:ext>
            </a:extLst>
          </p:cNvPr>
          <p:cNvCxnSpPr>
            <a:cxnSpLocks/>
          </p:cNvCxnSpPr>
          <p:nvPr/>
        </p:nvCxnSpPr>
        <p:spPr>
          <a:xfrm flipV="1">
            <a:off x="2507839" y="1062497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B71903F-0B5D-3590-7913-3BEFBEEF598A}"/>
              </a:ext>
            </a:extLst>
          </p:cNvPr>
          <p:cNvSpPr txBox="1"/>
          <p:nvPr/>
        </p:nvSpPr>
        <p:spPr>
          <a:xfrm>
            <a:off x="6829832" y="1411563"/>
            <a:ext cx="4014214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A          B             C              L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0          0              0             0</a:t>
            </a:r>
            <a:endParaRPr lang="it-IT" dirty="0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0          0              1             0</a:t>
            </a:r>
            <a:endParaRPr lang="it-IT" dirty="0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0          1              0             0</a:t>
            </a:r>
            <a:endParaRPr lang="it-IT" dirty="0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0          1              1             0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1          0              0             0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1          0              1             1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1          1              0             1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1          1              1             1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4585CA4D-D411-BFBC-3F41-62DAA76C4547}"/>
              </a:ext>
            </a:extLst>
          </p:cNvPr>
          <p:cNvCxnSpPr/>
          <p:nvPr/>
        </p:nvCxnSpPr>
        <p:spPr>
          <a:xfrm>
            <a:off x="7305162" y="1410852"/>
            <a:ext cx="24968" cy="477905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2945D4C2-C747-5E39-9158-D413FF31A436}"/>
              </a:ext>
            </a:extLst>
          </p:cNvPr>
          <p:cNvCxnSpPr>
            <a:cxnSpLocks/>
          </p:cNvCxnSpPr>
          <p:nvPr/>
        </p:nvCxnSpPr>
        <p:spPr>
          <a:xfrm>
            <a:off x="8007004" y="1410852"/>
            <a:ext cx="24968" cy="477905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CDCBD695-1CBD-83F2-C977-E68862586DEF}"/>
              </a:ext>
            </a:extLst>
          </p:cNvPr>
          <p:cNvCxnSpPr>
            <a:cxnSpLocks/>
          </p:cNvCxnSpPr>
          <p:nvPr/>
        </p:nvCxnSpPr>
        <p:spPr>
          <a:xfrm>
            <a:off x="8668740" y="1410851"/>
            <a:ext cx="24968" cy="477905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CB04313F-31C0-E172-D7CE-3F54638712E9}"/>
              </a:ext>
            </a:extLst>
          </p:cNvPr>
          <p:cNvCxnSpPr>
            <a:cxnSpLocks/>
          </p:cNvCxnSpPr>
          <p:nvPr/>
        </p:nvCxnSpPr>
        <p:spPr>
          <a:xfrm>
            <a:off x="8909372" y="1410852"/>
            <a:ext cx="24968" cy="477905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E3BDFA5F-99EF-6D7B-118C-06D53673AAD8}"/>
              </a:ext>
            </a:extLst>
          </p:cNvPr>
          <p:cNvCxnSpPr>
            <a:cxnSpLocks/>
          </p:cNvCxnSpPr>
          <p:nvPr/>
        </p:nvCxnSpPr>
        <p:spPr>
          <a:xfrm flipH="1" flipV="1">
            <a:off x="6830010" y="1872998"/>
            <a:ext cx="2523063" cy="2349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5694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AA06006D-820A-4802-C50D-E57CDDD3DD4E}"/>
              </a:ext>
            </a:extLst>
          </p:cNvPr>
          <p:cNvSpPr txBox="1"/>
          <p:nvPr/>
        </p:nvSpPr>
        <p:spPr>
          <a:xfrm>
            <a:off x="152400" y="170835"/>
            <a:ext cx="11536925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Estratto esercizio 3 pagina 36.</a:t>
            </a:r>
            <a:r>
              <a:rPr lang="en-US" dirty="0">
                <a:solidFill>
                  <a:srgbClr val="808080"/>
                </a:solidFill>
              </a:rPr>
              <a:t>​</a:t>
            </a:r>
          </a:p>
          <a:p>
            <a:r>
              <a:rPr lang="it-IT" dirty="0"/>
              <a:t>Scrivere la tabella di verità che contiene la valutazione della seguente espressione logica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G(A,B,C,D) = B + AB + CD + C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(A,B,C,D)=(0,0,0,0): 1 + 0 0 + 0 1 + 1 = 1</a:t>
            </a:r>
            <a:endParaRPr lang="it-IT" dirty="0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(A,B,C,D)=(0,0,0,1): 1 + 0 0 + 0 0 + 1 = 1</a:t>
            </a:r>
            <a:endParaRPr lang="it-IT" dirty="0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(A,B,C,D)=(0,0,1,0): 1 + 0 0 + 1 1 + 0 = 1 </a:t>
            </a:r>
            <a:endParaRPr lang="it-IT" dirty="0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(A,B,C,D)=(0,0,1,1): 1 + 0 0 + 1 0 + 0 = 1</a:t>
            </a:r>
            <a:endParaRPr lang="it-IT" dirty="0"/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(A,B,C,D)=(0,1,0,0): 0 + 0 1 + 0 1 + 1 = 1</a:t>
            </a:r>
            <a:endParaRPr lang="it-IT" dirty="0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(A,B,C,D)=(0,1,0,1): 0 + 0 1 + 0 0 + 1 = 1</a:t>
            </a:r>
            <a:endParaRPr lang="it-IT" dirty="0"/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(A,B,C,D)=(0,1,1,0): 0 + 0 1 + 1 1 + 0 = 1</a:t>
            </a:r>
            <a:endParaRPr lang="it-IT" dirty="0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(A,B,C,D)=(0,1,1,1): 0 + 0 1 + 1 0 + 0 = 0 </a:t>
            </a:r>
            <a:endParaRPr lang="it-IT" dirty="0"/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34DF4AE7-D435-02E7-ED87-EF8EA0EE267B}"/>
              </a:ext>
            </a:extLst>
          </p:cNvPr>
          <p:cNvCxnSpPr>
            <a:cxnSpLocks/>
          </p:cNvCxnSpPr>
          <p:nvPr/>
        </p:nvCxnSpPr>
        <p:spPr>
          <a:xfrm flipV="1">
            <a:off x="1427908" y="1018510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B3B7409B-89F5-24DD-4F04-B265DE672F56}"/>
              </a:ext>
            </a:extLst>
          </p:cNvPr>
          <p:cNvCxnSpPr>
            <a:cxnSpLocks/>
          </p:cNvCxnSpPr>
          <p:nvPr/>
        </p:nvCxnSpPr>
        <p:spPr>
          <a:xfrm flipV="1">
            <a:off x="2356474" y="1018510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399433D1-7BDA-E110-9D9E-265F5AF2307F}"/>
              </a:ext>
            </a:extLst>
          </p:cNvPr>
          <p:cNvCxnSpPr>
            <a:cxnSpLocks/>
          </p:cNvCxnSpPr>
          <p:nvPr/>
        </p:nvCxnSpPr>
        <p:spPr>
          <a:xfrm flipV="1">
            <a:off x="2729064" y="1018510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2470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220A1F8-B2CF-DE36-202C-9D944396028C}"/>
              </a:ext>
            </a:extLst>
          </p:cNvPr>
          <p:cNvSpPr txBox="1"/>
          <p:nvPr/>
        </p:nvSpPr>
        <p:spPr>
          <a:xfrm>
            <a:off x="152400" y="170835"/>
            <a:ext cx="11536925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Estratto esercizio 3 pagina 36.</a:t>
            </a:r>
            <a:r>
              <a:rPr lang="en-US" dirty="0">
                <a:solidFill>
                  <a:srgbClr val="808080"/>
                </a:solidFill>
              </a:rPr>
              <a:t>​</a:t>
            </a:r>
          </a:p>
          <a:p>
            <a:r>
              <a:rPr lang="it-IT" dirty="0"/>
              <a:t>Scrivere la tabella di verità che contiene la valutazione della seguente espressione logica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G(A,B,C,D) = B + AB + CD + C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(A,B,C,D)=(1,0,0,0): 1 + 1 0 + 0 1 + 1 = 1</a:t>
            </a:r>
            <a:endParaRPr lang="it-IT" dirty="0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(A,B,C,D)=(1,0,0,1): 1 + 1 0 + 0 0 + 1 = 1</a:t>
            </a:r>
            <a:endParaRPr lang="it-IT" dirty="0">
              <a:ea typeface="Calibri" panose="020F0502020204030204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(A,B,C,D)=(1,0,1,0): 1 + 1 0 + 1 1 + 0 = 1</a:t>
            </a:r>
            <a:endParaRPr lang="it-IT" dirty="0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(A,B,C,D)=(1,0,1,1): 1 + 1 0 + 1 0 + 0 = 1</a:t>
            </a:r>
            <a:endParaRPr lang="it-IT" dirty="0">
              <a:ea typeface="Calibri" panose="020F0502020204030204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(A,B,C,D)=(1,1,0,0): 0 + 1 1 + 0 1 + 1 = 1</a:t>
            </a:r>
            <a:endParaRPr lang="it-IT" dirty="0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(A,B,C,D)=(1,1,0,1): 0 + 1 1 + 0 0 + 1 = 1</a:t>
            </a:r>
            <a:endParaRPr lang="it-IT" dirty="0">
              <a:ea typeface="Calibri" panose="020F0502020204030204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(A,B,C,D)=(1,1,1,0): 0 + 1 1 + 1 1 + 0 = 1</a:t>
            </a:r>
            <a:endParaRPr lang="it-IT" dirty="0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(A,B,C,D)=(1,1,1,1): 0 + 1 1 + 1 0 + 0 = 1</a:t>
            </a:r>
            <a:endParaRPr lang="it-IT" dirty="0">
              <a:ea typeface="Calibri"/>
              <a:cs typeface="Calibri"/>
            </a:endParaRP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83F9D9DE-927B-3783-6A24-89C61B282BA8}"/>
              </a:ext>
            </a:extLst>
          </p:cNvPr>
          <p:cNvCxnSpPr>
            <a:cxnSpLocks/>
          </p:cNvCxnSpPr>
          <p:nvPr/>
        </p:nvCxnSpPr>
        <p:spPr>
          <a:xfrm flipV="1">
            <a:off x="2741355" y="1028537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E7896399-A2D4-204F-8D92-B617E6C7128C}"/>
              </a:ext>
            </a:extLst>
          </p:cNvPr>
          <p:cNvCxnSpPr>
            <a:cxnSpLocks/>
          </p:cNvCxnSpPr>
          <p:nvPr/>
        </p:nvCxnSpPr>
        <p:spPr>
          <a:xfrm flipV="1">
            <a:off x="2330277" y="1028537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242E0EB4-9F39-C78C-1ED8-4F4D652E1775}"/>
              </a:ext>
            </a:extLst>
          </p:cNvPr>
          <p:cNvCxnSpPr>
            <a:cxnSpLocks/>
          </p:cNvCxnSpPr>
          <p:nvPr/>
        </p:nvCxnSpPr>
        <p:spPr>
          <a:xfrm flipV="1">
            <a:off x="1397829" y="1028537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6149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7782D5D-10CF-E624-7326-6AF29167D104}"/>
              </a:ext>
            </a:extLst>
          </p:cNvPr>
          <p:cNvSpPr txBox="1"/>
          <p:nvPr/>
        </p:nvSpPr>
        <p:spPr>
          <a:xfrm>
            <a:off x="122321" y="172453"/>
            <a:ext cx="1180698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Segoe UI"/>
              </a:rPr>
              <a:t>Estratto esercizio 3 pagina 36.</a:t>
            </a:r>
            <a:r>
              <a:rPr lang="en-US" dirty="0">
                <a:solidFill>
                  <a:srgbClr val="808080"/>
                </a:solidFill>
                <a:cs typeface="Segoe UI"/>
              </a:rPr>
              <a:t>​</a:t>
            </a:r>
            <a:r>
              <a:rPr lang="en-US" dirty="0">
                <a:cs typeface="Segoe UI"/>
              </a:rPr>
              <a:t>​</a:t>
            </a:r>
          </a:p>
          <a:p>
            <a:r>
              <a:rPr lang="it-IT" dirty="0">
                <a:cs typeface="Segoe UI"/>
              </a:rPr>
              <a:t>Scrivere la tabella di verità che contiene la valutazione della seguente espressione logica</a:t>
            </a:r>
            <a:r>
              <a:rPr lang="en-US" dirty="0">
                <a:cs typeface="Segoe UI"/>
              </a:rPr>
              <a:t>​</a:t>
            </a:r>
            <a:endParaRPr lang="en-US" dirty="0">
              <a:ea typeface="Calibri"/>
              <a:cs typeface="Segoe UI"/>
            </a:endParaRPr>
          </a:p>
          <a:p>
            <a:endParaRPr lang="en-US" dirty="0">
              <a:ea typeface="Calibri"/>
              <a:cs typeface="Segoe UI"/>
            </a:endParaRPr>
          </a:p>
          <a:p>
            <a:r>
              <a:rPr lang="it-IT" dirty="0">
                <a:ea typeface="Calibri"/>
                <a:cs typeface="Calibri"/>
              </a:rPr>
              <a:t>G(A,B,C,D) = B + AB + CD + C</a:t>
            </a:r>
            <a:endParaRPr lang="en-US" dirty="0"/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A2CA29AC-E53C-D62C-777D-9359D05BA63A}"/>
              </a:ext>
            </a:extLst>
          </p:cNvPr>
          <p:cNvCxnSpPr>
            <a:cxnSpLocks/>
          </p:cNvCxnSpPr>
          <p:nvPr/>
        </p:nvCxnSpPr>
        <p:spPr>
          <a:xfrm flipV="1">
            <a:off x="2320250" y="1018511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1E30D147-A986-4650-FA45-CF32DDE7257C}"/>
              </a:ext>
            </a:extLst>
          </p:cNvPr>
          <p:cNvCxnSpPr>
            <a:cxnSpLocks/>
          </p:cNvCxnSpPr>
          <p:nvPr/>
        </p:nvCxnSpPr>
        <p:spPr>
          <a:xfrm flipV="1">
            <a:off x="2691224" y="1018511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0E7F5563-9F35-489A-0563-270DBAFD807F}"/>
              </a:ext>
            </a:extLst>
          </p:cNvPr>
          <p:cNvCxnSpPr>
            <a:cxnSpLocks/>
          </p:cNvCxnSpPr>
          <p:nvPr/>
        </p:nvCxnSpPr>
        <p:spPr>
          <a:xfrm flipV="1">
            <a:off x="1397829" y="1028537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265E8E2-CCA1-6584-45C5-35AD6021F117}"/>
              </a:ext>
            </a:extLst>
          </p:cNvPr>
          <p:cNvSpPr txBox="1"/>
          <p:nvPr/>
        </p:nvSpPr>
        <p:spPr>
          <a:xfrm>
            <a:off x="2739095" y="1571984"/>
            <a:ext cx="4014214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A          B             C              D             G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0          0              0             0               1</a:t>
            </a:r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0          0              0             1               1</a:t>
            </a:r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0          0              1             0               1</a:t>
            </a:r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0          0              1             1               1</a:t>
            </a:r>
          </a:p>
          <a:p>
            <a:r>
              <a:rPr lang="it-IT" dirty="0">
                <a:cs typeface="Calibri"/>
              </a:rPr>
              <a:t>0          1              0             0               1</a:t>
            </a:r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0          1              0             1               1</a:t>
            </a:r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0          1              1             0               1</a:t>
            </a:r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0          1              1             1               0</a:t>
            </a:r>
          </a:p>
          <a:p>
            <a:r>
              <a:rPr lang="it-IT" dirty="0">
                <a:ea typeface="Calibri"/>
                <a:cs typeface="Calibri"/>
              </a:rPr>
              <a:t>1          0              0             0               1</a:t>
            </a:r>
          </a:p>
          <a:p>
            <a:r>
              <a:rPr lang="it-IT" dirty="0">
                <a:ea typeface="Calibri"/>
                <a:cs typeface="Calibri"/>
              </a:rPr>
              <a:t>1          0              0             1               1</a:t>
            </a:r>
          </a:p>
          <a:p>
            <a:r>
              <a:rPr lang="it-IT" dirty="0">
                <a:ea typeface="Calibri"/>
                <a:cs typeface="Calibri"/>
              </a:rPr>
              <a:t>1          0              1             0               1</a:t>
            </a:r>
          </a:p>
          <a:p>
            <a:r>
              <a:rPr lang="it-IT" dirty="0">
                <a:ea typeface="Calibri"/>
                <a:cs typeface="Calibri"/>
              </a:rPr>
              <a:t>1          0              1             1               1</a:t>
            </a:r>
          </a:p>
          <a:p>
            <a:r>
              <a:rPr lang="it-IT" dirty="0">
                <a:ea typeface="Calibri"/>
                <a:cs typeface="Calibri"/>
              </a:rPr>
              <a:t>1          1              0             0               1</a:t>
            </a:r>
          </a:p>
          <a:p>
            <a:r>
              <a:rPr lang="it-IT" dirty="0">
                <a:ea typeface="Calibri"/>
                <a:cs typeface="Calibri"/>
              </a:rPr>
              <a:t>1          1              0             1               1</a:t>
            </a:r>
          </a:p>
          <a:p>
            <a:r>
              <a:rPr lang="it-IT" dirty="0">
                <a:ea typeface="Calibri"/>
                <a:cs typeface="Calibri"/>
              </a:rPr>
              <a:t>1          1              1             0               1</a:t>
            </a:r>
          </a:p>
          <a:p>
            <a:r>
              <a:rPr lang="it-IT" dirty="0">
                <a:ea typeface="Calibri"/>
                <a:cs typeface="Calibri"/>
              </a:rPr>
              <a:t>1          1              1             1               1</a:t>
            </a:r>
            <a:endParaRPr lang="it-IT" dirty="0"/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D4805CEC-A260-B16E-F382-8DC10071C1A3}"/>
              </a:ext>
            </a:extLst>
          </p:cNvPr>
          <p:cNvCxnSpPr/>
          <p:nvPr/>
        </p:nvCxnSpPr>
        <p:spPr>
          <a:xfrm>
            <a:off x="3214425" y="1571273"/>
            <a:ext cx="24968" cy="477905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2D80960B-B4F5-7170-796C-BC166603BBD0}"/>
              </a:ext>
            </a:extLst>
          </p:cNvPr>
          <p:cNvCxnSpPr>
            <a:cxnSpLocks/>
          </p:cNvCxnSpPr>
          <p:nvPr/>
        </p:nvCxnSpPr>
        <p:spPr>
          <a:xfrm>
            <a:off x="3916267" y="1571273"/>
            <a:ext cx="24968" cy="477905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39887681-5673-2331-8F47-3810FEF6EAFF}"/>
              </a:ext>
            </a:extLst>
          </p:cNvPr>
          <p:cNvCxnSpPr>
            <a:cxnSpLocks/>
          </p:cNvCxnSpPr>
          <p:nvPr/>
        </p:nvCxnSpPr>
        <p:spPr>
          <a:xfrm>
            <a:off x="5560582" y="1571272"/>
            <a:ext cx="24968" cy="477905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FD035A41-DEC7-A300-A0F2-B1F8ACA59D0E}"/>
              </a:ext>
            </a:extLst>
          </p:cNvPr>
          <p:cNvCxnSpPr>
            <a:cxnSpLocks/>
          </p:cNvCxnSpPr>
          <p:nvPr/>
        </p:nvCxnSpPr>
        <p:spPr>
          <a:xfrm>
            <a:off x="5670872" y="1571273"/>
            <a:ext cx="24968" cy="477905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ADED66DD-F8A4-A9CC-D930-EDCD5239D548}"/>
              </a:ext>
            </a:extLst>
          </p:cNvPr>
          <p:cNvCxnSpPr>
            <a:cxnSpLocks/>
          </p:cNvCxnSpPr>
          <p:nvPr/>
        </p:nvCxnSpPr>
        <p:spPr>
          <a:xfrm flipH="1" flipV="1">
            <a:off x="2739273" y="2033419"/>
            <a:ext cx="3545747" cy="2349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994BC8CA-9B54-FFE0-8552-E772E688511E}"/>
              </a:ext>
            </a:extLst>
          </p:cNvPr>
          <p:cNvCxnSpPr>
            <a:cxnSpLocks/>
          </p:cNvCxnSpPr>
          <p:nvPr/>
        </p:nvCxnSpPr>
        <p:spPr>
          <a:xfrm>
            <a:off x="4738424" y="1571273"/>
            <a:ext cx="24968" cy="477905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8901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98571BEA-9EF8-CB72-D2DF-5F5E7393621F}"/>
              </a:ext>
            </a:extLst>
          </p:cNvPr>
          <p:cNvSpPr txBox="1"/>
          <p:nvPr/>
        </p:nvSpPr>
        <p:spPr>
          <a:xfrm>
            <a:off x="2978664" y="110033"/>
            <a:ext cx="591755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 dirty="0">
                <a:ea typeface="Calibri"/>
                <a:cs typeface="Calibri"/>
              </a:rPr>
              <a:t>Equivalenze e operatori universali</a:t>
            </a:r>
            <a:endParaRPr lang="it-IT" sz="32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2EC1B2B-1FFA-F287-BC0C-DFE556DF6A78}"/>
              </a:ext>
            </a:extLst>
          </p:cNvPr>
          <p:cNvSpPr txBox="1"/>
          <p:nvPr/>
        </p:nvSpPr>
        <p:spPr>
          <a:xfrm>
            <a:off x="288822" y="848032"/>
            <a:ext cx="1017638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La legge di De Morgan mostra che è possibile trasformare un'operazione AND in OR e viceversa.</a:t>
            </a:r>
          </a:p>
          <a:p>
            <a:r>
              <a:rPr lang="it-IT" dirty="0">
                <a:ea typeface="Calibri"/>
                <a:cs typeface="Calibri"/>
              </a:rPr>
              <a:t>Per le proprietà di idempotenza degli operatori binari AND e OR, è possibile esprimere l'operazione unaria di negazione (la porta logica NOT) con gli operatori NAND e NOR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BF7DB9-8514-E3C2-105D-24C03C473EBF}"/>
              </a:ext>
            </a:extLst>
          </p:cNvPr>
          <p:cNvSpPr txBox="1"/>
          <p:nvPr/>
        </p:nvSpPr>
        <p:spPr>
          <a:xfrm>
            <a:off x="2685435" y="3115596"/>
            <a:ext cx="66183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Tabella 1.6 pp 23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753597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F9EC79BC-F4C2-E07D-3F1A-24C804037653}"/>
              </a:ext>
            </a:extLst>
          </p:cNvPr>
          <p:cNvSpPr txBox="1"/>
          <p:nvPr/>
        </p:nvSpPr>
        <p:spPr>
          <a:xfrm>
            <a:off x="2978664" y="110033"/>
            <a:ext cx="591755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 dirty="0">
                <a:ea typeface="Calibri"/>
                <a:cs typeface="Calibri"/>
              </a:rPr>
              <a:t>Equivalenze e operatori universali</a:t>
            </a:r>
            <a:endParaRPr lang="it-IT" sz="32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BF961A5-D755-4945-C0CE-3F0B5F2FE872}"/>
              </a:ext>
            </a:extLst>
          </p:cNvPr>
          <p:cNvSpPr txBox="1"/>
          <p:nvPr/>
        </p:nvSpPr>
        <p:spPr>
          <a:xfrm>
            <a:off x="184354" y="1106129"/>
            <a:ext cx="1154675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E' possibile esprimere anche la congiunzione logica (AND) in termini di porte NAND e NOR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Inserire tabella 1.7 pp 23</a:t>
            </a:r>
          </a:p>
          <a:p>
            <a:endParaRPr lang="it-IT" dirty="0">
              <a:ea typeface="Calibri"/>
              <a:cs typeface="Calibri"/>
            </a:endParaRPr>
          </a:p>
          <a:p>
            <a:endParaRPr lang="it-IT" dirty="0">
              <a:ea typeface="Calibri"/>
              <a:cs typeface="Calibri"/>
            </a:endParaRPr>
          </a:p>
          <a:p>
            <a:endParaRPr lang="it-IT" dirty="0">
              <a:ea typeface="Calibri"/>
              <a:cs typeface="Calibri"/>
            </a:endParaRPr>
          </a:p>
          <a:p>
            <a:endParaRPr lang="it-IT" dirty="0">
              <a:ea typeface="Calibri"/>
              <a:cs typeface="Calibri"/>
            </a:endParaRPr>
          </a:p>
          <a:p>
            <a:endParaRPr lang="it-IT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07271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BCBBACA-3754-B195-43F3-9AC4C5E0B4B2}"/>
              </a:ext>
            </a:extLst>
          </p:cNvPr>
          <p:cNvSpPr txBox="1"/>
          <p:nvPr/>
        </p:nvSpPr>
        <p:spPr>
          <a:xfrm>
            <a:off x="2978664" y="110033"/>
            <a:ext cx="591755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 dirty="0">
                <a:ea typeface="Calibri"/>
                <a:cs typeface="Calibri"/>
              </a:rPr>
              <a:t>Equivalenze e operatori universali</a:t>
            </a:r>
            <a:endParaRPr lang="it-IT" sz="32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EF37E04-3A22-FE5D-59A8-17D95F779F82}"/>
              </a:ext>
            </a:extLst>
          </p:cNvPr>
          <p:cNvSpPr txBox="1"/>
          <p:nvPr/>
        </p:nvSpPr>
        <p:spPr>
          <a:xfrm>
            <a:off x="164690" y="1037303"/>
            <a:ext cx="11752006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Per il principio di dualità degli operatori AND e OR rispetto ai valori 1 e 0, la disgiunzione logica (OR) può essere espressa in termini di porte NAND e NOR</a:t>
            </a:r>
            <a:r>
              <a:rPr lang="en-US" dirty="0">
                <a:solidFill>
                  <a:srgbClr val="808080"/>
                </a:solidFill>
              </a:rPr>
              <a:t>​</a:t>
            </a:r>
          </a:p>
          <a:p>
            <a:r>
              <a:rPr lang="it-IT" dirty="0">
                <a:solidFill>
                  <a:srgbClr val="808080"/>
                </a:solidFill>
              </a:rPr>
              <a:t>​</a:t>
            </a:r>
            <a:endParaRPr lang="it-IT" dirty="0">
              <a:solidFill>
                <a:srgbClr val="808080"/>
              </a:solidFill>
              <a:cs typeface="Calibri"/>
            </a:endParaRPr>
          </a:p>
          <a:p>
            <a:r>
              <a:rPr lang="it-IT" dirty="0"/>
              <a:t>Inserire tabella 1.8 pp 24</a:t>
            </a:r>
            <a:r>
              <a:rPr lang="en-US" dirty="0">
                <a:solidFill>
                  <a:srgbClr val="808080"/>
                </a:solidFill>
              </a:rPr>
              <a:t>​</a:t>
            </a:r>
            <a:endParaRPr lang="en-US" dirty="0">
              <a:solidFill>
                <a:srgbClr val="808080"/>
              </a:solidFill>
              <a:cs typeface="Calibri"/>
            </a:endParaRPr>
          </a:p>
          <a:p>
            <a:r>
              <a:rPr lang="it-IT" dirty="0">
                <a:solidFill>
                  <a:srgbClr val="808080"/>
                </a:solidFill>
              </a:rPr>
              <a:t>​</a:t>
            </a:r>
            <a:endParaRPr lang="it-IT" dirty="0">
              <a:solidFill>
                <a:srgbClr val="808080"/>
              </a:solidFill>
              <a:cs typeface="Calibri"/>
            </a:endParaRPr>
          </a:p>
          <a:p>
            <a:r>
              <a:rPr lang="it-IT" dirty="0">
                <a:solidFill>
                  <a:srgbClr val="808080"/>
                </a:solidFill>
              </a:rPr>
              <a:t>​</a:t>
            </a:r>
            <a:endParaRPr lang="it-IT" dirty="0">
              <a:solidFill>
                <a:srgbClr val="808080"/>
              </a:solidFill>
              <a:cs typeface="Calibri"/>
            </a:endParaRPr>
          </a:p>
          <a:p>
            <a:r>
              <a:rPr lang="it-IT" dirty="0">
                <a:solidFill>
                  <a:srgbClr val="808080"/>
                </a:solidFill>
              </a:rPr>
              <a:t>​</a:t>
            </a:r>
            <a:endParaRPr lang="it-IT" dirty="0">
              <a:solidFill>
                <a:srgbClr val="808080"/>
              </a:solidFill>
              <a:cs typeface="Calibri"/>
            </a:endParaRPr>
          </a:p>
          <a:p>
            <a:r>
              <a:rPr lang="it-IT" dirty="0">
                <a:solidFill>
                  <a:srgbClr val="808080"/>
                </a:solidFill>
              </a:rPr>
              <a:t>​</a:t>
            </a:r>
            <a:endParaRPr lang="it-IT" dirty="0">
              <a:solidFill>
                <a:srgbClr val="808080"/>
              </a:solidFill>
              <a:cs typeface="Calibri"/>
            </a:endParaRPr>
          </a:p>
          <a:p>
            <a:endParaRPr lang="it-IT" dirty="0">
              <a:solidFill>
                <a:srgbClr val="808080"/>
              </a:solidFill>
            </a:endParaRPr>
          </a:p>
          <a:p>
            <a:endParaRPr lang="it-IT" dirty="0">
              <a:solidFill>
                <a:srgbClr val="808080"/>
              </a:solidFill>
            </a:endParaRPr>
          </a:p>
          <a:p>
            <a:endParaRPr lang="it-IT" dirty="0">
              <a:solidFill>
                <a:srgbClr val="808080"/>
              </a:solidFill>
            </a:endParaRPr>
          </a:p>
          <a:p>
            <a:endParaRPr lang="it-IT" dirty="0">
              <a:solidFill>
                <a:srgbClr val="808080"/>
              </a:solidFill>
            </a:endParaRPr>
          </a:p>
          <a:p>
            <a:endParaRPr lang="it-IT" dirty="0">
              <a:solidFill>
                <a:srgbClr val="808080"/>
              </a:solidFill>
            </a:endParaRPr>
          </a:p>
          <a:p>
            <a:endParaRPr lang="it-IT" dirty="0">
              <a:solidFill>
                <a:srgbClr val="808080"/>
              </a:solidFill>
            </a:endParaRPr>
          </a:p>
          <a:p>
            <a:r>
              <a:rPr lang="it-IT" dirty="0">
                <a:solidFill>
                  <a:srgbClr val="808080"/>
                </a:solidFill>
              </a:rPr>
              <a:t>​</a:t>
            </a:r>
            <a:endParaRPr lang="it-IT" dirty="0">
              <a:solidFill>
                <a:srgbClr val="808080"/>
              </a:solidFill>
              <a:cs typeface="Calibri"/>
            </a:endParaRPr>
          </a:p>
          <a:p>
            <a:r>
              <a:rPr lang="it-IT" dirty="0">
                <a:solidFill>
                  <a:srgbClr val="808080"/>
                </a:solidFill>
              </a:rPr>
              <a:t>​</a:t>
            </a:r>
            <a:endParaRPr lang="it-IT" dirty="0">
              <a:solidFill>
                <a:srgbClr val="808080"/>
              </a:solidFill>
              <a:cs typeface="Calibri"/>
            </a:endParaRPr>
          </a:p>
          <a:p>
            <a:r>
              <a:rPr lang="it-IT" dirty="0"/>
              <a:t>Le porte NAND e NOR sono in grado di realizzare qualsiasi funzione booleana. Sono detti per tale motivo operatori universali.</a:t>
            </a:r>
            <a:endParaRPr lang="it-IT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73017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80D086A4-F214-6710-B64A-4423B9E8C721}"/>
              </a:ext>
            </a:extLst>
          </p:cNvPr>
          <p:cNvSpPr txBox="1"/>
          <p:nvPr/>
        </p:nvSpPr>
        <p:spPr>
          <a:xfrm>
            <a:off x="2851354" y="67595"/>
            <a:ext cx="648929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 dirty="0">
                <a:ea typeface="Calibri"/>
                <a:cs typeface="Calibri"/>
              </a:rPr>
              <a:t>Trasformazioni nel dominio di Boole</a:t>
            </a:r>
            <a:endParaRPr lang="it-IT" sz="32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1EF2B53-70B0-7EB7-762A-7BAABD7F5D69}"/>
              </a:ext>
            </a:extLst>
          </p:cNvPr>
          <p:cNvSpPr txBox="1"/>
          <p:nvPr/>
        </p:nvSpPr>
        <p:spPr>
          <a:xfrm>
            <a:off x="184354" y="1087693"/>
            <a:ext cx="1191546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Una stessa espressione logica può essere scritta in vari modi equivalenti.</a:t>
            </a:r>
          </a:p>
          <a:p>
            <a:r>
              <a:rPr lang="it-IT" dirty="0">
                <a:cs typeface="Calibri"/>
              </a:rPr>
              <a:t>Metodo algebrico: Si passa da un'espressione booleana ad un'altra equivalente applicando le proprietà degli operatori logici.</a:t>
            </a:r>
          </a:p>
          <a:p>
            <a:r>
              <a:rPr lang="it-IT" dirty="0">
                <a:cs typeface="Calibri"/>
              </a:rPr>
              <a:t>Da equazione a circuito: Si sostituiscono, nella giusta sequenza, gli operatori con le porte logiche.</a:t>
            </a:r>
          </a:p>
          <a:p>
            <a:r>
              <a:rPr lang="it-IT" dirty="0">
                <a:cs typeface="Calibri"/>
              </a:rPr>
              <a:t>Da circuito ad equazione: Si analizza il circuito partendo dagli ingressi verso le varie uscite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2BB61DE-0314-F62A-A815-90F2F10F0075}"/>
              </a:ext>
            </a:extLst>
          </p:cNvPr>
          <p:cNvSpPr txBox="1"/>
          <p:nvPr/>
        </p:nvSpPr>
        <p:spPr>
          <a:xfrm>
            <a:off x="2783758" y="3004984"/>
            <a:ext cx="63418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Figura 1.11 pp 24</a:t>
            </a:r>
          </a:p>
        </p:txBody>
      </p:sp>
    </p:spTree>
    <p:extLst>
      <p:ext uri="{BB962C8B-B14F-4D97-AF65-F5344CB8AC3E}">
        <p14:creationId xmlns:p14="http://schemas.microsoft.com/office/powerpoint/2010/main" val="28770076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952A1B8-D94F-E782-0F00-23C5612B5544}"/>
              </a:ext>
            </a:extLst>
          </p:cNvPr>
          <p:cNvSpPr txBox="1"/>
          <p:nvPr/>
        </p:nvSpPr>
        <p:spPr>
          <a:xfrm>
            <a:off x="4008268" y="69335"/>
            <a:ext cx="325658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dirty="0">
                <a:cs typeface="Calibri"/>
              </a:rPr>
              <a:t>Mappe di </a:t>
            </a:r>
            <a:r>
              <a:rPr lang="it-IT" sz="2800" err="1">
                <a:cs typeface="Calibri"/>
              </a:rPr>
              <a:t>Karnaugh</a:t>
            </a:r>
            <a:endParaRPr lang="it-IT" sz="2800" err="1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BDF82A8-BBBA-FD4A-C1C7-A16D2E60208C}"/>
              </a:ext>
            </a:extLst>
          </p:cNvPr>
          <p:cNvSpPr txBox="1"/>
          <p:nvPr/>
        </p:nvSpPr>
        <p:spPr>
          <a:xfrm>
            <a:off x="227370" y="884903"/>
            <a:ext cx="11694241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Metodo per semplificare funzioni booleane.</a:t>
            </a:r>
          </a:p>
          <a:p>
            <a:r>
              <a:rPr lang="it-IT" dirty="0">
                <a:cs typeface="Calibri"/>
              </a:rPr>
              <a:t>Utile quando la funzione presa in analisi richiede numerosi passaggi per essere semplificata.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La mappa di </a:t>
            </a:r>
            <a:r>
              <a:rPr lang="it-IT" err="1">
                <a:cs typeface="Calibri"/>
              </a:rPr>
              <a:t>Karnaugh</a:t>
            </a:r>
            <a:r>
              <a:rPr lang="it-IT" dirty="0">
                <a:cs typeface="Calibri"/>
              </a:rPr>
              <a:t> rappresenta le combinazioni degli ingressi (n), che essendo potenze di due possono essere rappresentate attraverso una matrice con 2</a:t>
            </a:r>
            <a:r>
              <a:rPr lang="it-IT" baseline="30000" dirty="0">
                <a:cs typeface="Calibri"/>
              </a:rPr>
              <a:t>r</a:t>
            </a:r>
            <a:r>
              <a:rPr lang="it-IT" dirty="0">
                <a:cs typeface="Calibri"/>
              </a:rPr>
              <a:t> righe e 2</a:t>
            </a:r>
            <a:r>
              <a:rPr lang="it-IT" baseline="30000" dirty="0">
                <a:cs typeface="Calibri"/>
              </a:rPr>
              <a:t>c</a:t>
            </a:r>
            <a:r>
              <a:rPr lang="it-IT" dirty="0">
                <a:cs typeface="Calibri"/>
              </a:rPr>
              <a:t> colonne, con </a:t>
            </a:r>
            <a:r>
              <a:rPr lang="it-IT" err="1">
                <a:cs typeface="Calibri"/>
              </a:rPr>
              <a:t>r+c</a:t>
            </a:r>
            <a:r>
              <a:rPr lang="it-IT" dirty="0">
                <a:cs typeface="Calibri"/>
              </a:rPr>
              <a:t>=n.</a:t>
            </a:r>
          </a:p>
          <a:p>
            <a:endParaRPr lang="it-IT" dirty="0">
              <a:cs typeface="Calibri"/>
            </a:endParaRPr>
          </a:p>
          <a:p>
            <a:endParaRPr lang="it-IT" dirty="0">
              <a:cs typeface="Calibri"/>
            </a:endParaRPr>
          </a:p>
          <a:p>
            <a:endParaRPr lang="it-IT" dirty="0">
              <a:cs typeface="Calibri"/>
            </a:endParaRPr>
          </a:p>
          <a:p>
            <a:endParaRPr lang="it-IT" dirty="0">
              <a:cs typeface="Calibri"/>
            </a:endParaRPr>
          </a:p>
          <a:p>
            <a:endParaRPr lang="it-IT" dirty="0">
              <a:cs typeface="Calibri"/>
            </a:endParaRPr>
          </a:p>
          <a:p>
            <a:endParaRPr lang="it-IT" dirty="0">
              <a:cs typeface="Calibri"/>
            </a:endParaRPr>
          </a:p>
          <a:p>
            <a:endParaRPr lang="it-IT" dirty="0">
              <a:cs typeface="Calibri"/>
            </a:endParaRPr>
          </a:p>
          <a:p>
            <a:endParaRPr lang="it-IT" dirty="0">
              <a:cs typeface="Calibri"/>
            </a:endParaRPr>
          </a:p>
          <a:p>
            <a:endParaRPr lang="it-IT" dirty="0">
              <a:cs typeface="Calibri"/>
            </a:endParaRPr>
          </a:p>
          <a:p>
            <a:endParaRPr lang="it-IT" dirty="0">
              <a:cs typeface="Calibri"/>
            </a:endParaRPr>
          </a:p>
          <a:p>
            <a:endParaRPr lang="it-IT" dirty="0">
              <a:cs typeface="Calibri"/>
            </a:endParaRPr>
          </a:p>
          <a:p>
            <a:endParaRPr lang="it-IT" dirty="0">
              <a:cs typeface="Calibri"/>
            </a:endParaRPr>
          </a:p>
          <a:p>
            <a:endParaRPr lang="it-IT" dirty="0"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Si utilizzano per un numero di variabili in ingresso fino al massimo di quattro.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DC29FF3-6A3E-AB29-D972-6666227B2014}"/>
              </a:ext>
            </a:extLst>
          </p:cNvPr>
          <p:cNvSpPr txBox="1"/>
          <p:nvPr/>
        </p:nvSpPr>
        <p:spPr>
          <a:xfrm>
            <a:off x="3650226" y="3299951"/>
            <a:ext cx="47563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Figura 1.12 pp 26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388197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AACAF893-8C99-2DE5-2ED1-E336C285E963}"/>
              </a:ext>
            </a:extLst>
          </p:cNvPr>
          <p:cNvSpPr txBox="1"/>
          <p:nvPr/>
        </p:nvSpPr>
        <p:spPr>
          <a:xfrm>
            <a:off x="258096" y="239660"/>
            <a:ext cx="1178641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Estratto esercizio 4 pagina 37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Scrivere le mappe di </a:t>
            </a:r>
            <a:r>
              <a:rPr lang="it-IT" dirty="0" err="1">
                <a:cs typeface="Calibri"/>
              </a:rPr>
              <a:t>Karnaugh</a:t>
            </a:r>
            <a:r>
              <a:rPr lang="it-IT" dirty="0">
                <a:cs typeface="Calibri"/>
              </a:rPr>
              <a:t> relative alle seguenti espressioni logiche 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36D16EA-B404-068A-73B4-F94EC378FF82}"/>
              </a:ext>
            </a:extLst>
          </p:cNvPr>
          <p:cNvSpPr txBox="1"/>
          <p:nvPr/>
        </p:nvSpPr>
        <p:spPr>
          <a:xfrm>
            <a:off x="215080" y="657531"/>
            <a:ext cx="270387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it-IT" dirty="0"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G(A,B) = A + B + AB + A+B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BB0438EE-5E3E-AF39-0F94-2143A5C0EB89}"/>
              </a:ext>
            </a:extLst>
          </p:cNvPr>
          <p:cNvCxnSpPr>
            <a:cxnSpLocks/>
          </p:cNvCxnSpPr>
          <p:nvPr/>
        </p:nvCxnSpPr>
        <p:spPr>
          <a:xfrm flipV="1">
            <a:off x="1057581" y="1283722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19364208-195A-69CB-7841-BBFC38FC7816}"/>
              </a:ext>
            </a:extLst>
          </p:cNvPr>
          <p:cNvCxnSpPr>
            <a:cxnSpLocks/>
          </p:cNvCxnSpPr>
          <p:nvPr/>
        </p:nvCxnSpPr>
        <p:spPr>
          <a:xfrm flipV="1">
            <a:off x="1868743" y="1283722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352306F1-D214-8BBA-4D01-995E00153203}"/>
              </a:ext>
            </a:extLst>
          </p:cNvPr>
          <p:cNvCxnSpPr>
            <a:cxnSpLocks/>
          </p:cNvCxnSpPr>
          <p:nvPr/>
        </p:nvCxnSpPr>
        <p:spPr>
          <a:xfrm flipV="1">
            <a:off x="2464823" y="1283722"/>
            <a:ext cx="189271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DCE83571-5D8F-9322-B56E-3D7212B05BD9}"/>
              </a:ext>
            </a:extLst>
          </p:cNvPr>
          <p:cNvCxnSpPr>
            <a:cxnSpLocks/>
          </p:cNvCxnSpPr>
          <p:nvPr/>
        </p:nvCxnSpPr>
        <p:spPr>
          <a:xfrm flipV="1">
            <a:off x="2219017" y="1222270"/>
            <a:ext cx="435076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B5C6ED3-A852-515A-E1D9-E18D1BB08F76}"/>
              </a:ext>
            </a:extLst>
          </p:cNvPr>
          <p:cNvSpPr txBox="1"/>
          <p:nvPr/>
        </p:nvSpPr>
        <p:spPr>
          <a:xfrm>
            <a:off x="844121" y="2694931"/>
            <a:ext cx="2289688" cy="25792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A          B             G   </a:t>
            </a:r>
            <a:endParaRPr lang="it-IT"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>
                <a:cs typeface="Calibri"/>
              </a:rPr>
              <a:t>0          0              1</a:t>
            </a:r>
            <a:endParaRPr lang="it-IT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0          1              1</a:t>
            </a:r>
            <a:endParaRPr lang="it-IT" dirty="0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>
                <a:cs typeface="Calibri"/>
              </a:rPr>
              <a:t>1          0              1</a:t>
            </a:r>
            <a:endParaRPr lang="it-IT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1          1              1</a:t>
            </a:r>
            <a:endParaRPr lang="it-IT" dirty="0">
              <a:ea typeface="Calibri"/>
              <a:cs typeface="Calibri"/>
            </a:endParaRP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CEBF05A4-4E16-CE4F-E5AF-18642BFFC66F}"/>
              </a:ext>
            </a:extLst>
          </p:cNvPr>
          <p:cNvCxnSpPr/>
          <p:nvPr/>
        </p:nvCxnSpPr>
        <p:spPr>
          <a:xfrm>
            <a:off x="1349530" y="2694220"/>
            <a:ext cx="4916" cy="265348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DE865F25-84AD-687E-ADE9-AFBBCEEA4448}"/>
              </a:ext>
            </a:extLst>
          </p:cNvPr>
          <p:cNvCxnSpPr>
            <a:cxnSpLocks/>
          </p:cNvCxnSpPr>
          <p:nvPr/>
        </p:nvCxnSpPr>
        <p:spPr>
          <a:xfrm flipH="1" flipV="1">
            <a:off x="844299" y="3086182"/>
            <a:ext cx="2362642" cy="1347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BFC276F7-70CD-7B9D-8966-34CFA3EF1001}"/>
              </a:ext>
            </a:extLst>
          </p:cNvPr>
          <p:cNvCxnSpPr>
            <a:cxnSpLocks/>
          </p:cNvCxnSpPr>
          <p:nvPr/>
        </p:nvCxnSpPr>
        <p:spPr>
          <a:xfrm>
            <a:off x="1959129" y="2694220"/>
            <a:ext cx="4916" cy="265348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EB846D13-A991-110A-F32E-3AC77602351C}"/>
              </a:ext>
            </a:extLst>
          </p:cNvPr>
          <p:cNvCxnSpPr>
            <a:cxnSpLocks/>
          </p:cNvCxnSpPr>
          <p:nvPr/>
        </p:nvCxnSpPr>
        <p:spPr>
          <a:xfrm>
            <a:off x="2026185" y="2700316"/>
            <a:ext cx="4916" cy="265348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BDACADEB-44BD-CC32-418D-3DA50FDCBC87}"/>
              </a:ext>
            </a:extLst>
          </p:cNvPr>
          <p:cNvCxnSpPr/>
          <p:nvPr/>
        </p:nvCxnSpPr>
        <p:spPr>
          <a:xfrm>
            <a:off x="3703722" y="3974431"/>
            <a:ext cx="2087478" cy="20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EE8F8806-4573-945A-2EC1-1ECF685F11E5}"/>
              </a:ext>
            </a:extLst>
          </p:cNvPr>
          <p:cNvCxnSpPr/>
          <p:nvPr/>
        </p:nvCxnSpPr>
        <p:spPr>
          <a:xfrm>
            <a:off x="7305675" y="2853992"/>
            <a:ext cx="12032" cy="250858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C21C08B4-33E5-CF8E-964A-BB8AF70A5261}"/>
              </a:ext>
            </a:extLst>
          </p:cNvPr>
          <p:cNvCxnSpPr>
            <a:cxnSpLocks/>
          </p:cNvCxnSpPr>
          <p:nvPr/>
        </p:nvCxnSpPr>
        <p:spPr>
          <a:xfrm>
            <a:off x="8368464" y="2853992"/>
            <a:ext cx="12032" cy="250858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CC0BA70A-EDDA-440F-7963-157C6EA9034F}"/>
              </a:ext>
            </a:extLst>
          </p:cNvPr>
          <p:cNvCxnSpPr>
            <a:cxnSpLocks/>
          </p:cNvCxnSpPr>
          <p:nvPr/>
        </p:nvCxnSpPr>
        <p:spPr>
          <a:xfrm>
            <a:off x="6894595" y="3315202"/>
            <a:ext cx="2227847" cy="1203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26A2A7F0-2358-8DA1-0E53-A4AFB244C9F9}"/>
              </a:ext>
            </a:extLst>
          </p:cNvPr>
          <p:cNvCxnSpPr>
            <a:cxnSpLocks/>
          </p:cNvCxnSpPr>
          <p:nvPr/>
        </p:nvCxnSpPr>
        <p:spPr>
          <a:xfrm>
            <a:off x="6894595" y="4377991"/>
            <a:ext cx="2227847" cy="1203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3DB4FC18-E526-3438-12C0-E95248D3E4D1}"/>
              </a:ext>
            </a:extLst>
          </p:cNvPr>
          <p:cNvSpPr txBox="1"/>
          <p:nvPr/>
        </p:nvSpPr>
        <p:spPr>
          <a:xfrm>
            <a:off x="6789821" y="2989847"/>
            <a:ext cx="4070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A</a:t>
            </a:r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34C25E72-FE39-3B97-141E-FCD8C28CEFBA}"/>
              </a:ext>
            </a:extLst>
          </p:cNvPr>
          <p:cNvCxnSpPr>
            <a:cxnSpLocks/>
          </p:cNvCxnSpPr>
          <p:nvPr/>
        </p:nvCxnSpPr>
        <p:spPr>
          <a:xfrm>
            <a:off x="6924673" y="2954254"/>
            <a:ext cx="352926" cy="332872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5212AB40-8EE0-4270-03B4-B7696D4C7987}"/>
              </a:ext>
            </a:extLst>
          </p:cNvPr>
          <p:cNvSpPr txBox="1"/>
          <p:nvPr/>
        </p:nvSpPr>
        <p:spPr>
          <a:xfrm>
            <a:off x="7010400" y="2799347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B 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014D74CA-CB12-E987-E431-9A13C0365926}"/>
              </a:ext>
            </a:extLst>
          </p:cNvPr>
          <p:cNvSpPr txBox="1"/>
          <p:nvPr/>
        </p:nvSpPr>
        <p:spPr>
          <a:xfrm>
            <a:off x="7632032" y="2879558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0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15F19C50-FFB8-CEDC-3673-AC2B4D7E7BFF}"/>
              </a:ext>
            </a:extLst>
          </p:cNvPr>
          <p:cNvSpPr txBox="1"/>
          <p:nvPr/>
        </p:nvSpPr>
        <p:spPr>
          <a:xfrm>
            <a:off x="6860005" y="3651584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0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27BAE4F2-354E-D34A-61F7-D8ECA8F4A28D}"/>
              </a:ext>
            </a:extLst>
          </p:cNvPr>
          <p:cNvSpPr txBox="1"/>
          <p:nvPr/>
        </p:nvSpPr>
        <p:spPr>
          <a:xfrm>
            <a:off x="8594558" y="2879557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967B801E-4428-B83F-2CE3-67FF0BA66C62}"/>
              </a:ext>
            </a:extLst>
          </p:cNvPr>
          <p:cNvSpPr txBox="1"/>
          <p:nvPr/>
        </p:nvSpPr>
        <p:spPr>
          <a:xfrm>
            <a:off x="6860005" y="4684293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86D3F264-9732-7170-D591-A5276078FAA8}"/>
              </a:ext>
            </a:extLst>
          </p:cNvPr>
          <p:cNvSpPr txBox="1"/>
          <p:nvPr/>
        </p:nvSpPr>
        <p:spPr>
          <a:xfrm>
            <a:off x="7632031" y="3651583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5B5EFCBC-0D1C-2003-55C4-B92A01378188}"/>
              </a:ext>
            </a:extLst>
          </p:cNvPr>
          <p:cNvSpPr txBox="1"/>
          <p:nvPr/>
        </p:nvSpPr>
        <p:spPr>
          <a:xfrm>
            <a:off x="8594558" y="3651583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2BCA51F3-105E-6787-6805-94339DBE3D49}"/>
              </a:ext>
            </a:extLst>
          </p:cNvPr>
          <p:cNvSpPr txBox="1"/>
          <p:nvPr/>
        </p:nvSpPr>
        <p:spPr>
          <a:xfrm>
            <a:off x="7632031" y="4684293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5724B83E-A7A5-B5C1-2721-04514F609EB4}"/>
              </a:ext>
            </a:extLst>
          </p:cNvPr>
          <p:cNvSpPr txBox="1"/>
          <p:nvPr/>
        </p:nvSpPr>
        <p:spPr>
          <a:xfrm>
            <a:off x="8594558" y="4684294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82A0DCCB-3F19-6AF1-8F00-25438D674E1F}"/>
              </a:ext>
            </a:extLst>
          </p:cNvPr>
          <p:cNvSpPr/>
          <p:nvPr/>
        </p:nvSpPr>
        <p:spPr>
          <a:xfrm>
            <a:off x="7529763" y="3549315"/>
            <a:ext cx="1594184" cy="172452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302AA514-9B05-3C57-294A-BA4C168F630F}"/>
              </a:ext>
            </a:extLst>
          </p:cNvPr>
          <p:cNvCxnSpPr/>
          <p:nvPr/>
        </p:nvCxnSpPr>
        <p:spPr>
          <a:xfrm flipV="1">
            <a:off x="9132971" y="2978819"/>
            <a:ext cx="1014663" cy="9805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27FA8CDC-3EB6-EF40-CDF6-FF713E25803B}"/>
              </a:ext>
            </a:extLst>
          </p:cNvPr>
          <p:cNvSpPr txBox="1"/>
          <p:nvPr/>
        </p:nvSpPr>
        <p:spPr>
          <a:xfrm rot="-10800000" flipV="1">
            <a:off x="10216816" y="2535016"/>
            <a:ext cx="5013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ea typeface="Calibri"/>
                <a:cs typeface="Calibri"/>
              </a:rPr>
              <a:t>1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29260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2B6902B1-48F7-D8F4-5890-828640291323}"/>
              </a:ext>
            </a:extLst>
          </p:cNvPr>
          <p:cNvSpPr txBox="1"/>
          <p:nvPr/>
        </p:nvSpPr>
        <p:spPr>
          <a:xfrm>
            <a:off x="258096" y="239660"/>
            <a:ext cx="1178641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Estratto esercizio 4 pagina 37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Scrivere le mappe di </a:t>
            </a:r>
            <a:r>
              <a:rPr lang="it-IT" dirty="0" err="1">
                <a:cs typeface="Calibri"/>
              </a:rPr>
              <a:t>Karnaugh</a:t>
            </a:r>
            <a:r>
              <a:rPr lang="it-IT" dirty="0">
                <a:cs typeface="Calibri"/>
              </a:rPr>
              <a:t> relative alle seguenti espressioni logiche 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5906770-3DD4-215C-E37E-0551E5827994}"/>
              </a:ext>
            </a:extLst>
          </p:cNvPr>
          <p:cNvSpPr txBox="1"/>
          <p:nvPr/>
        </p:nvSpPr>
        <p:spPr>
          <a:xfrm>
            <a:off x="245806" y="288822"/>
            <a:ext cx="1135011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it-IT" dirty="0">
              <a:cs typeface="Calibri" panose="020F0502020204030204"/>
            </a:endParaRPr>
          </a:p>
          <a:p>
            <a:endParaRPr lang="it-IT" dirty="0">
              <a:cs typeface="Calibri" panose="020F0502020204030204"/>
            </a:endParaRPr>
          </a:p>
          <a:p>
            <a:endParaRPr lang="it-IT" dirty="0">
              <a:cs typeface="Calibri" panose="020F0502020204030204"/>
            </a:endParaRPr>
          </a:p>
          <a:p>
            <a:r>
              <a:rPr lang="it-IT" dirty="0">
                <a:cs typeface="Calibri" panose="020F0502020204030204"/>
              </a:rPr>
              <a:t>L(A,B,C) = (A+B) (A+B) (A+B+C)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93C7BE0D-780A-68DB-F161-34A5DD04F677}"/>
              </a:ext>
            </a:extLst>
          </p:cNvPr>
          <p:cNvCxnSpPr>
            <a:cxnSpLocks/>
          </p:cNvCxnSpPr>
          <p:nvPr/>
        </p:nvCxnSpPr>
        <p:spPr>
          <a:xfrm flipV="1">
            <a:off x="1573774" y="1191545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C03E989A-FDCB-5D0C-3E71-34B9A86BCBD4}"/>
              </a:ext>
            </a:extLst>
          </p:cNvPr>
          <p:cNvCxnSpPr>
            <a:cxnSpLocks/>
          </p:cNvCxnSpPr>
          <p:nvPr/>
        </p:nvCxnSpPr>
        <p:spPr>
          <a:xfrm flipV="1">
            <a:off x="2470968" y="1191545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1110BCA-C336-DA98-1907-F48011559ABB}"/>
              </a:ext>
            </a:extLst>
          </p:cNvPr>
          <p:cNvSpPr txBox="1"/>
          <p:nvPr/>
        </p:nvSpPr>
        <p:spPr>
          <a:xfrm>
            <a:off x="463121" y="1762484"/>
            <a:ext cx="4014214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A          B             C              L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0          0              0             0</a:t>
            </a:r>
            <a:endParaRPr lang="it-IT" dirty="0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0          0              1             0</a:t>
            </a:r>
            <a:endParaRPr lang="it-IT" dirty="0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0          1              0             0</a:t>
            </a:r>
            <a:endParaRPr lang="it-IT" dirty="0">
              <a:ea typeface="Calibri"/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0          1              1             0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1          0              0             0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1          0              1             1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1          1              0             1</a:t>
            </a:r>
          </a:p>
          <a:p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1          1              1             1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E18CDF30-FB69-21C1-1212-5CF04425614F}"/>
              </a:ext>
            </a:extLst>
          </p:cNvPr>
          <p:cNvCxnSpPr/>
          <p:nvPr/>
        </p:nvCxnSpPr>
        <p:spPr>
          <a:xfrm>
            <a:off x="938451" y="1761773"/>
            <a:ext cx="24968" cy="477905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93B86407-8737-39D9-AF51-60F041741D66}"/>
              </a:ext>
            </a:extLst>
          </p:cNvPr>
          <p:cNvCxnSpPr>
            <a:cxnSpLocks/>
          </p:cNvCxnSpPr>
          <p:nvPr/>
        </p:nvCxnSpPr>
        <p:spPr>
          <a:xfrm>
            <a:off x="1640293" y="1761773"/>
            <a:ext cx="24968" cy="477905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B274EFDA-06F5-D9A2-F2B0-81AA24FC7419}"/>
              </a:ext>
            </a:extLst>
          </p:cNvPr>
          <p:cNvCxnSpPr>
            <a:cxnSpLocks/>
          </p:cNvCxnSpPr>
          <p:nvPr/>
        </p:nvCxnSpPr>
        <p:spPr>
          <a:xfrm>
            <a:off x="2302029" y="1761772"/>
            <a:ext cx="24968" cy="477905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957DD46E-E6D1-A9B8-F339-07E04AF4E495}"/>
              </a:ext>
            </a:extLst>
          </p:cNvPr>
          <p:cNvCxnSpPr>
            <a:cxnSpLocks/>
          </p:cNvCxnSpPr>
          <p:nvPr/>
        </p:nvCxnSpPr>
        <p:spPr>
          <a:xfrm>
            <a:off x="2542661" y="1761773"/>
            <a:ext cx="24968" cy="477905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933FA1B4-5F51-A1D8-3ABC-80274B330991}"/>
              </a:ext>
            </a:extLst>
          </p:cNvPr>
          <p:cNvCxnSpPr>
            <a:cxnSpLocks/>
          </p:cNvCxnSpPr>
          <p:nvPr/>
        </p:nvCxnSpPr>
        <p:spPr>
          <a:xfrm flipH="1" flipV="1">
            <a:off x="463300" y="2223919"/>
            <a:ext cx="2523063" cy="2349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2D81F484-68F8-5A35-B4C1-778361602573}"/>
              </a:ext>
            </a:extLst>
          </p:cNvPr>
          <p:cNvCxnSpPr/>
          <p:nvPr/>
        </p:nvCxnSpPr>
        <p:spPr>
          <a:xfrm>
            <a:off x="3703722" y="3974431"/>
            <a:ext cx="2087478" cy="20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DD852C8F-55F3-0F3D-ED6F-0E5C4B48D968}"/>
              </a:ext>
            </a:extLst>
          </p:cNvPr>
          <p:cNvCxnSpPr/>
          <p:nvPr/>
        </p:nvCxnSpPr>
        <p:spPr>
          <a:xfrm>
            <a:off x="7526254" y="2833939"/>
            <a:ext cx="12032" cy="250858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9802E3A8-B8D7-3F61-D5EE-46470617AEFC}"/>
              </a:ext>
            </a:extLst>
          </p:cNvPr>
          <p:cNvCxnSpPr>
            <a:cxnSpLocks/>
          </p:cNvCxnSpPr>
          <p:nvPr/>
        </p:nvCxnSpPr>
        <p:spPr>
          <a:xfrm>
            <a:off x="8418596" y="2833939"/>
            <a:ext cx="12032" cy="250858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CFE86B36-3A64-5D20-27CB-7529ED5B5767}"/>
              </a:ext>
            </a:extLst>
          </p:cNvPr>
          <p:cNvCxnSpPr>
            <a:cxnSpLocks/>
          </p:cNvCxnSpPr>
          <p:nvPr/>
        </p:nvCxnSpPr>
        <p:spPr>
          <a:xfrm>
            <a:off x="6894595" y="3315202"/>
            <a:ext cx="3922292" cy="1203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DD3B7F20-AEC4-73B4-DAAB-18C0BA49C669}"/>
              </a:ext>
            </a:extLst>
          </p:cNvPr>
          <p:cNvCxnSpPr>
            <a:cxnSpLocks/>
          </p:cNvCxnSpPr>
          <p:nvPr/>
        </p:nvCxnSpPr>
        <p:spPr>
          <a:xfrm>
            <a:off x="6844463" y="4357938"/>
            <a:ext cx="3972425" cy="3208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7FE51D5E-84D5-2460-C70F-BCCBEF925F85}"/>
              </a:ext>
            </a:extLst>
          </p:cNvPr>
          <p:cNvSpPr txBox="1"/>
          <p:nvPr/>
        </p:nvSpPr>
        <p:spPr>
          <a:xfrm>
            <a:off x="6789821" y="2989847"/>
            <a:ext cx="4070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A</a:t>
            </a:r>
          </a:p>
        </p:txBody>
      </p: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F3795EF0-0667-E518-B4C3-79321C698A84}"/>
              </a:ext>
            </a:extLst>
          </p:cNvPr>
          <p:cNvCxnSpPr>
            <a:cxnSpLocks/>
          </p:cNvCxnSpPr>
          <p:nvPr/>
        </p:nvCxnSpPr>
        <p:spPr>
          <a:xfrm>
            <a:off x="6914647" y="2964280"/>
            <a:ext cx="563478" cy="34289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F6A92623-E07F-320D-FD7B-6E4836E4265A}"/>
              </a:ext>
            </a:extLst>
          </p:cNvPr>
          <p:cNvSpPr txBox="1"/>
          <p:nvPr/>
        </p:nvSpPr>
        <p:spPr>
          <a:xfrm>
            <a:off x="7040480" y="2829426"/>
            <a:ext cx="5374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BC 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AC9C5933-9F23-1388-9A08-6ECA9940AA64}"/>
              </a:ext>
            </a:extLst>
          </p:cNvPr>
          <p:cNvSpPr txBox="1"/>
          <p:nvPr/>
        </p:nvSpPr>
        <p:spPr>
          <a:xfrm>
            <a:off x="7722269" y="2879558"/>
            <a:ext cx="5173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0 0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5B933614-9643-4D99-C108-B006C8C1269E}"/>
              </a:ext>
            </a:extLst>
          </p:cNvPr>
          <p:cNvSpPr txBox="1"/>
          <p:nvPr/>
        </p:nvSpPr>
        <p:spPr>
          <a:xfrm>
            <a:off x="6860005" y="3651584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0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A841423E-F391-7CBE-DE8E-AD81CBB54855}"/>
              </a:ext>
            </a:extLst>
          </p:cNvPr>
          <p:cNvSpPr txBox="1"/>
          <p:nvPr/>
        </p:nvSpPr>
        <p:spPr>
          <a:xfrm>
            <a:off x="8624637" y="2879557"/>
            <a:ext cx="5474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0 1</a:t>
            </a:r>
            <a:endParaRPr lang="it-IT" dirty="0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A8ECCE2B-BFA6-07E8-9102-1FF9933939AD}"/>
              </a:ext>
            </a:extLst>
          </p:cNvPr>
          <p:cNvSpPr txBox="1"/>
          <p:nvPr/>
        </p:nvSpPr>
        <p:spPr>
          <a:xfrm>
            <a:off x="6860005" y="4684293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cxnSp>
        <p:nvCxnSpPr>
          <p:cNvPr id="58" name="Connettore 2 57">
            <a:extLst>
              <a:ext uri="{FF2B5EF4-FFF2-40B4-BE49-F238E27FC236}">
                <a16:creationId xmlns:a16="http://schemas.microsoft.com/office/drawing/2014/main" id="{9CF16A2F-BDC7-16E6-D516-A484956B9D3C}"/>
              </a:ext>
            </a:extLst>
          </p:cNvPr>
          <p:cNvCxnSpPr>
            <a:cxnSpLocks/>
          </p:cNvCxnSpPr>
          <p:nvPr/>
        </p:nvCxnSpPr>
        <p:spPr>
          <a:xfrm>
            <a:off x="9280859" y="2833939"/>
            <a:ext cx="12032" cy="250858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7FF66D02-0D12-DE87-5338-A55C0E0EEB78}"/>
              </a:ext>
            </a:extLst>
          </p:cNvPr>
          <p:cNvCxnSpPr>
            <a:cxnSpLocks/>
          </p:cNvCxnSpPr>
          <p:nvPr/>
        </p:nvCxnSpPr>
        <p:spPr>
          <a:xfrm>
            <a:off x="10042858" y="2833939"/>
            <a:ext cx="12032" cy="250858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FB1D77F3-61C8-9E46-9068-A0BDA08E01E3}"/>
              </a:ext>
            </a:extLst>
          </p:cNvPr>
          <p:cNvSpPr txBox="1"/>
          <p:nvPr/>
        </p:nvSpPr>
        <p:spPr>
          <a:xfrm>
            <a:off x="9386637" y="2879557"/>
            <a:ext cx="5474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1 1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DD2D0DE0-5C1F-7453-8891-9D9BEFEA7167}"/>
              </a:ext>
            </a:extLst>
          </p:cNvPr>
          <p:cNvSpPr txBox="1"/>
          <p:nvPr/>
        </p:nvSpPr>
        <p:spPr>
          <a:xfrm>
            <a:off x="10188741" y="2879556"/>
            <a:ext cx="5474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1 0</a:t>
            </a: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71462335-E65C-74B0-CEBF-30A2D4C82A03}"/>
              </a:ext>
            </a:extLst>
          </p:cNvPr>
          <p:cNvSpPr txBox="1"/>
          <p:nvPr/>
        </p:nvSpPr>
        <p:spPr>
          <a:xfrm>
            <a:off x="8624636" y="4754478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B8747CAA-5B0A-2BD0-0489-F526766DFFBB}"/>
              </a:ext>
            </a:extLst>
          </p:cNvPr>
          <p:cNvSpPr txBox="1"/>
          <p:nvPr/>
        </p:nvSpPr>
        <p:spPr>
          <a:xfrm>
            <a:off x="10278978" y="4754478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AA8EC5B8-7DBE-6B87-609C-6EFC207E4E92}"/>
              </a:ext>
            </a:extLst>
          </p:cNvPr>
          <p:cNvSpPr txBox="1"/>
          <p:nvPr/>
        </p:nvSpPr>
        <p:spPr>
          <a:xfrm>
            <a:off x="9476872" y="4754478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5A12C3AA-CD44-F054-F7F5-24D777DA678F}"/>
              </a:ext>
            </a:extLst>
          </p:cNvPr>
          <p:cNvSpPr txBox="1"/>
          <p:nvPr/>
        </p:nvSpPr>
        <p:spPr>
          <a:xfrm>
            <a:off x="7802480" y="3651584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0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728CDA93-A6E6-5B9C-4312-C16F8C7CB5E2}"/>
              </a:ext>
            </a:extLst>
          </p:cNvPr>
          <p:cNvSpPr txBox="1"/>
          <p:nvPr/>
        </p:nvSpPr>
        <p:spPr>
          <a:xfrm>
            <a:off x="8694821" y="3651584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0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5D124E59-D928-D871-47F9-066772826CE1}"/>
              </a:ext>
            </a:extLst>
          </p:cNvPr>
          <p:cNvSpPr txBox="1"/>
          <p:nvPr/>
        </p:nvSpPr>
        <p:spPr>
          <a:xfrm>
            <a:off x="9476874" y="3651584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0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6EAFC931-EF87-1B2B-A567-388F48F7E9B3}"/>
              </a:ext>
            </a:extLst>
          </p:cNvPr>
          <p:cNvSpPr txBox="1"/>
          <p:nvPr/>
        </p:nvSpPr>
        <p:spPr>
          <a:xfrm>
            <a:off x="10278979" y="3651584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0</a:t>
            </a:r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4752F99D-C90D-15FD-EE20-3764552FB129}"/>
              </a:ext>
            </a:extLst>
          </p:cNvPr>
          <p:cNvSpPr txBox="1"/>
          <p:nvPr/>
        </p:nvSpPr>
        <p:spPr>
          <a:xfrm>
            <a:off x="7802479" y="4714374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0</a:t>
            </a:r>
          </a:p>
        </p:txBody>
      </p:sp>
      <p:sp>
        <p:nvSpPr>
          <p:cNvPr id="77" name="Rettangolo 76">
            <a:extLst>
              <a:ext uri="{FF2B5EF4-FFF2-40B4-BE49-F238E27FC236}">
                <a16:creationId xmlns:a16="http://schemas.microsoft.com/office/drawing/2014/main" id="{DF0E0793-8EBC-7B26-A3EC-6DF6450CFAFE}"/>
              </a:ext>
            </a:extLst>
          </p:cNvPr>
          <p:cNvSpPr/>
          <p:nvPr/>
        </p:nvSpPr>
        <p:spPr>
          <a:xfrm>
            <a:off x="8622631" y="4642184"/>
            <a:ext cx="1163052" cy="60157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8" name="Rettangolo 77">
            <a:extLst>
              <a:ext uri="{FF2B5EF4-FFF2-40B4-BE49-F238E27FC236}">
                <a16:creationId xmlns:a16="http://schemas.microsoft.com/office/drawing/2014/main" id="{9B0722F5-DECB-4E76-910D-925DBC83ADD3}"/>
              </a:ext>
            </a:extLst>
          </p:cNvPr>
          <p:cNvSpPr/>
          <p:nvPr/>
        </p:nvSpPr>
        <p:spPr>
          <a:xfrm>
            <a:off x="9464841" y="4642184"/>
            <a:ext cx="1163052" cy="601578"/>
          </a:xfrm>
          <a:prstGeom prst="rect">
            <a:avLst/>
          </a:prstGeom>
          <a:noFill/>
          <a:ln w="28575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9" name="Connettore 2 78">
            <a:extLst>
              <a:ext uri="{FF2B5EF4-FFF2-40B4-BE49-F238E27FC236}">
                <a16:creationId xmlns:a16="http://schemas.microsoft.com/office/drawing/2014/main" id="{7BAA6247-6393-7C48-C04E-B9D1F730537E}"/>
              </a:ext>
            </a:extLst>
          </p:cNvPr>
          <p:cNvCxnSpPr>
            <a:cxnSpLocks/>
          </p:cNvCxnSpPr>
          <p:nvPr/>
        </p:nvCxnSpPr>
        <p:spPr>
          <a:xfrm flipH="1">
            <a:off x="8157410" y="5237745"/>
            <a:ext cx="850232" cy="75398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ttore 2 79">
            <a:extLst>
              <a:ext uri="{FF2B5EF4-FFF2-40B4-BE49-F238E27FC236}">
                <a16:creationId xmlns:a16="http://schemas.microsoft.com/office/drawing/2014/main" id="{67F4634C-F653-D415-4A7F-D13E8F88663F}"/>
              </a:ext>
            </a:extLst>
          </p:cNvPr>
          <p:cNvCxnSpPr>
            <a:cxnSpLocks/>
          </p:cNvCxnSpPr>
          <p:nvPr/>
        </p:nvCxnSpPr>
        <p:spPr>
          <a:xfrm>
            <a:off x="10180720" y="5237745"/>
            <a:ext cx="774031" cy="663744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2BA32659-DAB5-C5D6-F028-75DD76F900A7}"/>
              </a:ext>
            </a:extLst>
          </p:cNvPr>
          <p:cNvSpPr txBox="1"/>
          <p:nvPr/>
        </p:nvSpPr>
        <p:spPr>
          <a:xfrm>
            <a:off x="7910762" y="5985710"/>
            <a:ext cx="531395" cy="3793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AC</a:t>
            </a:r>
            <a:endParaRPr lang="it-IT" dirty="0"/>
          </a:p>
        </p:txBody>
      </p:sp>
      <p:sp>
        <p:nvSpPr>
          <p:cNvPr id="82" name="CasellaDiTesto 81">
            <a:extLst>
              <a:ext uri="{FF2B5EF4-FFF2-40B4-BE49-F238E27FC236}">
                <a16:creationId xmlns:a16="http://schemas.microsoft.com/office/drawing/2014/main" id="{1E54034F-56DD-C820-F08E-86A72D61728A}"/>
              </a:ext>
            </a:extLst>
          </p:cNvPr>
          <p:cNvSpPr txBox="1"/>
          <p:nvPr/>
        </p:nvSpPr>
        <p:spPr>
          <a:xfrm>
            <a:off x="10698077" y="5955631"/>
            <a:ext cx="531395" cy="3793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267015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772608F4-1A81-5981-5ABE-5C7F4E00489E}"/>
              </a:ext>
            </a:extLst>
          </p:cNvPr>
          <p:cNvSpPr txBox="1"/>
          <p:nvPr/>
        </p:nvSpPr>
        <p:spPr>
          <a:xfrm>
            <a:off x="172064" y="165918"/>
            <a:ext cx="1178641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Estratto esercizio 4 pagina 37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Scrivere le mappe di </a:t>
            </a:r>
            <a:r>
              <a:rPr lang="it-IT" dirty="0" err="1">
                <a:cs typeface="Calibri"/>
              </a:rPr>
              <a:t>Karnaugh</a:t>
            </a:r>
            <a:r>
              <a:rPr lang="it-IT" dirty="0">
                <a:cs typeface="Calibri"/>
              </a:rPr>
              <a:t> relative alle seguenti espressioni logiche 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18F1B59-32FF-54DC-3725-411C848E1018}"/>
              </a:ext>
            </a:extLst>
          </p:cNvPr>
          <p:cNvSpPr txBox="1"/>
          <p:nvPr/>
        </p:nvSpPr>
        <p:spPr>
          <a:xfrm>
            <a:off x="170836" y="244577"/>
            <a:ext cx="1153692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solidFill>
                <a:srgbClr val="808080"/>
              </a:solidFill>
              <a:cs typeface="Calibri"/>
            </a:endParaRPr>
          </a:p>
          <a:p>
            <a:endParaRPr lang="en-US" dirty="0">
              <a:solidFill>
                <a:srgbClr val="808080"/>
              </a:solidFill>
              <a:cs typeface="Calibri"/>
            </a:endParaRP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G(A,B,C,D) = B + AB + CD + C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3D0BD69A-300D-1140-A235-8BA602A25E76}"/>
              </a:ext>
            </a:extLst>
          </p:cNvPr>
          <p:cNvCxnSpPr>
            <a:cxnSpLocks/>
          </p:cNvCxnSpPr>
          <p:nvPr/>
        </p:nvCxnSpPr>
        <p:spPr>
          <a:xfrm flipV="1">
            <a:off x="1432436" y="1142384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9689A3F7-F677-D36D-4125-2A8C23D6176F}"/>
              </a:ext>
            </a:extLst>
          </p:cNvPr>
          <p:cNvCxnSpPr>
            <a:cxnSpLocks/>
          </p:cNvCxnSpPr>
          <p:nvPr/>
        </p:nvCxnSpPr>
        <p:spPr>
          <a:xfrm flipV="1">
            <a:off x="2391081" y="1142384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A9F4C983-A925-F80C-AE8E-B07C58E04AF1}"/>
              </a:ext>
            </a:extLst>
          </p:cNvPr>
          <p:cNvCxnSpPr>
            <a:cxnSpLocks/>
          </p:cNvCxnSpPr>
          <p:nvPr/>
        </p:nvCxnSpPr>
        <p:spPr>
          <a:xfrm flipV="1">
            <a:off x="2753645" y="1142384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A24F0D7-5263-146A-DA9A-66F6426D2CE0}"/>
              </a:ext>
            </a:extLst>
          </p:cNvPr>
          <p:cNvSpPr txBox="1"/>
          <p:nvPr/>
        </p:nvSpPr>
        <p:spPr>
          <a:xfrm>
            <a:off x="102174" y="1612089"/>
            <a:ext cx="4014214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A          B             C              D             G</a:t>
            </a:r>
          </a:p>
          <a:p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0          0              0             0               1</a:t>
            </a:r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0          0              0             1               1</a:t>
            </a:r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0          0              1             0               1</a:t>
            </a:r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0          0              1             1               1</a:t>
            </a:r>
          </a:p>
          <a:p>
            <a:r>
              <a:rPr lang="it-IT" dirty="0">
                <a:cs typeface="Calibri"/>
              </a:rPr>
              <a:t>0          1              0             0               1</a:t>
            </a:r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0          1              0             1               1</a:t>
            </a:r>
            <a:endParaRPr lang="it-IT" dirty="0">
              <a:cs typeface="Calibri"/>
            </a:endParaRPr>
          </a:p>
          <a:p>
            <a:r>
              <a:rPr lang="it-IT" dirty="0">
                <a:cs typeface="Calibri"/>
              </a:rPr>
              <a:t>0          1              1             0               1</a:t>
            </a:r>
            <a:endParaRPr lang="it-IT" dirty="0">
              <a:ea typeface="Calibri"/>
              <a:cs typeface="Calibri"/>
            </a:endParaRPr>
          </a:p>
          <a:p>
            <a:r>
              <a:rPr lang="it-IT" dirty="0">
                <a:ea typeface="Calibri"/>
                <a:cs typeface="Calibri"/>
              </a:rPr>
              <a:t>0          1              1             1               0</a:t>
            </a:r>
          </a:p>
          <a:p>
            <a:r>
              <a:rPr lang="it-IT" dirty="0">
                <a:ea typeface="Calibri"/>
                <a:cs typeface="Calibri"/>
              </a:rPr>
              <a:t>1          0              0             0               1</a:t>
            </a:r>
          </a:p>
          <a:p>
            <a:r>
              <a:rPr lang="it-IT" dirty="0">
                <a:ea typeface="Calibri"/>
                <a:cs typeface="Calibri"/>
              </a:rPr>
              <a:t>1          0              0             1               1</a:t>
            </a:r>
          </a:p>
          <a:p>
            <a:r>
              <a:rPr lang="it-IT" dirty="0">
                <a:ea typeface="Calibri"/>
                <a:cs typeface="Calibri"/>
              </a:rPr>
              <a:t>1          0              1             0               1</a:t>
            </a:r>
          </a:p>
          <a:p>
            <a:r>
              <a:rPr lang="it-IT" dirty="0">
                <a:ea typeface="Calibri"/>
                <a:cs typeface="Calibri"/>
              </a:rPr>
              <a:t>1          0              1             1               1</a:t>
            </a:r>
          </a:p>
          <a:p>
            <a:r>
              <a:rPr lang="it-IT" dirty="0">
                <a:ea typeface="Calibri"/>
                <a:cs typeface="Calibri"/>
              </a:rPr>
              <a:t>1          1              0             0               1</a:t>
            </a:r>
          </a:p>
          <a:p>
            <a:r>
              <a:rPr lang="it-IT" dirty="0">
                <a:ea typeface="Calibri"/>
                <a:cs typeface="Calibri"/>
              </a:rPr>
              <a:t>1          1              0             1               1</a:t>
            </a:r>
          </a:p>
          <a:p>
            <a:r>
              <a:rPr lang="it-IT" dirty="0">
                <a:ea typeface="Calibri"/>
                <a:cs typeface="Calibri"/>
              </a:rPr>
              <a:t>1          1              1             0               1</a:t>
            </a:r>
          </a:p>
          <a:p>
            <a:r>
              <a:rPr lang="it-IT" dirty="0">
                <a:ea typeface="Calibri"/>
                <a:cs typeface="Calibri"/>
              </a:rPr>
              <a:t>1          1              1             1               1</a:t>
            </a:r>
            <a:endParaRPr lang="it-IT" dirty="0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AF64CE7D-F8E6-A466-5B74-43EBE83AB828}"/>
              </a:ext>
            </a:extLst>
          </p:cNvPr>
          <p:cNvCxnSpPr/>
          <p:nvPr/>
        </p:nvCxnSpPr>
        <p:spPr>
          <a:xfrm>
            <a:off x="577504" y="1611378"/>
            <a:ext cx="24968" cy="477905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26B4331C-D200-2BC6-3CBB-EA5E3A032728}"/>
              </a:ext>
            </a:extLst>
          </p:cNvPr>
          <p:cNvCxnSpPr>
            <a:cxnSpLocks/>
          </p:cNvCxnSpPr>
          <p:nvPr/>
        </p:nvCxnSpPr>
        <p:spPr>
          <a:xfrm>
            <a:off x="1279346" y="1611378"/>
            <a:ext cx="24968" cy="477905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A20F9D6D-2905-B9F7-007B-4C4010ED8E70}"/>
              </a:ext>
            </a:extLst>
          </p:cNvPr>
          <p:cNvCxnSpPr>
            <a:cxnSpLocks/>
          </p:cNvCxnSpPr>
          <p:nvPr/>
        </p:nvCxnSpPr>
        <p:spPr>
          <a:xfrm>
            <a:off x="2923661" y="1611377"/>
            <a:ext cx="24968" cy="477905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1EC7A93A-FF0D-A2EB-C8EC-0BC5A0829952}"/>
              </a:ext>
            </a:extLst>
          </p:cNvPr>
          <p:cNvCxnSpPr>
            <a:cxnSpLocks/>
          </p:cNvCxnSpPr>
          <p:nvPr/>
        </p:nvCxnSpPr>
        <p:spPr>
          <a:xfrm>
            <a:off x="3033951" y="1611378"/>
            <a:ext cx="24968" cy="477905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6222987D-F520-14EB-F319-70FD7CE38DA3}"/>
              </a:ext>
            </a:extLst>
          </p:cNvPr>
          <p:cNvCxnSpPr>
            <a:cxnSpLocks/>
          </p:cNvCxnSpPr>
          <p:nvPr/>
        </p:nvCxnSpPr>
        <p:spPr>
          <a:xfrm flipH="1" flipV="1">
            <a:off x="102352" y="2073524"/>
            <a:ext cx="3545747" cy="2349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2B9846E2-7240-93EE-8A20-7516C04BB9CA}"/>
              </a:ext>
            </a:extLst>
          </p:cNvPr>
          <p:cNvCxnSpPr>
            <a:cxnSpLocks/>
          </p:cNvCxnSpPr>
          <p:nvPr/>
        </p:nvCxnSpPr>
        <p:spPr>
          <a:xfrm>
            <a:off x="2101503" y="1611378"/>
            <a:ext cx="24968" cy="477905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902C7EF4-90C0-941E-7360-CF43E9AA9211}"/>
              </a:ext>
            </a:extLst>
          </p:cNvPr>
          <p:cNvCxnSpPr/>
          <p:nvPr/>
        </p:nvCxnSpPr>
        <p:spPr>
          <a:xfrm flipH="1">
            <a:off x="6365207" y="1981702"/>
            <a:ext cx="28073" cy="362150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71B4053-C46D-623B-03B3-FDBBB661A765}"/>
              </a:ext>
            </a:extLst>
          </p:cNvPr>
          <p:cNvCxnSpPr>
            <a:cxnSpLocks/>
          </p:cNvCxnSpPr>
          <p:nvPr/>
        </p:nvCxnSpPr>
        <p:spPr>
          <a:xfrm flipH="1">
            <a:off x="7277602" y="1981702"/>
            <a:ext cx="8020" cy="365158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17CDF89A-6ADA-69E1-C29E-0287524E5F61}"/>
              </a:ext>
            </a:extLst>
          </p:cNvPr>
          <p:cNvCxnSpPr>
            <a:cxnSpLocks/>
          </p:cNvCxnSpPr>
          <p:nvPr/>
        </p:nvCxnSpPr>
        <p:spPr>
          <a:xfrm>
            <a:off x="5761621" y="2462965"/>
            <a:ext cx="3922292" cy="1203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B3C457DE-CAFB-BBC2-3269-47933937018F}"/>
              </a:ext>
            </a:extLst>
          </p:cNvPr>
          <p:cNvCxnSpPr>
            <a:cxnSpLocks/>
          </p:cNvCxnSpPr>
          <p:nvPr/>
        </p:nvCxnSpPr>
        <p:spPr>
          <a:xfrm>
            <a:off x="5711489" y="3295148"/>
            <a:ext cx="3972425" cy="3208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03C1EB7B-675C-59DD-AA56-F2C0831C3E12}"/>
              </a:ext>
            </a:extLst>
          </p:cNvPr>
          <p:cNvSpPr txBox="1"/>
          <p:nvPr/>
        </p:nvSpPr>
        <p:spPr>
          <a:xfrm>
            <a:off x="5656847" y="2137610"/>
            <a:ext cx="56749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AB</a:t>
            </a:r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8E0B1D69-503F-A821-9B8F-5286FE297DA7}"/>
              </a:ext>
            </a:extLst>
          </p:cNvPr>
          <p:cNvCxnSpPr>
            <a:cxnSpLocks/>
          </p:cNvCxnSpPr>
          <p:nvPr/>
        </p:nvCxnSpPr>
        <p:spPr>
          <a:xfrm>
            <a:off x="5861883" y="1981701"/>
            <a:ext cx="513347" cy="453187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663FE423-D0FD-FFB1-B14D-D6F68CC68A1F}"/>
              </a:ext>
            </a:extLst>
          </p:cNvPr>
          <p:cNvSpPr txBox="1"/>
          <p:nvPr/>
        </p:nvSpPr>
        <p:spPr>
          <a:xfrm>
            <a:off x="5957638" y="1796715"/>
            <a:ext cx="5374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CD</a:t>
            </a:r>
            <a:endParaRPr lang="it-IT" dirty="0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E5EF5B4E-26CA-FCFD-8CFA-25C703FE699E}"/>
              </a:ext>
            </a:extLst>
          </p:cNvPr>
          <p:cNvSpPr txBox="1"/>
          <p:nvPr/>
        </p:nvSpPr>
        <p:spPr>
          <a:xfrm>
            <a:off x="6589295" y="2027321"/>
            <a:ext cx="5173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0 0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97A9465B-1EFF-E346-8A30-7E885BE47A6A}"/>
              </a:ext>
            </a:extLst>
          </p:cNvPr>
          <p:cNvSpPr txBox="1"/>
          <p:nvPr/>
        </p:nvSpPr>
        <p:spPr>
          <a:xfrm>
            <a:off x="7491663" y="2027320"/>
            <a:ext cx="5474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0 1</a:t>
            </a:r>
            <a:endParaRPr lang="it-IT" dirty="0"/>
          </a:p>
        </p:txBody>
      </p: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D7111497-E155-F046-E219-01FF408D5378}"/>
              </a:ext>
            </a:extLst>
          </p:cNvPr>
          <p:cNvCxnSpPr>
            <a:cxnSpLocks/>
          </p:cNvCxnSpPr>
          <p:nvPr/>
        </p:nvCxnSpPr>
        <p:spPr>
          <a:xfrm>
            <a:off x="8147885" y="1981702"/>
            <a:ext cx="12032" cy="368166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E7D41DED-86FA-0670-9B15-10E0E3A88373}"/>
              </a:ext>
            </a:extLst>
          </p:cNvPr>
          <p:cNvCxnSpPr>
            <a:cxnSpLocks/>
          </p:cNvCxnSpPr>
          <p:nvPr/>
        </p:nvCxnSpPr>
        <p:spPr>
          <a:xfrm flipH="1">
            <a:off x="8982075" y="1971676"/>
            <a:ext cx="28072" cy="368166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A9259B79-C58B-3419-D154-ABB77070CC99}"/>
              </a:ext>
            </a:extLst>
          </p:cNvPr>
          <p:cNvSpPr txBox="1"/>
          <p:nvPr/>
        </p:nvSpPr>
        <p:spPr>
          <a:xfrm>
            <a:off x="8253663" y="2027320"/>
            <a:ext cx="5474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1 1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A56ACA3D-114C-B81F-9A48-714A293ECCBD}"/>
              </a:ext>
            </a:extLst>
          </p:cNvPr>
          <p:cNvSpPr txBox="1"/>
          <p:nvPr/>
        </p:nvSpPr>
        <p:spPr>
          <a:xfrm>
            <a:off x="5717004" y="5165556"/>
            <a:ext cx="5474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1 0</a:t>
            </a:r>
          </a:p>
        </p:txBody>
      </p:sp>
      <p:cxnSp>
        <p:nvCxnSpPr>
          <p:cNvPr id="72" name="Connettore 2 71">
            <a:extLst>
              <a:ext uri="{FF2B5EF4-FFF2-40B4-BE49-F238E27FC236}">
                <a16:creationId xmlns:a16="http://schemas.microsoft.com/office/drawing/2014/main" id="{14AF739C-E2DA-657B-DB9E-AC388B10D224}"/>
              </a:ext>
            </a:extLst>
          </p:cNvPr>
          <p:cNvCxnSpPr>
            <a:cxnSpLocks/>
          </p:cNvCxnSpPr>
          <p:nvPr/>
        </p:nvCxnSpPr>
        <p:spPr>
          <a:xfrm flipV="1">
            <a:off x="4215063" y="3755856"/>
            <a:ext cx="1114925" cy="180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ttore 2 78">
            <a:extLst>
              <a:ext uri="{FF2B5EF4-FFF2-40B4-BE49-F238E27FC236}">
                <a16:creationId xmlns:a16="http://schemas.microsoft.com/office/drawing/2014/main" id="{B23312A9-6D55-832E-EDFF-9BCCE3444F81}"/>
              </a:ext>
            </a:extLst>
          </p:cNvPr>
          <p:cNvCxnSpPr>
            <a:cxnSpLocks/>
          </p:cNvCxnSpPr>
          <p:nvPr/>
        </p:nvCxnSpPr>
        <p:spPr>
          <a:xfrm>
            <a:off x="5711489" y="4047122"/>
            <a:ext cx="3972425" cy="3208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ttore 2 79">
            <a:extLst>
              <a:ext uri="{FF2B5EF4-FFF2-40B4-BE49-F238E27FC236}">
                <a16:creationId xmlns:a16="http://schemas.microsoft.com/office/drawing/2014/main" id="{C96B3F3B-65EA-1CDD-E735-A54E987684B2}"/>
              </a:ext>
            </a:extLst>
          </p:cNvPr>
          <p:cNvCxnSpPr>
            <a:cxnSpLocks/>
          </p:cNvCxnSpPr>
          <p:nvPr/>
        </p:nvCxnSpPr>
        <p:spPr>
          <a:xfrm>
            <a:off x="5711488" y="4949489"/>
            <a:ext cx="3972425" cy="3208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179EEE46-4FDF-F29D-03B1-B013EC97A358}"/>
              </a:ext>
            </a:extLst>
          </p:cNvPr>
          <p:cNvSpPr txBox="1"/>
          <p:nvPr/>
        </p:nvSpPr>
        <p:spPr>
          <a:xfrm>
            <a:off x="5807242" y="2699084"/>
            <a:ext cx="5173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0 0</a:t>
            </a:r>
          </a:p>
        </p:txBody>
      </p:sp>
      <p:sp>
        <p:nvSpPr>
          <p:cNvPr id="82" name="CasellaDiTesto 81">
            <a:extLst>
              <a:ext uri="{FF2B5EF4-FFF2-40B4-BE49-F238E27FC236}">
                <a16:creationId xmlns:a16="http://schemas.microsoft.com/office/drawing/2014/main" id="{DEEC9CB0-556B-5B22-8685-7B3E0B009AA7}"/>
              </a:ext>
            </a:extLst>
          </p:cNvPr>
          <p:cNvSpPr txBox="1"/>
          <p:nvPr/>
        </p:nvSpPr>
        <p:spPr>
          <a:xfrm>
            <a:off x="5797215" y="3531267"/>
            <a:ext cx="5474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0 1</a:t>
            </a:r>
            <a:endParaRPr lang="it-IT" dirty="0"/>
          </a:p>
        </p:txBody>
      </p:sp>
      <p:sp>
        <p:nvSpPr>
          <p:cNvPr id="83" name="CasellaDiTesto 82">
            <a:extLst>
              <a:ext uri="{FF2B5EF4-FFF2-40B4-BE49-F238E27FC236}">
                <a16:creationId xmlns:a16="http://schemas.microsoft.com/office/drawing/2014/main" id="{DA713126-A9EF-6C93-FD67-F4CC78CBFD3A}"/>
              </a:ext>
            </a:extLst>
          </p:cNvPr>
          <p:cNvSpPr txBox="1"/>
          <p:nvPr/>
        </p:nvSpPr>
        <p:spPr>
          <a:xfrm>
            <a:off x="5757110" y="4353424"/>
            <a:ext cx="5474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1 1</a:t>
            </a:r>
          </a:p>
        </p:txBody>
      </p:sp>
      <p:sp>
        <p:nvSpPr>
          <p:cNvPr id="84" name="CasellaDiTesto 83">
            <a:extLst>
              <a:ext uri="{FF2B5EF4-FFF2-40B4-BE49-F238E27FC236}">
                <a16:creationId xmlns:a16="http://schemas.microsoft.com/office/drawing/2014/main" id="{1CD118C7-6325-780B-843D-71466C647C2F}"/>
              </a:ext>
            </a:extLst>
          </p:cNvPr>
          <p:cNvSpPr txBox="1"/>
          <p:nvPr/>
        </p:nvSpPr>
        <p:spPr>
          <a:xfrm>
            <a:off x="9166056" y="2027319"/>
            <a:ext cx="5474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1 0</a:t>
            </a:r>
          </a:p>
        </p:txBody>
      </p:sp>
      <p:sp>
        <p:nvSpPr>
          <p:cNvPr id="85" name="CasellaDiTesto 84">
            <a:extLst>
              <a:ext uri="{FF2B5EF4-FFF2-40B4-BE49-F238E27FC236}">
                <a16:creationId xmlns:a16="http://schemas.microsoft.com/office/drawing/2014/main" id="{C0311FBD-393F-5181-AFE2-3F7D847B5657}"/>
              </a:ext>
            </a:extLst>
          </p:cNvPr>
          <p:cNvSpPr txBox="1"/>
          <p:nvPr/>
        </p:nvSpPr>
        <p:spPr>
          <a:xfrm>
            <a:off x="8373979" y="3531268"/>
            <a:ext cx="3068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0</a:t>
            </a:r>
          </a:p>
        </p:txBody>
      </p:sp>
      <p:sp>
        <p:nvSpPr>
          <p:cNvPr id="87" name="CasellaDiTesto 86">
            <a:extLst>
              <a:ext uri="{FF2B5EF4-FFF2-40B4-BE49-F238E27FC236}">
                <a16:creationId xmlns:a16="http://schemas.microsoft.com/office/drawing/2014/main" id="{ECCC76EE-3E6C-5A45-C09C-8DA65C6C4CEE}"/>
              </a:ext>
            </a:extLst>
          </p:cNvPr>
          <p:cNvSpPr txBox="1"/>
          <p:nvPr/>
        </p:nvSpPr>
        <p:spPr>
          <a:xfrm>
            <a:off x="6669504" y="2699083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0AB39EB0-987B-B984-1730-7E4B358C43F2}"/>
              </a:ext>
            </a:extLst>
          </p:cNvPr>
          <p:cNvSpPr txBox="1"/>
          <p:nvPr/>
        </p:nvSpPr>
        <p:spPr>
          <a:xfrm>
            <a:off x="7581899" y="2699083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91" name="CasellaDiTesto 90">
            <a:extLst>
              <a:ext uri="{FF2B5EF4-FFF2-40B4-BE49-F238E27FC236}">
                <a16:creationId xmlns:a16="http://schemas.microsoft.com/office/drawing/2014/main" id="{F850E681-FA97-A8D7-87E6-04F96C258BB4}"/>
              </a:ext>
            </a:extLst>
          </p:cNvPr>
          <p:cNvSpPr txBox="1"/>
          <p:nvPr/>
        </p:nvSpPr>
        <p:spPr>
          <a:xfrm>
            <a:off x="8373978" y="2699083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93" name="CasellaDiTesto 92">
            <a:extLst>
              <a:ext uri="{FF2B5EF4-FFF2-40B4-BE49-F238E27FC236}">
                <a16:creationId xmlns:a16="http://schemas.microsoft.com/office/drawing/2014/main" id="{6D438DC4-BED4-6BB2-44C7-2180E917064F}"/>
              </a:ext>
            </a:extLst>
          </p:cNvPr>
          <p:cNvSpPr txBox="1"/>
          <p:nvPr/>
        </p:nvSpPr>
        <p:spPr>
          <a:xfrm>
            <a:off x="9226215" y="2699083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D4A6C3C0-3C1A-20C2-935B-F4DA3C55EE79}"/>
              </a:ext>
            </a:extLst>
          </p:cNvPr>
          <p:cNvSpPr txBox="1"/>
          <p:nvPr/>
        </p:nvSpPr>
        <p:spPr>
          <a:xfrm>
            <a:off x="6669504" y="3471110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97" name="CasellaDiTesto 96">
            <a:extLst>
              <a:ext uri="{FF2B5EF4-FFF2-40B4-BE49-F238E27FC236}">
                <a16:creationId xmlns:a16="http://schemas.microsoft.com/office/drawing/2014/main" id="{EDF2B4FE-7AEE-6728-D4B3-43554C413D96}"/>
              </a:ext>
            </a:extLst>
          </p:cNvPr>
          <p:cNvSpPr txBox="1"/>
          <p:nvPr/>
        </p:nvSpPr>
        <p:spPr>
          <a:xfrm>
            <a:off x="7581899" y="3531268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99" name="CasellaDiTesto 98">
            <a:extLst>
              <a:ext uri="{FF2B5EF4-FFF2-40B4-BE49-F238E27FC236}">
                <a16:creationId xmlns:a16="http://schemas.microsoft.com/office/drawing/2014/main" id="{394E6332-D982-A435-D6B9-320AB12EB055}"/>
              </a:ext>
            </a:extLst>
          </p:cNvPr>
          <p:cNvSpPr txBox="1"/>
          <p:nvPr/>
        </p:nvSpPr>
        <p:spPr>
          <a:xfrm>
            <a:off x="9226215" y="3531268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101" name="CasellaDiTesto 100">
            <a:extLst>
              <a:ext uri="{FF2B5EF4-FFF2-40B4-BE49-F238E27FC236}">
                <a16:creationId xmlns:a16="http://schemas.microsoft.com/office/drawing/2014/main" id="{447F78DF-A2BA-3804-81B0-5F39338459FF}"/>
              </a:ext>
            </a:extLst>
          </p:cNvPr>
          <p:cNvSpPr txBox="1"/>
          <p:nvPr/>
        </p:nvSpPr>
        <p:spPr>
          <a:xfrm>
            <a:off x="6669504" y="4353425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103" name="CasellaDiTesto 102">
            <a:extLst>
              <a:ext uri="{FF2B5EF4-FFF2-40B4-BE49-F238E27FC236}">
                <a16:creationId xmlns:a16="http://schemas.microsoft.com/office/drawing/2014/main" id="{C8F6AAB6-1320-7B1D-7E28-523AE1C6611B}"/>
              </a:ext>
            </a:extLst>
          </p:cNvPr>
          <p:cNvSpPr txBox="1"/>
          <p:nvPr/>
        </p:nvSpPr>
        <p:spPr>
          <a:xfrm>
            <a:off x="7581899" y="4353425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105" name="CasellaDiTesto 104">
            <a:extLst>
              <a:ext uri="{FF2B5EF4-FFF2-40B4-BE49-F238E27FC236}">
                <a16:creationId xmlns:a16="http://schemas.microsoft.com/office/drawing/2014/main" id="{CAAAD6DD-D62F-4141-973A-DB74D7BAA52F}"/>
              </a:ext>
            </a:extLst>
          </p:cNvPr>
          <p:cNvSpPr txBox="1"/>
          <p:nvPr/>
        </p:nvSpPr>
        <p:spPr>
          <a:xfrm>
            <a:off x="8343899" y="4313320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107" name="CasellaDiTesto 106">
            <a:extLst>
              <a:ext uri="{FF2B5EF4-FFF2-40B4-BE49-F238E27FC236}">
                <a16:creationId xmlns:a16="http://schemas.microsoft.com/office/drawing/2014/main" id="{444D45FA-6996-7142-7AE1-5AF5EED6982E}"/>
              </a:ext>
            </a:extLst>
          </p:cNvPr>
          <p:cNvSpPr txBox="1"/>
          <p:nvPr/>
        </p:nvSpPr>
        <p:spPr>
          <a:xfrm>
            <a:off x="9256294" y="4313320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109" name="CasellaDiTesto 108">
            <a:extLst>
              <a:ext uri="{FF2B5EF4-FFF2-40B4-BE49-F238E27FC236}">
                <a16:creationId xmlns:a16="http://schemas.microsoft.com/office/drawing/2014/main" id="{BDE9DFC1-E7D9-FAD6-4BD6-2F78BEF6D0BF}"/>
              </a:ext>
            </a:extLst>
          </p:cNvPr>
          <p:cNvSpPr txBox="1"/>
          <p:nvPr/>
        </p:nvSpPr>
        <p:spPr>
          <a:xfrm>
            <a:off x="6669504" y="5115425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111" name="CasellaDiTesto 110">
            <a:extLst>
              <a:ext uri="{FF2B5EF4-FFF2-40B4-BE49-F238E27FC236}">
                <a16:creationId xmlns:a16="http://schemas.microsoft.com/office/drawing/2014/main" id="{538A5A39-F368-C034-EEFC-480056CA173F}"/>
              </a:ext>
            </a:extLst>
          </p:cNvPr>
          <p:cNvSpPr txBox="1"/>
          <p:nvPr/>
        </p:nvSpPr>
        <p:spPr>
          <a:xfrm>
            <a:off x="7581899" y="5165557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113" name="CasellaDiTesto 112">
            <a:extLst>
              <a:ext uri="{FF2B5EF4-FFF2-40B4-BE49-F238E27FC236}">
                <a16:creationId xmlns:a16="http://schemas.microsoft.com/office/drawing/2014/main" id="{FD5EAB12-24EB-2A24-69F6-6AE746C77591}"/>
              </a:ext>
            </a:extLst>
          </p:cNvPr>
          <p:cNvSpPr txBox="1"/>
          <p:nvPr/>
        </p:nvSpPr>
        <p:spPr>
          <a:xfrm>
            <a:off x="8434136" y="5165557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115" name="CasellaDiTesto 114">
            <a:extLst>
              <a:ext uri="{FF2B5EF4-FFF2-40B4-BE49-F238E27FC236}">
                <a16:creationId xmlns:a16="http://schemas.microsoft.com/office/drawing/2014/main" id="{216EC61E-A18B-1CFA-2C09-9763A00CE532}"/>
              </a:ext>
            </a:extLst>
          </p:cNvPr>
          <p:cNvSpPr txBox="1"/>
          <p:nvPr/>
        </p:nvSpPr>
        <p:spPr>
          <a:xfrm>
            <a:off x="9196136" y="5115425"/>
            <a:ext cx="366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116" name="Rettangolo 115">
            <a:extLst>
              <a:ext uri="{FF2B5EF4-FFF2-40B4-BE49-F238E27FC236}">
                <a16:creationId xmlns:a16="http://schemas.microsoft.com/office/drawing/2014/main" id="{4D6C6E29-9E10-65EC-0840-08876FC0319F}"/>
              </a:ext>
            </a:extLst>
          </p:cNvPr>
          <p:cNvSpPr/>
          <p:nvPr/>
        </p:nvSpPr>
        <p:spPr>
          <a:xfrm>
            <a:off x="6627394" y="2667000"/>
            <a:ext cx="1393657" cy="2937710"/>
          </a:xfrm>
          <a:prstGeom prst="rect">
            <a:avLst/>
          </a:prstGeom>
          <a:noFill/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7" name="Rettangolo 116">
            <a:extLst>
              <a:ext uri="{FF2B5EF4-FFF2-40B4-BE49-F238E27FC236}">
                <a16:creationId xmlns:a16="http://schemas.microsoft.com/office/drawing/2014/main" id="{DCE7F75A-7FA8-D5F5-7ADA-A417849089B1}"/>
              </a:ext>
            </a:extLst>
          </p:cNvPr>
          <p:cNvSpPr/>
          <p:nvPr/>
        </p:nvSpPr>
        <p:spPr>
          <a:xfrm>
            <a:off x="6627395" y="4211052"/>
            <a:ext cx="3198394" cy="142373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8" name="Rettangolo 117">
            <a:extLst>
              <a:ext uri="{FF2B5EF4-FFF2-40B4-BE49-F238E27FC236}">
                <a16:creationId xmlns:a16="http://schemas.microsoft.com/office/drawing/2014/main" id="{74B29C21-90EC-96B4-F815-4226C6608EB4}"/>
              </a:ext>
            </a:extLst>
          </p:cNvPr>
          <p:cNvSpPr/>
          <p:nvPr/>
        </p:nvSpPr>
        <p:spPr>
          <a:xfrm>
            <a:off x="9154025" y="2697080"/>
            <a:ext cx="952498" cy="2937710"/>
          </a:xfrm>
          <a:prstGeom prst="leftBracke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9" name="Rettangolo 117">
            <a:extLst>
              <a:ext uri="{FF2B5EF4-FFF2-40B4-BE49-F238E27FC236}">
                <a16:creationId xmlns:a16="http://schemas.microsoft.com/office/drawing/2014/main" id="{D73E1F0B-4A17-6B3E-4612-F959CC880734}"/>
              </a:ext>
            </a:extLst>
          </p:cNvPr>
          <p:cNvSpPr/>
          <p:nvPr/>
        </p:nvSpPr>
        <p:spPr>
          <a:xfrm rot="10800000">
            <a:off x="6446918" y="2667000"/>
            <a:ext cx="741946" cy="2937710"/>
          </a:xfrm>
          <a:prstGeom prst="leftBracke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0" name="Rettangolo 117">
            <a:extLst>
              <a:ext uri="{FF2B5EF4-FFF2-40B4-BE49-F238E27FC236}">
                <a16:creationId xmlns:a16="http://schemas.microsoft.com/office/drawing/2014/main" id="{ACF0C305-F7E3-B86C-767C-BABF96BB93E6}"/>
              </a:ext>
            </a:extLst>
          </p:cNvPr>
          <p:cNvSpPr/>
          <p:nvPr/>
        </p:nvSpPr>
        <p:spPr>
          <a:xfrm rot="5400000">
            <a:off x="7690182" y="4090737"/>
            <a:ext cx="952498" cy="2937710"/>
          </a:xfrm>
          <a:prstGeom prst="leftBracke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1" name="Rettangolo 117">
            <a:extLst>
              <a:ext uri="{FF2B5EF4-FFF2-40B4-BE49-F238E27FC236}">
                <a16:creationId xmlns:a16="http://schemas.microsoft.com/office/drawing/2014/main" id="{8FAFA001-EE56-E4CA-2983-E9AA975FDFEA}"/>
              </a:ext>
            </a:extLst>
          </p:cNvPr>
          <p:cNvSpPr/>
          <p:nvPr/>
        </p:nvSpPr>
        <p:spPr>
          <a:xfrm rot="-5400000">
            <a:off x="7680155" y="1253289"/>
            <a:ext cx="952498" cy="2937710"/>
          </a:xfrm>
          <a:prstGeom prst="leftBracke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2" name="Connettore 2 121">
            <a:extLst>
              <a:ext uri="{FF2B5EF4-FFF2-40B4-BE49-F238E27FC236}">
                <a16:creationId xmlns:a16="http://schemas.microsoft.com/office/drawing/2014/main" id="{3A76F180-3F9F-9D8C-14C3-D6B89E011D2C}"/>
              </a:ext>
            </a:extLst>
          </p:cNvPr>
          <p:cNvCxnSpPr>
            <a:cxnSpLocks/>
          </p:cNvCxnSpPr>
          <p:nvPr/>
        </p:nvCxnSpPr>
        <p:spPr>
          <a:xfrm flipV="1">
            <a:off x="9869905" y="4497803"/>
            <a:ext cx="1114925" cy="180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ttore 2 122">
            <a:extLst>
              <a:ext uri="{FF2B5EF4-FFF2-40B4-BE49-F238E27FC236}">
                <a16:creationId xmlns:a16="http://schemas.microsoft.com/office/drawing/2014/main" id="{6E201CA6-1AA2-F48C-A0BF-50488E251729}"/>
              </a:ext>
            </a:extLst>
          </p:cNvPr>
          <p:cNvCxnSpPr>
            <a:cxnSpLocks/>
          </p:cNvCxnSpPr>
          <p:nvPr/>
        </p:nvCxnSpPr>
        <p:spPr>
          <a:xfrm flipV="1">
            <a:off x="9679405" y="2963776"/>
            <a:ext cx="1114925" cy="18046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ttore 2 123">
            <a:extLst>
              <a:ext uri="{FF2B5EF4-FFF2-40B4-BE49-F238E27FC236}">
                <a16:creationId xmlns:a16="http://schemas.microsoft.com/office/drawing/2014/main" id="{24479E6D-AE96-C0B1-76F8-A8F31D82996E}"/>
              </a:ext>
            </a:extLst>
          </p:cNvPr>
          <p:cNvCxnSpPr>
            <a:cxnSpLocks/>
          </p:cNvCxnSpPr>
          <p:nvPr/>
        </p:nvCxnSpPr>
        <p:spPr>
          <a:xfrm>
            <a:off x="9879931" y="5648822"/>
            <a:ext cx="483268" cy="34290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ttore 2 124">
            <a:extLst>
              <a:ext uri="{FF2B5EF4-FFF2-40B4-BE49-F238E27FC236}">
                <a16:creationId xmlns:a16="http://schemas.microsoft.com/office/drawing/2014/main" id="{848EF2B0-260E-8A1F-F788-5657A795CAA9}"/>
              </a:ext>
            </a:extLst>
          </p:cNvPr>
          <p:cNvCxnSpPr>
            <a:cxnSpLocks/>
          </p:cNvCxnSpPr>
          <p:nvPr/>
        </p:nvCxnSpPr>
        <p:spPr>
          <a:xfrm>
            <a:off x="7684168" y="5698953"/>
            <a:ext cx="12031" cy="322848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CasellaDiTesto 125">
            <a:extLst>
              <a:ext uri="{FF2B5EF4-FFF2-40B4-BE49-F238E27FC236}">
                <a16:creationId xmlns:a16="http://schemas.microsoft.com/office/drawing/2014/main" id="{5008F3C4-B4D4-8AB6-8E15-C34C53B129FF}"/>
              </a:ext>
            </a:extLst>
          </p:cNvPr>
          <p:cNvSpPr txBox="1"/>
          <p:nvPr/>
        </p:nvSpPr>
        <p:spPr>
          <a:xfrm>
            <a:off x="10798341" y="2727157"/>
            <a:ext cx="6416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B</a:t>
            </a:r>
            <a:endParaRPr lang="it-IT" dirty="0"/>
          </a:p>
        </p:txBody>
      </p:sp>
      <p:cxnSp>
        <p:nvCxnSpPr>
          <p:cNvPr id="128" name="Connettore 2 127">
            <a:extLst>
              <a:ext uri="{FF2B5EF4-FFF2-40B4-BE49-F238E27FC236}">
                <a16:creationId xmlns:a16="http://schemas.microsoft.com/office/drawing/2014/main" id="{5F7985EC-A3ED-740F-E19A-0268A01E1113}"/>
              </a:ext>
            </a:extLst>
          </p:cNvPr>
          <p:cNvCxnSpPr>
            <a:cxnSpLocks/>
          </p:cNvCxnSpPr>
          <p:nvPr/>
        </p:nvCxnSpPr>
        <p:spPr>
          <a:xfrm flipV="1">
            <a:off x="10862671" y="2763090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CasellaDiTesto 128">
            <a:extLst>
              <a:ext uri="{FF2B5EF4-FFF2-40B4-BE49-F238E27FC236}">
                <a16:creationId xmlns:a16="http://schemas.microsoft.com/office/drawing/2014/main" id="{2A867B8C-5A7E-4B79-DFAC-FC3737BE40D9}"/>
              </a:ext>
            </a:extLst>
          </p:cNvPr>
          <p:cNvSpPr txBox="1"/>
          <p:nvPr/>
        </p:nvSpPr>
        <p:spPr>
          <a:xfrm>
            <a:off x="11038973" y="4361447"/>
            <a:ext cx="6517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A</a:t>
            </a:r>
            <a:endParaRPr lang="it-IT" dirty="0"/>
          </a:p>
        </p:txBody>
      </p:sp>
      <p:sp>
        <p:nvSpPr>
          <p:cNvPr id="130" name="CasellaDiTesto 129">
            <a:extLst>
              <a:ext uri="{FF2B5EF4-FFF2-40B4-BE49-F238E27FC236}">
                <a16:creationId xmlns:a16="http://schemas.microsoft.com/office/drawing/2014/main" id="{BB20015F-AD26-16DC-071C-DC92707B5134}"/>
              </a:ext>
            </a:extLst>
          </p:cNvPr>
          <p:cNvSpPr txBox="1"/>
          <p:nvPr/>
        </p:nvSpPr>
        <p:spPr>
          <a:xfrm>
            <a:off x="10387261" y="5855367"/>
            <a:ext cx="6416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D</a:t>
            </a:r>
            <a:endParaRPr lang="it-IT" dirty="0"/>
          </a:p>
        </p:txBody>
      </p:sp>
      <p:cxnSp>
        <p:nvCxnSpPr>
          <p:cNvPr id="131" name="Connettore 2 130">
            <a:extLst>
              <a:ext uri="{FF2B5EF4-FFF2-40B4-BE49-F238E27FC236}">
                <a16:creationId xmlns:a16="http://schemas.microsoft.com/office/drawing/2014/main" id="{03D0B59B-F823-0BB8-2033-D9A8C391F5FC}"/>
              </a:ext>
            </a:extLst>
          </p:cNvPr>
          <p:cNvCxnSpPr>
            <a:cxnSpLocks/>
          </p:cNvCxnSpPr>
          <p:nvPr/>
        </p:nvCxnSpPr>
        <p:spPr>
          <a:xfrm flipV="1">
            <a:off x="10451591" y="5891300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CasellaDiTesto 131">
            <a:extLst>
              <a:ext uri="{FF2B5EF4-FFF2-40B4-BE49-F238E27FC236}">
                <a16:creationId xmlns:a16="http://schemas.microsoft.com/office/drawing/2014/main" id="{B9AA39E7-43B8-ACEC-6193-007DD62E2944}"/>
              </a:ext>
            </a:extLst>
          </p:cNvPr>
          <p:cNvSpPr txBox="1"/>
          <p:nvPr/>
        </p:nvSpPr>
        <p:spPr>
          <a:xfrm>
            <a:off x="7559840" y="6005761"/>
            <a:ext cx="6416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>
                <a:cs typeface="Calibri"/>
              </a:rPr>
              <a:t>C</a:t>
            </a:r>
            <a:endParaRPr lang="it-IT" dirty="0"/>
          </a:p>
        </p:txBody>
      </p:sp>
      <p:cxnSp>
        <p:nvCxnSpPr>
          <p:cNvPr id="133" name="Connettore 2 132">
            <a:extLst>
              <a:ext uri="{FF2B5EF4-FFF2-40B4-BE49-F238E27FC236}">
                <a16:creationId xmlns:a16="http://schemas.microsoft.com/office/drawing/2014/main" id="{B489B361-4D06-3C61-13DB-735778C49694}"/>
              </a:ext>
            </a:extLst>
          </p:cNvPr>
          <p:cNvCxnSpPr>
            <a:cxnSpLocks/>
          </p:cNvCxnSpPr>
          <p:nvPr/>
        </p:nvCxnSpPr>
        <p:spPr>
          <a:xfrm flipV="1">
            <a:off x="7624170" y="6041694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99231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A30B159-1D2C-0A27-161C-15CF352059E2}"/>
              </a:ext>
            </a:extLst>
          </p:cNvPr>
          <p:cNvSpPr txBox="1"/>
          <p:nvPr/>
        </p:nvSpPr>
        <p:spPr>
          <a:xfrm>
            <a:off x="159774" y="116758"/>
            <a:ext cx="117618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Estratto esercizio 6 pagina 38</a:t>
            </a:r>
          </a:p>
          <a:p>
            <a:r>
              <a:rPr lang="it-IT">
                <a:cs typeface="Calibri"/>
              </a:rPr>
              <a:t>Trovare le espressioni canoniche delle funzioni H ed L</a:t>
            </a:r>
            <a:endParaRPr lang="it-IT" dirty="0">
              <a:cs typeface="Calibri"/>
            </a:endParaRPr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9302D283-853A-2FC4-90C1-776881F8617E}"/>
              </a:ext>
            </a:extLst>
          </p:cNvPr>
          <p:cNvCxnSpPr/>
          <p:nvPr/>
        </p:nvCxnSpPr>
        <p:spPr>
          <a:xfrm flipH="1">
            <a:off x="5338044" y="1867591"/>
            <a:ext cx="28731" cy="287561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EBDF6B9A-89EF-1652-EAFD-489150E61432}"/>
              </a:ext>
            </a:extLst>
          </p:cNvPr>
          <p:cNvCxnSpPr>
            <a:cxnSpLocks/>
          </p:cNvCxnSpPr>
          <p:nvPr/>
        </p:nvCxnSpPr>
        <p:spPr>
          <a:xfrm flipH="1">
            <a:off x="5887683" y="1867590"/>
            <a:ext cx="28731" cy="287561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23BEBABC-DFB2-CBD3-A56D-DDF7CCFDE7E5}"/>
              </a:ext>
            </a:extLst>
          </p:cNvPr>
          <p:cNvCxnSpPr>
            <a:cxnSpLocks/>
          </p:cNvCxnSpPr>
          <p:nvPr/>
        </p:nvCxnSpPr>
        <p:spPr>
          <a:xfrm flipH="1">
            <a:off x="6437322" y="1867591"/>
            <a:ext cx="28731" cy="287561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7B360AEC-FCA4-BF96-8A1A-093316F0920A}"/>
              </a:ext>
            </a:extLst>
          </p:cNvPr>
          <p:cNvCxnSpPr>
            <a:cxnSpLocks/>
          </p:cNvCxnSpPr>
          <p:nvPr/>
        </p:nvCxnSpPr>
        <p:spPr>
          <a:xfrm flipH="1">
            <a:off x="6531011" y="1867591"/>
            <a:ext cx="28731" cy="287561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422B713A-CC28-F3DB-0A6B-8A0AB42FA05B}"/>
              </a:ext>
            </a:extLst>
          </p:cNvPr>
          <p:cNvCxnSpPr>
            <a:cxnSpLocks/>
          </p:cNvCxnSpPr>
          <p:nvPr/>
        </p:nvCxnSpPr>
        <p:spPr>
          <a:xfrm flipH="1">
            <a:off x="7080650" y="1886328"/>
            <a:ext cx="28731" cy="287561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3A2B82FB-6967-2D3D-15AE-88B770239DF7}"/>
              </a:ext>
            </a:extLst>
          </p:cNvPr>
          <p:cNvCxnSpPr>
            <a:cxnSpLocks/>
          </p:cNvCxnSpPr>
          <p:nvPr/>
        </p:nvCxnSpPr>
        <p:spPr>
          <a:xfrm>
            <a:off x="5010757" y="2198622"/>
            <a:ext cx="2657008" cy="250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02CC226-B28B-0941-C85F-DF8C1720FF13}"/>
              </a:ext>
            </a:extLst>
          </p:cNvPr>
          <p:cNvSpPr txBox="1"/>
          <p:nvPr/>
        </p:nvSpPr>
        <p:spPr>
          <a:xfrm>
            <a:off x="5012511" y="1875891"/>
            <a:ext cx="261783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A      B         C          H       L </a:t>
            </a:r>
            <a:endParaRPr lang="it-IT">
              <a:cs typeface="Calibri"/>
            </a:endParaRPr>
          </a:p>
          <a:p>
            <a:r>
              <a:rPr lang="it-IT" dirty="0">
                <a:cs typeface="Calibri"/>
              </a:rPr>
              <a:t>0      0         0          1        1</a:t>
            </a:r>
          </a:p>
          <a:p>
            <a:r>
              <a:rPr lang="it-IT" dirty="0">
                <a:cs typeface="Calibri"/>
              </a:rPr>
              <a:t>0      0         1          1        0</a:t>
            </a:r>
          </a:p>
          <a:p>
            <a:r>
              <a:rPr lang="it-IT" dirty="0">
                <a:cs typeface="Calibri"/>
              </a:rPr>
              <a:t>0      1         0          1        1</a:t>
            </a:r>
          </a:p>
          <a:p>
            <a:r>
              <a:rPr lang="it-IT" dirty="0">
                <a:cs typeface="Calibri"/>
              </a:rPr>
              <a:t>0      1         1          1        1</a:t>
            </a:r>
          </a:p>
          <a:p>
            <a:r>
              <a:rPr lang="it-IT" dirty="0">
                <a:cs typeface="Calibri"/>
              </a:rPr>
              <a:t>1      0         0          1        1</a:t>
            </a:r>
          </a:p>
          <a:p>
            <a:r>
              <a:rPr lang="it-IT" dirty="0">
                <a:cs typeface="Calibri"/>
              </a:rPr>
              <a:t>1      0         1          1        1</a:t>
            </a:r>
          </a:p>
          <a:p>
            <a:r>
              <a:rPr lang="it-IT" dirty="0">
                <a:cs typeface="Calibri"/>
              </a:rPr>
              <a:t>1      1         0          1        0</a:t>
            </a:r>
          </a:p>
          <a:p>
            <a:r>
              <a:rPr lang="it-IT" dirty="0">
                <a:cs typeface="Calibri"/>
              </a:rPr>
              <a:t>1      1         1          0        1</a:t>
            </a:r>
          </a:p>
        </p:txBody>
      </p:sp>
    </p:spTree>
    <p:extLst>
      <p:ext uri="{BB962C8B-B14F-4D97-AF65-F5344CB8AC3E}">
        <p14:creationId xmlns:p14="http://schemas.microsoft.com/office/powerpoint/2010/main" val="657546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A5C78AA1-3024-1543-3336-F592DE1B51A6}"/>
              </a:ext>
            </a:extLst>
          </p:cNvPr>
          <p:cNvSpPr txBox="1"/>
          <p:nvPr/>
        </p:nvSpPr>
        <p:spPr>
          <a:xfrm>
            <a:off x="159774" y="116758"/>
            <a:ext cx="117618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Estratto esercizio 6 pagina 38</a:t>
            </a:r>
          </a:p>
          <a:p>
            <a:r>
              <a:rPr lang="it-IT">
                <a:cs typeface="Calibri"/>
              </a:rPr>
              <a:t>Trovare le espressioni canoniche delle funzioni H ed L</a:t>
            </a:r>
            <a:endParaRPr lang="it-IT" dirty="0">
              <a:cs typeface="Calibri"/>
            </a:endParaRP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146C2F3A-08D4-889D-ECF8-9DFCC77259EA}"/>
              </a:ext>
            </a:extLst>
          </p:cNvPr>
          <p:cNvCxnSpPr/>
          <p:nvPr/>
        </p:nvCxnSpPr>
        <p:spPr>
          <a:xfrm flipH="1">
            <a:off x="1347570" y="2098196"/>
            <a:ext cx="28731" cy="287561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60B4EAE7-73D1-B461-602C-5755947B415B}"/>
              </a:ext>
            </a:extLst>
          </p:cNvPr>
          <p:cNvCxnSpPr>
            <a:cxnSpLocks/>
          </p:cNvCxnSpPr>
          <p:nvPr/>
        </p:nvCxnSpPr>
        <p:spPr>
          <a:xfrm flipH="1">
            <a:off x="1897209" y="2098196"/>
            <a:ext cx="28731" cy="287561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F967DCDA-D6F4-647B-A0FA-EBFA72E8DE43}"/>
              </a:ext>
            </a:extLst>
          </p:cNvPr>
          <p:cNvCxnSpPr>
            <a:cxnSpLocks/>
          </p:cNvCxnSpPr>
          <p:nvPr/>
        </p:nvCxnSpPr>
        <p:spPr>
          <a:xfrm flipH="1">
            <a:off x="2446848" y="2098196"/>
            <a:ext cx="28731" cy="287561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6E735274-6BCA-0683-8A5A-5B17D0ABFE88}"/>
              </a:ext>
            </a:extLst>
          </p:cNvPr>
          <p:cNvCxnSpPr>
            <a:cxnSpLocks/>
          </p:cNvCxnSpPr>
          <p:nvPr/>
        </p:nvCxnSpPr>
        <p:spPr>
          <a:xfrm flipH="1">
            <a:off x="2540537" y="2098196"/>
            <a:ext cx="28731" cy="287561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C060B23D-AB22-2C61-7072-BDB53FCC99FA}"/>
              </a:ext>
            </a:extLst>
          </p:cNvPr>
          <p:cNvCxnSpPr>
            <a:cxnSpLocks/>
          </p:cNvCxnSpPr>
          <p:nvPr/>
        </p:nvCxnSpPr>
        <p:spPr>
          <a:xfrm flipV="1">
            <a:off x="1020283" y="2421702"/>
            <a:ext cx="2025351" cy="75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6451482-2576-B681-3D72-CD186E14BE28}"/>
              </a:ext>
            </a:extLst>
          </p:cNvPr>
          <p:cNvSpPr txBox="1"/>
          <p:nvPr/>
        </p:nvSpPr>
        <p:spPr>
          <a:xfrm>
            <a:off x="1022037" y="2106497"/>
            <a:ext cx="261783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A      B         C          H       </a:t>
            </a:r>
          </a:p>
          <a:p>
            <a:r>
              <a:rPr lang="it-IT" dirty="0">
                <a:cs typeface="Calibri"/>
              </a:rPr>
              <a:t>0      0         0          1        </a:t>
            </a:r>
          </a:p>
          <a:p>
            <a:r>
              <a:rPr lang="it-IT" dirty="0">
                <a:cs typeface="Calibri"/>
              </a:rPr>
              <a:t>0      0         1          1        </a:t>
            </a:r>
          </a:p>
          <a:p>
            <a:r>
              <a:rPr lang="it-IT" dirty="0">
                <a:cs typeface="Calibri"/>
              </a:rPr>
              <a:t>0      1         0          1        </a:t>
            </a:r>
          </a:p>
          <a:p>
            <a:r>
              <a:rPr lang="it-IT" dirty="0">
                <a:cs typeface="Calibri"/>
              </a:rPr>
              <a:t>0      1         1          1        </a:t>
            </a:r>
          </a:p>
          <a:p>
            <a:r>
              <a:rPr lang="it-IT" dirty="0">
                <a:cs typeface="Calibri"/>
              </a:rPr>
              <a:t>1      0         0          1        </a:t>
            </a:r>
          </a:p>
          <a:p>
            <a:r>
              <a:rPr lang="it-IT" dirty="0">
                <a:cs typeface="Calibri"/>
              </a:rPr>
              <a:t>1      0         1          1        </a:t>
            </a:r>
          </a:p>
          <a:p>
            <a:r>
              <a:rPr lang="it-IT" dirty="0">
                <a:cs typeface="Calibri"/>
              </a:rPr>
              <a:t>1      1         0          1        </a:t>
            </a:r>
          </a:p>
          <a:p>
            <a:r>
              <a:rPr lang="it-IT" dirty="0">
                <a:cs typeface="Calibri"/>
              </a:rPr>
              <a:t>1      1         1          0        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7469155-D9B2-DD1C-1460-6B4389E24DB2}"/>
              </a:ext>
            </a:extLst>
          </p:cNvPr>
          <p:cNvSpPr txBox="1"/>
          <p:nvPr/>
        </p:nvSpPr>
        <p:spPr>
          <a:xfrm>
            <a:off x="4922920" y="3027948"/>
            <a:ext cx="4531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Forma canonica congiuntiva: A+B+C</a:t>
            </a:r>
            <a:endParaRPr lang="it-IT" dirty="0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2A63657B-7DD7-4AF6-2B4E-599C351BF07A}"/>
              </a:ext>
            </a:extLst>
          </p:cNvPr>
          <p:cNvCxnSpPr>
            <a:cxnSpLocks/>
          </p:cNvCxnSpPr>
          <p:nvPr/>
        </p:nvCxnSpPr>
        <p:spPr>
          <a:xfrm flipV="1">
            <a:off x="7728412" y="3061656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7FA4169A-95BD-FD88-C33D-16CDDA339B58}"/>
              </a:ext>
            </a:extLst>
          </p:cNvPr>
          <p:cNvCxnSpPr>
            <a:cxnSpLocks/>
          </p:cNvCxnSpPr>
          <p:nvPr/>
        </p:nvCxnSpPr>
        <p:spPr>
          <a:xfrm flipV="1">
            <a:off x="7969043" y="3061656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A9BBC6A4-361C-A4DB-3C31-CC54D39FAE62}"/>
              </a:ext>
            </a:extLst>
          </p:cNvPr>
          <p:cNvCxnSpPr>
            <a:cxnSpLocks/>
          </p:cNvCxnSpPr>
          <p:nvPr/>
        </p:nvCxnSpPr>
        <p:spPr>
          <a:xfrm flipV="1">
            <a:off x="8189622" y="3061656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tangolo 25">
            <a:extLst>
              <a:ext uri="{FF2B5EF4-FFF2-40B4-BE49-F238E27FC236}">
                <a16:creationId xmlns:a16="http://schemas.microsoft.com/office/drawing/2014/main" id="{AEA41A49-1987-3600-2289-F61342C3EB06}"/>
              </a:ext>
            </a:extLst>
          </p:cNvPr>
          <p:cNvSpPr/>
          <p:nvPr/>
        </p:nvSpPr>
        <p:spPr>
          <a:xfrm>
            <a:off x="992605" y="4311315"/>
            <a:ext cx="2085473" cy="29076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53909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060B9F92-26B7-AB55-7CA0-6B3D086930E6}"/>
              </a:ext>
            </a:extLst>
          </p:cNvPr>
          <p:cNvCxnSpPr/>
          <p:nvPr/>
        </p:nvCxnSpPr>
        <p:spPr>
          <a:xfrm flipH="1">
            <a:off x="1046781" y="1737249"/>
            <a:ext cx="28731" cy="287561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EC6C9710-FAA4-2EAA-664C-DE90457E7085}"/>
              </a:ext>
            </a:extLst>
          </p:cNvPr>
          <p:cNvCxnSpPr>
            <a:cxnSpLocks/>
          </p:cNvCxnSpPr>
          <p:nvPr/>
        </p:nvCxnSpPr>
        <p:spPr>
          <a:xfrm flipH="1">
            <a:off x="1596420" y="1737248"/>
            <a:ext cx="28731" cy="287561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0B05708D-5F0E-93F5-9BE0-DA06DFAEEEF2}"/>
              </a:ext>
            </a:extLst>
          </p:cNvPr>
          <p:cNvCxnSpPr>
            <a:cxnSpLocks/>
          </p:cNvCxnSpPr>
          <p:nvPr/>
        </p:nvCxnSpPr>
        <p:spPr>
          <a:xfrm flipH="1">
            <a:off x="2146059" y="1737249"/>
            <a:ext cx="28731" cy="287561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55A6FE3A-C75C-78CE-7488-860CAB46E1A3}"/>
              </a:ext>
            </a:extLst>
          </p:cNvPr>
          <p:cNvCxnSpPr>
            <a:cxnSpLocks/>
          </p:cNvCxnSpPr>
          <p:nvPr/>
        </p:nvCxnSpPr>
        <p:spPr>
          <a:xfrm flipH="1">
            <a:off x="2239748" y="1737249"/>
            <a:ext cx="28731" cy="287561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6E0DD103-86BA-7E27-2B58-12173209611F}"/>
              </a:ext>
            </a:extLst>
          </p:cNvPr>
          <p:cNvCxnSpPr>
            <a:cxnSpLocks/>
          </p:cNvCxnSpPr>
          <p:nvPr/>
        </p:nvCxnSpPr>
        <p:spPr>
          <a:xfrm>
            <a:off x="719494" y="2068280"/>
            <a:ext cx="2145666" cy="250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01440D3-1C66-ECAF-62E0-D56806287AC1}"/>
              </a:ext>
            </a:extLst>
          </p:cNvPr>
          <p:cNvSpPr txBox="1"/>
          <p:nvPr/>
        </p:nvSpPr>
        <p:spPr>
          <a:xfrm>
            <a:off x="721248" y="1745549"/>
            <a:ext cx="261783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A      B         C          L </a:t>
            </a:r>
          </a:p>
          <a:p>
            <a:r>
              <a:rPr lang="it-IT" dirty="0">
                <a:cs typeface="Calibri"/>
              </a:rPr>
              <a:t>0      0         0          1</a:t>
            </a:r>
          </a:p>
          <a:p>
            <a:r>
              <a:rPr lang="it-IT" dirty="0">
                <a:cs typeface="Calibri"/>
              </a:rPr>
              <a:t>0      0         1          0</a:t>
            </a:r>
          </a:p>
          <a:p>
            <a:r>
              <a:rPr lang="it-IT" dirty="0">
                <a:cs typeface="Calibri"/>
              </a:rPr>
              <a:t>0      1         0          1</a:t>
            </a:r>
          </a:p>
          <a:p>
            <a:r>
              <a:rPr lang="it-IT" dirty="0">
                <a:cs typeface="Calibri"/>
              </a:rPr>
              <a:t>0      1         1          1</a:t>
            </a:r>
          </a:p>
          <a:p>
            <a:r>
              <a:rPr lang="it-IT" dirty="0">
                <a:cs typeface="Calibri"/>
              </a:rPr>
              <a:t>1      0         0          1</a:t>
            </a:r>
          </a:p>
          <a:p>
            <a:r>
              <a:rPr lang="it-IT">
                <a:cs typeface="Calibri"/>
              </a:rPr>
              <a:t>1      0         1          1</a:t>
            </a:r>
          </a:p>
          <a:p>
            <a:r>
              <a:rPr lang="it-IT" dirty="0">
                <a:cs typeface="Calibri"/>
              </a:rPr>
              <a:t>1      1         0          0</a:t>
            </a:r>
          </a:p>
          <a:p>
            <a:r>
              <a:rPr lang="it-IT" dirty="0">
                <a:cs typeface="Calibri"/>
              </a:rPr>
              <a:t>1      1         1          1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D9492CE-CD48-B3C7-1B7C-4BBAA6E853FC}"/>
              </a:ext>
            </a:extLst>
          </p:cNvPr>
          <p:cNvSpPr txBox="1"/>
          <p:nvPr/>
        </p:nvSpPr>
        <p:spPr>
          <a:xfrm>
            <a:off x="159774" y="116758"/>
            <a:ext cx="117618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Estratto esercizio 6 pagina 38</a:t>
            </a:r>
          </a:p>
          <a:p>
            <a:r>
              <a:rPr lang="it-IT">
                <a:cs typeface="Calibri"/>
              </a:rPr>
              <a:t>Trovare le espressioni canoniche delle funzioni H ed L</a:t>
            </a:r>
            <a:endParaRPr lang="it-IT" dirty="0">
              <a:cs typeface="Calibri"/>
            </a:endParaRP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5ED28659-BD6A-2207-03B7-C60FBBEFC866}"/>
              </a:ext>
            </a:extLst>
          </p:cNvPr>
          <p:cNvSpPr/>
          <p:nvPr/>
        </p:nvSpPr>
        <p:spPr>
          <a:xfrm>
            <a:off x="721894" y="2306052"/>
            <a:ext cx="2085473" cy="29076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7A6BFB85-149F-BC23-C257-25088D733CCE}"/>
              </a:ext>
            </a:extLst>
          </p:cNvPr>
          <p:cNvSpPr/>
          <p:nvPr/>
        </p:nvSpPr>
        <p:spPr>
          <a:xfrm>
            <a:off x="721894" y="3669631"/>
            <a:ext cx="2085473" cy="29076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DC873D84-E3ED-A629-7008-18B72C6CB52F}"/>
              </a:ext>
            </a:extLst>
          </p:cNvPr>
          <p:cNvSpPr txBox="1"/>
          <p:nvPr/>
        </p:nvSpPr>
        <p:spPr>
          <a:xfrm>
            <a:off x="3579394" y="2245895"/>
            <a:ext cx="4531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Forma canonica congiuntiva: (A+B+C) (A+B+C)</a:t>
            </a:r>
            <a:endParaRPr lang="it-IT" dirty="0"/>
          </a:p>
        </p:txBody>
      </p: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CF5A629B-9315-F030-F778-5C955F7B231B}"/>
              </a:ext>
            </a:extLst>
          </p:cNvPr>
          <p:cNvCxnSpPr>
            <a:cxnSpLocks/>
          </p:cNvCxnSpPr>
          <p:nvPr/>
        </p:nvCxnSpPr>
        <p:spPr>
          <a:xfrm flipV="1">
            <a:off x="7217070" y="2279603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223BE111-B309-C563-3A97-A47BC2185AC4}"/>
              </a:ext>
            </a:extLst>
          </p:cNvPr>
          <p:cNvCxnSpPr>
            <a:cxnSpLocks/>
          </p:cNvCxnSpPr>
          <p:nvPr/>
        </p:nvCxnSpPr>
        <p:spPr>
          <a:xfrm flipV="1">
            <a:off x="7457701" y="2279603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3D782C03-18FC-E69F-D7E9-EE0090BD7A98}"/>
              </a:ext>
            </a:extLst>
          </p:cNvPr>
          <p:cNvCxnSpPr>
            <a:cxnSpLocks/>
          </p:cNvCxnSpPr>
          <p:nvPr/>
        </p:nvCxnSpPr>
        <p:spPr>
          <a:xfrm flipV="1">
            <a:off x="6946359" y="2279603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1553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CA9302E-2F40-D960-B83D-8CBF5E32C2AE}"/>
              </a:ext>
            </a:extLst>
          </p:cNvPr>
          <p:cNvSpPr txBox="1"/>
          <p:nvPr/>
        </p:nvSpPr>
        <p:spPr>
          <a:xfrm>
            <a:off x="152400" y="172453"/>
            <a:ext cx="81674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Segoe UI"/>
              </a:rPr>
              <a:t>Estratto esercizio 6 pagina 38</a:t>
            </a:r>
            <a:r>
              <a:rPr lang="en-US" dirty="0">
                <a:cs typeface="Segoe UI"/>
              </a:rPr>
              <a:t>​</a:t>
            </a:r>
          </a:p>
          <a:p>
            <a:r>
              <a:rPr lang="it-IT" dirty="0">
                <a:cs typeface="Segoe UI"/>
              </a:rPr>
              <a:t>Trovare l'espressione canonica della funzione N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A447EADE-1ADF-7A8D-1008-3B0D9FB6A730}"/>
              </a:ext>
            </a:extLst>
          </p:cNvPr>
          <p:cNvCxnSpPr/>
          <p:nvPr/>
        </p:nvCxnSpPr>
        <p:spPr>
          <a:xfrm flipH="1">
            <a:off x="856281" y="1877617"/>
            <a:ext cx="28731" cy="287561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A38CAB9E-1043-5389-F325-96F90EAC6827}"/>
              </a:ext>
            </a:extLst>
          </p:cNvPr>
          <p:cNvCxnSpPr>
            <a:cxnSpLocks/>
          </p:cNvCxnSpPr>
          <p:nvPr/>
        </p:nvCxnSpPr>
        <p:spPr>
          <a:xfrm flipH="1">
            <a:off x="1405919" y="1877617"/>
            <a:ext cx="28731" cy="287561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006CB54A-8B5A-AF21-F008-A7C7658EA6A1}"/>
              </a:ext>
            </a:extLst>
          </p:cNvPr>
          <p:cNvCxnSpPr>
            <a:cxnSpLocks/>
          </p:cNvCxnSpPr>
          <p:nvPr/>
        </p:nvCxnSpPr>
        <p:spPr>
          <a:xfrm flipH="1">
            <a:off x="1955558" y="1877617"/>
            <a:ext cx="28731" cy="287561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13416E9F-5A5B-491B-BE93-3DF693127104}"/>
              </a:ext>
            </a:extLst>
          </p:cNvPr>
          <p:cNvCxnSpPr>
            <a:cxnSpLocks/>
          </p:cNvCxnSpPr>
          <p:nvPr/>
        </p:nvCxnSpPr>
        <p:spPr>
          <a:xfrm flipH="1">
            <a:off x="2049248" y="1877617"/>
            <a:ext cx="28731" cy="287561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A444E1AB-8576-D8C2-675E-4D7752F7E1FD}"/>
              </a:ext>
            </a:extLst>
          </p:cNvPr>
          <p:cNvCxnSpPr>
            <a:cxnSpLocks/>
          </p:cNvCxnSpPr>
          <p:nvPr/>
        </p:nvCxnSpPr>
        <p:spPr>
          <a:xfrm flipV="1">
            <a:off x="528994" y="2201123"/>
            <a:ext cx="2025351" cy="752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F7DEBA8-2A9A-13E6-7CD2-1A2DB4838F9C}"/>
              </a:ext>
            </a:extLst>
          </p:cNvPr>
          <p:cNvSpPr txBox="1"/>
          <p:nvPr/>
        </p:nvSpPr>
        <p:spPr>
          <a:xfrm>
            <a:off x="530748" y="1885918"/>
            <a:ext cx="261783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cs typeface="Calibri"/>
              </a:rPr>
              <a:t>A      B         C          N       </a:t>
            </a:r>
          </a:p>
          <a:p>
            <a:r>
              <a:rPr lang="it-IT" dirty="0">
                <a:cs typeface="Calibri"/>
              </a:rPr>
              <a:t>0      0         0          1        </a:t>
            </a:r>
          </a:p>
          <a:p>
            <a:r>
              <a:rPr lang="it-IT" dirty="0">
                <a:cs typeface="Calibri"/>
              </a:rPr>
              <a:t>0      0         1          0        </a:t>
            </a:r>
          </a:p>
          <a:p>
            <a:r>
              <a:rPr lang="it-IT" dirty="0">
                <a:cs typeface="Calibri"/>
              </a:rPr>
              <a:t>0      1         0          0        </a:t>
            </a:r>
          </a:p>
          <a:p>
            <a:r>
              <a:rPr lang="it-IT" dirty="0">
                <a:cs typeface="Calibri"/>
              </a:rPr>
              <a:t>0      1         1          0        </a:t>
            </a:r>
          </a:p>
          <a:p>
            <a:r>
              <a:rPr lang="it-IT" dirty="0">
                <a:cs typeface="Calibri"/>
              </a:rPr>
              <a:t>1      0         0          0        </a:t>
            </a:r>
          </a:p>
          <a:p>
            <a:r>
              <a:rPr lang="it-IT" dirty="0">
                <a:cs typeface="Calibri"/>
              </a:rPr>
              <a:t>1      0         1          0        </a:t>
            </a:r>
          </a:p>
          <a:p>
            <a:r>
              <a:rPr lang="it-IT" dirty="0">
                <a:cs typeface="Calibri"/>
              </a:rPr>
              <a:t>1      1         0          1        </a:t>
            </a:r>
          </a:p>
          <a:p>
            <a:r>
              <a:rPr lang="it-IT" dirty="0">
                <a:cs typeface="Calibri"/>
              </a:rPr>
              <a:t>1      1         1          0        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5B19F5DD-1745-0024-1180-1B211F80A85D}"/>
              </a:ext>
            </a:extLst>
          </p:cNvPr>
          <p:cNvSpPr/>
          <p:nvPr/>
        </p:nvSpPr>
        <p:spPr>
          <a:xfrm>
            <a:off x="501315" y="3809999"/>
            <a:ext cx="2085473" cy="29076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C2A0B235-E16F-6D0B-027C-D68D700CE98A}"/>
              </a:ext>
            </a:extLst>
          </p:cNvPr>
          <p:cNvSpPr/>
          <p:nvPr/>
        </p:nvSpPr>
        <p:spPr>
          <a:xfrm>
            <a:off x="471236" y="2205789"/>
            <a:ext cx="2085473" cy="29076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A54E59F-0071-5478-2088-763DA3B1566D}"/>
              </a:ext>
            </a:extLst>
          </p:cNvPr>
          <p:cNvSpPr txBox="1"/>
          <p:nvPr/>
        </p:nvSpPr>
        <p:spPr>
          <a:xfrm>
            <a:off x="3741821" y="2558716"/>
            <a:ext cx="46983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Forma canonica disgiuntiva: (A B C)+(A B C)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118A6CB2-FAED-6DA6-5B90-B6C99E628A08}"/>
              </a:ext>
            </a:extLst>
          </p:cNvPr>
          <p:cNvCxnSpPr>
            <a:cxnSpLocks/>
          </p:cNvCxnSpPr>
          <p:nvPr/>
        </p:nvCxnSpPr>
        <p:spPr>
          <a:xfrm flipV="1">
            <a:off x="7628149" y="2600446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701BCA8B-5C32-189A-B30C-01069F2B8250}"/>
              </a:ext>
            </a:extLst>
          </p:cNvPr>
          <p:cNvCxnSpPr>
            <a:cxnSpLocks/>
          </p:cNvCxnSpPr>
          <p:nvPr/>
        </p:nvCxnSpPr>
        <p:spPr>
          <a:xfrm flipV="1">
            <a:off x="6515228" y="2600446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3D2DB2EA-2AD8-A8B9-CC59-A220E8A15BFF}"/>
              </a:ext>
            </a:extLst>
          </p:cNvPr>
          <p:cNvCxnSpPr>
            <a:cxnSpLocks/>
          </p:cNvCxnSpPr>
          <p:nvPr/>
        </p:nvCxnSpPr>
        <p:spPr>
          <a:xfrm flipV="1">
            <a:off x="6705728" y="2600446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9BB50B8B-E1CB-E67E-E80D-274B29454329}"/>
              </a:ext>
            </a:extLst>
          </p:cNvPr>
          <p:cNvCxnSpPr>
            <a:cxnSpLocks/>
          </p:cNvCxnSpPr>
          <p:nvPr/>
        </p:nvCxnSpPr>
        <p:spPr>
          <a:xfrm flipV="1">
            <a:off x="6896228" y="2600446"/>
            <a:ext cx="152400" cy="122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4496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55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55</vt:i4>
      </vt:variant>
    </vt:vector>
  </HeadingPairs>
  <TitlesOfParts>
    <vt:vector size="56" baseType="lpstr">
      <vt:lpstr>Tema di Office</vt:lpstr>
      <vt:lpstr>Esercitazione 1</vt:lpstr>
      <vt:lpstr>Presentazione standard di PowerPoint</vt:lpstr>
      <vt:lpstr>Sistemi di numerazione ed algebra di Boole </vt:lpstr>
      <vt:lpstr>Sistemi di numerazione</vt:lpstr>
      <vt:lpstr>Sistemi di numerazione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/>
  <cp:revision>1550</cp:revision>
  <dcterms:created xsi:type="dcterms:W3CDTF">2024-02-02T08:24:37Z</dcterms:created>
  <dcterms:modified xsi:type="dcterms:W3CDTF">2024-03-03T00:41:59Z</dcterms:modified>
</cp:coreProperties>
</file>