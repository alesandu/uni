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1" r:id="rId3"/>
    <p:sldId id="262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4" r:id="rId18"/>
    <p:sldId id="285" r:id="rId19"/>
    <p:sldId id="286" r:id="rId20"/>
    <p:sldId id="292" r:id="rId21"/>
    <p:sldId id="293" r:id="rId22"/>
    <p:sldId id="29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3705" autoAdjust="0"/>
  </p:normalViewPr>
  <p:slideViewPr>
    <p:cSldViewPr snapToGrid="0">
      <p:cViewPr varScale="1">
        <p:scale>
          <a:sx n="82" d="100"/>
          <a:sy n="82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14/01/2018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14/01/2018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7 - Soluzioni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/>
              <a:t>Algoritmi di schedulazione</a:t>
            </a:r>
          </a:p>
          <a:p>
            <a:r>
              <a:rPr lang="it-IT" b="1" dirty="0"/>
              <a:t>Fattibilità di sistemi real-time</a:t>
            </a:r>
          </a:p>
          <a:p>
            <a:r>
              <a:rPr lang="it-IT" b="1" dirty="0"/>
              <a:t>Gestione della memoria e del disco</a:t>
            </a:r>
            <a:endParaRPr lang="it-IT" dirty="0"/>
          </a:p>
          <a:p>
            <a:endParaRPr lang="it-IT" b="1" dirty="0"/>
          </a:p>
          <a:p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Algoritmi di schedulazione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6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1) </a:t>
            </a:r>
            <a:r>
              <a:rPr lang="en-US" b="1" dirty="0" err="1">
                <a:latin typeface="+Corpo"/>
              </a:rPr>
              <a:t>Supponendo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utilizzare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l’algoritmo</a:t>
            </a:r>
            <a:r>
              <a:rPr lang="en-US" b="1" dirty="0">
                <a:latin typeface="+Corpo"/>
              </a:rPr>
              <a:t> first-come first-served per lo scheduling in un </a:t>
            </a:r>
            <a:r>
              <a:rPr lang="en-US" b="1" dirty="0" err="1">
                <a:latin typeface="+Corpo"/>
              </a:rPr>
              <a:t>sistema</a:t>
            </a:r>
            <a:r>
              <a:rPr lang="en-US" b="1" dirty="0">
                <a:latin typeface="+Corpo"/>
              </a:rPr>
              <a:t> batch, se </a:t>
            </a:r>
            <a:r>
              <a:rPr lang="en-US" b="1" dirty="0" err="1">
                <a:latin typeface="+Corpo"/>
              </a:rPr>
              <a:t>arrivano</a:t>
            </a:r>
            <a:r>
              <a:rPr lang="en-US" b="1" dirty="0">
                <a:latin typeface="+Corpo"/>
              </a:rPr>
              <a:t> 4 job (in </a:t>
            </a:r>
            <a:r>
              <a:rPr lang="en-US" b="1" dirty="0" err="1">
                <a:latin typeface="+Corpo"/>
              </a:rPr>
              <a:t>ordine</a:t>
            </a:r>
            <a:r>
              <a:rPr lang="en-US" b="1" dirty="0">
                <a:latin typeface="+Corpo"/>
              </a:rPr>
              <a:t> A, poi B </a:t>
            </a:r>
            <a:r>
              <a:rPr lang="en-US" b="1" dirty="0" err="1">
                <a:latin typeface="+Corpo"/>
              </a:rPr>
              <a:t>dopo</a:t>
            </a:r>
            <a:r>
              <a:rPr lang="en-US" b="1" dirty="0">
                <a:latin typeface="+Corpo"/>
              </a:rPr>
              <a:t> 2ms, C </a:t>
            </a:r>
            <a:r>
              <a:rPr lang="en-US" b="1" dirty="0" err="1">
                <a:latin typeface="+Corpo"/>
              </a:rPr>
              <a:t>dopo</a:t>
            </a:r>
            <a:r>
              <a:rPr lang="en-US" b="1" dirty="0">
                <a:latin typeface="+Corpo"/>
              </a:rPr>
              <a:t> 4ms e D </a:t>
            </a:r>
            <a:r>
              <a:rPr lang="en-US" b="1" dirty="0" err="1">
                <a:latin typeface="+Corpo"/>
              </a:rPr>
              <a:t>dopo</a:t>
            </a:r>
            <a:r>
              <a:rPr lang="en-US" b="1" dirty="0">
                <a:latin typeface="+Corpo"/>
              </a:rPr>
              <a:t> 5ms) con </a:t>
            </a:r>
            <a:r>
              <a:rPr lang="en-US" b="1" dirty="0" err="1">
                <a:latin typeface="+Corpo"/>
              </a:rPr>
              <a:t>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seguenti</a:t>
            </a:r>
            <a:r>
              <a:rPr lang="en-US" b="1" dirty="0">
                <a:latin typeface="+Corpo"/>
              </a:rPr>
              <a:t> tempi di </a:t>
            </a:r>
            <a:r>
              <a:rPr lang="en-US" b="1" dirty="0" err="1">
                <a:latin typeface="+Corpo"/>
              </a:rPr>
              <a:t>esecuzione</a:t>
            </a:r>
            <a:r>
              <a:rPr lang="en-US" b="1" dirty="0">
                <a:latin typeface="+Corpo"/>
              </a:rPr>
              <a:t> A=8, B=4, C=2 e D=4 </a:t>
            </a:r>
            <a:r>
              <a:rPr lang="en-US" b="1" dirty="0" err="1">
                <a:latin typeface="+Corpo"/>
              </a:rPr>
              <a:t>quali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sono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i</a:t>
            </a:r>
            <a:r>
              <a:rPr lang="en-US" b="1" dirty="0">
                <a:latin typeface="+Corpo"/>
              </a:rPr>
              <a:t> tempi di turnaround? </a:t>
            </a:r>
            <a:r>
              <a:rPr lang="en-US" b="1" dirty="0" err="1">
                <a:latin typeface="+Corpo"/>
              </a:rPr>
              <a:t>Qual</a:t>
            </a:r>
            <a:r>
              <a:rPr lang="en-US" b="1" dirty="0">
                <a:latin typeface="+Corpo"/>
              </a:rPr>
              <a:t> è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tempo medio di turnaround e di </a:t>
            </a:r>
            <a:r>
              <a:rPr lang="en-US" b="1" dirty="0" err="1">
                <a:latin typeface="+Corpo"/>
              </a:rPr>
              <a:t>attesa</a:t>
            </a:r>
            <a:r>
              <a:rPr lang="en-US" b="1" dirty="0">
                <a:latin typeface="+Corpo"/>
              </a:rPr>
              <a:t>? </a:t>
            </a: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55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First come – First served: </a:t>
            </a:r>
            <a:r>
              <a:rPr lang="en-US" dirty="0" err="1"/>
              <a:t>Ordine</a:t>
            </a:r>
            <a:r>
              <a:rPr lang="en-US" dirty="0"/>
              <a:t> in cui chi </a:t>
            </a:r>
            <a:r>
              <a:rPr lang="en-US" dirty="0" err="1"/>
              <a:t>arriva</a:t>
            </a:r>
            <a:r>
              <a:rPr lang="en-US" dirty="0"/>
              <a:t> prima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eseguito</a:t>
            </a:r>
            <a:r>
              <a:rPr lang="en-US" dirty="0"/>
              <a:t> per primo.</a:t>
            </a:r>
          </a:p>
          <a:p>
            <a:r>
              <a:rPr lang="en-US" dirty="0"/>
              <a:t>Tempo turnaround: tempo che </a:t>
            </a:r>
            <a:r>
              <a:rPr lang="en-US" dirty="0" err="1"/>
              <a:t>intercorre</a:t>
            </a:r>
            <a:r>
              <a:rPr lang="en-US" dirty="0"/>
              <a:t> dal </a:t>
            </a:r>
            <a:r>
              <a:rPr lang="en-US" dirty="0" err="1"/>
              <a:t>momento</a:t>
            </a:r>
            <a:r>
              <a:rPr lang="en-US" dirty="0"/>
              <a:t> in cui un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entra</a:t>
            </a:r>
            <a:r>
              <a:rPr lang="en-US" dirty="0"/>
              <a:t> in coda per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eseguito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al </a:t>
            </a:r>
            <a:r>
              <a:rPr lang="en-US" dirty="0" err="1"/>
              <a:t>termine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esecuzione</a:t>
            </a:r>
            <a:r>
              <a:rPr lang="en-US" dirty="0"/>
              <a:t>.</a:t>
            </a:r>
          </a:p>
          <a:p>
            <a:r>
              <a:rPr lang="en-US" dirty="0"/>
              <a:t>Tempo di </a:t>
            </a:r>
            <a:r>
              <a:rPr lang="en-US" dirty="0" err="1"/>
              <a:t>attesa</a:t>
            </a:r>
            <a:r>
              <a:rPr lang="en-US" dirty="0"/>
              <a:t>: tempo che un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trascorre</a:t>
            </a:r>
            <a:r>
              <a:rPr lang="en-US" dirty="0"/>
              <a:t> in coda prima di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eseguito</a:t>
            </a:r>
            <a:r>
              <a:rPr lang="en-US" dirty="0"/>
              <a:t>.</a:t>
            </a:r>
          </a:p>
          <a:p>
            <a:r>
              <a:rPr lang="en-US" dirty="0"/>
              <a:t>TA = Time of arrival = tempo </a:t>
            </a:r>
            <a:r>
              <a:rPr lang="en-US" dirty="0" err="1"/>
              <a:t>assoluto</a:t>
            </a:r>
            <a:r>
              <a:rPr lang="en-US" dirty="0"/>
              <a:t> di </a:t>
            </a:r>
            <a:r>
              <a:rPr lang="en-US" dirty="0" err="1"/>
              <a:t>ingresso</a:t>
            </a:r>
            <a:r>
              <a:rPr lang="en-US" dirty="0"/>
              <a:t> in coda di un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/>
              <a:t>TE = Time of execution = tempo </a:t>
            </a:r>
            <a:r>
              <a:rPr lang="en-US" dirty="0" err="1"/>
              <a:t>necessario</a:t>
            </a:r>
            <a:r>
              <a:rPr lang="en-US" dirty="0"/>
              <a:t> per </a:t>
            </a:r>
            <a:r>
              <a:rPr lang="en-US" dirty="0" err="1"/>
              <a:t>l’esecuzione</a:t>
            </a:r>
            <a:r>
              <a:rPr lang="en-US" dirty="0"/>
              <a:t> di un </a:t>
            </a:r>
            <a:r>
              <a:rPr lang="en-US" dirty="0" err="1"/>
              <a:t>processo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6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457199"/>
          </a:xfrm>
        </p:spPr>
        <p:txBody>
          <a:bodyPr>
            <a:normAutofit/>
          </a:bodyPr>
          <a:lstStyle/>
          <a:p>
            <a:r>
              <a:rPr lang="en-US" dirty="0" err="1"/>
              <a:t>Tabella</a:t>
            </a:r>
            <a:r>
              <a:rPr lang="en-US" dirty="0"/>
              <a:t> con TA e TE di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dell’esercizio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D950B58-007C-4DCD-891D-C4956712B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0118"/>
              </p:ext>
            </p:extLst>
          </p:nvPr>
        </p:nvGraphicFramePr>
        <p:xfrm>
          <a:off x="2335211" y="309880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009430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23547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34269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8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57897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678644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87989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755152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33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1280890"/>
          </a:xfrm>
        </p:spPr>
        <p:txBody>
          <a:bodyPr>
            <a:normAutofit/>
          </a:bodyPr>
          <a:lstStyle/>
          <a:p>
            <a:r>
              <a:rPr lang="en-US" dirty="0" err="1"/>
              <a:t>Strategia</a:t>
            </a:r>
            <a:r>
              <a:rPr lang="en-US" dirty="0"/>
              <a:t> FCFS (FIFO): </a:t>
            </a:r>
            <a:r>
              <a:rPr lang="en-US" dirty="0" err="1"/>
              <a:t>ordine</a:t>
            </a:r>
            <a:r>
              <a:rPr lang="en-US" dirty="0"/>
              <a:t> A-B-C-D</a:t>
            </a:r>
          </a:p>
          <a:p>
            <a:r>
              <a:rPr lang="en-US" dirty="0"/>
              <a:t>TS = Tempo </a:t>
            </a:r>
            <a:r>
              <a:rPr lang="en-US" dirty="0" err="1"/>
              <a:t>assoluto</a:t>
            </a:r>
            <a:r>
              <a:rPr lang="en-US" dirty="0"/>
              <a:t> di </a:t>
            </a:r>
            <a:r>
              <a:rPr lang="en-US" dirty="0" err="1"/>
              <a:t>inizio</a:t>
            </a:r>
            <a:r>
              <a:rPr lang="en-US" dirty="0"/>
              <a:t> di </a:t>
            </a:r>
            <a:r>
              <a:rPr lang="en-US" dirty="0" err="1"/>
              <a:t>esecuzione</a:t>
            </a:r>
            <a:r>
              <a:rPr lang="en-US" dirty="0"/>
              <a:t> di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/>
              <a:t>TF = tempo </a:t>
            </a:r>
            <a:r>
              <a:rPr lang="en-US" dirty="0" err="1"/>
              <a:t>assoluto</a:t>
            </a:r>
            <a:r>
              <a:rPr lang="en-US" dirty="0"/>
              <a:t> di fine </a:t>
            </a:r>
            <a:r>
              <a:rPr lang="en-US" dirty="0" err="1"/>
              <a:t>dell’esecuzione</a:t>
            </a:r>
            <a:r>
              <a:rPr lang="en-US" dirty="0"/>
              <a:t> di un </a:t>
            </a:r>
            <a:r>
              <a:rPr lang="en-US" dirty="0" err="1"/>
              <a:t>processo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3421C33-7EBE-4230-89A2-62D970D76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335487"/>
              </p:ext>
            </p:extLst>
          </p:nvPr>
        </p:nvGraphicFramePr>
        <p:xfrm>
          <a:off x="2335211" y="369384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095977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3434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66087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5377165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68126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dirty="0" err="1">
                          <a:effectLst/>
                          <a:latin typeface="+mn-lt"/>
                        </a:rPr>
                        <a:t>Processo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dirty="0">
                          <a:effectLst/>
                          <a:latin typeface="+mn-lt"/>
                        </a:rPr>
                        <a:t>TA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TE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TS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TF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23667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6417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56324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910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7850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89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1280890"/>
          </a:xfrm>
        </p:spPr>
        <p:txBody>
          <a:bodyPr>
            <a:normAutofit/>
          </a:bodyPr>
          <a:lstStyle/>
          <a:p>
            <a:r>
              <a:rPr lang="en-US" dirty="0"/>
              <a:t>TT = Tempo Turnaround = TF-TA</a:t>
            </a:r>
          </a:p>
          <a:p>
            <a:r>
              <a:rPr lang="en-US" dirty="0"/>
              <a:t>TW = Tempo di </a:t>
            </a:r>
            <a:r>
              <a:rPr lang="en-US" dirty="0" err="1"/>
              <a:t>attesa</a:t>
            </a:r>
            <a:r>
              <a:rPr lang="en-US" dirty="0"/>
              <a:t> = TS-TA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EFBBF59-CB5A-417D-8256-669B04598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6796"/>
              </p:ext>
            </p:extLst>
          </p:nvPr>
        </p:nvGraphicFramePr>
        <p:xfrm>
          <a:off x="2335210" y="3414491"/>
          <a:ext cx="8128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5455833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1376206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9523417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8828981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920606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1521514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29044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dirty="0" err="1">
                          <a:effectLst/>
                          <a:latin typeface="+mn-lt"/>
                        </a:rPr>
                        <a:t>Processo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TA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TE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TS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TF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TW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effectLst/>
                          <a:latin typeface="+mn-lt"/>
                        </a:rPr>
                        <a:t>TT</a:t>
                      </a:r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47814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16980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24795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182359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52162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24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br>
              <a:rPr lang="it-IT" b="1" dirty="0"/>
            </a:br>
            <a:r>
              <a:rPr lang="it-IT" b="1" dirty="0"/>
              <a:t>Soluzioni (5)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840846"/>
          </a:xfrm>
        </p:spPr>
        <p:txBody>
          <a:bodyPr>
            <a:normAutofit/>
          </a:bodyPr>
          <a:lstStyle/>
          <a:p>
            <a:r>
              <a:rPr lang="en-US" dirty="0"/>
              <a:t>Tempo medio (</a:t>
            </a:r>
            <a:r>
              <a:rPr lang="it-IT" noProof="1"/>
              <a:t>entambi</a:t>
            </a:r>
            <a:r>
              <a:rPr lang="en-US" dirty="0"/>
              <a:t> </a:t>
            </a:r>
            <a:r>
              <a:rPr lang="it-IT" dirty="0"/>
              <a:t>i</a:t>
            </a:r>
            <a:r>
              <a:rPr lang="en-US" dirty="0"/>
              <a:t> </a:t>
            </a:r>
            <a:r>
              <a:rPr lang="it-IT" dirty="0"/>
              <a:t>casi</a:t>
            </a:r>
            <a:r>
              <a:rPr lang="en-US" dirty="0"/>
              <a:t>): </a:t>
            </a:r>
            <a:r>
              <a:rPr lang="en-US" dirty="0" err="1"/>
              <a:t>somma</a:t>
            </a:r>
            <a:r>
              <a:rPr lang="en-US" dirty="0"/>
              <a:t> tempi e </a:t>
            </a:r>
            <a:r>
              <a:rPr lang="en-US" dirty="0" err="1"/>
              <a:t>divisione</a:t>
            </a:r>
            <a:r>
              <a:rPr lang="en-US" dirty="0"/>
              <a:t> per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72CE70F-9AE5-4B0C-8773-305B37927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666" y="3300107"/>
            <a:ext cx="3220667" cy="58344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6E60051-D3D2-4093-A7D2-4A10F08B5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32" y="4312229"/>
            <a:ext cx="4067136" cy="63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3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Fattibilità di sistemi real-time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5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Fattibilità di sistemi real-time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1)</a:t>
            </a:r>
            <a:r>
              <a:rPr lang="en-US" b="1" dirty="0" err="1"/>
              <a:t>Supponendo</a:t>
            </a:r>
            <a:r>
              <a:rPr lang="en-US" b="1" dirty="0"/>
              <a:t> di dover </a:t>
            </a:r>
            <a:r>
              <a:rPr lang="en-US" b="1" dirty="0" err="1"/>
              <a:t>valutare</a:t>
            </a:r>
            <a:r>
              <a:rPr lang="en-US" b="1" dirty="0"/>
              <a:t> la </a:t>
            </a:r>
            <a:r>
              <a:rPr lang="en-US" b="1" dirty="0" err="1"/>
              <a:t>fattibilità</a:t>
            </a:r>
            <a:r>
              <a:rPr lang="en-US" b="1" dirty="0"/>
              <a:t> di un </a:t>
            </a:r>
            <a:r>
              <a:rPr lang="en-US" b="1" dirty="0" err="1"/>
              <a:t>sistema</a:t>
            </a:r>
            <a:r>
              <a:rPr lang="en-US" b="1" dirty="0"/>
              <a:t> soft real-time con </a:t>
            </a:r>
            <a:r>
              <a:rPr lang="en-US" b="1" dirty="0" err="1"/>
              <a:t>eventi</a:t>
            </a:r>
            <a:r>
              <a:rPr lang="en-US" b="1" dirty="0"/>
              <a:t> </a:t>
            </a:r>
            <a:r>
              <a:rPr lang="en-US" b="1" dirty="0" err="1"/>
              <a:t>periodici</a:t>
            </a:r>
            <a:r>
              <a:rPr lang="en-US" b="1" dirty="0"/>
              <a:t> P0=300µs, P1=900µs, P2=45ms, P3=150ms e </a:t>
            </a:r>
            <a:r>
              <a:rPr lang="en-US" b="1" dirty="0" err="1"/>
              <a:t>rispettivi</a:t>
            </a:r>
            <a:r>
              <a:rPr lang="en-US" b="1" dirty="0"/>
              <a:t> tempi di </a:t>
            </a:r>
            <a:r>
              <a:rPr lang="en-US" b="1" dirty="0" err="1"/>
              <a:t>elaborazione</a:t>
            </a:r>
            <a:r>
              <a:rPr lang="en-US" b="1" dirty="0"/>
              <a:t> C0=25µs, C1=300µs, C2=9ms, C3=50µs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 è </a:t>
            </a:r>
            <a:r>
              <a:rPr lang="en-US" b="1" dirty="0" err="1"/>
              <a:t>sostenibile</a:t>
            </a:r>
            <a:r>
              <a:rPr lang="en-US" b="1" dirty="0"/>
              <a:t>? Se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aggiunge</a:t>
            </a:r>
            <a:r>
              <a:rPr lang="en-US" b="1" dirty="0"/>
              <a:t> un </a:t>
            </a:r>
            <a:r>
              <a:rPr lang="en-US" b="1" dirty="0" err="1"/>
              <a:t>nuovo</a:t>
            </a:r>
            <a:r>
              <a:rPr lang="en-US" b="1" dirty="0"/>
              <a:t> </a:t>
            </a:r>
            <a:r>
              <a:rPr lang="en-US" b="1" dirty="0" err="1"/>
              <a:t>evento</a:t>
            </a:r>
            <a:r>
              <a:rPr lang="en-US" b="1" dirty="0"/>
              <a:t> </a:t>
            </a:r>
            <a:r>
              <a:rPr lang="en-US" b="1" dirty="0" err="1"/>
              <a:t>periodico</a:t>
            </a:r>
            <a:r>
              <a:rPr lang="en-US" b="1" dirty="0"/>
              <a:t> P4=110ms, </a:t>
            </a:r>
            <a:r>
              <a:rPr lang="en-US" b="1" dirty="0" err="1"/>
              <a:t>quanto</a:t>
            </a:r>
            <a:r>
              <a:rPr lang="en-US" b="1" dirty="0"/>
              <a:t> è </a:t>
            </a:r>
            <a:r>
              <a:rPr lang="en-US" b="1" dirty="0" err="1"/>
              <a:t>il</a:t>
            </a:r>
            <a:r>
              <a:rPr lang="en-US" b="1" dirty="0"/>
              <a:t> tempo </a:t>
            </a:r>
            <a:r>
              <a:rPr lang="en-US" b="1" dirty="0" err="1"/>
              <a:t>massimo</a:t>
            </a:r>
            <a:r>
              <a:rPr lang="en-US" b="1" dirty="0"/>
              <a:t> di </a:t>
            </a:r>
            <a:r>
              <a:rPr lang="en-US" b="1" dirty="0" err="1"/>
              <a:t>elaborazione</a:t>
            </a:r>
            <a:r>
              <a:rPr lang="en-US" b="1" dirty="0"/>
              <a:t> </a:t>
            </a:r>
            <a:r>
              <a:rPr lang="en-US" b="1" dirty="0" err="1"/>
              <a:t>affinché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 </a:t>
            </a:r>
            <a:r>
              <a:rPr lang="en-US" b="1" dirty="0" err="1"/>
              <a:t>rimanga</a:t>
            </a:r>
            <a:r>
              <a:rPr lang="en-US" b="1" dirty="0"/>
              <a:t> </a:t>
            </a:r>
            <a:r>
              <a:rPr lang="en-US" b="1" dirty="0" err="1"/>
              <a:t>sostenibile</a:t>
            </a:r>
            <a:r>
              <a:rPr lang="en-US" b="1" dirty="0"/>
              <a:t>?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8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Fattibilità di sistemi real-time (1)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b="1" dirty="0"/>
              <a:t>Deadline</a:t>
            </a:r>
            <a:r>
              <a:rPr lang="en-US" dirty="0"/>
              <a:t>: tempo </a:t>
            </a:r>
            <a:r>
              <a:rPr lang="en-US" dirty="0" err="1"/>
              <a:t>entro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quale le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necessariamente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completate</a:t>
            </a:r>
            <a:endParaRPr lang="en-US" dirty="0"/>
          </a:p>
          <a:p>
            <a:r>
              <a:rPr lang="en-US" dirty="0" err="1"/>
              <a:t>Sistemi</a:t>
            </a:r>
            <a:r>
              <a:rPr lang="en-US" dirty="0"/>
              <a:t> non </a:t>
            </a:r>
            <a:r>
              <a:rPr lang="en-US" dirty="0" err="1"/>
              <a:t>obbligatoriamente</a:t>
            </a:r>
            <a:r>
              <a:rPr lang="en-US" dirty="0"/>
              <a:t> </a:t>
            </a:r>
            <a:r>
              <a:rPr lang="en-US" b="1" dirty="0" err="1"/>
              <a:t>veloci</a:t>
            </a:r>
            <a:r>
              <a:rPr lang="en-US" b="1" dirty="0"/>
              <a:t> </a:t>
            </a:r>
            <a:r>
              <a:rPr lang="en-US" dirty="0"/>
              <a:t>ma </a:t>
            </a:r>
            <a:r>
              <a:rPr lang="en-US" dirty="0" err="1"/>
              <a:t>piuttosto</a:t>
            </a:r>
            <a:r>
              <a:rPr lang="en-US" dirty="0"/>
              <a:t> </a:t>
            </a:r>
            <a:r>
              <a:rPr lang="en-US" b="1" dirty="0" err="1"/>
              <a:t>affidabili</a:t>
            </a:r>
            <a:r>
              <a:rPr lang="en-US" dirty="0"/>
              <a:t>.</a:t>
            </a:r>
          </a:p>
          <a:p>
            <a:r>
              <a:rPr lang="en-US" dirty="0" err="1"/>
              <a:t>Eventi</a:t>
            </a:r>
            <a:r>
              <a:rPr lang="en-US" dirty="0"/>
              <a:t> </a:t>
            </a:r>
            <a:r>
              <a:rPr lang="en-US" b="1" dirty="0" err="1"/>
              <a:t>periodici</a:t>
            </a:r>
            <a:r>
              <a:rPr lang="en-US" dirty="0"/>
              <a:t>: </a:t>
            </a:r>
            <a:r>
              <a:rPr lang="en-US" dirty="0" err="1"/>
              <a:t>eseguiti</a:t>
            </a:r>
            <a:r>
              <a:rPr lang="en-US" dirty="0"/>
              <a:t> a </a:t>
            </a:r>
            <a:r>
              <a:rPr lang="en-US" dirty="0" err="1"/>
              <a:t>ciclo</a:t>
            </a:r>
            <a:r>
              <a:rPr lang="en-US" dirty="0"/>
              <a:t> continuo con cadenza ben </a:t>
            </a:r>
            <a:r>
              <a:rPr lang="en-US" dirty="0" err="1"/>
              <a:t>definita</a:t>
            </a:r>
            <a:r>
              <a:rPr lang="en-US" dirty="0"/>
              <a:t>.</a:t>
            </a:r>
          </a:p>
          <a:p>
            <a:r>
              <a:rPr lang="en-US" dirty="0" err="1"/>
              <a:t>Eventi</a:t>
            </a:r>
            <a:r>
              <a:rPr lang="en-US" dirty="0"/>
              <a:t> </a:t>
            </a:r>
            <a:r>
              <a:rPr lang="en-US" dirty="0" err="1"/>
              <a:t>periodici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Periodo</a:t>
            </a:r>
            <a:r>
              <a:rPr lang="en-US" dirty="0"/>
              <a:t>: tempo </a:t>
            </a:r>
            <a:r>
              <a:rPr lang="en-US" dirty="0" err="1"/>
              <a:t>entro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quale </a:t>
            </a:r>
            <a:r>
              <a:rPr lang="en-US" dirty="0" err="1"/>
              <a:t>l’evento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ripetuto</a:t>
            </a:r>
            <a:r>
              <a:rPr lang="en-US" dirty="0"/>
              <a:t> (Pi)</a:t>
            </a:r>
          </a:p>
          <a:p>
            <a:pPr lvl="1"/>
            <a:r>
              <a:rPr lang="en-US" b="1" dirty="0"/>
              <a:t>Tempo </a:t>
            </a:r>
            <a:r>
              <a:rPr lang="en-US" b="1" dirty="0" err="1"/>
              <a:t>d’esecuzione</a:t>
            </a:r>
            <a:r>
              <a:rPr lang="en-US" b="1" dirty="0"/>
              <a:t> </a:t>
            </a:r>
            <a:r>
              <a:rPr lang="en-US" dirty="0"/>
              <a:t>(Ci)</a:t>
            </a:r>
            <a:endParaRPr lang="en-US" b="1" dirty="0"/>
          </a:p>
          <a:p>
            <a:r>
              <a:rPr lang="en-US" dirty="0"/>
              <a:t>Sistema RT </a:t>
            </a:r>
            <a:r>
              <a:rPr lang="en-US" dirty="0" err="1"/>
              <a:t>sostenibile</a:t>
            </a:r>
            <a:r>
              <a:rPr lang="en-US" dirty="0"/>
              <a:t> (con m </a:t>
            </a:r>
            <a:r>
              <a:rPr lang="en-US" dirty="0" err="1"/>
              <a:t>eventi</a:t>
            </a:r>
            <a:r>
              <a:rPr lang="en-US" dirty="0"/>
              <a:t> </a:t>
            </a:r>
            <a:r>
              <a:rPr lang="en-US" dirty="0" err="1"/>
              <a:t>periodici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Vale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CA010CE-9BB1-403E-B254-ACC3BBDC7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402" y="5098379"/>
            <a:ext cx="1076987" cy="6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7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Fattibilità di sistemi real-time (1)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1946030"/>
          </a:xfrm>
        </p:spPr>
        <p:txBody>
          <a:bodyPr>
            <a:normAutofit/>
          </a:bodyPr>
          <a:lstStyle/>
          <a:p>
            <a:r>
              <a:rPr lang="en-US" dirty="0" err="1"/>
              <a:t>Sostituzione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formula: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172FDC4-C914-46B4-B93A-64243AE4F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190" y="3113101"/>
            <a:ext cx="4767619" cy="63179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F495F3-07CE-4E44-B638-9B997A8A8CC1}"/>
              </a:ext>
            </a:extLst>
          </p:cNvPr>
          <p:cNvSpPr txBox="1"/>
          <p:nvPr/>
        </p:nvSpPr>
        <p:spPr>
          <a:xfrm>
            <a:off x="2589212" y="4501662"/>
            <a:ext cx="8911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Ref</a:t>
            </a:r>
            <a:r>
              <a:rPr lang="it-IT" dirty="0"/>
              <a:t> testo: </a:t>
            </a:r>
            <a:r>
              <a:rPr lang="en-US" dirty="0" err="1"/>
              <a:t>Moderni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operativi</a:t>
            </a:r>
            <a:r>
              <a:rPr lang="en-US" dirty="0"/>
              <a:t>, </a:t>
            </a:r>
            <a:r>
              <a:rPr lang="en-US" dirty="0" err="1"/>
              <a:t>paragrafo</a:t>
            </a:r>
            <a:r>
              <a:rPr lang="en-US" dirty="0"/>
              <a:t> 2.5.4. </a:t>
            </a:r>
            <a:r>
              <a:rPr lang="en-US" i="1" dirty="0" err="1"/>
              <a:t>Schedulazione</a:t>
            </a:r>
            <a:r>
              <a:rPr lang="en-US" i="1" dirty="0"/>
              <a:t> </a:t>
            </a:r>
            <a:r>
              <a:rPr lang="en-US" i="1" dirty="0" err="1"/>
              <a:t>nei</a:t>
            </a:r>
            <a:r>
              <a:rPr lang="en-US" i="1" dirty="0"/>
              <a:t> </a:t>
            </a:r>
            <a:r>
              <a:rPr lang="en-US" i="1" dirty="0" err="1"/>
              <a:t>sistemi</a:t>
            </a:r>
            <a:r>
              <a:rPr lang="en-US" i="1" dirty="0"/>
              <a:t> real time</a:t>
            </a:r>
            <a:r>
              <a:rPr lang="en-US" dirty="0"/>
              <a:t>, </a:t>
            </a:r>
            <a:r>
              <a:rPr lang="en-US" dirty="0" err="1"/>
              <a:t>pag</a:t>
            </a:r>
            <a:r>
              <a:rPr lang="en-US" dirty="0"/>
              <a:t> 135 e successive</a:t>
            </a:r>
          </a:p>
        </p:txBody>
      </p:sp>
    </p:spTree>
    <p:extLst>
      <p:ext uri="{BB962C8B-B14F-4D97-AF65-F5344CB8AC3E}">
        <p14:creationId xmlns:p14="http://schemas.microsoft.com/office/powerpoint/2010/main" val="94047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Fattibilità di sistemi real-time (1)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Massimo tempo di </a:t>
            </a:r>
            <a:r>
              <a:rPr lang="en-US" dirty="0" err="1"/>
              <a:t>esecuzione</a:t>
            </a:r>
            <a:r>
              <a:rPr lang="en-US" dirty="0"/>
              <a:t> per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nuovo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P4.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80AC884-C2C9-44EC-81C2-972038E0A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357" y="2731648"/>
            <a:ext cx="3963286" cy="6973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61358A1-463B-41C5-AF8A-49BE1BB85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491" y="3555313"/>
            <a:ext cx="1863439" cy="69735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5BE941A-9790-41E5-AD47-927BF740B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668" y="4252665"/>
            <a:ext cx="3078663" cy="69735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89C3E53-29EC-440F-B397-7098D6D3B219}"/>
              </a:ext>
            </a:extLst>
          </p:cNvPr>
          <p:cNvSpPr txBox="1"/>
          <p:nvPr/>
        </p:nvSpPr>
        <p:spPr>
          <a:xfrm>
            <a:off x="2589212" y="4950017"/>
            <a:ext cx="761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Massimo tempo di esecuzione: 5.5m</a:t>
            </a:r>
            <a:r>
              <a:rPr lang="en-US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145124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58750"/>
            <a:ext cx="9070976" cy="1468800"/>
          </a:xfrm>
        </p:spPr>
        <p:txBody>
          <a:bodyPr/>
          <a:lstStyle/>
          <a:p>
            <a:r>
              <a:rPr lang="it-IT" b="1" dirty="0"/>
              <a:t>Gestione della memoria e del disco</a:t>
            </a:r>
            <a:endParaRPr lang="it-IT" dirty="0">
              <a:effectLst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3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1) </a:t>
            </a:r>
            <a:r>
              <a:rPr lang="it-IT" b="1" dirty="0"/>
              <a:t>Nell’ambito della gestione della memoria con liste concatenate, considerando una lista parzialmente piena di questo tipo (per ogni tripla, il primo elemento è un flag per capire se si tratta di un buco o un processo, il secondo è l’indirizzo di partenza e il terzo è la lunghezza dell’elemento):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P,0,6,→H,6,3,→P,9,8→P,17,4,→H,21,2,→P,23,6,→H,29,4,X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Dove viene posizionato il nuovo processo P che occupa 4 blocchi? Dove verrebbe posizionato se invece ne occupasse solo 2, secondo gli algoritmi first </a:t>
            </a:r>
            <a:r>
              <a:rPr lang="it-IT" b="1" dirty="0" err="1"/>
              <a:t>fit</a:t>
            </a:r>
            <a:r>
              <a:rPr lang="it-IT" b="1" dirty="0"/>
              <a:t> e best </a:t>
            </a:r>
            <a:r>
              <a:rPr lang="it-IT" b="1" dirty="0" err="1"/>
              <a:t>fit</a:t>
            </a:r>
            <a:r>
              <a:rPr lang="it-IT" b="1" dirty="0"/>
              <a:t>?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65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  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 err="1"/>
              <a:t>Lettera</a:t>
            </a:r>
            <a:r>
              <a:rPr lang="en-US" dirty="0"/>
              <a:t> P </a:t>
            </a:r>
            <a:r>
              <a:rPr lang="en-US" dirty="0" err="1"/>
              <a:t>rappresenta</a:t>
            </a:r>
            <a:r>
              <a:rPr lang="en-US" dirty="0"/>
              <a:t> un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 err="1"/>
              <a:t>Lettera</a:t>
            </a:r>
            <a:r>
              <a:rPr lang="en-US" dirty="0"/>
              <a:t> H </a:t>
            </a:r>
            <a:r>
              <a:rPr lang="en-US" dirty="0" err="1"/>
              <a:t>rappresenta</a:t>
            </a:r>
            <a:r>
              <a:rPr lang="en-US" dirty="0"/>
              <a:t> un “</a:t>
            </a:r>
            <a:r>
              <a:rPr lang="en-US" dirty="0" err="1"/>
              <a:t>buco</a:t>
            </a:r>
            <a:r>
              <a:rPr lang="en-US" dirty="0"/>
              <a:t>” di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blocchi</a:t>
            </a:r>
            <a:endParaRPr lang="en-US" dirty="0"/>
          </a:p>
          <a:p>
            <a:r>
              <a:rPr lang="en-US" b="1" dirty="0"/>
              <a:t>First-fit</a:t>
            </a:r>
            <a:r>
              <a:rPr lang="en-US" dirty="0"/>
              <a:t>: </a:t>
            </a:r>
            <a:r>
              <a:rPr lang="it-IT" dirty="0"/>
              <a:t>inserisce il nuovo processo nella prima posizione possibile dall’inizio della lista</a:t>
            </a:r>
          </a:p>
          <a:p>
            <a:r>
              <a:rPr lang="en-US" b="1" dirty="0"/>
              <a:t>Best-fit</a:t>
            </a:r>
            <a:r>
              <a:rPr lang="en-US" dirty="0"/>
              <a:t>: </a:t>
            </a:r>
            <a:r>
              <a:rPr lang="it-IT" dirty="0"/>
              <a:t>inserisce il nuovo processo nella posizione tale da contenerlo nel modo migliore e, dunque, nel buco più piccolo disponibile per contenere il processo.</a:t>
            </a:r>
          </a:p>
          <a:p>
            <a:r>
              <a:rPr lang="it-IT" dirty="0" err="1"/>
              <a:t>Ref</a:t>
            </a:r>
            <a:r>
              <a:rPr lang="it-IT" dirty="0"/>
              <a:t>: “I moderni sistemi operativi”, </a:t>
            </a:r>
            <a:r>
              <a:rPr lang="it-IT" i="1" dirty="0" err="1"/>
              <a:t>Tanenbaum</a:t>
            </a:r>
            <a:r>
              <a:rPr lang="it-IT" i="1" dirty="0"/>
              <a:t>, </a:t>
            </a:r>
            <a:r>
              <a:rPr lang="it-IT" dirty="0"/>
              <a:t>pagina 183 e seguenti (nell’edizione in mio possesso), paragrafo 4.2.2. Gestione della memoria con liste concatenate.</a:t>
            </a:r>
          </a:p>
          <a:p>
            <a:endParaRPr lang="en-US" b="1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64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 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 err="1"/>
              <a:t>Caso</a:t>
            </a:r>
            <a:r>
              <a:rPr lang="en-US" dirty="0"/>
              <a:t> “base”, con </a:t>
            </a:r>
            <a:r>
              <a:rPr lang="en-US" dirty="0" err="1"/>
              <a:t>processo</a:t>
            </a:r>
            <a:r>
              <a:rPr lang="en-US" dirty="0"/>
              <a:t> di 4 </a:t>
            </a:r>
            <a:r>
              <a:rPr lang="en-US" dirty="0" err="1"/>
              <a:t>blocchi</a:t>
            </a:r>
            <a:endParaRPr lang="en-US" dirty="0"/>
          </a:p>
          <a:p>
            <a:r>
              <a:rPr lang="it-IT" dirty="0"/>
              <a:t>P,0,6,→H,6,3,→P,9,8→P,17,4,→H,21,2,→P,23,6,→H,29,4,X</a:t>
            </a:r>
          </a:p>
          <a:p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necessario</a:t>
            </a:r>
            <a:r>
              <a:rPr lang="en-US" dirty="0"/>
              <a:t> per </a:t>
            </a:r>
            <a:r>
              <a:rPr lang="en-US" dirty="0" err="1"/>
              <a:t>contenere</a:t>
            </a:r>
            <a:r>
              <a:rPr lang="en-US" dirty="0"/>
              <a:t> un </a:t>
            </a:r>
            <a:r>
              <a:rPr lang="en-US" dirty="0" err="1"/>
              <a:t>processo</a:t>
            </a:r>
            <a:r>
              <a:rPr lang="en-US" dirty="0"/>
              <a:t> di </a:t>
            </a:r>
            <a:r>
              <a:rPr lang="en-US" dirty="0" err="1"/>
              <a:t>dimensione</a:t>
            </a:r>
            <a:r>
              <a:rPr lang="en-US" dirty="0"/>
              <a:t> 4 </a:t>
            </a:r>
            <a:r>
              <a:rPr lang="en-US" dirty="0" err="1"/>
              <a:t>blocchi</a:t>
            </a:r>
            <a:r>
              <a:rPr lang="en-US" dirty="0"/>
              <a:t> solo a </a:t>
            </a:r>
            <a:r>
              <a:rPr lang="en-US" dirty="0" err="1"/>
              <a:t>partire</a:t>
            </a:r>
            <a:r>
              <a:rPr lang="en-US" dirty="0"/>
              <a:t> </a:t>
            </a:r>
            <a:r>
              <a:rPr lang="en-US" dirty="0" err="1"/>
              <a:t>dall’indirizzo</a:t>
            </a:r>
            <a:r>
              <a:rPr lang="en-US" dirty="0"/>
              <a:t> 29.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822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 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 err="1"/>
              <a:t>Caso</a:t>
            </a:r>
            <a:r>
              <a:rPr lang="en-US" dirty="0"/>
              <a:t>  first fit, con </a:t>
            </a:r>
            <a:r>
              <a:rPr lang="en-US" dirty="0" err="1"/>
              <a:t>processo</a:t>
            </a:r>
            <a:r>
              <a:rPr lang="en-US" dirty="0"/>
              <a:t> di 2 </a:t>
            </a:r>
            <a:r>
              <a:rPr lang="en-US" dirty="0" err="1"/>
              <a:t>blocchi</a:t>
            </a:r>
            <a:endParaRPr lang="en-US" dirty="0"/>
          </a:p>
          <a:p>
            <a:r>
              <a:rPr lang="it-IT" dirty="0"/>
              <a:t>P,0,6,→H,6,3,→P,9,8→P,17,4,→H,21,2,→P,23,6,→H,29,4,X</a:t>
            </a:r>
          </a:p>
          <a:p>
            <a:r>
              <a:rPr lang="en-US" dirty="0"/>
              <a:t>Primo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sufficiente</a:t>
            </a:r>
            <a:r>
              <a:rPr lang="en-US" dirty="0"/>
              <a:t> per </a:t>
            </a:r>
            <a:r>
              <a:rPr lang="en-US" dirty="0" err="1"/>
              <a:t>contenere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inizia</a:t>
            </a:r>
            <a:r>
              <a:rPr lang="en-US" dirty="0"/>
              <a:t> </a:t>
            </a:r>
            <a:r>
              <a:rPr lang="en-US" dirty="0" err="1"/>
              <a:t>all’inidirizzo</a:t>
            </a:r>
            <a:r>
              <a:rPr lang="en-US" dirty="0"/>
              <a:t> 6.</a:t>
            </a:r>
          </a:p>
          <a:p>
            <a:r>
              <a:rPr lang="en-US" dirty="0"/>
              <a:t>Si </a:t>
            </a:r>
            <a:r>
              <a:rPr lang="en-US" dirty="0" err="1"/>
              <a:t>ottiene</a:t>
            </a:r>
            <a:r>
              <a:rPr lang="en-US" dirty="0"/>
              <a:t>:</a:t>
            </a:r>
          </a:p>
          <a:p>
            <a:r>
              <a:rPr lang="it-IT" dirty="0"/>
              <a:t>P,0,6,→P,6,2,→H,8,1,→ P,9,8→P,17,4,→H,21,2,→P,23,6,→H,29,4,X</a:t>
            </a:r>
          </a:p>
          <a:p>
            <a:endParaRPr lang="en-US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0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 Soluzioni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 err="1"/>
              <a:t>Caso</a:t>
            </a:r>
            <a:r>
              <a:rPr lang="en-US" dirty="0"/>
              <a:t>  first fit, con </a:t>
            </a:r>
            <a:r>
              <a:rPr lang="en-US" dirty="0" err="1"/>
              <a:t>processo</a:t>
            </a:r>
            <a:r>
              <a:rPr lang="en-US" dirty="0"/>
              <a:t> di 2 </a:t>
            </a:r>
            <a:r>
              <a:rPr lang="en-US" dirty="0" err="1"/>
              <a:t>blocchi</a:t>
            </a:r>
            <a:endParaRPr lang="en-US" dirty="0"/>
          </a:p>
          <a:p>
            <a:r>
              <a:rPr lang="it-IT" dirty="0"/>
              <a:t>P,0,6,→H,6,3,→P,9,8→P,17,4,→H,21,2,→P,23,6,→H,29,4,X</a:t>
            </a:r>
          </a:p>
          <a:p>
            <a:r>
              <a:rPr lang="en-US" dirty="0" err="1"/>
              <a:t>Miglior</a:t>
            </a:r>
            <a:r>
              <a:rPr lang="en-US" dirty="0"/>
              <a:t> </a:t>
            </a:r>
            <a:r>
              <a:rPr lang="en-US" dirty="0" err="1"/>
              <a:t>spazio</a:t>
            </a:r>
            <a:r>
              <a:rPr lang="en-US" dirty="0"/>
              <a:t> per </a:t>
            </a:r>
            <a:r>
              <a:rPr lang="en-US" dirty="0" err="1"/>
              <a:t>contenere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inizia</a:t>
            </a:r>
            <a:r>
              <a:rPr lang="en-US" dirty="0"/>
              <a:t> </a:t>
            </a:r>
            <a:r>
              <a:rPr lang="en-US" dirty="0" err="1"/>
              <a:t>all’inidirizzo</a:t>
            </a:r>
            <a:r>
              <a:rPr lang="en-US" dirty="0"/>
              <a:t> 21.</a:t>
            </a:r>
          </a:p>
          <a:p>
            <a:r>
              <a:rPr lang="en-US" dirty="0"/>
              <a:t>Si </a:t>
            </a:r>
            <a:r>
              <a:rPr lang="en-US" dirty="0" err="1"/>
              <a:t>ottiene</a:t>
            </a:r>
            <a:r>
              <a:rPr lang="en-US" dirty="0"/>
              <a:t>:</a:t>
            </a:r>
          </a:p>
          <a:p>
            <a:r>
              <a:rPr lang="it-IT" dirty="0"/>
              <a:t>P,0,6,→H,6,3,→P,9,8→P,17,4,→P,21,2,→P,23,6,→H,29,4,X</a:t>
            </a:r>
          </a:p>
          <a:p>
            <a:endParaRPr lang="en-US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47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2) </a:t>
            </a:r>
            <a:r>
              <a:rPr lang="it-IT" b="1" dirty="0"/>
              <a:t>Nell’ambito della schedulazione delle richieste al disco, si consideri la situazione delle richieste pendenti e della testina illustrata in figura. Come si comporterà la testina nel caso in cui l’algoritmo di schedulazione utilizzato sarà l’SSF (</a:t>
            </a:r>
            <a:r>
              <a:rPr lang="it-IT" b="1" dirty="0" err="1"/>
              <a:t>Shortest</a:t>
            </a:r>
            <a:r>
              <a:rPr lang="it-IT" b="1" dirty="0"/>
              <a:t> </a:t>
            </a:r>
            <a:r>
              <a:rPr lang="it-IT" b="1" dirty="0" err="1"/>
              <a:t>Seek</a:t>
            </a:r>
            <a:r>
              <a:rPr lang="it-IT" b="1" dirty="0"/>
              <a:t> First)? Come si comporterà nel caso in cui sarà l’algoritmo dell’ascensore?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6C48588-E610-4A4C-A703-9565001F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911623"/>
            <a:ext cx="8612807" cy="204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71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(2) 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it-IT" dirty="0" err="1"/>
              <a:t>Ref</a:t>
            </a:r>
            <a:r>
              <a:rPr lang="it-IT" dirty="0"/>
              <a:t>: I moderni sistemi operativi, </a:t>
            </a:r>
            <a:r>
              <a:rPr lang="it-IT" dirty="0" err="1"/>
              <a:t>pag</a:t>
            </a:r>
            <a:r>
              <a:rPr lang="it-IT" dirty="0"/>
              <a:t> 296 e seguenti, paragrafo 5.4.3. Gli algoritmi di schedulazione del braccio del disco.</a:t>
            </a:r>
          </a:p>
          <a:p>
            <a:r>
              <a:rPr lang="it-IT" dirty="0"/>
              <a:t>Algoritmo </a:t>
            </a:r>
            <a:r>
              <a:rPr lang="it-IT" b="1" dirty="0"/>
              <a:t>SSF</a:t>
            </a:r>
            <a:r>
              <a:rPr lang="it-IT" dirty="0"/>
              <a:t> (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Seek</a:t>
            </a:r>
            <a:r>
              <a:rPr lang="it-IT" dirty="0"/>
              <a:t> First): risolte per prima le richieste più vicine alla posizione attuale della testina. La posizione successiva k è stabilita dalla formula seguente:</a:t>
            </a:r>
          </a:p>
          <a:p>
            <a:endParaRPr lang="it-IT" dirty="0"/>
          </a:p>
          <a:p>
            <a:r>
              <a:rPr lang="it-IT" dirty="0"/>
              <a:t>Algoritmo dell’</a:t>
            </a:r>
            <a:r>
              <a:rPr lang="it-IT" b="1" dirty="0"/>
              <a:t>ascensore</a:t>
            </a:r>
            <a:r>
              <a:rPr lang="it-IT" dirty="0"/>
              <a:t>: risolte tutte le richieste in una direzione (salita, ad esempio), poi risolte quelle nell’altra direzione. Garantisce la </a:t>
            </a:r>
            <a:r>
              <a:rPr lang="it-IT" i="1" dirty="0" err="1"/>
              <a:t>fairness</a:t>
            </a:r>
            <a:r>
              <a:rPr lang="it-IT" dirty="0"/>
              <a:t> del sistema, rendendo impossibile la </a:t>
            </a:r>
            <a:r>
              <a:rPr lang="it-IT" i="1" dirty="0" err="1"/>
              <a:t>starvation</a:t>
            </a:r>
            <a:r>
              <a:rPr lang="it-IT" dirty="0"/>
              <a:t>.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673991E-6A5D-40D7-886C-355C70DC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127" y="3429000"/>
            <a:ext cx="1705745" cy="54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1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(2</a:t>
            </a:r>
            <a:r>
              <a:rPr lang="it-IT" b="1"/>
              <a:t>) Soluzioni </a:t>
            </a:r>
            <a:r>
              <a:rPr lang="it-IT" b="1" dirty="0"/>
              <a:t>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it-IT" dirty="0"/>
              <a:t>Algoritmo </a:t>
            </a:r>
            <a:r>
              <a:rPr lang="it-IT" b="1" dirty="0"/>
              <a:t>SSF: </a:t>
            </a:r>
            <a:r>
              <a:rPr lang="it-IT" dirty="0"/>
              <a:t>soluzione:</a:t>
            </a:r>
          </a:p>
          <a:p>
            <a:pPr lvl="1"/>
            <a:r>
              <a:rPr lang="it-IT" dirty="0"/>
              <a:t>8, 9, 6, 1, 15, 17, 20, 26 e 28.</a:t>
            </a:r>
          </a:p>
          <a:p>
            <a:r>
              <a:rPr lang="it-IT" dirty="0"/>
              <a:t>Algoritmo dell’</a:t>
            </a:r>
            <a:r>
              <a:rPr lang="it-IT" b="1" dirty="0"/>
              <a:t>ascensore</a:t>
            </a:r>
            <a:r>
              <a:rPr lang="it-IT" dirty="0"/>
              <a:t>: soluzione:</a:t>
            </a:r>
          </a:p>
          <a:p>
            <a:pPr lvl="1"/>
            <a:r>
              <a:rPr lang="it-IT" dirty="0"/>
              <a:t>8, 9, 15, 17, 20, 26, 28, 6, 1</a:t>
            </a:r>
          </a:p>
          <a:p>
            <a:endParaRPr lang="it-IT" dirty="0"/>
          </a:p>
          <a:p>
            <a:pPr marL="0" indent="0">
              <a:buNone/>
            </a:pPr>
            <a:endParaRPr lang="it-IT" b="1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73044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3024</TotalTime>
  <Words>1599</Words>
  <Application>Microsoft Office PowerPoint</Application>
  <PresentationFormat>Widescreen</PresentationFormat>
  <Paragraphs>228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+Corpo</vt:lpstr>
      <vt:lpstr>Arial</vt:lpstr>
      <vt:lpstr>Calibri</vt:lpstr>
      <vt:lpstr>Century Gothic</vt:lpstr>
      <vt:lpstr>Wingdings 3</vt:lpstr>
      <vt:lpstr>Filo</vt:lpstr>
      <vt:lpstr>ESERCITAZIONE 7 - Soluzioni</vt:lpstr>
      <vt:lpstr>Algoritmi di schedulazione</vt:lpstr>
      <vt:lpstr>Algoritmi di schedulazione (1)</vt:lpstr>
      <vt:lpstr>Algoritmi di schedulazione (1) Soluzioni (1)</vt:lpstr>
      <vt:lpstr>Algoritmi di schedulazione (1) Soluzioni (2)</vt:lpstr>
      <vt:lpstr>Algoritmi di schedulazione (1) Soluzioni (3)</vt:lpstr>
      <vt:lpstr>Algoritmi di schedulazione (1) Soluzioni (4)</vt:lpstr>
      <vt:lpstr>Algoritmi di schedulazione (1) Soluzioni (5)</vt:lpstr>
      <vt:lpstr>Fattibilità di sistemi real-time</vt:lpstr>
      <vt:lpstr>Fattibilità di sistemi real-time (1)</vt:lpstr>
      <vt:lpstr>Fattibilità di sistemi real-time (1) Soluzioni (1)</vt:lpstr>
      <vt:lpstr>Fattibilità di sistemi real-time (1) Soluzioni (2)</vt:lpstr>
      <vt:lpstr>Fattibilità di sistemi real-time (1) Soluzioni (3)</vt:lpstr>
      <vt:lpstr>Gestione della memoria e del disco</vt:lpstr>
      <vt:lpstr>Gestione della memoria e del disco (1)</vt:lpstr>
      <vt:lpstr>Gestione della memoria e del disco (1)  Soluzioni (1)</vt:lpstr>
      <vt:lpstr>Gestione della memoria e del disco (1) Soluzioni (2)</vt:lpstr>
      <vt:lpstr>Gestione della memoria e del disco (1) Soluzioni (3)</vt:lpstr>
      <vt:lpstr>Gestione della memoria e del disco (1) Soluzioni (4)</vt:lpstr>
      <vt:lpstr>Gestione della memoria e del disco (2)</vt:lpstr>
      <vt:lpstr>Gestione della memoria e del disco (2) Soluzioni (1)</vt:lpstr>
      <vt:lpstr>Gestione della memoria e del disco (2) Soluzioni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188</cp:revision>
  <dcterms:created xsi:type="dcterms:W3CDTF">2017-10-29T11:29:02Z</dcterms:created>
  <dcterms:modified xsi:type="dcterms:W3CDTF">2018-01-14T12:13:57Z</dcterms:modified>
</cp:coreProperties>
</file>