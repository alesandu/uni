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16"/>
  </p:notesMasterIdLst>
  <p:handoutMasterIdLst>
    <p:handoutMasterId r:id="rId17"/>
  </p:handoutMasterIdLst>
  <p:sldIdLst>
    <p:sldId id="256" r:id="rId2"/>
    <p:sldId id="257" r:id="rId3"/>
    <p:sldId id="258" r:id="rId4"/>
    <p:sldId id="266" r:id="rId5"/>
    <p:sldId id="259" r:id="rId6"/>
    <p:sldId id="269" r:id="rId7"/>
    <p:sldId id="261" r:id="rId8"/>
    <p:sldId id="267" r:id="rId9"/>
    <p:sldId id="260" r:id="rId10"/>
    <p:sldId id="268" r:id="rId11"/>
    <p:sldId id="262" r:id="rId12"/>
    <p:sldId id="263" r:id="rId13"/>
    <p:sldId id="264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ile me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92" autoAdjust="0"/>
    <p:restoredTop sz="94660"/>
  </p:normalViewPr>
  <p:slideViewPr>
    <p:cSldViewPr snapToGrid="0">
      <p:cViewPr varScale="1">
        <p:scale>
          <a:sx n="88" d="100"/>
          <a:sy n="88" d="100"/>
        </p:scale>
        <p:origin x="19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>
            <a:extLst>
              <a:ext uri="{FF2B5EF4-FFF2-40B4-BE49-F238E27FC236}">
                <a16:creationId xmlns:a16="http://schemas.microsoft.com/office/drawing/2014/main" id="{96E8C878-CC3F-4927-AFE9-C441B2480FB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718DCB-A11A-4624-ABA8-C419A4CDDC6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A8CC87-0F5E-47E7-B396-6CCF82E3A043}" type="datetimeFigureOut">
              <a:rPr lang="it-IT" smtClean="0"/>
              <a:t>21/11/2017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A749EA43-ADE6-479A-8BE5-D75DE4C111F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755A2FCA-B514-4A4F-A6BC-2224BAF0F2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E1BA88-F7B6-42E3-9202-FF05D0F22EEB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8239442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it-IT"/>
              <a:t>Architettura dei Sisitemi di Elaborazione - Tutorato</a:t>
            </a:r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E731-2F48-4289-9EB2-95BE0C54B00A}" type="datetimeFigureOut">
              <a:rPr lang="it-IT" smtClean="0"/>
              <a:t>21/11/2017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it-IT"/>
              <a:t>Anno accademico 2017/2018</a:t>
            </a:r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5EE089-6A9B-4B70-BE17-EEBAA80965D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28548171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Modifica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Modifica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32"/>
            <a:ext cx="2356674" cy="6853285"/>
            <a:chOff x="6627813" y="195454"/>
            <a:chExt cx="1952625" cy="5678297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454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6B3DABE-A298-4397-9F97-98977AB986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ESERCITAZIONE 3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C67F4023-4F77-422E-8EFF-970ACFA4FB6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b="1" dirty="0"/>
              <a:t>Algebre di Boole e circuiti logici</a:t>
            </a:r>
          </a:p>
          <a:p>
            <a:r>
              <a:rPr lang="it-IT" b="1" dirty="0"/>
              <a:t>Codici di correzione di errore</a:t>
            </a:r>
          </a:p>
        </p:txBody>
      </p:sp>
    </p:spTree>
    <p:extLst>
      <p:ext uri="{BB962C8B-B14F-4D97-AF65-F5344CB8AC3E}">
        <p14:creationId xmlns:p14="http://schemas.microsoft.com/office/powerpoint/2010/main" val="3361311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Algebre di Boole e circuiti logici  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4951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644667"/>
          </a:xfrm>
        </p:spPr>
        <p:txBody>
          <a:bodyPr/>
          <a:lstStyle/>
          <a:p>
            <a:pPr marL="0" indent="0">
              <a:buNone/>
            </a:pPr>
            <a:r>
              <a:rPr lang="it-IT" b="1" dirty="0"/>
              <a:t>1)</a:t>
            </a:r>
            <a:r>
              <a:rPr lang="it-IT" dirty="0"/>
              <a:t> </a:t>
            </a:r>
            <a:r>
              <a:rPr lang="it-IT" b="1" dirty="0"/>
              <a:t>Si consideri il circuito logico in figura. Si determini la funzione logica che implementa e la si semplifichi. Disegnare, poi, il nuovo circuito.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F2B9901C-C4E2-45A2-BB50-9D8940343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4821" y="2826703"/>
            <a:ext cx="5244182" cy="3260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4977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644667"/>
          </a:xfrm>
        </p:spPr>
        <p:txBody>
          <a:bodyPr/>
          <a:lstStyle/>
          <a:p>
            <a:pPr marL="0" indent="0">
              <a:buNone/>
            </a:pPr>
            <a:r>
              <a:rPr lang="it-IT" dirty="0"/>
              <a:t>Risolvere le porte logiche una alla volta, considerando l’ordine in cui esse vengono eseguite.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19146468-DF8E-4D0F-91A2-F3FC0604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5" y="3006867"/>
            <a:ext cx="33337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57678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(2)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dirty="0"/>
                  <a:t>2)</a:t>
                </a:r>
                <a:r>
                  <a:rPr lang="it-IT" dirty="0"/>
                  <a:t> </a:t>
                </a:r>
                <a:r>
                  <a:rPr lang="it-IT" b="1" dirty="0"/>
                  <a:t>Data la funzione logica Y= 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CD +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smtClean="0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C, semplificarla e scriverla in </a:t>
                </a:r>
                <a:r>
                  <a:rPr lang="it-IT" b="1"/>
                  <a:t>forma congiuntiva</a:t>
                </a:r>
                <a:r>
                  <a:rPr lang="it-IT" b="1" dirty="0"/>
                  <a:t>. Disegnare il circuito corrispondente a una delle due forme.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  <a:blipFill>
                <a:blip r:embed="rId2"/>
                <a:stretch>
                  <a:fillRect l="-616" t="-1916" r="-1094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61917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(2)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4002208"/>
          </a:xfrm>
        </p:spPr>
        <p:txBody>
          <a:bodyPr>
            <a:normAutofit/>
          </a:bodyPr>
          <a:lstStyle/>
          <a:p>
            <a:r>
              <a:rPr lang="it-IT" dirty="0"/>
              <a:t>Per disegnare il circuito, fare riferimento alle porte logiche viste in precedenza, anche a più di due porte.</a:t>
            </a:r>
          </a:p>
          <a:p>
            <a:r>
              <a:rPr lang="it-IT" dirty="0"/>
              <a:t>È più semplice rappresentare la funzione logica semplificata.</a:t>
            </a:r>
          </a:p>
          <a:p>
            <a:r>
              <a:rPr lang="it-IT" dirty="0"/>
              <a:t>Passaggio in CNF:</a:t>
            </a:r>
          </a:p>
          <a:p>
            <a:pPr lvl="1"/>
            <a:r>
              <a:rPr lang="it-IT" dirty="0"/>
              <a:t>Doppia negazione</a:t>
            </a:r>
          </a:p>
          <a:p>
            <a:pPr lvl="1"/>
            <a:r>
              <a:rPr lang="it-IT" dirty="0"/>
              <a:t>Interna risolta tramite De Morgan</a:t>
            </a:r>
          </a:p>
          <a:p>
            <a:pPr lvl="1"/>
            <a:r>
              <a:rPr lang="it-IT" dirty="0"/>
              <a:t>Semplificare contraddizioni/idempotenze</a:t>
            </a:r>
          </a:p>
          <a:p>
            <a:pPr lvl="1"/>
            <a:r>
              <a:rPr lang="it-IT" dirty="0"/>
              <a:t>Usare nuovamente De Morgan</a:t>
            </a:r>
          </a:p>
          <a:p>
            <a:endParaRPr lang="it-IT" dirty="0"/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979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(3)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dirty="0"/>
                  <a:t>3) Considerato il circuito corrispondente ad A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CD + ABC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, costruire un circuito equivalente, ma che utilizzi almeno 10 porte logiche in più.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  <a:blipFill>
                <a:blip r:embed="rId2"/>
                <a:stretch>
                  <a:fillRect l="-616" t="-19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38947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(3)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203734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dirty="0"/>
                  <a:t>Aggiungere porte senza modificare la valenza logica del circuito:</a:t>
                </a:r>
              </a:p>
              <a:p>
                <a:pPr lvl="1"/>
                <a:r>
                  <a:rPr lang="it-IT" dirty="0"/>
                  <a:t>A = </a:t>
                </a:r>
                <a14:m>
                  <m:oMath xmlns:m="http://schemas.openxmlformats.org/officeDocument/2006/math">
                    <m:acc>
                      <m:accPr>
                        <m:chr m:val="̿"/>
                        <m:ctrlPr>
                          <a:rPr lang="it-IT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0" i="1" dirty="0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acc>
                  </m:oMath>
                </a14:m>
                <a:r>
                  <a:rPr lang="it-IT" dirty="0"/>
                  <a:t>											[due porte logiche in più]</a:t>
                </a:r>
              </a:p>
              <a:p>
                <a:pPr lvl="1"/>
                <a:r>
                  <a:rPr lang="it-IT" dirty="0"/>
                  <a:t>A = A + A 										[una porta logica in più]</a:t>
                </a:r>
              </a:p>
              <a:p>
                <a:pPr lvl="1"/>
                <a:r>
                  <a:rPr lang="it-IT" dirty="0"/>
                  <a:t>A = AA 										[una porta logica in più]</a:t>
                </a:r>
              </a:p>
              <a:p>
                <a:pPr lvl="1"/>
                <a:r>
                  <a:rPr lang="it-IT" dirty="0"/>
                  <a:t>A + B + C = (A+B) + C							 [una porta logica in più]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2037348"/>
              </a:xfrm>
              <a:blipFill>
                <a:blip r:embed="rId2"/>
                <a:stretch>
                  <a:fillRect l="-616" t="-1497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55CA8393-6EC8-4089-BAEC-CF57778B2E1C}"/>
              </a:ext>
            </a:extLst>
          </p:cNvPr>
          <p:cNvSpPr txBox="1"/>
          <p:nvPr/>
        </p:nvSpPr>
        <p:spPr>
          <a:xfrm>
            <a:off x="2589212" y="4539916"/>
            <a:ext cx="89116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Possono essere usate porte logiche a due o più ingressi.</a:t>
            </a:r>
          </a:p>
        </p:txBody>
      </p:sp>
    </p:spTree>
    <p:extLst>
      <p:ext uri="{BB962C8B-B14F-4D97-AF65-F5344CB8AC3E}">
        <p14:creationId xmlns:p14="http://schemas.microsoft.com/office/powerpoint/2010/main" val="1906647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endParaRPr lang="it-IT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it-IT" b="1" dirty="0"/>
                  <a:t>4)</a:t>
                </a:r>
                <a:r>
                  <a:rPr lang="it-IT" dirty="0"/>
                  <a:t> </a:t>
                </a:r>
                <a:r>
                  <a:rPr lang="it-IT" b="1" dirty="0"/>
                  <a:t>Data la formula logica ¬(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CB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</m:oMath>
                </a14:m>
                <a:r>
                  <a:rPr lang="it-IT" b="1" dirty="0"/>
                  <a:t>C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𝑨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b="1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 smtClean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CD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</m:oMath>
                </a14:m>
                <a:r>
                  <a:rPr lang="it-IT" b="1" dirty="0"/>
                  <a:t>C +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𝑩</m:t>
                        </m:r>
                      </m:e>
                    </m:acc>
                    <m:acc>
                      <m:accPr>
                        <m:chr m:val="̅"/>
                        <m:ctrlPr>
                          <a:rPr lang="it-IT" b="1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 dirty="0">
                            <a:latin typeface="Cambria Math" panose="02040503050406030204" pitchFamily="18" charset="0"/>
                          </a:rPr>
                          <m:t>𝑫</m:t>
                        </m:r>
                      </m:e>
                    </m:acc>
                  </m:oMath>
                </a14:m>
                <a:r>
                  <a:rPr lang="it-IT" b="1" dirty="0"/>
                  <a:t> ). Dimostrare se è equivalente alla formula AB+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it-IT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it-IT" b="1" i="1">
                            <a:latin typeface="Cambria Math" panose="02040503050406030204" pitchFamily="18" charset="0"/>
                          </a:rPr>
                          <m:t>𝑪</m:t>
                        </m:r>
                      </m:e>
                    </m:acc>
                  </m:oMath>
                </a14:m>
                <a:r>
                  <a:rPr lang="it-IT" b="1" dirty="0"/>
                  <a:t>D. Disegnare il circuito che la implementa, utilizzando un multiplexer a 8 dati in input e 3 input di controllo.</a:t>
                </a:r>
              </a:p>
              <a:p>
                <a:pPr marL="0" indent="0">
                  <a:buNone/>
                </a:pPr>
                <a:endParaRPr lang="it-IT" dirty="0"/>
              </a:p>
            </p:txBody>
          </p:sp>
        </mc:Choice>
        <mc:Fallback xmlns="">
          <p:sp>
            <p:nvSpPr>
              <p:cNvPr id="3" name="Segnaposto contenuto 2">
                <a:extLst>
                  <a:ext uri="{FF2B5EF4-FFF2-40B4-BE49-F238E27FC236}">
                    <a16:creationId xmlns:a16="http://schemas.microsoft.com/office/drawing/2014/main" id="{83B7E7EA-E401-44AE-8301-9E4D33A766C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600"/>
                <a:ext cx="8915400" cy="1588168"/>
              </a:xfrm>
              <a:blipFill>
                <a:blip r:embed="rId2"/>
                <a:stretch>
                  <a:fillRect l="-616" t="-1916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4735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88ADF-BCFE-4A6C-9415-75DB8285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/>
              <a:t>Algebre di Boole e circuiti logici (4)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3B7E7EA-E401-44AE-8301-9E4D33A766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1588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/>
              <a:t>Questo esercizio altro non è che la combinazione di altri due visti nelle esercitazioni precedenti. L’idea sulla soluzione da applicare è la stessa.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C1D3600-249A-4110-9654-D84371F70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 dirty="0"/>
              <a:t>Architettura dei Sistemi di Elaborazione – Tutorato                                                     Anno accademico 2017/2018             Andrea </a:t>
            </a:r>
            <a:r>
              <a:rPr lang="it-IT" dirty="0" err="1"/>
              <a:t>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793DC44-B2D4-4B97-937D-AAA8A0279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30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BDDE03-C3A9-48A6-80A4-B49944239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</a:t>
            </a:r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99D0DC79-0BE5-41A4-931B-F0C62E60A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DA4081DC-CB2C-496B-A802-4343CF1C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382E2FD2-DA8E-40E1-AFCE-BF3C577E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it-IT"/>
              <a:t>13/11/2017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388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b="1" dirty="0"/>
              <a:t>4) Si ha una parola a 4 bit, 1100. Utilizzando il codice d’errore basato sulla distanza di </a:t>
            </a:r>
            <a:r>
              <a:rPr lang="it-IT" b="1" dirty="0" err="1"/>
              <a:t>Hamming</a:t>
            </a:r>
            <a:r>
              <a:rPr lang="it-IT" b="1" dirty="0"/>
              <a:t>, quanti e quali sono i bit del codice di correzione </a:t>
            </a:r>
            <a:r>
              <a:rPr lang="it-IT" b="1"/>
              <a:t>corrispondente?</a:t>
            </a: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7208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Codici di correzione di errore (1)</a:t>
            </a:r>
            <a:br>
              <a:rPr lang="it-IT" b="1" dirty="0"/>
            </a:br>
            <a:r>
              <a:rPr lang="it-IT" b="1" dirty="0"/>
              <a:t>Idea (1)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918493" cy="3777622"/>
          </a:xfrm>
        </p:spPr>
        <p:txBody>
          <a:bodyPr>
            <a:normAutofit fontScale="92500" lnSpcReduction="20000"/>
          </a:bodyPr>
          <a:lstStyle/>
          <a:p>
            <a:r>
              <a:rPr lang="it-IT" dirty="0"/>
              <a:t>Ricordando che per comporre:</a:t>
            </a:r>
          </a:p>
          <a:p>
            <a:pPr lvl="1"/>
            <a:r>
              <a:rPr lang="it-IT" dirty="0"/>
              <a:t>7 = 4 + 2 + 1</a:t>
            </a:r>
          </a:p>
          <a:p>
            <a:pPr lvl="1"/>
            <a:r>
              <a:rPr lang="it-IT" dirty="0"/>
              <a:t>6 = 4 + 2</a:t>
            </a:r>
          </a:p>
          <a:p>
            <a:pPr lvl="1"/>
            <a:r>
              <a:rPr lang="it-IT" dirty="0"/>
              <a:t>5 = 4 +       1</a:t>
            </a:r>
          </a:p>
          <a:p>
            <a:pPr lvl="1"/>
            <a:r>
              <a:rPr lang="it-IT" dirty="0"/>
              <a:t>4 = 4</a:t>
            </a:r>
          </a:p>
          <a:p>
            <a:pPr lvl="1"/>
            <a:r>
              <a:rPr lang="it-IT" dirty="0"/>
              <a:t>3 =       2 + 1</a:t>
            </a:r>
          </a:p>
          <a:p>
            <a:pPr lvl="1"/>
            <a:r>
              <a:rPr lang="it-IT" dirty="0"/>
              <a:t>2 =       2</a:t>
            </a:r>
          </a:p>
          <a:p>
            <a:pPr lvl="1"/>
            <a:r>
              <a:rPr lang="it-IT" dirty="0"/>
              <a:t>1 =             1</a:t>
            </a:r>
          </a:p>
          <a:p>
            <a:r>
              <a:rPr lang="it-IT" dirty="0"/>
              <a:t>Quindi </a:t>
            </a:r>
          </a:p>
          <a:p>
            <a:pPr lvl="1"/>
            <a:r>
              <a:rPr lang="it-IT" dirty="0"/>
              <a:t>Il valore 1 lo troviamo nei numeri 1, 3, 5, 7</a:t>
            </a:r>
          </a:p>
          <a:p>
            <a:pPr lvl="1"/>
            <a:r>
              <a:rPr lang="it-IT" dirty="0"/>
              <a:t>Il valore 2 lo troviamo nei numeri 2, 3, 6, 7</a:t>
            </a:r>
          </a:p>
          <a:p>
            <a:pPr lvl="1"/>
            <a:r>
              <a:rPr lang="it-IT" dirty="0"/>
              <a:t>Il valore 4 lo troviamo nei numeri 4, 5, 6, 7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CCFEE297-8C33-44BE-94EC-1D3468D28BCF}"/>
              </a:ext>
            </a:extLst>
          </p:cNvPr>
          <p:cNvGrpSpPr/>
          <p:nvPr/>
        </p:nvGrpSpPr>
        <p:grpSpPr>
          <a:xfrm>
            <a:off x="9766298" y="3124199"/>
            <a:ext cx="885825" cy="609601"/>
            <a:chOff x="1905000" y="3000376"/>
            <a:chExt cx="885825" cy="609601"/>
          </a:xfrm>
        </p:grpSpPr>
        <p:sp>
          <p:nvSpPr>
            <p:cNvPr id="8" name="Rettangolo 7">
              <a:extLst>
                <a:ext uri="{FF2B5EF4-FFF2-40B4-BE49-F238E27FC236}">
                  <a16:creationId xmlns:a16="http://schemas.microsoft.com/office/drawing/2014/main" id="{36361B84-3F43-47FB-9DB7-F15538C0464F}"/>
                </a:ext>
              </a:extLst>
            </p:cNvPr>
            <p:cNvSpPr/>
            <p:nvPr/>
          </p:nvSpPr>
          <p:spPr bwMode="auto">
            <a:xfrm>
              <a:off x="1905000" y="3000376"/>
              <a:ext cx="295275" cy="30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9" name="Rettangolo 8">
              <a:extLst>
                <a:ext uri="{FF2B5EF4-FFF2-40B4-BE49-F238E27FC236}">
                  <a16:creationId xmlns:a16="http://schemas.microsoft.com/office/drawing/2014/main" id="{8D90E7E1-7649-491B-A5A8-E969A4EB9C70}"/>
                </a:ext>
              </a:extLst>
            </p:cNvPr>
            <p:cNvSpPr/>
            <p:nvPr/>
          </p:nvSpPr>
          <p:spPr bwMode="auto">
            <a:xfrm>
              <a:off x="2200275" y="3000376"/>
              <a:ext cx="295275" cy="30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0" name="Rettangolo 9">
              <a:extLst>
                <a:ext uri="{FF2B5EF4-FFF2-40B4-BE49-F238E27FC236}">
                  <a16:creationId xmlns:a16="http://schemas.microsoft.com/office/drawing/2014/main" id="{63519250-BF79-4BDE-B0B6-244B4756F5CC}"/>
                </a:ext>
              </a:extLst>
            </p:cNvPr>
            <p:cNvSpPr/>
            <p:nvPr/>
          </p:nvSpPr>
          <p:spPr bwMode="auto">
            <a:xfrm>
              <a:off x="2495550" y="3000376"/>
              <a:ext cx="295275" cy="304800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1" name="Rettangolo 10">
              <a:extLst>
                <a:ext uri="{FF2B5EF4-FFF2-40B4-BE49-F238E27FC236}">
                  <a16:creationId xmlns:a16="http://schemas.microsoft.com/office/drawing/2014/main" id="{E8023150-94E5-4D13-AE2B-4CB7FF8EE758}"/>
                </a:ext>
              </a:extLst>
            </p:cNvPr>
            <p:cNvSpPr/>
            <p:nvPr/>
          </p:nvSpPr>
          <p:spPr bwMode="auto">
            <a:xfrm>
              <a:off x="1905000" y="3305177"/>
              <a:ext cx="295275" cy="3048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lang="it-IT" sz="1400" dirty="0">
                  <a:latin typeface="Arial" charset="0"/>
                </a:rPr>
                <a:t>4</a:t>
              </a:r>
              <a:endParaRPr kumimoji="0" lang="it-IT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endParaRPr>
            </a:p>
          </p:txBody>
        </p:sp>
        <p:sp>
          <p:nvSpPr>
            <p:cNvPr id="12" name="Rettangolo 11">
              <a:extLst>
                <a:ext uri="{FF2B5EF4-FFF2-40B4-BE49-F238E27FC236}">
                  <a16:creationId xmlns:a16="http://schemas.microsoft.com/office/drawing/2014/main" id="{5ECDA00D-E40B-4565-AA77-0BD1C0B892C2}"/>
                </a:ext>
              </a:extLst>
            </p:cNvPr>
            <p:cNvSpPr/>
            <p:nvPr/>
          </p:nvSpPr>
          <p:spPr bwMode="auto">
            <a:xfrm>
              <a:off x="2200275" y="3305177"/>
              <a:ext cx="295275" cy="3048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2</a:t>
              </a:r>
            </a:p>
          </p:txBody>
        </p:sp>
        <p:sp>
          <p:nvSpPr>
            <p:cNvPr id="13" name="Rettangolo 12">
              <a:extLst>
                <a:ext uri="{FF2B5EF4-FFF2-40B4-BE49-F238E27FC236}">
                  <a16:creationId xmlns:a16="http://schemas.microsoft.com/office/drawing/2014/main" id="{9C347CFC-E572-47F4-83D8-9BA71AADFE87}"/>
                </a:ext>
              </a:extLst>
            </p:cNvPr>
            <p:cNvSpPr/>
            <p:nvPr/>
          </p:nvSpPr>
          <p:spPr bwMode="auto">
            <a:xfrm>
              <a:off x="2495550" y="3305177"/>
              <a:ext cx="295275" cy="304800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>
              <a:defPPr>
                <a:defRPr lang="it-IT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1pPr>
              <a:lvl2pPr marL="438060" indent="-648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2pPr>
              <a:lvl3pPr marL="877416" indent="-130900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3pPr>
              <a:lvl4pPr marL="1315476" indent="-195702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4pPr>
              <a:lvl5pPr marL="1754831" indent="-261799" algn="l" rtl="0" fontAlgn="base">
                <a:spcBef>
                  <a:spcPct val="0"/>
                </a:spcBef>
                <a:spcAft>
                  <a:spcPct val="0"/>
                </a:spcAft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5pPr>
              <a:lvl6pPr marL="1866290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6pPr>
              <a:lvl7pPr marL="2239548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7pPr>
              <a:lvl8pPr marL="2612807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8pPr>
              <a:lvl9pPr marL="2986065" algn="l" defTabSz="746516" rtl="0" eaLnBrk="1" latinLnBrk="0" hangingPunct="1">
                <a:defRPr kern="1200">
                  <a:solidFill>
                    <a:schemeClr val="tx1"/>
                  </a:solidFill>
                  <a:latin typeface="Tahoma" pitchFamily="34" charset="0"/>
                  <a:ea typeface="+mn-ea"/>
                  <a:cs typeface="Arial" charset="0"/>
                </a:defRPr>
              </a:lvl9pPr>
            </a:lstStyle>
            <a:p>
              <a:pPr marL="0" marR="0" indent="0" algn="l" defTabSz="731838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it-IT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947489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CB220CD-0A62-40F7-9F50-0B414CA63B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/>
              <a:t>Codici di correzione di errore (1)</a:t>
            </a:r>
            <a:br>
              <a:rPr lang="it-IT" b="1" dirty="0"/>
            </a:br>
            <a:r>
              <a:rPr lang="it-IT" b="1" dirty="0"/>
              <a:t>Idea (2)</a:t>
            </a:r>
            <a:endParaRPr lang="it-IT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7224857-9FF5-4BE9-98B8-39C0011C6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133600"/>
            <a:ext cx="4918493" cy="3777622"/>
          </a:xfrm>
        </p:spPr>
        <p:txBody>
          <a:bodyPr>
            <a:normAutofit/>
          </a:bodyPr>
          <a:lstStyle/>
          <a:p>
            <a:r>
              <a:rPr lang="it-IT" dirty="0"/>
              <a:t>Ricordando che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FF0000"/>
                </a:solidFill>
              </a:rPr>
              <a:t>A</a:t>
            </a:r>
            <a:r>
              <a:rPr lang="it-IT" dirty="0"/>
              <a:t> (1) controlla i bit di indice 1, 3, 5, 7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0070C0"/>
                </a:solidFill>
              </a:rPr>
              <a:t>B</a:t>
            </a:r>
            <a:r>
              <a:rPr lang="it-IT" dirty="0"/>
              <a:t> (2) controlla i bit di indice 2, 3, 6, 7</a:t>
            </a:r>
          </a:p>
          <a:p>
            <a:pPr lvl="1"/>
            <a:r>
              <a:rPr lang="it-IT" dirty="0"/>
              <a:t>Bit </a:t>
            </a:r>
            <a:r>
              <a:rPr lang="it-IT" dirty="0">
                <a:solidFill>
                  <a:srgbClr val="00B050"/>
                </a:solidFill>
              </a:rPr>
              <a:t>C</a:t>
            </a:r>
            <a:r>
              <a:rPr lang="it-IT" dirty="0"/>
              <a:t> (4) controlla i bit di indice 4, 5, 6, 7</a:t>
            </a:r>
          </a:p>
          <a:p>
            <a:pPr marL="0" indent="0">
              <a:buNone/>
            </a:pPr>
            <a:endParaRPr lang="it-IT" dirty="0"/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ADC796C-77E3-4469-9A06-4A6BE6FF2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10/31/2017</a:t>
            </a:r>
            <a:endParaRPr lang="en-US" dirty="0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07213F7-9AB3-44A5-86CF-274CACA2D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it-IT"/>
              <a:t>Architettura dei Sistemi di Elaborazione – Tutorato                                                     Anno accademico 2017/2018             Andrea Strazzulla</a:t>
            </a:r>
            <a:endParaRPr lang="en-US" dirty="0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31AF44-3B52-49F4-890D-45CAB1746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15" name="Immagine 14">
            <a:extLst>
              <a:ext uri="{FF2B5EF4-FFF2-40B4-BE49-F238E27FC236}">
                <a16:creationId xmlns:a16="http://schemas.microsoft.com/office/drawing/2014/main" id="{0307704B-9504-4F33-A368-EC34B84B09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7705" y="2129586"/>
            <a:ext cx="3400900" cy="226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966491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Wisp">
      <a:dk1>
        <a:sysClr val="windowText" lastClr="000000"/>
      </a:dk1>
      <a:lt1>
        <a:sysClr val="window" lastClr="FFFFFF"/>
      </a:lt1>
      <a:dk2>
        <a:srgbClr val="647252"/>
      </a:dk2>
      <a:lt2>
        <a:srgbClr val="EAE8CF"/>
      </a:lt2>
      <a:accent1>
        <a:srgbClr val="E78712"/>
      </a:accent1>
      <a:accent2>
        <a:srgbClr val="B73C26"/>
      </a:accent2>
      <a:accent3>
        <a:srgbClr val="865331"/>
      </a:accent3>
      <a:accent4>
        <a:srgbClr val="B38648"/>
      </a:accent4>
      <a:accent5>
        <a:srgbClr val="BBB473"/>
      </a:accent5>
      <a:accent6>
        <a:srgbClr val="849276"/>
      </a:accent6>
      <a:hlink>
        <a:srgbClr val="FDAB2A"/>
      </a:hlink>
      <a:folHlink>
        <a:srgbClr val="CCB182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54F6613E-5ED7-40ED-90A8-F639BE712C0E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873</TotalTime>
  <Words>735</Words>
  <Application>Microsoft Office PowerPoint</Application>
  <PresentationFormat>Widescreen</PresentationFormat>
  <Paragraphs>86</Paragraphs>
  <Slides>14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14</vt:i4>
      </vt:variant>
    </vt:vector>
  </HeadingPairs>
  <TitlesOfParts>
    <vt:vector size="20" baseType="lpstr">
      <vt:lpstr>Arial</vt:lpstr>
      <vt:lpstr>Calibri</vt:lpstr>
      <vt:lpstr>Cambria Math</vt:lpstr>
      <vt:lpstr>Century Gothic</vt:lpstr>
      <vt:lpstr>Wingdings 3</vt:lpstr>
      <vt:lpstr>Filo</vt:lpstr>
      <vt:lpstr>ESERCITAZIONE 3</vt:lpstr>
      <vt:lpstr>Algebre di Boole e circuiti logici  </vt:lpstr>
      <vt:lpstr>Algebre di Boole e circuiti logici (1)</vt:lpstr>
      <vt:lpstr>Algebre di Boole e circuiti logici (1) Idea (1)</vt:lpstr>
      <vt:lpstr>Algebre di Boole e circuiti logici (2)</vt:lpstr>
      <vt:lpstr>Algebre di Boole e circuiti logici (2) Idea (1)</vt:lpstr>
      <vt:lpstr>Algebre di Boole e circuiti logici (3)</vt:lpstr>
      <vt:lpstr>Algebre di Boole e circuiti logici (3) Idea (1)</vt:lpstr>
      <vt:lpstr>Algebre di Boole e circuiti logici (4)</vt:lpstr>
      <vt:lpstr>Algebre di Boole e circuiti logici (4) Idea (1)</vt:lpstr>
      <vt:lpstr>Codici di correzione di errore</vt:lpstr>
      <vt:lpstr>Codici di correzione di errore (1)</vt:lpstr>
      <vt:lpstr>Codici di correzione di errore (1) Idea (1)</vt:lpstr>
      <vt:lpstr>Codici di correzione di errore (1) Idea (2)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1- Soluzioni</dc:title>
  <dc:creator>Andrea</dc:creator>
  <cp:lastModifiedBy>Andrea</cp:lastModifiedBy>
  <cp:revision>70</cp:revision>
  <dcterms:created xsi:type="dcterms:W3CDTF">2017-10-29T11:29:02Z</dcterms:created>
  <dcterms:modified xsi:type="dcterms:W3CDTF">2017-11-21T17:19:05Z</dcterms:modified>
</cp:coreProperties>
</file>