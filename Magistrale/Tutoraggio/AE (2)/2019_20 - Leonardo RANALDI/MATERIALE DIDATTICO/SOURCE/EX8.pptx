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6"/>
  </p:notesMasterIdLst>
  <p:handoutMasterIdLst>
    <p:handoutMasterId r:id="rId17"/>
  </p:handoutMasterIdLst>
  <p:sldIdLst>
    <p:sldId id="256" r:id="rId2"/>
    <p:sldId id="261" r:id="rId3"/>
    <p:sldId id="287" r:id="rId4"/>
    <p:sldId id="288" r:id="rId5"/>
    <p:sldId id="289" r:id="rId6"/>
    <p:sldId id="310" r:id="rId7"/>
    <p:sldId id="311" r:id="rId8"/>
    <p:sldId id="295" r:id="rId9"/>
    <p:sldId id="296" r:id="rId10"/>
    <p:sldId id="298" r:id="rId11"/>
    <p:sldId id="299" r:id="rId12"/>
    <p:sldId id="305" r:id="rId13"/>
    <p:sldId id="306" r:id="rId14"/>
    <p:sldId id="30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2" autoAdjust="0"/>
    <p:restoredTop sz="93705" autoAdjust="0"/>
  </p:normalViewPr>
  <p:slideViewPr>
    <p:cSldViewPr snapToGrid="0">
      <p:cViewPr varScale="1">
        <p:scale>
          <a:sx n="82" d="100"/>
          <a:sy n="82" d="100"/>
        </p:scale>
        <p:origin x="43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96E8C878-CC3F-4927-AFE9-C441B2480F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it-IT"/>
              <a:t>Architettura dei Sisitemi di Elaborazione - Tutorato</a:t>
            </a:r>
          </a:p>
        </p:txBody>
      </p:sp>
      <p:sp>
        <p:nvSpPr>
          <p:cNvPr id="3" name="Segnaposto data 2">
            <a:extLst>
              <a:ext uri="{FF2B5EF4-FFF2-40B4-BE49-F238E27FC236}">
                <a16:creationId xmlns:a16="http://schemas.microsoft.com/office/drawing/2014/main" id="{10718DCB-A11A-4624-ABA8-C419A4CDDC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A8CC87-0F5E-47E7-B396-6CCF82E3A043}" type="datetimeFigureOut">
              <a:rPr lang="it-IT" smtClean="0"/>
              <a:t>14/01/2018</a:t>
            </a:fld>
            <a:endParaRPr lang="it-IT"/>
          </a:p>
        </p:txBody>
      </p:sp>
      <p:sp>
        <p:nvSpPr>
          <p:cNvPr id="4" name="Segnaposto piè di pagina 3">
            <a:extLst>
              <a:ext uri="{FF2B5EF4-FFF2-40B4-BE49-F238E27FC236}">
                <a16:creationId xmlns:a16="http://schemas.microsoft.com/office/drawing/2014/main" id="{A749EA43-ADE6-479A-8BE5-D75DE4C111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it-IT"/>
              <a:t>Anno accademico 2017/2018</a:t>
            </a:r>
          </a:p>
        </p:txBody>
      </p:sp>
      <p:sp>
        <p:nvSpPr>
          <p:cNvPr id="5" name="Segnaposto numero diapositiva 4">
            <a:extLst>
              <a:ext uri="{FF2B5EF4-FFF2-40B4-BE49-F238E27FC236}">
                <a16:creationId xmlns:a16="http://schemas.microsoft.com/office/drawing/2014/main" id="{755A2FCA-B514-4A4F-A6BC-2224BAF0F2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E1BA88-F7B6-42E3-9202-FF05D0F22EEB}" type="slidenum">
              <a:rPr lang="it-IT" smtClean="0"/>
              <a:t>‹N›</a:t>
            </a:fld>
            <a:endParaRPr lang="it-IT"/>
          </a:p>
        </p:txBody>
      </p:sp>
    </p:spTree>
    <p:extLst>
      <p:ext uri="{BB962C8B-B14F-4D97-AF65-F5344CB8AC3E}">
        <p14:creationId xmlns:p14="http://schemas.microsoft.com/office/powerpoint/2010/main" val="2678239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it-IT"/>
              <a:t>Architettura dei Sisitemi di Elaborazione - Tutorato</a:t>
            </a:r>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CE731-2F48-4289-9EB2-95BE0C54B00A}" type="datetimeFigureOut">
              <a:rPr lang="it-IT" smtClean="0"/>
              <a:t>14/01/2018</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it-IT"/>
              <a:t>Anno accademico 2017/2018</a:t>
            </a:r>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EE089-6A9B-4B70-BE17-EEBAA80965DD}" type="slidenum">
              <a:rPr lang="it-IT" smtClean="0"/>
              <a:t>‹N›</a:t>
            </a:fld>
            <a:endParaRPr lang="it-IT"/>
          </a:p>
        </p:txBody>
      </p:sp>
    </p:spTree>
    <p:extLst>
      <p:ext uri="{BB962C8B-B14F-4D97-AF65-F5344CB8AC3E}">
        <p14:creationId xmlns:p14="http://schemas.microsoft.com/office/powerpoint/2010/main" val="62854817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it-IT"/>
              <a:t>Fare clic per modificare lo stile del titolo dello schema</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r>
              <a:rPr lang="it-IT"/>
              <a:t>17/01/2018</a:t>
            </a:r>
            <a:endParaRPr lang="en-US" dirty="0"/>
          </a:p>
        </p:txBody>
      </p:sp>
      <p:sp>
        <p:nvSpPr>
          <p:cNvPr id="8" name="Footer Placeholder 7"/>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r>
              <a:rPr lang="it-IT"/>
              <a:t>17/01/2018</a:t>
            </a:r>
            <a:endParaRPr lang="en-US" dirty="0"/>
          </a:p>
        </p:txBody>
      </p:sp>
      <p:sp>
        <p:nvSpPr>
          <p:cNvPr id="4" name="Footer Placeholder 3"/>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it-IT"/>
              <a:t>17/01/2018</a:t>
            </a:r>
            <a:endParaRPr lang="en-US" dirty="0"/>
          </a:p>
        </p:txBody>
      </p:sp>
      <p:sp>
        <p:nvSpPr>
          <p:cNvPr id="3" name="Footer Placeholder 2"/>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it-IT"/>
              <a:t>Fare clic per modificare lo stile del titolo dello schema</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r>
              <a:rPr lang="it-IT"/>
              <a:t>17/01/2018</a:t>
            </a:r>
            <a:endParaRPr lang="en-US" dirty="0"/>
          </a:p>
        </p:txBody>
      </p:sp>
      <p:sp>
        <p:nvSpPr>
          <p:cNvPr id="6" name="Footer Placeholder 5"/>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17/01/2018</a:t>
            </a:r>
            <a:endParaRPr lang="en-US" dirty="0"/>
          </a:p>
        </p:txBody>
      </p:sp>
      <p:sp>
        <p:nvSpPr>
          <p:cNvPr id="5" name="Footer Placeholder 4"/>
          <p:cNvSpPr>
            <a:spLocks noGrp="1"/>
          </p:cNvSpPr>
          <p:nvPr>
            <p:ph type="ftr" sz="quarter" idx="11"/>
          </p:nvPr>
        </p:nvSpPr>
        <p:spPr/>
        <p:txBody>
          <a:bodyPr/>
          <a:lstStyle/>
          <a:p>
            <a:r>
              <a:rPr lang="it-IT" dirty="0"/>
              <a:t>Architettura dei Sistemi di Elaborazione – Tutorato                                                     Anno accademico 2017/2018             Andrea Strazzulla</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r>
              <a:rPr lang="it-IT"/>
              <a:t>17/01/2018</a:t>
            </a:r>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it-IT" dirty="0"/>
              <a:t>Architettura dei Sistemi di Elaborazione – Tutorato                                                     Anno accademico 2017/2018             Andrea Strazzulla</a:t>
            </a:r>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sldNum="0" hdr="0" ft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B3DABE-A298-4397-9F97-98977AB98683}"/>
              </a:ext>
            </a:extLst>
          </p:cNvPr>
          <p:cNvSpPr>
            <a:spLocks noGrp="1"/>
          </p:cNvSpPr>
          <p:nvPr>
            <p:ph type="ctrTitle"/>
          </p:nvPr>
        </p:nvSpPr>
        <p:spPr/>
        <p:txBody>
          <a:bodyPr/>
          <a:lstStyle/>
          <a:p>
            <a:r>
              <a:rPr lang="it-IT"/>
              <a:t>ESERCITAZIONE 8 </a:t>
            </a:r>
            <a:r>
              <a:rPr lang="it-IT" dirty="0"/>
              <a:t>- Soluzioni</a:t>
            </a:r>
          </a:p>
        </p:txBody>
      </p:sp>
      <p:sp>
        <p:nvSpPr>
          <p:cNvPr id="3" name="Sottotitolo 2">
            <a:extLst>
              <a:ext uri="{FF2B5EF4-FFF2-40B4-BE49-F238E27FC236}">
                <a16:creationId xmlns:a16="http://schemas.microsoft.com/office/drawing/2014/main" id="{C67F4023-4F77-422E-8EFF-970ACFA4FB6F}"/>
              </a:ext>
            </a:extLst>
          </p:cNvPr>
          <p:cNvSpPr>
            <a:spLocks noGrp="1"/>
          </p:cNvSpPr>
          <p:nvPr>
            <p:ph type="subTitle" idx="1"/>
          </p:nvPr>
        </p:nvSpPr>
        <p:spPr/>
        <p:txBody>
          <a:bodyPr>
            <a:normAutofit/>
          </a:bodyPr>
          <a:lstStyle/>
          <a:p>
            <a:r>
              <a:rPr lang="it-IT" b="1" dirty="0"/>
              <a:t>Algoritmi di rimpiazzamento delle pagine</a:t>
            </a:r>
            <a:endParaRPr lang="it-IT" dirty="0"/>
          </a:p>
          <a:p>
            <a:endParaRPr lang="it-IT" b="1" dirty="0"/>
          </a:p>
          <a:p>
            <a:endParaRPr lang="it-IT" b="1" dirty="0"/>
          </a:p>
        </p:txBody>
      </p:sp>
    </p:spTree>
    <p:extLst>
      <p:ext uri="{BB962C8B-B14F-4D97-AF65-F5344CB8AC3E}">
        <p14:creationId xmlns:p14="http://schemas.microsoft.com/office/powerpoint/2010/main" val="3361311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BDDE03-C3A9-48A6-80A4-B499442396EC}"/>
              </a:ext>
            </a:extLst>
          </p:cNvPr>
          <p:cNvSpPr>
            <a:spLocks noGrp="1"/>
          </p:cNvSpPr>
          <p:nvPr>
            <p:ph type="title"/>
          </p:nvPr>
        </p:nvSpPr>
        <p:spPr/>
        <p:txBody>
          <a:bodyPr/>
          <a:lstStyle/>
          <a:p>
            <a:r>
              <a:rPr lang="it-IT" b="1" dirty="0"/>
              <a:t>Algoritmi di rimpiazzamento delle pagine</a:t>
            </a:r>
          </a:p>
        </p:txBody>
      </p:sp>
      <p:sp>
        <p:nvSpPr>
          <p:cNvPr id="6" name="Segnaposto data 5">
            <a:extLst>
              <a:ext uri="{FF2B5EF4-FFF2-40B4-BE49-F238E27FC236}">
                <a16:creationId xmlns:a16="http://schemas.microsoft.com/office/drawing/2014/main" id="{5B609C46-F5C6-4D06-B938-1CA3277C4C6B}"/>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996661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4148472" cy="3820885"/>
          </a:xfrm>
        </p:spPr>
        <p:txBody>
          <a:bodyPr>
            <a:normAutofit/>
          </a:bodyPr>
          <a:lstStyle/>
          <a:p>
            <a:pPr marL="0" indent="0">
              <a:buNone/>
            </a:pPr>
            <a:r>
              <a:rPr lang="it-IT" b="1" dirty="0">
                <a:latin typeface="+Corpo"/>
              </a:rPr>
              <a:t>1) </a:t>
            </a:r>
            <a:r>
              <a:rPr lang="it-IT" b="1" dirty="0"/>
              <a:t>Nell’ambito del rimpiazzamento delle pagine, supponendo di usare l’algoritmo </a:t>
            </a:r>
            <a:r>
              <a:rPr lang="it-IT" b="1" dirty="0" err="1"/>
              <a:t>not</a:t>
            </a:r>
            <a:r>
              <a:rPr lang="it-IT" b="1" dirty="0"/>
              <a:t> </a:t>
            </a:r>
            <a:r>
              <a:rPr lang="it-IT" b="1" dirty="0" err="1"/>
              <a:t>recently</a:t>
            </a:r>
            <a:r>
              <a:rPr lang="it-IT" b="1" dirty="0"/>
              <a:t> </a:t>
            </a:r>
            <a:r>
              <a:rPr lang="it-IT" b="1" dirty="0" err="1"/>
              <a:t>used</a:t>
            </a:r>
            <a:r>
              <a:rPr lang="it-IT" b="1" dirty="0"/>
              <a:t> (NRU), e seguendo la tabella delle pagine in figura, nel caso in cui avvenga un </a:t>
            </a:r>
            <a:r>
              <a:rPr lang="it-IT" b="1" i="1" dirty="0"/>
              <a:t>page fault</a:t>
            </a:r>
            <a:r>
              <a:rPr lang="it-IT" b="1" dirty="0"/>
              <a:t>, quale sarà la pagina che verrà posta su disco? Perché? Se invece considerassimo la tabella come una lista ordinata (nell’ordine A,…,G), cosa succederebbe per l’algoritmo second chance? Quale pagina sarebbe rimpiazzata?</a:t>
            </a: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8" name="Tabella 7">
            <a:extLst>
              <a:ext uri="{FF2B5EF4-FFF2-40B4-BE49-F238E27FC236}">
                <a16:creationId xmlns:a16="http://schemas.microsoft.com/office/drawing/2014/main" id="{057079B7-690D-4A88-B202-6E6290663CA9}"/>
              </a:ext>
            </a:extLst>
          </p:cNvPr>
          <p:cNvGraphicFramePr>
            <a:graphicFrameLocks noGrp="1"/>
          </p:cNvGraphicFramePr>
          <p:nvPr>
            <p:extLst>
              <p:ext uri="{D42A27DB-BD31-4B8C-83A1-F6EECF244321}">
                <p14:modId xmlns:p14="http://schemas.microsoft.com/office/powerpoint/2010/main" val="1078823721"/>
              </p:ext>
            </p:extLst>
          </p:nvPr>
        </p:nvGraphicFramePr>
        <p:xfrm>
          <a:off x="7042013" y="2534652"/>
          <a:ext cx="4020606" cy="2962208"/>
        </p:xfrm>
        <a:graphic>
          <a:graphicData uri="http://schemas.openxmlformats.org/drawingml/2006/table">
            <a:tbl>
              <a:tblPr firstRow="1" bandRow="1">
                <a:tableStyleId>{5C22544A-7EE6-4342-B048-85BDC9FD1C3A}</a:tableStyleId>
              </a:tblPr>
              <a:tblGrid>
                <a:gridCol w="1340202">
                  <a:extLst>
                    <a:ext uri="{9D8B030D-6E8A-4147-A177-3AD203B41FA5}">
                      <a16:colId xmlns:a16="http://schemas.microsoft.com/office/drawing/2014/main" val="2234921742"/>
                    </a:ext>
                  </a:extLst>
                </a:gridCol>
                <a:gridCol w="1340202">
                  <a:extLst>
                    <a:ext uri="{9D8B030D-6E8A-4147-A177-3AD203B41FA5}">
                      <a16:colId xmlns:a16="http://schemas.microsoft.com/office/drawing/2014/main" val="2500185377"/>
                    </a:ext>
                  </a:extLst>
                </a:gridCol>
                <a:gridCol w="1340202">
                  <a:extLst>
                    <a:ext uri="{9D8B030D-6E8A-4147-A177-3AD203B41FA5}">
                      <a16:colId xmlns:a16="http://schemas.microsoft.com/office/drawing/2014/main" val="949842759"/>
                    </a:ext>
                  </a:extLst>
                </a:gridCol>
              </a:tblGrid>
              <a:tr h="370276">
                <a:tc>
                  <a:txBody>
                    <a:bodyPr/>
                    <a:lstStyle/>
                    <a:p>
                      <a:pPr algn="ctr" rtl="0">
                        <a:lnSpc>
                          <a:spcPct val="120000"/>
                        </a:lnSpc>
                      </a:pPr>
                      <a:r>
                        <a:rPr lang="it-IT" sz="1200" b="1" dirty="0">
                          <a:effectLst/>
                          <a:latin typeface="Times New Roman, serif"/>
                        </a:rPr>
                        <a:t>Pagina</a:t>
                      </a:r>
                      <a:endParaRPr lang="it-IT" dirty="0">
                        <a:effectLst/>
                      </a:endParaRPr>
                    </a:p>
                  </a:txBody>
                  <a:tcPr marL="38100" marR="38100" marT="38100" marB="38100"/>
                </a:tc>
                <a:tc>
                  <a:txBody>
                    <a:bodyPr/>
                    <a:lstStyle/>
                    <a:p>
                      <a:pPr algn="ctr" rtl="0">
                        <a:lnSpc>
                          <a:spcPct val="120000"/>
                        </a:lnSpc>
                      </a:pPr>
                      <a:r>
                        <a:rPr lang="it-IT" sz="1200" b="1">
                          <a:effectLst/>
                          <a:latin typeface="Times New Roman, serif"/>
                        </a:rPr>
                        <a:t>R</a:t>
                      </a:r>
                      <a:endParaRPr lang="it-IT">
                        <a:effectLst/>
                      </a:endParaRPr>
                    </a:p>
                  </a:txBody>
                  <a:tcPr marL="38100" marR="38100" marT="38100" marB="38100"/>
                </a:tc>
                <a:tc>
                  <a:txBody>
                    <a:bodyPr/>
                    <a:lstStyle/>
                    <a:p>
                      <a:pPr algn="ctr" rtl="0">
                        <a:lnSpc>
                          <a:spcPct val="120000"/>
                        </a:lnSpc>
                      </a:pPr>
                      <a:r>
                        <a:rPr lang="it-IT" sz="1200" b="1">
                          <a:effectLst/>
                          <a:latin typeface="Times New Roman, serif"/>
                        </a:rPr>
                        <a:t>M</a:t>
                      </a:r>
                      <a:endParaRPr lang="it-IT">
                        <a:effectLst/>
                      </a:endParaRPr>
                    </a:p>
                  </a:txBody>
                  <a:tcPr marL="38100" marR="38100" marT="38100" marB="38100"/>
                </a:tc>
                <a:extLst>
                  <a:ext uri="{0D108BD9-81ED-4DB2-BD59-A6C34878D82A}">
                    <a16:rowId xmlns:a16="http://schemas.microsoft.com/office/drawing/2014/main" val="3501385589"/>
                  </a:ext>
                </a:extLst>
              </a:tr>
              <a:tr h="370276">
                <a:tc>
                  <a:txBody>
                    <a:bodyPr/>
                    <a:lstStyle/>
                    <a:p>
                      <a:pPr algn="ctr" rtl="0">
                        <a:lnSpc>
                          <a:spcPct val="120000"/>
                        </a:lnSpc>
                      </a:pPr>
                      <a:r>
                        <a:rPr lang="it-IT" sz="1200">
                          <a:effectLst/>
                          <a:latin typeface="Times New Roman, serif"/>
                        </a:rPr>
                        <a:t>A</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1057106217"/>
                  </a:ext>
                </a:extLst>
              </a:tr>
              <a:tr h="370276">
                <a:tc>
                  <a:txBody>
                    <a:bodyPr/>
                    <a:lstStyle/>
                    <a:p>
                      <a:pPr algn="ctr" rtl="0">
                        <a:lnSpc>
                          <a:spcPct val="120000"/>
                        </a:lnSpc>
                      </a:pPr>
                      <a:r>
                        <a:rPr lang="it-IT" sz="1200">
                          <a:effectLst/>
                          <a:latin typeface="Times New Roman, serif"/>
                        </a:rPr>
                        <a:t>B</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2605497057"/>
                  </a:ext>
                </a:extLst>
              </a:tr>
              <a:tr h="370276">
                <a:tc>
                  <a:txBody>
                    <a:bodyPr/>
                    <a:lstStyle/>
                    <a:p>
                      <a:pPr algn="ctr" rtl="0">
                        <a:lnSpc>
                          <a:spcPct val="120000"/>
                        </a:lnSpc>
                      </a:pPr>
                      <a:r>
                        <a:rPr lang="it-IT" sz="1200">
                          <a:effectLst/>
                          <a:latin typeface="Times New Roman, serif"/>
                        </a:rPr>
                        <a:t>C</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669115270"/>
                  </a:ext>
                </a:extLst>
              </a:tr>
              <a:tr h="370276">
                <a:tc>
                  <a:txBody>
                    <a:bodyPr/>
                    <a:lstStyle/>
                    <a:p>
                      <a:pPr algn="ctr" rtl="0">
                        <a:lnSpc>
                          <a:spcPct val="120000"/>
                        </a:lnSpc>
                      </a:pPr>
                      <a:r>
                        <a:rPr lang="it-IT" sz="1200">
                          <a:effectLst/>
                          <a:latin typeface="Times New Roman, serif"/>
                        </a:rPr>
                        <a:t>D</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0</a:t>
                      </a:r>
                      <a:endParaRPr lang="it-IT" dirty="0">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2635656350"/>
                  </a:ext>
                </a:extLst>
              </a:tr>
              <a:tr h="370276">
                <a:tc>
                  <a:txBody>
                    <a:bodyPr/>
                    <a:lstStyle/>
                    <a:p>
                      <a:pPr algn="ctr" rtl="0">
                        <a:lnSpc>
                          <a:spcPct val="120000"/>
                        </a:lnSpc>
                      </a:pPr>
                      <a:r>
                        <a:rPr lang="it-IT" sz="1200">
                          <a:effectLst/>
                          <a:latin typeface="Times New Roman, serif"/>
                        </a:rPr>
                        <a:t>E</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365956189"/>
                  </a:ext>
                </a:extLst>
              </a:tr>
              <a:tr h="370276">
                <a:tc>
                  <a:txBody>
                    <a:bodyPr/>
                    <a:lstStyle/>
                    <a:p>
                      <a:pPr algn="ctr" rtl="0">
                        <a:lnSpc>
                          <a:spcPct val="120000"/>
                        </a:lnSpc>
                      </a:pPr>
                      <a:r>
                        <a:rPr lang="it-IT" sz="1200">
                          <a:effectLst/>
                          <a:latin typeface="Times New Roman, serif"/>
                        </a:rPr>
                        <a:t>F</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3052511235"/>
                  </a:ext>
                </a:extLst>
              </a:tr>
              <a:tr h="370276">
                <a:tc>
                  <a:txBody>
                    <a:bodyPr/>
                    <a:lstStyle/>
                    <a:p>
                      <a:pPr algn="ctr" rtl="0">
                        <a:lnSpc>
                          <a:spcPct val="120000"/>
                        </a:lnSpc>
                      </a:pPr>
                      <a:r>
                        <a:rPr lang="it-IT" sz="1200">
                          <a:effectLst/>
                          <a:latin typeface="Times New Roman, serif"/>
                        </a:rPr>
                        <a:t>G</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0</a:t>
                      </a:r>
                      <a:endParaRPr lang="it-IT" dirty="0">
                        <a:effectLst/>
                      </a:endParaRPr>
                    </a:p>
                  </a:txBody>
                  <a:tcPr marL="38100" marR="38100" marT="38100" marB="38100"/>
                </a:tc>
                <a:extLst>
                  <a:ext uri="{0D108BD9-81ED-4DB2-BD59-A6C34878D82A}">
                    <a16:rowId xmlns:a16="http://schemas.microsoft.com/office/drawing/2014/main" val="1013082311"/>
                  </a:ext>
                </a:extLst>
              </a:tr>
            </a:tbl>
          </a:graphicData>
        </a:graphic>
      </p:graphicFrame>
    </p:spTree>
    <p:extLst>
      <p:ext uri="{BB962C8B-B14F-4D97-AF65-F5344CB8AC3E}">
        <p14:creationId xmlns:p14="http://schemas.microsoft.com/office/powerpoint/2010/main" val="375603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(1)- Idea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fontScale="92500" lnSpcReduction="10000"/>
          </a:bodyPr>
          <a:lstStyle/>
          <a:p>
            <a:r>
              <a:rPr lang="it-IT" dirty="0"/>
              <a:t>Algoritmo </a:t>
            </a:r>
            <a:r>
              <a:rPr lang="it-IT" b="1" dirty="0"/>
              <a:t>NRU</a:t>
            </a:r>
            <a:r>
              <a:rPr lang="it-IT" dirty="0"/>
              <a:t> (</a:t>
            </a:r>
            <a:r>
              <a:rPr lang="it-IT" dirty="0" err="1"/>
              <a:t>Not</a:t>
            </a:r>
            <a:r>
              <a:rPr lang="it-IT" dirty="0"/>
              <a:t> </a:t>
            </a:r>
            <a:r>
              <a:rPr lang="it-IT" dirty="0" err="1"/>
              <a:t>Recently</a:t>
            </a:r>
            <a:r>
              <a:rPr lang="it-IT" dirty="0"/>
              <a:t> </a:t>
            </a:r>
            <a:r>
              <a:rPr lang="it-IT" dirty="0" err="1"/>
              <a:t>Used</a:t>
            </a:r>
            <a:r>
              <a:rPr lang="it-IT" dirty="0"/>
              <a:t>):</a:t>
            </a:r>
          </a:p>
          <a:p>
            <a:pPr lvl="1"/>
            <a:r>
              <a:rPr lang="it-IT" dirty="0"/>
              <a:t>Bit R: posto a 1 ogni qual volta pagina sia riferita (cioè scritta o letta)</a:t>
            </a:r>
          </a:p>
          <a:p>
            <a:pPr lvl="1"/>
            <a:r>
              <a:rPr lang="it-IT" dirty="0"/>
              <a:t>Bit M: posto a 1 ogni qual volta pagina sia modificata.</a:t>
            </a:r>
          </a:p>
          <a:p>
            <a:r>
              <a:rPr lang="it-IT" dirty="0"/>
              <a:t>Reset a 0 da software per entrambi i bit.</a:t>
            </a:r>
          </a:p>
          <a:p>
            <a:r>
              <a:rPr lang="it-IT" dirty="0"/>
              <a:t>Priorità :</a:t>
            </a:r>
          </a:p>
          <a:p>
            <a:pPr lvl="1"/>
            <a:r>
              <a:rPr lang="it-IT" dirty="0"/>
              <a:t>[Classe 0]: R=0, M=0,				(classe più conveniente da </a:t>
            </a:r>
            <a:r>
              <a:rPr lang="it-IT" dirty="0" err="1"/>
              <a:t>swappare</a:t>
            </a:r>
            <a:r>
              <a:rPr lang="it-IT" dirty="0"/>
              <a:t>)	</a:t>
            </a:r>
          </a:p>
          <a:p>
            <a:pPr lvl="1"/>
            <a:r>
              <a:rPr lang="it-IT" dirty="0"/>
              <a:t>[Classe1]: R=0, M=1,</a:t>
            </a:r>
          </a:p>
          <a:p>
            <a:pPr lvl="1"/>
            <a:r>
              <a:rPr lang="it-IT" dirty="0"/>
              <a:t>[Classe2]: R=1, M=0,</a:t>
            </a:r>
          </a:p>
          <a:p>
            <a:pPr lvl="1"/>
            <a:r>
              <a:rPr lang="it-IT" dirty="0"/>
              <a:t>[Classe3]: R=1, M=1					 (classe meno conveniente da </a:t>
            </a:r>
            <a:r>
              <a:rPr lang="it-IT" dirty="0" err="1"/>
              <a:t>swappare</a:t>
            </a:r>
            <a:r>
              <a:rPr lang="it-IT" dirty="0"/>
              <a:t>)</a:t>
            </a:r>
          </a:p>
          <a:p>
            <a:r>
              <a:rPr lang="it-IT" dirty="0" err="1"/>
              <a:t>Ref</a:t>
            </a:r>
            <a:r>
              <a:rPr lang="it-IT" dirty="0"/>
              <a:t>: I moderni sistemi operativi”, </a:t>
            </a:r>
            <a:r>
              <a:rPr lang="it-IT" dirty="0" err="1"/>
              <a:t>pag</a:t>
            </a:r>
            <a:r>
              <a:rPr lang="it-IT" dirty="0"/>
              <a:t> 197 e successive, capitolo 4.4. Algoritmi di rimpiazzamento delle pagine.</a:t>
            </a:r>
          </a:p>
          <a:p>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1240934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(1) - Idea (2)</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a:t>second chance</a:t>
            </a:r>
            <a:r>
              <a:rPr lang="it-IT" dirty="0"/>
              <a:t> (della seconda opportunità):</a:t>
            </a:r>
          </a:p>
          <a:p>
            <a:r>
              <a:rPr lang="it-IT" dirty="0"/>
              <a:t>Pagine in lista per ordine di ingresso</a:t>
            </a:r>
          </a:p>
          <a:p>
            <a:r>
              <a:rPr lang="it-IT" dirty="0"/>
              <a:t>Bit M non considerato</a:t>
            </a:r>
          </a:p>
          <a:p>
            <a:r>
              <a:rPr lang="it-IT" dirty="0"/>
              <a:t>Algoritmo:</a:t>
            </a:r>
          </a:p>
          <a:p>
            <a:pPr lvl="1"/>
            <a:r>
              <a:rPr lang="it-IT" dirty="0"/>
              <a:t>Scorrere la lista</a:t>
            </a:r>
          </a:p>
          <a:p>
            <a:pPr lvl="1"/>
            <a:r>
              <a:rPr lang="it-IT" dirty="0"/>
              <a:t>Se R = 1, porre R=0, reinserire pagina in fondo a lista</a:t>
            </a:r>
          </a:p>
          <a:p>
            <a:pPr lvl="1"/>
            <a:r>
              <a:rPr lang="it-IT" dirty="0"/>
              <a:t>Se R=0, effettuare swap della pagina corrispondente.</a:t>
            </a:r>
          </a:p>
          <a:p>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3035834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(2)</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4148472" cy="1922584"/>
          </a:xfrm>
        </p:spPr>
        <p:txBody>
          <a:bodyPr>
            <a:normAutofit/>
          </a:bodyPr>
          <a:lstStyle/>
          <a:p>
            <a:pPr marL="0" indent="0">
              <a:buNone/>
            </a:pPr>
            <a:r>
              <a:rPr lang="it-IT" b="1" dirty="0">
                <a:latin typeface="+Corpo"/>
              </a:rPr>
              <a:t>2) </a:t>
            </a:r>
            <a:r>
              <a:rPr lang="it-IT" b="1" dirty="0"/>
              <a:t>Si considerino i valori del bit R visti nell’esercizio precedente. Se si usa l’algoritmo dell’orologio e la posizione della lancetta è quella illustrata in figura, quale pagina sarà rimpiazzata?</a:t>
            </a: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8" name="Tabella 7">
            <a:extLst>
              <a:ext uri="{FF2B5EF4-FFF2-40B4-BE49-F238E27FC236}">
                <a16:creationId xmlns:a16="http://schemas.microsoft.com/office/drawing/2014/main" id="{057079B7-690D-4A88-B202-6E6290663CA9}"/>
              </a:ext>
            </a:extLst>
          </p:cNvPr>
          <p:cNvGraphicFramePr>
            <a:graphicFrameLocks noGrp="1"/>
          </p:cNvGraphicFramePr>
          <p:nvPr>
            <p:extLst>
              <p:ext uri="{D42A27DB-BD31-4B8C-83A1-F6EECF244321}">
                <p14:modId xmlns:p14="http://schemas.microsoft.com/office/powerpoint/2010/main" val="3693817734"/>
              </p:ext>
            </p:extLst>
          </p:nvPr>
        </p:nvGraphicFramePr>
        <p:xfrm>
          <a:off x="8220768" y="2562938"/>
          <a:ext cx="2680404" cy="2962208"/>
        </p:xfrm>
        <a:graphic>
          <a:graphicData uri="http://schemas.openxmlformats.org/drawingml/2006/table">
            <a:tbl>
              <a:tblPr firstRow="1" bandRow="1">
                <a:tableStyleId>{5C22544A-7EE6-4342-B048-85BDC9FD1C3A}</a:tableStyleId>
              </a:tblPr>
              <a:tblGrid>
                <a:gridCol w="1340202">
                  <a:extLst>
                    <a:ext uri="{9D8B030D-6E8A-4147-A177-3AD203B41FA5}">
                      <a16:colId xmlns:a16="http://schemas.microsoft.com/office/drawing/2014/main" val="2234921742"/>
                    </a:ext>
                  </a:extLst>
                </a:gridCol>
                <a:gridCol w="1340202">
                  <a:extLst>
                    <a:ext uri="{9D8B030D-6E8A-4147-A177-3AD203B41FA5}">
                      <a16:colId xmlns:a16="http://schemas.microsoft.com/office/drawing/2014/main" val="2500185377"/>
                    </a:ext>
                  </a:extLst>
                </a:gridCol>
              </a:tblGrid>
              <a:tr h="370276">
                <a:tc>
                  <a:txBody>
                    <a:bodyPr/>
                    <a:lstStyle/>
                    <a:p>
                      <a:pPr algn="ctr" rtl="0">
                        <a:lnSpc>
                          <a:spcPct val="120000"/>
                        </a:lnSpc>
                      </a:pPr>
                      <a:r>
                        <a:rPr lang="it-IT" sz="1200" b="1" dirty="0">
                          <a:effectLst/>
                          <a:latin typeface="Times New Roman, serif"/>
                        </a:rPr>
                        <a:t>Pagina</a:t>
                      </a:r>
                      <a:endParaRPr lang="it-IT" dirty="0">
                        <a:effectLst/>
                      </a:endParaRPr>
                    </a:p>
                  </a:txBody>
                  <a:tcPr marL="38100" marR="38100" marT="38100" marB="38100"/>
                </a:tc>
                <a:tc>
                  <a:txBody>
                    <a:bodyPr/>
                    <a:lstStyle/>
                    <a:p>
                      <a:pPr algn="ctr" rtl="0">
                        <a:lnSpc>
                          <a:spcPct val="120000"/>
                        </a:lnSpc>
                      </a:pPr>
                      <a:r>
                        <a:rPr lang="it-IT" sz="1200" b="1">
                          <a:effectLst/>
                          <a:latin typeface="Times New Roman, serif"/>
                        </a:rPr>
                        <a:t>R</a:t>
                      </a:r>
                      <a:endParaRPr lang="it-IT">
                        <a:effectLst/>
                      </a:endParaRPr>
                    </a:p>
                  </a:txBody>
                  <a:tcPr marL="38100" marR="38100" marT="38100" marB="38100"/>
                </a:tc>
                <a:extLst>
                  <a:ext uri="{0D108BD9-81ED-4DB2-BD59-A6C34878D82A}">
                    <a16:rowId xmlns:a16="http://schemas.microsoft.com/office/drawing/2014/main" val="3501385589"/>
                  </a:ext>
                </a:extLst>
              </a:tr>
              <a:tr h="370276">
                <a:tc>
                  <a:txBody>
                    <a:bodyPr/>
                    <a:lstStyle/>
                    <a:p>
                      <a:pPr algn="ctr" rtl="0">
                        <a:lnSpc>
                          <a:spcPct val="120000"/>
                        </a:lnSpc>
                      </a:pPr>
                      <a:r>
                        <a:rPr lang="it-IT" sz="1200">
                          <a:effectLst/>
                          <a:latin typeface="Times New Roman, serif"/>
                        </a:rPr>
                        <a:t>A</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1</a:t>
                      </a:r>
                      <a:endParaRPr lang="it-IT" dirty="0">
                        <a:effectLst/>
                      </a:endParaRPr>
                    </a:p>
                  </a:txBody>
                  <a:tcPr marL="38100" marR="38100" marT="38100" marB="38100"/>
                </a:tc>
                <a:extLst>
                  <a:ext uri="{0D108BD9-81ED-4DB2-BD59-A6C34878D82A}">
                    <a16:rowId xmlns:a16="http://schemas.microsoft.com/office/drawing/2014/main" val="1057106217"/>
                  </a:ext>
                </a:extLst>
              </a:tr>
              <a:tr h="370276">
                <a:tc>
                  <a:txBody>
                    <a:bodyPr/>
                    <a:lstStyle/>
                    <a:p>
                      <a:pPr algn="ctr" rtl="0">
                        <a:lnSpc>
                          <a:spcPct val="120000"/>
                        </a:lnSpc>
                      </a:pPr>
                      <a:r>
                        <a:rPr lang="it-IT" sz="1200">
                          <a:effectLst/>
                          <a:latin typeface="Times New Roman, serif"/>
                        </a:rPr>
                        <a:t>B</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2605497057"/>
                  </a:ext>
                </a:extLst>
              </a:tr>
              <a:tr h="370276">
                <a:tc>
                  <a:txBody>
                    <a:bodyPr/>
                    <a:lstStyle/>
                    <a:p>
                      <a:pPr algn="ctr" rtl="0">
                        <a:lnSpc>
                          <a:spcPct val="120000"/>
                        </a:lnSpc>
                      </a:pPr>
                      <a:r>
                        <a:rPr lang="it-IT" sz="1200" dirty="0">
                          <a:effectLst/>
                          <a:latin typeface="Times New Roman, serif"/>
                        </a:rPr>
                        <a:t>C</a:t>
                      </a:r>
                      <a:endParaRPr lang="it-IT" dirty="0">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669115270"/>
                  </a:ext>
                </a:extLst>
              </a:tr>
              <a:tr h="370276">
                <a:tc>
                  <a:txBody>
                    <a:bodyPr/>
                    <a:lstStyle/>
                    <a:p>
                      <a:pPr algn="ctr" rtl="0">
                        <a:lnSpc>
                          <a:spcPct val="120000"/>
                        </a:lnSpc>
                      </a:pPr>
                      <a:r>
                        <a:rPr lang="it-IT" sz="1200">
                          <a:effectLst/>
                          <a:latin typeface="Times New Roman, serif"/>
                        </a:rPr>
                        <a:t>D</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0</a:t>
                      </a:r>
                      <a:endParaRPr lang="it-IT" dirty="0">
                        <a:effectLst/>
                      </a:endParaRPr>
                    </a:p>
                  </a:txBody>
                  <a:tcPr marL="38100" marR="38100" marT="38100" marB="38100"/>
                </a:tc>
                <a:extLst>
                  <a:ext uri="{0D108BD9-81ED-4DB2-BD59-A6C34878D82A}">
                    <a16:rowId xmlns:a16="http://schemas.microsoft.com/office/drawing/2014/main" val="2635656350"/>
                  </a:ext>
                </a:extLst>
              </a:tr>
              <a:tr h="370276">
                <a:tc>
                  <a:txBody>
                    <a:bodyPr/>
                    <a:lstStyle/>
                    <a:p>
                      <a:pPr algn="ctr" rtl="0">
                        <a:lnSpc>
                          <a:spcPct val="120000"/>
                        </a:lnSpc>
                      </a:pPr>
                      <a:r>
                        <a:rPr lang="it-IT" sz="1200">
                          <a:effectLst/>
                          <a:latin typeface="Times New Roman, serif"/>
                        </a:rPr>
                        <a:t>E</a:t>
                      </a:r>
                      <a:endParaRPr lang="it-IT">
                        <a:effectLst/>
                      </a:endParaRPr>
                    </a:p>
                  </a:txBody>
                  <a:tcPr marL="38100" marR="38100" marT="38100" marB="38100"/>
                </a:tc>
                <a:tc>
                  <a:txBody>
                    <a:bodyPr/>
                    <a:lstStyle/>
                    <a:p>
                      <a:pPr algn="ctr" rtl="0">
                        <a:lnSpc>
                          <a:spcPct val="120000"/>
                        </a:lnSpc>
                      </a:pPr>
                      <a:r>
                        <a:rPr lang="it-IT" sz="1200">
                          <a:effectLst/>
                          <a:latin typeface="Times New Roman, serif"/>
                        </a:rPr>
                        <a:t>0</a:t>
                      </a:r>
                      <a:endParaRPr lang="it-IT">
                        <a:effectLst/>
                      </a:endParaRPr>
                    </a:p>
                  </a:txBody>
                  <a:tcPr marL="38100" marR="38100" marT="38100" marB="38100"/>
                </a:tc>
                <a:extLst>
                  <a:ext uri="{0D108BD9-81ED-4DB2-BD59-A6C34878D82A}">
                    <a16:rowId xmlns:a16="http://schemas.microsoft.com/office/drawing/2014/main" val="365956189"/>
                  </a:ext>
                </a:extLst>
              </a:tr>
              <a:tr h="370276">
                <a:tc>
                  <a:txBody>
                    <a:bodyPr/>
                    <a:lstStyle/>
                    <a:p>
                      <a:pPr algn="ctr" rtl="0">
                        <a:lnSpc>
                          <a:spcPct val="120000"/>
                        </a:lnSpc>
                      </a:pPr>
                      <a:r>
                        <a:rPr lang="it-IT" sz="1200">
                          <a:effectLst/>
                          <a:latin typeface="Times New Roman, serif"/>
                        </a:rPr>
                        <a:t>F</a:t>
                      </a:r>
                      <a:endParaRPr lang="it-IT">
                        <a:effectLst/>
                      </a:endParaRPr>
                    </a:p>
                  </a:txBody>
                  <a:tcPr marL="38100" marR="38100" marT="38100" marB="38100"/>
                </a:tc>
                <a:tc>
                  <a:txBody>
                    <a:bodyPr/>
                    <a:lstStyle/>
                    <a:p>
                      <a:pPr algn="ctr" rtl="0">
                        <a:lnSpc>
                          <a:spcPct val="120000"/>
                        </a:lnSpc>
                      </a:pPr>
                      <a:r>
                        <a:rPr lang="it-IT" sz="1200">
                          <a:effectLst/>
                          <a:latin typeface="Times New Roman, serif"/>
                        </a:rPr>
                        <a:t>1</a:t>
                      </a:r>
                      <a:endParaRPr lang="it-IT">
                        <a:effectLst/>
                      </a:endParaRPr>
                    </a:p>
                  </a:txBody>
                  <a:tcPr marL="38100" marR="38100" marT="38100" marB="38100"/>
                </a:tc>
                <a:extLst>
                  <a:ext uri="{0D108BD9-81ED-4DB2-BD59-A6C34878D82A}">
                    <a16:rowId xmlns:a16="http://schemas.microsoft.com/office/drawing/2014/main" val="3052511235"/>
                  </a:ext>
                </a:extLst>
              </a:tr>
              <a:tr h="370276">
                <a:tc>
                  <a:txBody>
                    <a:bodyPr/>
                    <a:lstStyle/>
                    <a:p>
                      <a:pPr algn="ctr" rtl="0">
                        <a:lnSpc>
                          <a:spcPct val="120000"/>
                        </a:lnSpc>
                      </a:pPr>
                      <a:r>
                        <a:rPr lang="it-IT" sz="1200">
                          <a:effectLst/>
                          <a:latin typeface="Times New Roman, serif"/>
                        </a:rPr>
                        <a:t>G</a:t>
                      </a:r>
                      <a:endParaRPr lang="it-IT">
                        <a:effectLst/>
                      </a:endParaRPr>
                    </a:p>
                  </a:txBody>
                  <a:tcPr marL="38100" marR="38100" marT="38100" marB="38100"/>
                </a:tc>
                <a:tc>
                  <a:txBody>
                    <a:bodyPr/>
                    <a:lstStyle/>
                    <a:p>
                      <a:pPr algn="ctr" rtl="0">
                        <a:lnSpc>
                          <a:spcPct val="120000"/>
                        </a:lnSpc>
                      </a:pPr>
                      <a:r>
                        <a:rPr lang="it-IT" sz="1200" dirty="0">
                          <a:effectLst/>
                          <a:latin typeface="Times New Roman, serif"/>
                        </a:rPr>
                        <a:t>1</a:t>
                      </a:r>
                      <a:endParaRPr lang="it-IT" dirty="0">
                        <a:effectLst/>
                      </a:endParaRPr>
                    </a:p>
                  </a:txBody>
                  <a:tcPr marL="38100" marR="38100" marT="38100" marB="38100"/>
                </a:tc>
                <a:extLst>
                  <a:ext uri="{0D108BD9-81ED-4DB2-BD59-A6C34878D82A}">
                    <a16:rowId xmlns:a16="http://schemas.microsoft.com/office/drawing/2014/main" val="1013082311"/>
                  </a:ext>
                </a:extLst>
              </a:tr>
            </a:tbl>
          </a:graphicData>
        </a:graphic>
      </p:graphicFrame>
      <p:pic>
        <p:nvPicPr>
          <p:cNvPr id="5" name="Immagine 4">
            <a:extLst>
              <a:ext uri="{FF2B5EF4-FFF2-40B4-BE49-F238E27FC236}">
                <a16:creationId xmlns:a16="http://schemas.microsoft.com/office/drawing/2014/main" id="{2B006E06-F1EE-4F20-AB08-4F748B4231EF}"/>
              </a:ext>
            </a:extLst>
          </p:cNvPr>
          <p:cNvPicPr>
            <a:picLocks noChangeAspect="1"/>
          </p:cNvPicPr>
          <p:nvPr/>
        </p:nvPicPr>
        <p:blipFill>
          <a:blip r:embed="rId2"/>
          <a:stretch>
            <a:fillRect/>
          </a:stretch>
        </p:blipFill>
        <p:spPr>
          <a:xfrm>
            <a:off x="3431650" y="3927619"/>
            <a:ext cx="2202818" cy="2202818"/>
          </a:xfrm>
          <a:prstGeom prst="rect">
            <a:avLst/>
          </a:prstGeom>
        </p:spPr>
      </p:pic>
    </p:spTree>
    <p:extLst>
      <p:ext uri="{BB962C8B-B14F-4D97-AF65-F5344CB8AC3E}">
        <p14:creationId xmlns:p14="http://schemas.microsoft.com/office/powerpoint/2010/main" val="2658892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(2) - Idea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a:t>orologio</a:t>
            </a:r>
            <a:r>
              <a:rPr lang="it-IT" dirty="0"/>
              <a:t> (Clock):</a:t>
            </a:r>
          </a:p>
          <a:p>
            <a:pPr lvl="1"/>
            <a:r>
              <a:rPr lang="it-IT" dirty="0"/>
              <a:t>Come </a:t>
            </a:r>
            <a:r>
              <a:rPr lang="it-IT" i="1" dirty="0"/>
              <a:t>second chance</a:t>
            </a:r>
            <a:r>
              <a:rPr lang="it-IT" dirty="0"/>
              <a:t> per gestione bit R</a:t>
            </a:r>
          </a:p>
          <a:p>
            <a:pPr lvl="1"/>
            <a:r>
              <a:rPr lang="it-IT" dirty="0"/>
              <a:t>Lista circolare, no reinserimenti in fondo.</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1480921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(3)</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8915400" cy="3820885"/>
          </a:xfrm>
        </p:spPr>
        <p:txBody>
          <a:bodyPr>
            <a:normAutofit/>
          </a:bodyPr>
          <a:lstStyle/>
          <a:p>
            <a:pPr marL="0" indent="0">
              <a:buNone/>
            </a:pPr>
            <a:r>
              <a:rPr lang="it-IT" b="1" dirty="0">
                <a:latin typeface="+Corpo"/>
              </a:rPr>
              <a:t>4) </a:t>
            </a:r>
            <a:r>
              <a:rPr lang="it-IT" b="1" dirty="0"/>
              <a:t>Utilizzando l’algoritmo di paginazione </a:t>
            </a:r>
            <a:r>
              <a:rPr lang="it-IT" b="1" dirty="0" err="1"/>
              <a:t>Aging</a:t>
            </a:r>
            <a:r>
              <a:rPr lang="it-IT" b="1" dirty="0"/>
              <a:t> (con contatore a 8 bit), si considerino le seguenti 4 pagine, con valore di bit R, rispettivamente, 1000. Ai cicli successivi, i valori sono 0111, 0011, 1101, 1100, 0001, 1010 e 1110. Si forniscano i valori dei 4 contatori dopo l’ultimo intervallo, specificando quale pagina viene spostata su disco.</a:t>
            </a:r>
            <a:endParaRPr lang="it-IT" dirty="0"/>
          </a:p>
          <a:p>
            <a:pPr marL="0" indent="0">
              <a:buNone/>
            </a:pP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2172955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(3) - Idea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err="1"/>
              <a:t>Aging</a:t>
            </a:r>
            <a:r>
              <a:rPr lang="it-IT" dirty="0"/>
              <a:t>:</a:t>
            </a:r>
          </a:p>
          <a:p>
            <a:pPr lvl="1"/>
            <a:r>
              <a:rPr lang="it-IT" dirty="0"/>
              <a:t>Tabella con andamento dei bit R per ogni pagina.</a:t>
            </a:r>
          </a:p>
          <a:p>
            <a:pPr lvl="1"/>
            <a:r>
              <a:rPr lang="it-IT" dirty="0"/>
              <a:t>Ad ogni nuova scrittura, shift verso destra.</a:t>
            </a:r>
          </a:p>
          <a:p>
            <a:pPr lvl="1"/>
            <a:r>
              <a:rPr lang="it-IT" dirty="0"/>
              <a:t>Swap di pagina con valore binario minore nella riga.</a:t>
            </a:r>
          </a:p>
          <a:p>
            <a:pPr marL="0" indent="0">
              <a:buNone/>
            </a:pPr>
            <a:endParaRPr lang="it-IT" dirty="0"/>
          </a:p>
          <a:p>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812454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(4)</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8915400" cy="3820885"/>
          </a:xfrm>
        </p:spPr>
        <p:txBody>
          <a:bodyPr>
            <a:normAutofit/>
          </a:bodyPr>
          <a:lstStyle/>
          <a:p>
            <a:pPr marL="0" indent="0">
              <a:buNone/>
            </a:pPr>
            <a:r>
              <a:rPr lang="it-IT" b="1" dirty="0">
                <a:latin typeface="+Corpo"/>
              </a:rPr>
              <a:t>5) </a:t>
            </a:r>
            <a:r>
              <a:rPr lang="it-IT" b="1" dirty="0"/>
              <a:t>Usando l’algoritmo di paginazione LRU (</a:t>
            </a:r>
            <a:r>
              <a:rPr lang="it-IT" b="1" dirty="0" err="1"/>
              <a:t>least</a:t>
            </a:r>
            <a:r>
              <a:rPr lang="it-IT" b="1" dirty="0"/>
              <a:t> </a:t>
            </a:r>
            <a:r>
              <a:rPr lang="it-IT" b="1" dirty="0" err="1"/>
              <a:t>recently</a:t>
            </a:r>
            <a:r>
              <a:rPr lang="it-IT" b="1" dirty="0"/>
              <a:t> </a:t>
            </a:r>
            <a:r>
              <a:rPr lang="it-IT" b="1" dirty="0" err="1"/>
              <a:t>userd</a:t>
            </a:r>
            <a:r>
              <a:rPr lang="it-IT" b="1" dirty="0"/>
              <a:t>), nel caso in cui la macchina abbia 4 pagine fisiche, e nel caso in cui le pagine siano usate nell’ordine:</a:t>
            </a:r>
            <a:endParaRPr lang="it-IT" dirty="0"/>
          </a:p>
          <a:p>
            <a:pPr marL="0" indent="0">
              <a:buNone/>
            </a:pPr>
            <a:r>
              <a:rPr lang="it-IT" b="1" dirty="0"/>
              <a:t>0 1 2 3 1 0 3 2 </a:t>
            </a:r>
            <a:endParaRPr lang="it-IT" dirty="0"/>
          </a:p>
          <a:p>
            <a:pPr marL="0" indent="0">
              <a:buNone/>
            </a:pPr>
            <a:r>
              <a:rPr lang="it-IT" b="1" dirty="0"/>
              <a:t>Stabilire quale pagina verrà spostata su disco, tenendo presente la matrice delle pagine.</a:t>
            </a:r>
            <a:endParaRPr lang="it-IT" dirty="0"/>
          </a:p>
          <a:p>
            <a:pPr marL="0" indent="0">
              <a:buNone/>
            </a:pP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2949962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(4) - Idea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a:t>LRU</a:t>
            </a:r>
            <a:r>
              <a:rPr lang="it-IT" dirty="0"/>
              <a:t> (</a:t>
            </a:r>
            <a:r>
              <a:rPr lang="it-IT" dirty="0" err="1"/>
              <a:t>Least</a:t>
            </a:r>
            <a:r>
              <a:rPr lang="it-IT" dirty="0"/>
              <a:t> </a:t>
            </a:r>
            <a:r>
              <a:rPr lang="it-IT" dirty="0" err="1"/>
              <a:t>Recently</a:t>
            </a:r>
            <a:r>
              <a:rPr lang="it-IT" dirty="0"/>
              <a:t> </a:t>
            </a:r>
            <a:r>
              <a:rPr lang="it-IT" dirty="0" err="1"/>
              <a:t>Used</a:t>
            </a:r>
            <a:r>
              <a:rPr lang="it-IT" dirty="0"/>
              <a:t>):</a:t>
            </a:r>
          </a:p>
          <a:p>
            <a:pPr lvl="1"/>
            <a:r>
              <a:rPr lang="it-IT" dirty="0"/>
              <a:t>Estrarre la pagina usata più lontana nel passato</a:t>
            </a:r>
          </a:p>
          <a:p>
            <a:pPr lvl="1"/>
            <a:r>
              <a:rPr lang="it-IT" dirty="0"/>
              <a:t>Creare tabella con entrambe le dimensioni pari al numero di pagine</a:t>
            </a:r>
          </a:p>
          <a:p>
            <a:pPr lvl="1"/>
            <a:r>
              <a:rPr lang="it-IT" dirty="0"/>
              <a:t>Inizializzazione della tabella con tutti valori 0,</a:t>
            </a:r>
          </a:p>
          <a:p>
            <a:pPr lvl="1"/>
            <a:r>
              <a:rPr lang="it-IT" dirty="0"/>
              <a:t>All’uso di una pagina:</a:t>
            </a:r>
          </a:p>
          <a:p>
            <a:pPr lvl="2"/>
            <a:r>
              <a:rPr lang="it-IT" dirty="0"/>
              <a:t>Porre a 1 tutta la riga corrispondente alla pagina</a:t>
            </a:r>
          </a:p>
          <a:p>
            <a:pPr lvl="2"/>
            <a:r>
              <a:rPr lang="it-IT" dirty="0"/>
              <a:t>Porre a 0 tutta la colonna corrispondente alla pagina</a:t>
            </a:r>
          </a:p>
          <a:p>
            <a:pPr lvl="1"/>
            <a:r>
              <a:rPr lang="it-IT" dirty="0"/>
              <a:t>Estrarre la pagina corrispondente al valore binario minore sulla riga.</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2255720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(5)</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0"/>
            <a:ext cx="4057773" cy="3996837"/>
          </a:xfrm>
        </p:spPr>
        <p:txBody>
          <a:bodyPr>
            <a:normAutofit/>
          </a:bodyPr>
          <a:lstStyle/>
          <a:p>
            <a:pPr marL="0" indent="0">
              <a:buNone/>
            </a:pPr>
            <a:r>
              <a:rPr lang="it-IT" b="1" dirty="0">
                <a:latin typeface="+Corpo"/>
              </a:rPr>
              <a:t>6) </a:t>
            </a:r>
            <a:r>
              <a:rPr lang="it-IT" b="1" dirty="0"/>
              <a:t>Usando l’algoritmo di rimpiazzamento delle pagine  WS (</a:t>
            </a:r>
            <a:r>
              <a:rPr lang="it-IT" b="1" i="1" dirty="0" err="1"/>
              <a:t>Working</a:t>
            </a:r>
            <a:r>
              <a:rPr lang="it-IT" b="1" i="1" dirty="0"/>
              <a:t> Set</a:t>
            </a:r>
            <a:r>
              <a:rPr lang="it-IT" b="1" dirty="0"/>
              <a:t>), nel caso in cui la tabella delle pagine sia quella illustrata in figura e </a:t>
            </a:r>
            <a:r>
              <a:rPr lang="el-GR" b="1" dirty="0"/>
              <a:t>τ</a:t>
            </a:r>
            <a:r>
              <a:rPr lang="it-IT" b="1" dirty="0"/>
              <a:t> = 400, quale pagina sarà rimossa?</a:t>
            </a:r>
          </a:p>
          <a:p>
            <a:pPr marL="0" indent="0">
              <a:buNone/>
            </a:pPr>
            <a:r>
              <a:rPr lang="it-IT" b="1" dirty="0"/>
              <a:t>Cosa succederebbe, invece, se l’algoritmo fosse </a:t>
            </a:r>
            <a:r>
              <a:rPr lang="it-IT" b="1" dirty="0" err="1"/>
              <a:t>WSClock</a:t>
            </a:r>
            <a:r>
              <a:rPr lang="it-IT" b="1" dirty="0"/>
              <a:t> e la lancetta puntasse la pagina con ID=E? </a:t>
            </a:r>
          </a:p>
          <a:p>
            <a:pPr marL="0" indent="0">
              <a:buNone/>
            </a:pPr>
            <a:r>
              <a:rPr lang="it-IT" b="1" dirty="0"/>
              <a:t>Si consideri il tempo virtuale corrente = 2204</a:t>
            </a:r>
          </a:p>
          <a:p>
            <a:pPr marL="0" indent="0">
              <a:buNone/>
            </a:pPr>
            <a:endParaRPr lang="it-IT"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graphicFrame>
        <p:nvGraphicFramePr>
          <p:cNvPr id="4" name="Tabella 3">
            <a:extLst>
              <a:ext uri="{FF2B5EF4-FFF2-40B4-BE49-F238E27FC236}">
                <a16:creationId xmlns:a16="http://schemas.microsoft.com/office/drawing/2014/main" id="{A48D5A63-80AB-411E-B02B-8CCF9223F993}"/>
              </a:ext>
            </a:extLst>
          </p:cNvPr>
          <p:cNvGraphicFramePr>
            <a:graphicFrameLocks noGrp="1"/>
          </p:cNvGraphicFramePr>
          <p:nvPr>
            <p:extLst>
              <p:ext uri="{D42A27DB-BD31-4B8C-83A1-F6EECF244321}">
                <p14:modId xmlns:p14="http://schemas.microsoft.com/office/powerpoint/2010/main" val="873758336"/>
              </p:ext>
            </p:extLst>
          </p:nvPr>
        </p:nvGraphicFramePr>
        <p:xfrm>
          <a:off x="7048768" y="2133601"/>
          <a:ext cx="4316412" cy="3291840"/>
        </p:xfrm>
        <a:graphic>
          <a:graphicData uri="http://schemas.openxmlformats.org/drawingml/2006/table">
            <a:tbl>
              <a:tblPr firstRow="1" bandRow="1">
                <a:tableStyleId>{5C22544A-7EE6-4342-B048-85BDC9FD1C3A}</a:tableStyleId>
              </a:tblPr>
              <a:tblGrid>
                <a:gridCol w="1438804">
                  <a:extLst>
                    <a:ext uri="{9D8B030D-6E8A-4147-A177-3AD203B41FA5}">
                      <a16:colId xmlns:a16="http://schemas.microsoft.com/office/drawing/2014/main" val="1676338834"/>
                    </a:ext>
                  </a:extLst>
                </a:gridCol>
                <a:gridCol w="1438804">
                  <a:extLst>
                    <a:ext uri="{9D8B030D-6E8A-4147-A177-3AD203B41FA5}">
                      <a16:colId xmlns:a16="http://schemas.microsoft.com/office/drawing/2014/main" val="2347493426"/>
                    </a:ext>
                  </a:extLst>
                </a:gridCol>
                <a:gridCol w="1438804">
                  <a:extLst>
                    <a:ext uri="{9D8B030D-6E8A-4147-A177-3AD203B41FA5}">
                      <a16:colId xmlns:a16="http://schemas.microsoft.com/office/drawing/2014/main" val="376173612"/>
                    </a:ext>
                  </a:extLst>
                </a:gridCol>
              </a:tblGrid>
              <a:tr h="240974">
                <a:tc>
                  <a:txBody>
                    <a:bodyPr/>
                    <a:lstStyle/>
                    <a:p>
                      <a:r>
                        <a:rPr lang="it-IT" dirty="0"/>
                        <a:t>ID</a:t>
                      </a:r>
                    </a:p>
                  </a:txBody>
                  <a:tcPr/>
                </a:tc>
                <a:tc>
                  <a:txBody>
                    <a:bodyPr/>
                    <a:lstStyle/>
                    <a:p>
                      <a:r>
                        <a:rPr lang="it-IT" dirty="0"/>
                        <a:t>Ultimo uso</a:t>
                      </a:r>
                    </a:p>
                  </a:txBody>
                  <a:tcPr/>
                </a:tc>
                <a:tc>
                  <a:txBody>
                    <a:bodyPr/>
                    <a:lstStyle/>
                    <a:p>
                      <a:r>
                        <a:rPr lang="it-IT" dirty="0"/>
                        <a:t>R</a:t>
                      </a:r>
                    </a:p>
                  </a:txBody>
                  <a:tcPr/>
                </a:tc>
                <a:extLst>
                  <a:ext uri="{0D108BD9-81ED-4DB2-BD59-A6C34878D82A}">
                    <a16:rowId xmlns:a16="http://schemas.microsoft.com/office/drawing/2014/main" val="2680104836"/>
                  </a:ext>
                </a:extLst>
              </a:tr>
              <a:tr h="240974">
                <a:tc>
                  <a:txBody>
                    <a:bodyPr/>
                    <a:lstStyle/>
                    <a:p>
                      <a:r>
                        <a:rPr lang="it-IT" dirty="0"/>
                        <a:t>A</a:t>
                      </a:r>
                    </a:p>
                  </a:txBody>
                  <a:tcPr/>
                </a:tc>
                <a:tc>
                  <a:txBody>
                    <a:bodyPr/>
                    <a:lstStyle/>
                    <a:p>
                      <a:r>
                        <a:rPr lang="it-IT" dirty="0"/>
                        <a:t>1620</a:t>
                      </a:r>
                    </a:p>
                  </a:txBody>
                  <a:tcPr/>
                </a:tc>
                <a:tc>
                  <a:txBody>
                    <a:bodyPr/>
                    <a:lstStyle/>
                    <a:p>
                      <a:r>
                        <a:rPr lang="it-IT" dirty="0"/>
                        <a:t>0</a:t>
                      </a:r>
                    </a:p>
                  </a:txBody>
                  <a:tcPr/>
                </a:tc>
                <a:extLst>
                  <a:ext uri="{0D108BD9-81ED-4DB2-BD59-A6C34878D82A}">
                    <a16:rowId xmlns:a16="http://schemas.microsoft.com/office/drawing/2014/main" val="63169391"/>
                  </a:ext>
                </a:extLst>
              </a:tr>
              <a:tr h="240974">
                <a:tc>
                  <a:txBody>
                    <a:bodyPr/>
                    <a:lstStyle/>
                    <a:p>
                      <a:r>
                        <a:rPr lang="it-IT" dirty="0"/>
                        <a:t>B</a:t>
                      </a:r>
                    </a:p>
                  </a:txBody>
                  <a:tcPr/>
                </a:tc>
                <a:tc>
                  <a:txBody>
                    <a:bodyPr/>
                    <a:lstStyle/>
                    <a:p>
                      <a:r>
                        <a:rPr lang="it-IT" dirty="0"/>
                        <a:t>2032</a:t>
                      </a:r>
                    </a:p>
                  </a:txBody>
                  <a:tcPr/>
                </a:tc>
                <a:tc>
                  <a:txBody>
                    <a:bodyPr/>
                    <a:lstStyle/>
                    <a:p>
                      <a:r>
                        <a:rPr lang="it-IT" dirty="0"/>
                        <a:t>1</a:t>
                      </a:r>
                    </a:p>
                  </a:txBody>
                  <a:tcPr/>
                </a:tc>
                <a:extLst>
                  <a:ext uri="{0D108BD9-81ED-4DB2-BD59-A6C34878D82A}">
                    <a16:rowId xmlns:a16="http://schemas.microsoft.com/office/drawing/2014/main" val="531097592"/>
                  </a:ext>
                </a:extLst>
              </a:tr>
              <a:tr h="240974">
                <a:tc>
                  <a:txBody>
                    <a:bodyPr/>
                    <a:lstStyle/>
                    <a:p>
                      <a:r>
                        <a:rPr lang="it-IT" dirty="0"/>
                        <a:t>C</a:t>
                      </a:r>
                    </a:p>
                  </a:txBody>
                  <a:tcPr/>
                </a:tc>
                <a:tc>
                  <a:txBody>
                    <a:bodyPr/>
                    <a:lstStyle/>
                    <a:p>
                      <a:r>
                        <a:rPr lang="it-IT" dirty="0"/>
                        <a:t>2020</a:t>
                      </a:r>
                    </a:p>
                  </a:txBody>
                  <a:tcPr/>
                </a:tc>
                <a:tc>
                  <a:txBody>
                    <a:bodyPr/>
                    <a:lstStyle/>
                    <a:p>
                      <a:r>
                        <a:rPr lang="it-IT" dirty="0"/>
                        <a:t>1</a:t>
                      </a:r>
                    </a:p>
                  </a:txBody>
                  <a:tcPr/>
                </a:tc>
                <a:extLst>
                  <a:ext uri="{0D108BD9-81ED-4DB2-BD59-A6C34878D82A}">
                    <a16:rowId xmlns:a16="http://schemas.microsoft.com/office/drawing/2014/main" val="1571806519"/>
                  </a:ext>
                </a:extLst>
              </a:tr>
              <a:tr h="240974">
                <a:tc>
                  <a:txBody>
                    <a:bodyPr/>
                    <a:lstStyle/>
                    <a:p>
                      <a:r>
                        <a:rPr lang="it-IT" dirty="0"/>
                        <a:t>D</a:t>
                      </a:r>
                    </a:p>
                  </a:txBody>
                  <a:tcPr/>
                </a:tc>
                <a:tc>
                  <a:txBody>
                    <a:bodyPr/>
                    <a:lstStyle/>
                    <a:p>
                      <a:r>
                        <a:rPr lang="it-IT" dirty="0"/>
                        <a:t>2014</a:t>
                      </a:r>
                    </a:p>
                  </a:txBody>
                  <a:tcPr/>
                </a:tc>
                <a:tc>
                  <a:txBody>
                    <a:bodyPr/>
                    <a:lstStyle/>
                    <a:p>
                      <a:r>
                        <a:rPr lang="it-IT" dirty="0"/>
                        <a:t>1</a:t>
                      </a:r>
                    </a:p>
                  </a:txBody>
                  <a:tcPr/>
                </a:tc>
                <a:extLst>
                  <a:ext uri="{0D108BD9-81ED-4DB2-BD59-A6C34878D82A}">
                    <a16:rowId xmlns:a16="http://schemas.microsoft.com/office/drawing/2014/main" val="2394322332"/>
                  </a:ext>
                </a:extLst>
              </a:tr>
              <a:tr h="240974">
                <a:tc>
                  <a:txBody>
                    <a:bodyPr/>
                    <a:lstStyle/>
                    <a:p>
                      <a:r>
                        <a:rPr lang="it-IT" dirty="0"/>
                        <a:t>E</a:t>
                      </a:r>
                    </a:p>
                  </a:txBody>
                  <a:tcPr/>
                </a:tc>
                <a:tc>
                  <a:txBody>
                    <a:bodyPr/>
                    <a:lstStyle/>
                    <a:p>
                      <a:r>
                        <a:rPr lang="it-IT" dirty="0"/>
                        <a:t>1213</a:t>
                      </a:r>
                    </a:p>
                  </a:txBody>
                  <a:tcPr/>
                </a:tc>
                <a:tc>
                  <a:txBody>
                    <a:bodyPr/>
                    <a:lstStyle/>
                    <a:p>
                      <a:r>
                        <a:rPr lang="it-IT" dirty="0"/>
                        <a:t>0</a:t>
                      </a:r>
                    </a:p>
                  </a:txBody>
                  <a:tcPr/>
                </a:tc>
                <a:extLst>
                  <a:ext uri="{0D108BD9-81ED-4DB2-BD59-A6C34878D82A}">
                    <a16:rowId xmlns:a16="http://schemas.microsoft.com/office/drawing/2014/main" val="3199381466"/>
                  </a:ext>
                </a:extLst>
              </a:tr>
              <a:tr h="240974">
                <a:tc>
                  <a:txBody>
                    <a:bodyPr/>
                    <a:lstStyle/>
                    <a:p>
                      <a:r>
                        <a:rPr lang="it-IT" dirty="0"/>
                        <a:t>F</a:t>
                      </a:r>
                    </a:p>
                  </a:txBody>
                  <a:tcPr/>
                </a:tc>
                <a:tc>
                  <a:txBody>
                    <a:bodyPr/>
                    <a:lstStyle/>
                    <a:p>
                      <a:r>
                        <a:rPr lang="it-IT" dirty="0"/>
                        <a:t>1980</a:t>
                      </a:r>
                    </a:p>
                  </a:txBody>
                  <a:tcPr/>
                </a:tc>
                <a:tc>
                  <a:txBody>
                    <a:bodyPr/>
                    <a:lstStyle/>
                    <a:p>
                      <a:r>
                        <a:rPr lang="it-IT" dirty="0"/>
                        <a:t>1</a:t>
                      </a:r>
                    </a:p>
                  </a:txBody>
                  <a:tcPr/>
                </a:tc>
                <a:extLst>
                  <a:ext uri="{0D108BD9-81ED-4DB2-BD59-A6C34878D82A}">
                    <a16:rowId xmlns:a16="http://schemas.microsoft.com/office/drawing/2014/main" val="3118330428"/>
                  </a:ext>
                </a:extLst>
              </a:tr>
              <a:tr h="240974">
                <a:tc>
                  <a:txBody>
                    <a:bodyPr/>
                    <a:lstStyle/>
                    <a:p>
                      <a:r>
                        <a:rPr lang="it-IT" dirty="0"/>
                        <a:t>G</a:t>
                      </a:r>
                    </a:p>
                  </a:txBody>
                  <a:tcPr/>
                </a:tc>
                <a:tc>
                  <a:txBody>
                    <a:bodyPr/>
                    <a:lstStyle/>
                    <a:p>
                      <a:r>
                        <a:rPr lang="it-IT" dirty="0"/>
                        <a:t>2003</a:t>
                      </a:r>
                    </a:p>
                  </a:txBody>
                  <a:tcPr/>
                </a:tc>
                <a:tc>
                  <a:txBody>
                    <a:bodyPr/>
                    <a:lstStyle/>
                    <a:p>
                      <a:r>
                        <a:rPr lang="it-IT" dirty="0"/>
                        <a:t>1</a:t>
                      </a:r>
                    </a:p>
                  </a:txBody>
                  <a:tcPr/>
                </a:tc>
                <a:extLst>
                  <a:ext uri="{0D108BD9-81ED-4DB2-BD59-A6C34878D82A}">
                    <a16:rowId xmlns:a16="http://schemas.microsoft.com/office/drawing/2014/main" val="3176620430"/>
                  </a:ext>
                </a:extLst>
              </a:tr>
              <a:tr h="240974">
                <a:tc>
                  <a:txBody>
                    <a:bodyPr/>
                    <a:lstStyle/>
                    <a:p>
                      <a:r>
                        <a:rPr lang="it-IT" dirty="0"/>
                        <a:t>H</a:t>
                      </a:r>
                    </a:p>
                  </a:txBody>
                  <a:tcPr/>
                </a:tc>
                <a:tc>
                  <a:txBody>
                    <a:bodyPr/>
                    <a:lstStyle/>
                    <a:p>
                      <a:r>
                        <a:rPr lang="it-IT" dirty="0"/>
                        <a:t>2084</a:t>
                      </a:r>
                    </a:p>
                  </a:txBody>
                  <a:tcPr/>
                </a:tc>
                <a:tc>
                  <a:txBody>
                    <a:bodyPr/>
                    <a:lstStyle/>
                    <a:p>
                      <a:r>
                        <a:rPr lang="it-IT" dirty="0"/>
                        <a:t>1</a:t>
                      </a:r>
                    </a:p>
                  </a:txBody>
                  <a:tcPr/>
                </a:tc>
                <a:extLst>
                  <a:ext uri="{0D108BD9-81ED-4DB2-BD59-A6C34878D82A}">
                    <a16:rowId xmlns:a16="http://schemas.microsoft.com/office/drawing/2014/main" val="2567815814"/>
                  </a:ext>
                </a:extLst>
              </a:tr>
            </a:tbl>
          </a:graphicData>
        </a:graphic>
      </p:graphicFrame>
    </p:spTree>
    <p:extLst>
      <p:ext uri="{BB962C8B-B14F-4D97-AF65-F5344CB8AC3E}">
        <p14:creationId xmlns:p14="http://schemas.microsoft.com/office/powerpoint/2010/main" val="2542144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(5) - Idea (1)</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a:t>WS</a:t>
            </a:r>
            <a:r>
              <a:rPr lang="it-IT" dirty="0"/>
              <a:t> (</a:t>
            </a:r>
            <a:r>
              <a:rPr lang="it-IT" i="1" dirty="0" err="1"/>
              <a:t>Working</a:t>
            </a:r>
            <a:r>
              <a:rPr lang="it-IT" i="1" dirty="0"/>
              <a:t> Set</a:t>
            </a:r>
            <a:r>
              <a:rPr lang="it-IT" dirty="0"/>
              <a:t>):</a:t>
            </a:r>
          </a:p>
          <a:p>
            <a:pPr lvl="1"/>
            <a:r>
              <a:rPr lang="it-IT" dirty="0"/>
              <a:t>M e R gestiti come visto in precedenza, R azzerato ad ogni </a:t>
            </a:r>
            <a:r>
              <a:rPr lang="it-IT" dirty="0" err="1"/>
              <a:t>tick</a:t>
            </a:r>
            <a:r>
              <a:rPr lang="it-IT" dirty="0"/>
              <a:t> del clock</a:t>
            </a:r>
          </a:p>
          <a:p>
            <a:pPr lvl="1"/>
            <a:r>
              <a:rPr lang="el-GR" dirty="0"/>
              <a:t>τ</a:t>
            </a:r>
            <a:r>
              <a:rPr lang="it-IT" dirty="0"/>
              <a:t> misura tempo di non utilizzo necessario per essere considerati fuori dal </a:t>
            </a:r>
            <a:r>
              <a:rPr lang="it-IT" dirty="0" err="1"/>
              <a:t>working</a:t>
            </a:r>
            <a:r>
              <a:rPr lang="it-IT" dirty="0"/>
              <a:t> set</a:t>
            </a:r>
          </a:p>
          <a:p>
            <a:pPr lvl="1"/>
            <a:r>
              <a:rPr lang="it-IT" dirty="0"/>
              <a:t>Analizzata tutta tabella pagine:</a:t>
            </a:r>
          </a:p>
          <a:p>
            <a:pPr lvl="2"/>
            <a:r>
              <a:rPr lang="it-IT" dirty="0"/>
              <a:t>Se R=1, pagina non candidata a rimozione,</a:t>
            </a:r>
          </a:p>
          <a:p>
            <a:pPr lvl="2"/>
            <a:r>
              <a:rPr lang="it-IT" dirty="0"/>
              <a:t>Se R=0, si calcola età: tempo virtuale corrente – ultimo tempo di utilizzo</a:t>
            </a:r>
          </a:p>
          <a:p>
            <a:pPr lvl="2"/>
            <a:r>
              <a:rPr lang="it-IT" dirty="0"/>
              <a:t>Se R = 0 e età &gt; </a:t>
            </a:r>
            <a:r>
              <a:rPr lang="el-GR" dirty="0"/>
              <a:t>τ</a:t>
            </a:r>
            <a:r>
              <a:rPr lang="it-IT" dirty="0"/>
              <a:t>, pagina rimpiazzata e continua aggiornamento</a:t>
            </a:r>
          </a:p>
          <a:p>
            <a:pPr lvl="2"/>
            <a:r>
              <a:rPr lang="it-IT" dirty="0"/>
              <a:t>Se R = 0 e età &lt; </a:t>
            </a:r>
            <a:r>
              <a:rPr lang="el-GR" dirty="0"/>
              <a:t>τ</a:t>
            </a:r>
            <a:r>
              <a:rPr lang="it-IT" dirty="0"/>
              <a:t>, pagina con età maggiore segnata. Se nessuna pagina capita in caso precedente, rimpiazzata quella con età maggiore.</a:t>
            </a:r>
          </a:p>
          <a:p>
            <a:pPr lvl="1"/>
            <a:r>
              <a:rPr lang="it-IT" dirty="0"/>
              <a:t>Se nessuna pagina rimpiazzabile (tutte con R=1), rimpiazza una a caso.</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3218974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188ADF-BCFE-4A6C-9415-75DB8285E49B}"/>
              </a:ext>
            </a:extLst>
          </p:cNvPr>
          <p:cNvSpPr>
            <a:spLocks noGrp="1"/>
          </p:cNvSpPr>
          <p:nvPr>
            <p:ph type="title"/>
          </p:nvPr>
        </p:nvSpPr>
        <p:spPr>
          <a:xfrm>
            <a:off x="2592925" y="624110"/>
            <a:ext cx="8911687" cy="1280890"/>
          </a:xfrm>
        </p:spPr>
        <p:txBody>
          <a:bodyPr>
            <a:normAutofit/>
          </a:bodyPr>
          <a:lstStyle/>
          <a:p>
            <a:r>
              <a:rPr lang="it-IT" b="1" dirty="0"/>
              <a:t>Algoritmi di rimpiazzamento delle pagine (5) - Idea (2)</a:t>
            </a:r>
            <a:endParaRPr lang="it-IT" dirty="0"/>
          </a:p>
        </p:txBody>
      </p:sp>
      <p:sp>
        <p:nvSpPr>
          <p:cNvPr id="3" name="Segnaposto contenuto 2">
            <a:extLst>
              <a:ext uri="{FF2B5EF4-FFF2-40B4-BE49-F238E27FC236}">
                <a16:creationId xmlns:a16="http://schemas.microsoft.com/office/drawing/2014/main" id="{83B7E7EA-E401-44AE-8301-9E4D33A766C5}"/>
              </a:ext>
            </a:extLst>
          </p:cNvPr>
          <p:cNvSpPr>
            <a:spLocks noGrp="1"/>
          </p:cNvSpPr>
          <p:nvPr>
            <p:ph idx="1"/>
          </p:nvPr>
        </p:nvSpPr>
        <p:spPr>
          <a:xfrm>
            <a:off x="2589212" y="2133601"/>
            <a:ext cx="8915400" cy="3766456"/>
          </a:xfrm>
        </p:spPr>
        <p:txBody>
          <a:bodyPr>
            <a:normAutofit/>
          </a:bodyPr>
          <a:lstStyle/>
          <a:p>
            <a:r>
              <a:rPr lang="it-IT" dirty="0"/>
              <a:t>Algoritmo </a:t>
            </a:r>
            <a:r>
              <a:rPr lang="it-IT" b="1" dirty="0" err="1"/>
              <a:t>WSClock</a:t>
            </a:r>
            <a:r>
              <a:rPr lang="it-IT" dirty="0"/>
              <a:t> (</a:t>
            </a:r>
            <a:r>
              <a:rPr lang="it-IT" i="1" dirty="0" err="1"/>
              <a:t>Working</a:t>
            </a:r>
            <a:r>
              <a:rPr lang="it-IT" i="1" dirty="0"/>
              <a:t> Set</a:t>
            </a:r>
            <a:r>
              <a:rPr lang="it-IT" dirty="0"/>
              <a:t>):</a:t>
            </a:r>
          </a:p>
          <a:p>
            <a:pPr lvl="1"/>
            <a:r>
              <a:rPr lang="it-IT" dirty="0"/>
              <a:t>Deriva da WS e da algoritmo orologio</a:t>
            </a:r>
          </a:p>
          <a:p>
            <a:pPr lvl="1"/>
            <a:r>
              <a:rPr lang="it-IT" dirty="0"/>
              <a:t>Lista circolare con ‘lancetta’</a:t>
            </a:r>
          </a:p>
          <a:p>
            <a:pPr lvl="1"/>
            <a:r>
              <a:rPr lang="it-IT" dirty="0"/>
              <a:t>Se lancetta punta pagina con R=1, pone R=0 e va avanti</a:t>
            </a:r>
          </a:p>
          <a:p>
            <a:pPr lvl="1"/>
            <a:r>
              <a:rPr lang="it-IT" dirty="0"/>
              <a:t>Se lancetta punta pagina con R=0 e età &gt; </a:t>
            </a:r>
            <a:r>
              <a:rPr lang="el-GR" dirty="0"/>
              <a:t>τ</a:t>
            </a:r>
            <a:r>
              <a:rPr lang="it-IT" dirty="0"/>
              <a:t>, pagina rilasciata</a:t>
            </a:r>
          </a:p>
          <a:p>
            <a:pPr lvl="1"/>
            <a:r>
              <a:rPr lang="it-IT" dirty="0"/>
              <a:t>Altrimenti, pagina schedulata per scrittura su disco</a:t>
            </a:r>
          </a:p>
          <a:p>
            <a:pPr lvl="1"/>
            <a:r>
              <a:rPr lang="it-IT" dirty="0"/>
              <a:t>Se si torna a punto di partenza,  si rimuove prima pagina disponibile che si incontra (quando esiste almeno una pagina schedulata)</a:t>
            </a:r>
          </a:p>
          <a:p>
            <a:pPr lvl="1"/>
            <a:r>
              <a:rPr lang="it-IT" dirty="0"/>
              <a:t>Se non c’è nessuna pagina schedulata, si rimuove la pagina successiva</a:t>
            </a:r>
          </a:p>
          <a:p>
            <a:pPr marL="0" indent="0">
              <a:buNone/>
            </a:pPr>
            <a:endParaRPr lang="it-IT" dirty="0"/>
          </a:p>
          <a:p>
            <a:endParaRPr lang="en-US" b="1" dirty="0"/>
          </a:p>
        </p:txBody>
      </p:sp>
      <p:sp>
        <p:nvSpPr>
          <p:cNvPr id="12" name="Segnaposto data 11">
            <a:extLst>
              <a:ext uri="{FF2B5EF4-FFF2-40B4-BE49-F238E27FC236}">
                <a16:creationId xmlns:a16="http://schemas.microsoft.com/office/drawing/2014/main" id="{79E5D292-6153-4720-9D3C-A52D853F9D43}"/>
              </a:ext>
            </a:extLst>
          </p:cNvPr>
          <p:cNvSpPr>
            <a:spLocks noGrp="1"/>
          </p:cNvSpPr>
          <p:nvPr>
            <p:ph type="dt" sz="half" idx="10"/>
          </p:nvPr>
        </p:nvSpPr>
        <p:spPr/>
        <p:txBody>
          <a:bodyPr/>
          <a:lstStyle/>
          <a:p>
            <a:r>
              <a:rPr lang="it-IT"/>
              <a:t>17/01/2018</a:t>
            </a:r>
            <a:endParaRPr lang="en-US" dirty="0"/>
          </a:p>
        </p:txBody>
      </p:sp>
    </p:spTree>
    <p:extLst>
      <p:ext uri="{BB962C8B-B14F-4D97-AF65-F5344CB8AC3E}">
        <p14:creationId xmlns:p14="http://schemas.microsoft.com/office/powerpoint/2010/main" val="967883489"/>
      </p:ext>
    </p:extLst>
  </p:cSld>
  <p:clrMapOvr>
    <a:masterClrMapping/>
  </p:clrMapOvr>
</p:sld>
</file>

<file path=ppt/theme/theme1.xml><?xml version="1.0" encoding="utf-8"?>
<a:theme xmlns:a="http://schemas.openxmlformats.org/drawingml/2006/main" name="Filo">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3023</TotalTime>
  <Words>981</Words>
  <Application>Microsoft Office PowerPoint</Application>
  <PresentationFormat>Widescreen</PresentationFormat>
  <Paragraphs>154</Paragraphs>
  <Slides>14</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14</vt:i4>
      </vt:variant>
    </vt:vector>
  </HeadingPairs>
  <TitlesOfParts>
    <vt:vector size="21" baseType="lpstr">
      <vt:lpstr>+Corpo</vt:lpstr>
      <vt:lpstr>Arial</vt:lpstr>
      <vt:lpstr>Calibri</vt:lpstr>
      <vt:lpstr>Century Gothic</vt:lpstr>
      <vt:lpstr>Times New Roman, serif</vt:lpstr>
      <vt:lpstr>Wingdings 3</vt:lpstr>
      <vt:lpstr>Filo</vt:lpstr>
      <vt:lpstr>ESERCITAZIONE 8 - Soluzioni</vt:lpstr>
      <vt:lpstr>Algoritmi di rimpiazzamento delle pagine</vt:lpstr>
      <vt:lpstr>Algoritmi di rimpiazzamento delle pagine (1)</vt:lpstr>
      <vt:lpstr>Algoritmi di rimpiazzamento delle pagine (1)- Idea (1)</vt:lpstr>
      <vt:lpstr>Algoritmi di rimpiazzamento delle pagine (1) - Idea (2)</vt:lpstr>
      <vt:lpstr>Algoritmi di rimpiazzamento delle pagine (2)</vt:lpstr>
      <vt:lpstr>Algoritmi di rimpiazzamento delle pagine (2) - Idea (1)</vt:lpstr>
      <vt:lpstr>Algoritmi di rimpiazzamento delle pagine (3)</vt:lpstr>
      <vt:lpstr>Algoritmi di rimpiazzamento delle pagine (3) - Idea (1)</vt:lpstr>
      <vt:lpstr>Algoritmi di rimpiazzamento delle pagine (4)</vt:lpstr>
      <vt:lpstr>Algoritmi di rimpiazzamento delle pagine (4) - Idea (1)</vt:lpstr>
      <vt:lpstr>Algoritmi di rimpiazzamento delle pagine (5)</vt:lpstr>
      <vt:lpstr>Algoritmi di rimpiazzamento delle pagine (5) - Idea (1)</vt:lpstr>
      <vt:lpstr>Algoritmi di rimpiazzamento delle pagine (5) - Idea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ESERCITAZIONE 1- Soluzioni</dc:title>
  <dc:creator>Andrea</dc:creator>
  <cp:lastModifiedBy>Andrea</cp:lastModifiedBy>
  <cp:revision>189</cp:revision>
  <dcterms:created xsi:type="dcterms:W3CDTF">2017-10-29T11:29:02Z</dcterms:created>
  <dcterms:modified xsi:type="dcterms:W3CDTF">2018-01-14T12:21:11Z</dcterms:modified>
</cp:coreProperties>
</file>