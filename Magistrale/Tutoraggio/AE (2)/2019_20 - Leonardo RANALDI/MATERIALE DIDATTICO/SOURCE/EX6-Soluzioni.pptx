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65" r:id="rId5"/>
    <p:sldId id="259" r:id="rId6"/>
    <p:sldId id="266" r:id="rId7"/>
    <p:sldId id="267" r:id="rId8"/>
    <p:sldId id="260" r:id="rId9"/>
    <p:sldId id="268" r:id="rId10"/>
    <p:sldId id="269" r:id="rId11"/>
    <p:sldId id="300" r:id="rId12"/>
    <p:sldId id="291" r:id="rId13"/>
    <p:sldId id="295" r:id="rId14"/>
    <p:sldId id="292" r:id="rId15"/>
    <p:sldId id="293" r:id="rId16"/>
    <p:sldId id="294" r:id="rId17"/>
    <p:sldId id="296" r:id="rId18"/>
    <p:sldId id="297" r:id="rId19"/>
    <p:sldId id="298" r:id="rId20"/>
    <p:sldId id="29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24" autoAdjust="0"/>
  </p:normalViewPr>
  <p:slideViewPr>
    <p:cSldViewPr snapToGrid="0">
      <p:cViewPr varScale="1">
        <p:scale>
          <a:sx n="68" d="100"/>
          <a:sy n="6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18/12/2017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18/12/2017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6 - Soluzioni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Processi e </a:t>
            </a:r>
            <a:r>
              <a:rPr lang="it-IT" b="1" dirty="0" err="1"/>
              <a:t>thread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Processi e </a:t>
            </a:r>
            <a:r>
              <a:rPr lang="it-IT" b="1" dirty="0" err="1"/>
              <a:t>Thread</a:t>
            </a:r>
            <a:endParaRPr lang="it-IT" b="1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8A196AD-A40E-469F-B62D-F2B211A4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5B609C46-F5C6-4D06-B938-1CA3277C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BCCE09E-029F-41CF-9C58-20EE3176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129540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 In figura è mostrato lo stato di tre processi. In teoria, con 3 stati potrebbero verificarsi 6 transizioni, 2 per uscire da ogni stato. Tuttavia, sono mostrate solo 4 transizioni. Esistono circostanze in cui possono verificarsi una o entrambe le transizioni mancanti?</a:t>
            </a: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601A39A-1C58-40D5-8687-47A61DE70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814" y="3309257"/>
            <a:ext cx="5824372" cy="2821180"/>
          </a:xfrm>
          <a:prstGeom prst="rect">
            <a:avLst/>
          </a:prstGeom>
        </p:spPr>
      </p:pic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(1)  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996836"/>
          </a:xfrm>
        </p:spPr>
        <p:txBody>
          <a:bodyPr/>
          <a:lstStyle/>
          <a:p>
            <a:r>
              <a:rPr lang="it-IT" dirty="0"/>
              <a:t>In un calcolatore basilare, che può risolvere un unico task alla volta, potrebbe avvenire la transizione </a:t>
            </a:r>
            <a:r>
              <a:rPr lang="it-IT" i="1" dirty="0" err="1"/>
              <a:t>Blocked→Running</a:t>
            </a:r>
            <a:r>
              <a:rPr lang="it-IT" dirty="0"/>
              <a:t>, in quanto essendo il processo attualmente in considerazione l’unico risolvibile dal core, non ci sarebbe la necessità di porlo preventivamente nello stato </a:t>
            </a:r>
            <a:r>
              <a:rPr lang="it-IT" i="1" dirty="0"/>
              <a:t>Ready</a:t>
            </a:r>
            <a:r>
              <a:rPr lang="it-IT" dirty="0"/>
              <a:t>.</a:t>
            </a:r>
          </a:p>
          <a:p>
            <a:r>
              <a:rPr lang="it-IT" dirty="0"/>
              <a:t>La transizione </a:t>
            </a:r>
            <a:r>
              <a:rPr lang="it-IT" i="1" dirty="0"/>
              <a:t>Ready → </a:t>
            </a:r>
            <a:r>
              <a:rPr lang="it-IT" i="1" dirty="0" err="1"/>
              <a:t>Blocked</a:t>
            </a:r>
            <a:r>
              <a:rPr lang="it-IT" dirty="0"/>
              <a:t>, invece, non dovrebbe mai verificarsi. Infatti, anche nei casi limite, un processo in stato </a:t>
            </a:r>
            <a:r>
              <a:rPr lang="it-IT" i="1" dirty="0"/>
              <a:t>Ready</a:t>
            </a:r>
            <a:r>
              <a:rPr lang="it-IT" dirty="0"/>
              <a:t> è, per l’appunto, pronto, e non ci sono situazioni naturali in cui si possa invocare una chiamata bloccante su un altro processo.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4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2) Confrontare la lettura di un file usando un file server a </a:t>
            </a:r>
            <a:r>
              <a:rPr lang="it-IT" b="1" dirty="0" err="1"/>
              <a:t>thread</a:t>
            </a:r>
            <a:r>
              <a:rPr lang="it-IT" b="1" dirty="0"/>
              <a:t> singolo e uno multi-</a:t>
            </a:r>
            <a:r>
              <a:rPr lang="it-IT" b="1" dirty="0" err="1"/>
              <a:t>thread</a:t>
            </a:r>
            <a:r>
              <a:rPr lang="it-IT" b="1" dirty="0"/>
              <a:t>. Occorrono 15 </a:t>
            </a:r>
            <a:r>
              <a:rPr lang="it-IT" b="1" dirty="0" err="1"/>
              <a:t>ms</a:t>
            </a:r>
            <a:r>
              <a:rPr lang="it-IT" b="1" dirty="0"/>
              <a:t> per ottenere una richiesta di lavoro, smistarla ed elaborala, nel caso in cui essa faccia riferimento a dati presenti in un blocco di cache. Nel caso in cui sia necessario effettuare un’operazione su disco (che avviene in un terzo dei casi) sono richiesti ulteriori 75 </a:t>
            </a:r>
            <a:r>
              <a:rPr lang="it-IT" b="1" dirty="0" err="1"/>
              <a:t>ms</a:t>
            </a:r>
            <a:r>
              <a:rPr lang="it-IT" b="1" dirty="0"/>
              <a:t>, durante i quali il processo è sospeso. Quante richieste al secondo può gestire il server se è a </a:t>
            </a:r>
            <a:r>
              <a:rPr lang="it-IT" b="1" dirty="0" err="1"/>
              <a:t>thread</a:t>
            </a:r>
            <a:r>
              <a:rPr lang="it-IT" b="1" dirty="0"/>
              <a:t> singolo? E se è multi-</a:t>
            </a:r>
            <a:r>
              <a:rPr lang="it-IT" b="1" dirty="0" err="1"/>
              <a:t>thread</a:t>
            </a:r>
            <a:r>
              <a:rPr lang="it-IT" b="1" dirty="0"/>
              <a:t>?</a:t>
            </a: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9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(2)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it-IT" dirty="0" err="1"/>
              <a:t>Thread</a:t>
            </a:r>
            <a:r>
              <a:rPr lang="it-IT" dirty="0"/>
              <a:t> singolo</a:t>
            </a:r>
          </a:p>
          <a:p>
            <a:pPr marL="0" indent="0">
              <a:buNone/>
            </a:pPr>
            <a:r>
              <a:rPr lang="it-IT" dirty="0"/>
              <a:t>15 </a:t>
            </a:r>
            <a:r>
              <a:rPr lang="it-IT" dirty="0" err="1"/>
              <a:t>ms</a:t>
            </a:r>
            <a:r>
              <a:rPr lang="it-IT" dirty="0"/>
              <a:t> → 15 </a:t>
            </a:r>
            <a:r>
              <a:rPr lang="it-IT" dirty="0" err="1"/>
              <a:t>ms</a:t>
            </a:r>
            <a:r>
              <a:rPr lang="it-IT" dirty="0"/>
              <a:t> →  90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Ripetere fino al raggiungimento di 1s.</a:t>
            </a:r>
          </a:p>
          <a:p>
            <a:pPr marL="0" indent="0">
              <a:buNone/>
            </a:pPr>
            <a:r>
              <a:rPr lang="it-IT" dirty="0"/>
              <a:t>120 </a:t>
            </a:r>
            <a:r>
              <a:rPr lang="it-IT" dirty="0" err="1"/>
              <a:t>ms</a:t>
            </a:r>
            <a:r>
              <a:rPr lang="it-IT" dirty="0"/>
              <a:t>: 3 richieste</a:t>
            </a:r>
          </a:p>
          <a:p>
            <a:pPr marL="0" indent="0">
              <a:buNone/>
            </a:pPr>
            <a:r>
              <a:rPr lang="it-IT" dirty="0"/>
              <a:t>1000/120 = 8,3</a:t>
            </a:r>
          </a:p>
          <a:p>
            <a:pPr marL="0" indent="0">
              <a:buNone/>
            </a:pPr>
            <a:r>
              <a:rPr lang="it-IT" dirty="0"/>
              <a:t>8,3 * 3 = 25 richieste al secondo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(2)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Thread</a:t>
            </a:r>
            <a:r>
              <a:rPr lang="it-IT" dirty="0"/>
              <a:t> multipli</a:t>
            </a:r>
          </a:p>
          <a:p>
            <a:pPr marL="0" indent="0">
              <a:buNone/>
            </a:pPr>
            <a:r>
              <a:rPr lang="it-IT" dirty="0"/>
              <a:t>15 </a:t>
            </a:r>
            <a:r>
              <a:rPr lang="it-IT" dirty="0" err="1"/>
              <a:t>ms</a:t>
            </a:r>
            <a:r>
              <a:rPr lang="it-IT" dirty="0"/>
              <a:t> → 15 </a:t>
            </a:r>
            <a:r>
              <a:rPr lang="it-IT" dirty="0" err="1"/>
              <a:t>ms</a:t>
            </a:r>
            <a:r>
              <a:rPr lang="it-IT" dirty="0"/>
              <a:t> →  90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In ogni richiesta di 90 </a:t>
            </a:r>
            <a:r>
              <a:rPr lang="it-IT" dirty="0" err="1"/>
              <a:t>ms</a:t>
            </a:r>
            <a:r>
              <a:rPr lang="it-IT" dirty="0"/>
              <a:t> possono essere risolte 5 richieste da 15 ms. Si mantenga, tuttavia, la </a:t>
            </a:r>
            <a:r>
              <a:rPr lang="it-IT" dirty="0" err="1"/>
              <a:t>proporizone</a:t>
            </a:r>
            <a:r>
              <a:rPr lang="it-IT" dirty="0"/>
              <a:t> di 1 a 2 per le richieste a disco.</a:t>
            </a:r>
          </a:p>
          <a:p>
            <a:pPr marL="0" indent="0">
              <a:buNone/>
            </a:pPr>
            <a:r>
              <a:rPr lang="it-IT" dirty="0"/>
              <a:t>L’idea è:	 90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			   15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			   15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Quindi, ogni 90 </a:t>
            </a:r>
            <a:r>
              <a:rPr lang="it-IT" dirty="0" err="1"/>
              <a:t>ms</a:t>
            </a:r>
            <a:r>
              <a:rPr lang="it-IT" dirty="0"/>
              <a:t> si risolvono 3 richieste. Il calcolo ora è semplice:</a:t>
            </a:r>
          </a:p>
          <a:p>
            <a:pPr marL="0" indent="0">
              <a:buNone/>
            </a:pPr>
            <a:r>
              <a:rPr lang="it-IT" dirty="0"/>
              <a:t>1000/90 = 11</a:t>
            </a:r>
          </a:p>
          <a:p>
            <a:pPr marL="0" indent="0">
              <a:buNone/>
            </a:pPr>
            <a:r>
              <a:rPr lang="it-IT" dirty="0"/>
              <a:t>11*3 = 33 richieste al secondo.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78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3) </a:t>
            </a:r>
            <a:r>
              <a:rPr lang="en-US" b="1" dirty="0"/>
              <a:t>In un computer con 1 GB di </a:t>
            </a:r>
            <a:r>
              <a:rPr lang="en-US" b="1" dirty="0" err="1"/>
              <a:t>memoria</a:t>
            </a:r>
            <a:r>
              <a:rPr lang="en-US" b="1" dirty="0"/>
              <a:t>,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 </a:t>
            </a:r>
            <a:r>
              <a:rPr lang="en-US" b="1" dirty="0" err="1"/>
              <a:t>operativo</a:t>
            </a:r>
            <a:r>
              <a:rPr lang="en-US" b="1" dirty="0"/>
              <a:t> </a:t>
            </a:r>
            <a:r>
              <a:rPr lang="en-US" b="1" dirty="0" err="1"/>
              <a:t>occupa</a:t>
            </a:r>
            <a:r>
              <a:rPr lang="en-US" b="1" dirty="0"/>
              <a:t> 512 MB 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processi</a:t>
            </a:r>
            <a:r>
              <a:rPr lang="en-US" b="1" dirty="0"/>
              <a:t> </a:t>
            </a:r>
            <a:r>
              <a:rPr lang="en-US" b="1" dirty="0" err="1"/>
              <a:t>occupano</a:t>
            </a:r>
            <a:r>
              <a:rPr lang="en-US" b="1" dirty="0"/>
              <a:t> </a:t>
            </a:r>
            <a:r>
              <a:rPr lang="en-US" b="1" dirty="0" err="1"/>
              <a:t>mediamente</a:t>
            </a:r>
            <a:r>
              <a:rPr lang="en-US" b="1" dirty="0"/>
              <a:t> 64 MB, se </a:t>
            </a:r>
            <a:r>
              <a:rPr lang="en-US" b="1" dirty="0" err="1"/>
              <a:t>l’attesa</a:t>
            </a:r>
            <a:r>
              <a:rPr lang="en-US" b="1" dirty="0"/>
              <a:t> media </a:t>
            </a:r>
            <a:r>
              <a:rPr lang="en-US" b="1" dirty="0" err="1"/>
              <a:t>dell’I</a:t>
            </a:r>
            <a:r>
              <a:rPr lang="en-US" b="1" dirty="0"/>
              <a:t>/O è del 60%, </a:t>
            </a:r>
            <a:r>
              <a:rPr lang="en-US" b="1" dirty="0" err="1"/>
              <a:t>qual</a:t>
            </a:r>
            <a:r>
              <a:rPr lang="en-US" b="1" dirty="0"/>
              <a:t> è </a:t>
            </a:r>
            <a:r>
              <a:rPr lang="en-US" b="1" dirty="0" err="1"/>
              <a:t>l’utilizzo</a:t>
            </a:r>
            <a:r>
              <a:rPr lang="en-US" b="1" dirty="0"/>
              <a:t> </a:t>
            </a:r>
            <a:r>
              <a:rPr lang="en-US" b="1" dirty="0" err="1"/>
              <a:t>della</a:t>
            </a:r>
            <a:r>
              <a:rPr lang="en-US" b="1" dirty="0"/>
              <a:t> CPU? </a:t>
            </a:r>
            <a:r>
              <a:rPr lang="en-US" b="1" dirty="0" err="1"/>
              <a:t>Aggiungendo</a:t>
            </a:r>
            <a:r>
              <a:rPr lang="en-US" b="1" dirty="0"/>
              <a:t> 256 MB di RAM, quale </a:t>
            </a:r>
            <a:r>
              <a:rPr lang="en-US" b="1" dirty="0" err="1"/>
              <a:t>sarà</a:t>
            </a:r>
            <a:r>
              <a:rPr lang="en-US" b="1" dirty="0"/>
              <a:t>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nuovo</a:t>
            </a:r>
            <a:r>
              <a:rPr lang="en-US" b="1" dirty="0"/>
              <a:t> </a:t>
            </a:r>
            <a:r>
              <a:rPr lang="en-US" b="1" dirty="0" err="1"/>
              <a:t>utilizzo</a:t>
            </a:r>
            <a:r>
              <a:rPr lang="en-US" b="1" dirty="0"/>
              <a:t> </a:t>
            </a:r>
            <a:r>
              <a:rPr lang="en-US" b="1" dirty="0" err="1"/>
              <a:t>della</a:t>
            </a:r>
            <a:r>
              <a:rPr lang="en-US" b="1" dirty="0"/>
              <a:t> CPU?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25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(3)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Il tempo di </a:t>
            </a:r>
            <a:r>
              <a:rPr lang="en-US" dirty="0" err="1"/>
              <a:t>attesa</a:t>
            </a:r>
            <a:r>
              <a:rPr lang="en-US" dirty="0"/>
              <a:t> del 60% è </a:t>
            </a:r>
            <a:r>
              <a:rPr lang="en-US" dirty="0" err="1"/>
              <a:t>riferito</a:t>
            </a:r>
            <a:r>
              <a:rPr lang="en-US" dirty="0"/>
              <a:t> </a:t>
            </a:r>
            <a:r>
              <a:rPr lang="en-US" dirty="0" err="1"/>
              <a:t>all'attesa</a:t>
            </a:r>
            <a:r>
              <a:rPr lang="en-US" dirty="0"/>
              <a:t> di </a:t>
            </a:r>
            <a:r>
              <a:rPr lang="en-US" dirty="0" err="1"/>
              <a:t>completamento</a:t>
            </a:r>
            <a:r>
              <a:rPr lang="en-US" dirty="0"/>
              <a:t> di </a:t>
            </a:r>
            <a:r>
              <a:rPr lang="en-US" dirty="0" err="1"/>
              <a:t>operazioni</a:t>
            </a:r>
            <a:r>
              <a:rPr lang="en-US" dirty="0"/>
              <a:t> di I/O.</a:t>
            </a:r>
          </a:p>
          <a:p>
            <a:r>
              <a:rPr lang="en-US" dirty="0"/>
              <a:t>Se </a:t>
            </a:r>
            <a:r>
              <a:rPr lang="en-US" dirty="0" err="1"/>
              <a:t>abbiamo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in </a:t>
            </a:r>
            <a:r>
              <a:rPr lang="en-US" dirty="0" err="1"/>
              <a:t>memoria</a:t>
            </a:r>
            <a:r>
              <a:rPr lang="en-US" dirty="0"/>
              <a:t> e </a:t>
            </a:r>
            <a:r>
              <a:rPr lang="en-US" dirty="0" err="1"/>
              <a:t>il</a:t>
            </a:r>
            <a:r>
              <a:rPr lang="en-US" dirty="0"/>
              <a:t> tempo di </a:t>
            </a:r>
            <a:r>
              <a:rPr lang="en-US" dirty="0" err="1"/>
              <a:t>attesa</a:t>
            </a:r>
            <a:r>
              <a:rPr lang="en-US" dirty="0"/>
              <a:t> medio è </a:t>
            </a:r>
            <a:r>
              <a:rPr lang="en-US" i="1" dirty="0"/>
              <a:t>p</a:t>
            </a:r>
            <a:r>
              <a:rPr lang="en-US" dirty="0"/>
              <a:t>, </a:t>
            </a:r>
            <a:r>
              <a:rPr lang="en-US" dirty="0" err="1"/>
              <a:t>allora</a:t>
            </a:r>
            <a:r>
              <a:rPr lang="en-US" dirty="0"/>
              <a:t> la </a:t>
            </a:r>
            <a:r>
              <a:rPr lang="en-US" dirty="0" err="1"/>
              <a:t>probabilità</a:t>
            </a:r>
            <a:r>
              <a:rPr lang="en-US" dirty="0"/>
              <a:t> che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in </a:t>
            </a:r>
            <a:r>
              <a:rPr lang="en-US" dirty="0" err="1"/>
              <a:t>attesa</a:t>
            </a:r>
            <a:r>
              <a:rPr lang="en-US" dirty="0"/>
              <a:t> (e </a:t>
            </a:r>
            <a:r>
              <a:rPr lang="en-US" dirty="0" err="1"/>
              <a:t>quindi</a:t>
            </a:r>
            <a:r>
              <a:rPr lang="en-US" dirty="0"/>
              <a:t> la CPU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intattiva</a:t>
            </a:r>
            <a:r>
              <a:rPr lang="en-US" dirty="0"/>
              <a:t>) è </a:t>
            </a:r>
            <a:r>
              <a:rPr lang="en-US" i="1" dirty="0" err="1"/>
              <a:t>p</a:t>
            </a:r>
            <a:r>
              <a:rPr lang="en-US" i="1" baseline="30000" dirty="0" err="1"/>
              <a:t>n</a:t>
            </a:r>
            <a:endParaRPr lang="en-US" dirty="0"/>
          </a:p>
          <a:p>
            <a:r>
              <a:rPr lang="en-US" dirty="0" err="1"/>
              <a:t>L'utilizzo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CPU è, </a:t>
            </a:r>
            <a:r>
              <a:rPr lang="en-US" dirty="0" err="1"/>
              <a:t>dunque</a:t>
            </a:r>
            <a:r>
              <a:rPr lang="en-US" dirty="0"/>
              <a:t>, 1- </a:t>
            </a:r>
            <a:r>
              <a:rPr lang="en-US" i="1" dirty="0" err="1"/>
              <a:t>p</a:t>
            </a:r>
            <a:r>
              <a:rPr lang="en-US" i="1" baseline="30000" dirty="0" err="1"/>
              <a:t>n</a:t>
            </a:r>
            <a:endParaRPr lang="en-US" i="1" baseline="30000" dirty="0"/>
          </a:p>
          <a:p>
            <a:r>
              <a:rPr lang="en-US" dirty="0"/>
              <a:t>Il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i="1" dirty="0"/>
              <a:t>n </a:t>
            </a:r>
            <a:r>
              <a:rPr lang="en-US" dirty="0"/>
              <a:t>di </a:t>
            </a:r>
            <a:r>
              <a:rPr lang="en-US" dirty="0" err="1"/>
              <a:t>processi</a:t>
            </a:r>
            <a:r>
              <a:rPr lang="en-US" dirty="0"/>
              <a:t> è </a:t>
            </a:r>
            <a:r>
              <a:rPr lang="en-US" dirty="0" err="1"/>
              <a:t>ottenibile</a:t>
            </a:r>
            <a:r>
              <a:rPr lang="en-US" dirty="0"/>
              <a:t> </a:t>
            </a:r>
            <a:r>
              <a:rPr lang="en-US" dirty="0" err="1"/>
              <a:t>dividendo</a:t>
            </a:r>
            <a:r>
              <a:rPr lang="en-US" dirty="0"/>
              <a:t> la </a:t>
            </a:r>
            <a:r>
              <a:rPr lang="en-US" dirty="0" err="1"/>
              <a:t>dimensione</a:t>
            </a:r>
            <a:r>
              <a:rPr lang="en-US" dirty="0"/>
              <a:t> di RAM </a:t>
            </a:r>
            <a:r>
              <a:rPr lang="en-US" dirty="0" err="1"/>
              <a:t>libera</a:t>
            </a:r>
            <a:r>
              <a:rPr lang="en-US" dirty="0"/>
              <a:t> per lo </a:t>
            </a:r>
            <a:r>
              <a:rPr lang="en-US" dirty="0" err="1"/>
              <a:t>spazio</a:t>
            </a:r>
            <a:r>
              <a:rPr lang="en-US" dirty="0"/>
              <a:t> </a:t>
            </a:r>
            <a:r>
              <a:rPr lang="en-US" dirty="0" err="1"/>
              <a:t>occupato</a:t>
            </a:r>
            <a:r>
              <a:rPr lang="en-US" dirty="0"/>
              <a:t> </a:t>
            </a:r>
            <a:r>
              <a:rPr lang="en-US" dirty="0" err="1"/>
              <a:t>naturalmente</a:t>
            </a:r>
            <a:r>
              <a:rPr lang="en-US" dirty="0"/>
              <a:t> da un solo </a:t>
            </a:r>
            <a:r>
              <a:rPr lang="en-US" dirty="0" err="1"/>
              <a:t>processo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3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(3)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i="1" dirty="0"/>
              <a:t>p </a:t>
            </a:r>
            <a:r>
              <a:rPr lang="en-US" dirty="0"/>
              <a:t>= 60%</a:t>
            </a:r>
          </a:p>
          <a:p>
            <a:r>
              <a:rPr lang="en-US" i="1" dirty="0"/>
              <a:t>n = </a:t>
            </a:r>
            <a:r>
              <a:rPr lang="en-US" dirty="0"/>
              <a:t>(1GB – 512 MB) / 64 MB = 512/64 = 8</a:t>
            </a:r>
          </a:p>
          <a:p>
            <a:r>
              <a:rPr lang="en-US" dirty="0" err="1"/>
              <a:t>Utilizzo</a:t>
            </a:r>
            <a:r>
              <a:rPr lang="en-US" dirty="0"/>
              <a:t> CPU = 1- </a:t>
            </a:r>
            <a:r>
              <a:rPr lang="en-US" i="1" dirty="0" err="1"/>
              <a:t>p</a:t>
            </a:r>
            <a:r>
              <a:rPr lang="en-US" i="1" baseline="30000" dirty="0" err="1"/>
              <a:t>n</a:t>
            </a:r>
            <a:r>
              <a:rPr lang="en-US" dirty="0"/>
              <a:t> = 1 - 0.6</a:t>
            </a:r>
            <a:r>
              <a:rPr lang="en-US" baseline="30000" dirty="0"/>
              <a:t>8</a:t>
            </a:r>
            <a:r>
              <a:rPr lang="en-US" dirty="0"/>
              <a:t> = 0.983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71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(3)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i="1" dirty="0"/>
              <a:t>p </a:t>
            </a:r>
            <a:r>
              <a:rPr lang="en-US" dirty="0"/>
              <a:t>= 60%</a:t>
            </a:r>
          </a:p>
          <a:p>
            <a:r>
              <a:rPr lang="en-US" dirty="0"/>
              <a:t>Nuova RAM: 256MB</a:t>
            </a:r>
          </a:p>
          <a:p>
            <a:r>
              <a:rPr lang="en-US" i="1" dirty="0"/>
              <a:t>n = </a:t>
            </a:r>
            <a:r>
              <a:rPr lang="en-US" dirty="0"/>
              <a:t>(1GB – 512 MB+256) / 64 MB = 768/64 = 12</a:t>
            </a:r>
          </a:p>
          <a:p>
            <a:r>
              <a:rPr lang="en-US" dirty="0" err="1"/>
              <a:t>Utilizzo</a:t>
            </a:r>
            <a:r>
              <a:rPr lang="en-US" dirty="0"/>
              <a:t> CPU = 1- </a:t>
            </a:r>
            <a:r>
              <a:rPr lang="en-US" i="1" dirty="0" err="1"/>
              <a:t>p</a:t>
            </a:r>
            <a:r>
              <a:rPr lang="en-US" i="1" baseline="30000" dirty="0" err="1"/>
              <a:t>n</a:t>
            </a:r>
            <a:r>
              <a:rPr lang="en-US" dirty="0"/>
              <a:t> = 1 - 0.6</a:t>
            </a:r>
            <a:r>
              <a:rPr lang="en-US" baseline="30000" dirty="0"/>
              <a:t>12</a:t>
            </a:r>
            <a:r>
              <a:rPr lang="en-US" dirty="0"/>
              <a:t> = 0.997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64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4) </a:t>
            </a:r>
            <a:r>
              <a:rPr lang="en-US" b="1" dirty="0"/>
              <a:t>In un </a:t>
            </a:r>
            <a:r>
              <a:rPr lang="en-US" b="1" dirty="0" err="1"/>
              <a:t>sistema</a:t>
            </a:r>
            <a:r>
              <a:rPr lang="en-US" b="1" dirty="0"/>
              <a:t> a thread a </a:t>
            </a:r>
            <a:r>
              <a:rPr lang="en-US" b="1" dirty="0" err="1"/>
              <a:t>livello</a:t>
            </a:r>
            <a:r>
              <a:rPr lang="en-US" b="1" dirty="0"/>
              <a:t> </a:t>
            </a:r>
            <a:r>
              <a:rPr lang="en-US" b="1" dirty="0" err="1"/>
              <a:t>utente</a:t>
            </a:r>
            <a:r>
              <a:rPr lang="en-US" b="1" dirty="0"/>
              <a:t>, </a:t>
            </a:r>
            <a:r>
              <a:rPr lang="en-US" b="1" dirty="0" err="1"/>
              <a:t>c’è</a:t>
            </a:r>
            <a:r>
              <a:rPr lang="en-US" b="1" dirty="0"/>
              <a:t> </a:t>
            </a:r>
            <a:r>
              <a:rPr lang="en-US" b="1" dirty="0" err="1"/>
              <a:t>uno</a:t>
            </a:r>
            <a:r>
              <a:rPr lang="en-US" b="1" dirty="0"/>
              <a:t> stack per thread </a:t>
            </a:r>
            <a:r>
              <a:rPr lang="en-US" b="1" dirty="0" err="1"/>
              <a:t>oppure</a:t>
            </a:r>
            <a:r>
              <a:rPr lang="en-US" b="1" dirty="0"/>
              <a:t> </a:t>
            </a:r>
            <a:r>
              <a:rPr lang="en-US" b="1" dirty="0" err="1"/>
              <a:t>ce</a:t>
            </a:r>
            <a:r>
              <a:rPr lang="en-US" b="1" dirty="0"/>
              <a:t> ne è </a:t>
            </a:r>
            <a:r>
              <a:rPr lang="en-US" b="1" dirty="0" err="1"/>
              <a:t>una</a:t>
            </a:r>
            <a:r>
              <a:rPr lang="en-US" b="1" dirty="0"/>
              <a:t> per </a:t>
            </a:r>
            <a:r>
              <a:rPr lang="en-US" b="1" dirty="0" err="1"/>
              <a:t>processo</a:t>
            </a:r>
            <a:r>
              <a:rPr lang="en-US" b="1" dirty="0"/>
              <a:t>? E in un </a:t>
            </a:r>
            <a:r>
              <a:rPr lang="en-US" b="1" dirty="0" err="1"/>
              <a:t>sistema</a:t>
            </a:r>
            <a:r>
              <a:rPr lang="en-US" b="1" dirty="0"/>
              <a:t> a thread a </a:t>
            </a:r>
            <a:r>
              <a:rPr lang="en-US" b="1" dirty="0" err="1"/>
              <a:t>livello</a:t>
            </a:r>
            <a:r>
              <a:rPr lang="en-US" b="1" dirty="0"/>
              <a:t> kernel? </a:t>
            </a:r>
            <a:r>
              <a:rPr lang="en-US" b="1" dirty="0" err="1"/>
              <a:t>Spiegare</a:t>
            </a:r>
            <a:r>
              <a:rPr lang="en-US" b="1" dirty="0"/>
              <a:t>.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62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1"/>
            <a:ext cx="8911687" cy="37664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Thread</a:t>
            </a:r>
          </a:p>
          <a:p>
            <a:r>
              <a:rPr lang="it-IT" dirty="0"/>
              <a:t>unità di base di utilizzo della CPU</a:t>
            </a:r>
          </a:p>
          <a:p>
            <a:r>
              <a:rPr lang="it-IT" dirty="0"/>
              <a:t>Contiene:</a:t>
            </a:r>
          </a:p>
          <a:p>
            <a:pPr lvl="1"/>
            <a:r>
              <a:rPr lang="it-IT" dirty="0"/>
              <a:t>Program </a:t>
            </a:r>
            <a:r>
              <a:rPr lang="it-IT" dirty="0" err="1"/>
              <a:t>counter</a:t>
            </a:r>
            <a:endParaRPr lang="it-IT" dirty="0"/>
          </a:p>
          <a:p>
            <a:pPr lvl="1"/>
            <a:r>
              <a:rPr lang="it-IT" dirty="0"/>
              <a:t>Insieme registri</a:t>
            </a:r>
          </a:p>
          <a:p>
            <a:pPr lvl="1"/>
            <a:r>
              <a:rPr lang="it-IT" dirty="0"/>
              <a:t>Spazio </a:t>
            </a:r>
            <a:r>
              <a:rPr lang="it-IT" dirty="0" err="1"/>
              <a:t>stack</a:t>
            </a:r>
            <a:endParaRPr lang="it-IT" dirty="0"/>
          </a:p>
          <a:p>
            <a:r>
              <a:rPr lang="it-IT" dirty="0"/>
              <a:t>Condivide:</a:t>
            </a:r>
          </a:p>
          <a:p>
            <a:pPr lvl="1"/>
            <a:r>
              <a:rPr lang="it-IT" dirty="0"/>
              <a:t>Spazio indirizzamento (no protezione)</a:t>
            </a:r>
          </a:p>
          <a:p>
            <a:pPr lvl="1"/>
            <a:r>
              <a:rPr lang="it-IT" dirty="0"/>
              <a:t>Dati globali</a:t>
            </a:r>
          </a:p>
          <a:p>
            <a:pPr lvl="1"/>
            <a:r>
              <a:rPr lang="it-IT" dirty="0"/>
              <a:t>File aperti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8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4453272" cy="37664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Thread </a:t>
            </a:r>
            <a:r>
              <a:rPr lang="en-US" b="1" dirty="0" err="1"/>
              <a:t>livello</a:t>
            </a:r>
            <a:r>
              <a:rPr lang="en-US" b="1" dirty="0"/>
              <a:t> </a:t>
            </a:r>
            <a:r>
              <a:rPr lang="en-US" b="1" dirty="0" err="1"/>
              <a:t>utente</a:t>
            </a:r>
            <a:endParaRPr lang="en-US" b="1" dirty="0"/>
          </a:p>
          <a:p>
            <a:r>
              <a:rPr lang="en-US" dirty="0"/>
              <a:t>Sistema ha un solo </a:t>
            </a:r>
            <a:r>
              <a:rPr lang="en-US" dirty="0" err="1"/>
              <a:t>processo</a:t>
            </a:r>
            <a:endParaRPr lang="en-US" dirty="0"/>
          </a:p>
          <a:p>
            <a:r>
              <a:rPr lang="en-US" dirty="0" err="1"/>
              <a:t>Implementabili</a:t>
            </a:r>
            <a:r>
              <a:rPr lang="en-US" dirty="0"/>
              <a:t> in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supportano</a:t>
            </a:r>
            <a:r>
              <a:rPr lang="en-US" dirty="0"/>
              <a:t> thread</a:t>
            </a:r>
          </a:p>
          <a:p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ha </a:t>
            </a:r>
            <a:r>
              <a:rPr lang="en-US" dirty="0" err="1"/>
              <a:t>tabella</a:t>
            </a:r>
            <a:r>
              <a:rPr lang="en-US" dirty="0"/>
              <a:t> thread</a:t>
            </a:r>
          </a:p>
          <a:p>
            <a:r>
              <a:rPr lang="en-US" dirty="0"/>
              <a:t>Cambio </a:t>
            </a:r>
            <a:r>
              <a:rPr lang="en-US" dirty="0" err="1"/>
              <a:t>contesto</a:t>
            </a:r>
            <a:r>
              <a:rPr lang="en-US" dirty="0"/>
              <a:t> thread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veloce</a:t>
            </a:r>
            <a:r>
              <a:rPr lang="en-US" dirty="0"/>
              <a:t> </a:t>
            </a:r>
            <a:r>
              <a:rPr lang="en-US" dirty="0" err="1"/>
              <a:t>rispetto</a:t>
            </a:r>
            <a:r>
              <a:rPr lang="en-US" dirty="0"/>
              <a:t> </a:t>
            </a:r>
            <a:r>
              <a:rPr lang="en-US" dirty="0" err="1"/>
              <a:t>processi</a:t>
            </a:r>
            <a:endParaRPr lang="en-US" dirty="0"/>
          </a:p>
          <a:p>
            <a:r>
              <a:rPr lang="en-US" dirty="0"/>
              <a:t>Thread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schedulazione</a:t>
            </a:r>
            <a:r>
              <a:rPr lang="en-US" dirty="0"/>
              <a:t> </a:t>
            </a:r>
            <a:r>
              <a:rPr lang="en-US" dirty="0" err="1"/>
              <a:t>interno</a:t>
            </a:r>
            <a:endParaRPr lang="en-US" dirty="0"/>
          </a:p>
          <a:p>
            <a:r>
              <a:rPr lang="en-US" dirty="0" err="1"/>
              <a:t>Problema</a:t>
            </a:r>
            <a:r>
              <a:rPr lang="en-US" dirty="0"/>
              <a:t>: </a:t>
            </a:r>
            <a:r>
              <a:rPr lang="en-US" dirty="0" err="1"/>
              <a:t>chiamate</a:t>
            </a:r>
            <a:r>
              <a:rPr lang="en-US" dirty="0"/>
              <a:t> </a:t>
            </a:r>
            <a:r>
              <a:rPr lang="en-US" dirty="0" err="1"/>
              <a:t>bloccanti</a:t>
            </a:r>
            <a:endParaRPr lang="en-US" dirty="0"/>
          </a:p>
          <a:p>
            <a:r>
              <a:rPr lang="en-US" dirty="0"/>
              <a:t>Thread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switchare</a:t>
            </a:r>
            <a:r>
              <a:rPr lang="en-US" dirty="0"/>
              <a:t> solo se </a:t>
            </a:r>
            <a:r>
              <a:rPr lang="en-US" dirty="0" err="1"/>
              <a:t>rilascio</a:t>
            </a:r>
            <a:r>
              <a:rPr lang="en-US" dirty="0"/>
              <a:t> CPU </a:t>
            </a:r>
            <a:r>
              <a:rPr lang="en-US" dirty="0" err="1"/>
              <a:t>volontario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0465BDD-8487-48EE-A758-2E46E0A22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84" y="2133601"/>
            <a:ext cx="4063492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5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4453272" cy="3766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Thread </a:t>
            </a:r>
            <a:r>
              <a:rPr lang="en-US" b="1" dirty="0" err="1"/>
              <a:t>livello</a:t>
            </a:r>
            <a:r>
              <a:rPr lang="en-US" b="1" dirty="0"/>
              <a:t> kernel</a:t>
            </a:r>
          </a:p>
          <a:p>
            <a:r>
              <a:rPr lang="en-US" dirty="0"/>
              <a:t>Sistema </a:t>
            </a:r>
            <a:r>
              <a:rPr lang="en-US" dirty="0" err="1"/>
              <a:t>conosce</a:t>
            </a:r>
            <a:r>
              <a:rPr lang="en-US" dirty="0"/>
              <a:t> e </a:t>
            </a:r>
            <a:r>
              <a:rPr lang="en-US" dirty="0" err="1"/>
              <a:t>gestisce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thread</a:t>
            </a:r>
          </a:p>
          <a:p>
            <a:r>
              <a:rPr lang="en-US" dirty="0" err="1"/>
              <a:t>Tabella</a:t>
            </a:r>
            <a:r>
              <a:rPr lang="en-US" dirty="0"/>
              <a:t> thread </a:t>
            </a:r>
            <a:r>
              <a:rPr lang="en-US" dirty="0" err="1"/>
              <a:t>oltre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processi</a:t>
            </a:r>
            <a:endParaRPr lang="en-US" dirty="0"/>
          </a:p>
          <a:p>
            <a:r>
              <a:rPr lang="en-US" dirty="0" err="1"/>
              <a:t>Chiamate</a:t>
            </a:r>
            <a:r>
              <a:rPr lang="en-US" dirty="0"/>
              <a:t> </a:t>
            </a:r>
            <a:r>
              <a:rPr lang="en-US" dirty="0" err="1"/>
              <a:t>bloccanti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chiamate</a:t>
            </a:r>
            <a:r>
              <a:rPr lang="en-US" dirty="0"/>
              <a:t> di </a:t>
            </a:r>
            <a:r>
              <a:rPr lang="en-US" dirty="0" err="1"/>
              <a:t>sistema</a:t>
            </a:r>
            <a:endParaRPr lang="en-US" dirty="0"/>
          </a:p>
          <a:p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elevato</a:t>
            </a:r>
            <a:r>
              <a:rPr lang="en-US" dirty="0"/>
              <a:t> </a:t>
            </a:r>
            <a:r>
              <a:rPr lang="en-US" dirty="0" err="1"/>
              <a:t>creazione</a:t>
            </a:r>
            <a:r>
              <a:rPr lang="en-US" dirty="0"/>
              <a:t> </a:t>
            </a:r>
            <a:r>
              <a:rPr lang="en-US" dirty="0" err="1"/>
              <a:t>superato</a:t>
            </a:r>
            <a:r>
              <a:rPr lang="en-US" dirty="0"/>
              <a:t> </a:t>
            </a:r>
            <a:r>
              <a:rPr lang="en-US" dirty="0" err="1"/>
              <a:t>tramite</a:t>
            </a:r>
            <a:r>
              <a:rPr lang="en-US" dirty="0"/>
              <a:t> “</a:t>
            </a:r>
            <a:r>
              <a:rPr lang="en-US" dirty="0" err="1"/>
              <a:t>riciclo</a:t>
            </a:r>
            <a:r>
              <a:rPr lang="en-US" dirty="0"/>
              <a:t>” thread </a:t>
            </a:r>
            <a:r>
              <a:rPr lang="en-US" dirty="0" err="1"/>
              <a:t>terminati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A98AB44-CC37-4F7C-A34B-2D1F2FE7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991" y="2226353"/>
            <a:ext cx="3504762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81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(4)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 err="1"/>
              <a:t>Soluzione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Thread </a:t>
            </a:r>
            <a:r>
              <a:rPr lang="en-US" dirty="0" err="1"/>
              <a:t>livello</a:t>
            </a:r>
            <a:r>
              <a:rPr lang="en-US" dirty="0"/>
              <a:t> kernel: </a:t>
            </a:r>
            <a:r>
              <a:rPr lang="en-US" dirty="0" err="1"/>
              <a:t>una</a:t>
            </a:r>
            <a:r>
              <a:rPr lang="en-US" dirty="0"/>
              <a:t> stack per thread. </a:t>
            </a:r>
            <a:r>
              <a:rPr lang="en-US" dirty="0" err="1"/>
              <a:t>Ognuno</a:t>
            </a:r>
            <a:r>
              <a:rPr lang="en-US" dirty="0"/>
              <a:t> di </a:t>
            </a:r>
            <a:r>
              <a:rPr lang="en-US" dirty="0" err="1"/>
              <a:t>essi</a:t>
            </a:r>
            <a:r>
              <a:rPr lang="en-US" dirty="0"/>
              <a:t> è </a:t>
            </a:r>
            <a:r>
              <a:rPr lang="en-US" dirty="0" err="1"/>
              <a:t>riconosciuto</a:t>
            </a:r>
            <a:r>
              <a:rPr lang="en-US" dirty="0"/>
              <a:t> dal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operativo</a:t>
            </a:r>
            <a:r>
              <a:rPr lang="en-US" dirty="0"/>
              <a:t>. </a:t>
            </a:r>
            <a:r>
              <a:rPr lang="en-US" dirty="0" err="1"/>
              <a:t>Conseguentemente</a:t>
            </a:r>
            <a:r>
              <a:rPr lang="en-US" dirty="0"/>
              <a:t>, </a:t>
            </a:r>
            <a:r>
              <a:rPr lang="en-US" dirty="0" err="1"/>
              <a:t>più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stack per </a:t>
            </a:r>
            <a:r>
              <a:rPr lang="en-US" dirty="0" err="1"/>
              <a:t>processo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Thread </a:t>
            </a:r>
            <a:r>
              <a:rPr lang="en-US" dirty="0" err="1"/>
              <a:t>livello</a:t>
            </a:r>
            <a:r>
              <a:rPr lang="en-US" dirty="0"/>
              <a:t> </a:t>
            </a:r>
            <a:r>
              <a:rPr lang="en-US" dirty="0" err="1"/>
              <a:t>utente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stack per thread e </a:t>
            </a:r>
            <a:r>
              <a:rPr lang="en-US" dirty="0" err="1"/>
              <a:t>una</a:t>
            </a:r>
            <a:r>
              <a:rPr lang="en-US" dirty="0"/>
              <a:t> sola per </a:t>
            </a:r>
            <a:r>
              <a:rPr lang="en-US" dirty="0" err="1"/>
              <a:t>processo</a:t>
            </a:r>
            <a:r>
              <a:rPr lang="en-US" dirty="0"/>
              <a:t>. A </a:t>
            </a:r>
            <a:r>
              <a:rPr lang="en-US" dirty="0" err="1"/>
              <a:t>livello</a:t>
            </a:r>
            <a:r>
              <a:rPr lang="en-US" dirty="0"/>
              <a:t> di kernel, </a:t>
            </a:r>
            <a:r>
              <a:rPr lang="en-US" dirty="0" err="1"/>
              <a:t>infatti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thread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completamente</a:t>
            </a:r>
            <a:r>
              <a:rPr lang="en-US" dirty="0"/>
              <a:t> </a:t>
            </a:r>
            <a:r>
              <a:rPr lang="en-US" dirty="0" err="1"/>
              <a:t>trasparenti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5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(5)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20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latin typeface="+Corpo"/>
              </a:rPr>
              <a:t>4) </a:t>
            </a:r>
            <a:r>
              <a:rPr lang="en-US" b="1" dirty="0" err="1">
                <a:latin typeface="+Corpo"/>
              </a:rPr>
              <a:t>Supponendo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utilizzare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l’algoritmo</a:t>
            </a:r>
            <a:r>
              <a:rPr lang="en-US" b="1" dirty="0">
                <a:latin typeface="+Corpo"/>
              </a:rPr>
              <a:t> round – robin per lo scheduling in un </a:t>
            </a:r>
            <a:r>
              <a:rPr lang="en-US" b="1" dirty="0" err="1">
                <a:latin typeface="+Corpo"/>
              </a:rPr>
              <a:t>sistema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interattivo</a:t>
            </a:r>
            <a:r>
              <a:rPr lang="en-US" b="1" dirty="0">
                <a:latin typeface="+Corpo"/>
              </a:rPr>
              <a:t>, se la coda è </a:t>
            </a:r>
            <a:r>
              <a:rPr lang="en-US" b="1" dirty="0" err="1">
                <a:latin typeface="+Corpo"/>
              </a:rPr>
              <a:t>fatta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dai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processi</a:t>
            </a:r>
            <a:r>
              <a:rPr lang="en-US" b="1" dirty="0">
                <a:latin typeface="+Corpo"/>
              </a:rPr>
              <a:t> A-B-C-D-E, </a:t>
            </a:r>
            <a:r>
              <a:rPr lang="en-US" b="1" dirty="0" err="1">
                <a:latin typeface="+Corpo"/>
              </a:rPr>
              <a:t>nel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caso</a:t>
            </a:r>
            <a:r>
              <a:rPr lang="en-US" b="1" dirty="0">
                <a:latin typeface="+Corpo"/>
              </a:rPr>
              <a:t> in cui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quanto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sia</a:t>
            </a:r>
            <a:r>
              <a:rPr lang="en-US" b="1" dirty="0">
                <a:latin typeface="+Corpo"/>
              </a:rPr>
              <a:t> di 100 </a:t>
            </a:r>
            <a:r>
              <a:rPr lang="en-US" b="1" dirty="0" err="1">
                <a:latin typeface="+Corpo"/>
              </a:rPr>
              <a:t>ms</a:t>
            </a:r>
            <a:r>
              <a:rPr lang="en-US" b="1" dirty="0">
                <a:latin typeface="+Corpo"/>
              </a:rPr>
              <a:t> e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un tempo di </a:t>
            </a:r>
            <a:r>
              <a:rPr lang="en-US" b="1" dirty="0" err="1">
                <a:latin typeface="+Corpo"/>
              </a:rPr>
              <a:t>cambio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contesto</a:t>
            </a:r>
            <a:r>
              <a:rPr lang="en-US" b="1" dirty="0">
                <a:latin typeface="+Corpo"/>
              </a:rPr>
              <a:t> di 1 </a:t>
            </a:r>
            <a:r>
              <a:rPr lang="en-US" b="1" dirty="0" err="1">
                <a:latin typeface="+Corpo"/>
              </a:rPr>
              <a:t>ms</a:t>
            </a:r>
            <a:r>
              <a:rPr lang="en-US" b="1" dirty="0">
                <a:latin typeface="+Corpo"/>
              </a:rPr>
              <a:t>, </a:t>
            </a:r>
            <a:r>
              <a:rPr lang="en-US" b="1" dirty="0" err="1">
                <a:latin typeface="+Corpo"/>
              </a:rPr>
              <a:t>quanto</a:t>
            </a:r>
            <a:r>
              <a:rPr lang="en-US" b="1" dirty="0">
                <a:latin typeface="+Corpo"/>
              </a:rPr>
              <a:t> tempo </a:t>
            </a:r>
            <a:r>
              <a:rPr lang="en-US" b="1" dirty="0" err="1">
                <a:latin typeface="+Corpo"/>
              </a:rPr>
              <a:t>sarà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necessario</a:t>
            </a:r>
            <a:r>
              <a:rPr lang="en-US" b="1" dirty="0">
                <a:latin typeface="+Corpo"/>
              </a:rPr>
              <a:t> prima che E </a:t>
            </a:r>
            <a:r>
              <a:rPr lang="en-US" b="1" dirty="0" err="1">
                <a:latin typeface="+Corpo"/>
              </a:rPr>
              <a:t>venga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eseguito</a:t>
            </a:r>
            <a:r>
              <a:rPr lang="en-US" b="1" dirty="0">
                <a:latin typeface="+Corpo"/>
              </a:rPr>
              <a:t>? </a:t>
            </a:r>
            <a:r>
              <a:rPr lang="en-US" b="1" dirty="0" err="1">
                <a:latin typeface="+Corpo"/>
              </a:rPr>
              <a:t>Qual</a:t>
            </a:r>
            <a:r>
              <a:rPr lang="en-US" b="1" dirty="0">
                <a:latin typeface="+Corpo"/>
              </a:rPr>
              <a:t> è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rapporto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tra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cambio</a:t>
            </a:r>
            <a:r>
              <a:rPr lang="en-US" b="1" dirty="0">
                <a:latin typeface="+Corpo"/>
              </a:rPr>
              <a:t> di </a:t>
            </a:r>
            <a:r>
              <a:rPr lang="en-US" b="1" dirty="0" err="1">
                <a:latin typeface="+Corpo"/>
              </a:rPr>
              <a:t>contesto</a:t>
            </a:r>
            <a:r>
              <a:rPr lang="en-US" b="1" dirty="0">
                <a:latin typeface="+Corpo"/>
              </a:rPr>
              <a:t> e tempo di </a:t>
            </a:r>
            <a:r>
              <a:rPr lang="en-US" b="1" dirty="0" err="1">
                <a:latin typeface="+Corpo"/>
              </a:rPr>
              <a:t>esecuzione</a:t>
            </a:r>
            <a:r>
              <a:rPr lang="en-US" b="1" dirty="0">
                <a:latin typeface="+Corpo"/>
              </a:rPr>
              <a:t>?</a:t>
            </a:r>
          </a:p>
          <a:p>
            <a:pPr marL="0" indent="0">
              <a:buNone/>
            </a:pPr>
            <a:r>
              <a:rPr lang="en-US" b="1" dirty="0">
                <a:latin typeface="+Corpo"/>
              </a:rPr>
              <a:t>Come </a:t>
            </a:r>
            <a:r>
              <a:rPr lang="en-US" b="1" dirty="0" err="1">
                <a:latin typeface="+Corpo"/>
              </a:rPr>
              <a:t>cambiano</a:t>
            </a:r>
            <a:r>
              <a:rPr lang="en-US" b="1" dirty="0">
                <a:latin typeface="+Corpo"/>
              </a:rPr>
              <a:t> I tempi </a:t>
            </a:r>
            <a:r>
              <a:rPr lang="en-US" b="1" dirty="0" err="1">
                <a:latin typeface="+Corpo"/>
              </a:rPr>
              <a:t>analizzati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nel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caso</a:t>
            </a:r>
            <a:r>
              <a:rPr lang="en-US" b="1" dirty="0">
                <a:latin typeface="+Corpo"/>
              </a:rPr>
              <a:t> in cui </a:t>
            </a:r>
            <a:r>
              <a:rPr lang="en-US" b="1" dirty="0" err="1">
                <a:latin typeface="+Corpo"/>
              </a:rPr>
              <a:t>il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quanto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sia</a:t>
            </a:r>
            <a:r>
              <a:rPr lang="en-US" b="1" dirty="0">
                <a:latin typeface="+Corpo"/>
              </a:rPr>
              <a:t>, </a:t>
            </a:r>
            <a:r>
              <a:rPr lang="en-US" b="1" dirty="0" err="1">
                <a:latin typeface="+Corpo"/>
              </a:rPr>
              <a:t>invece</a:t>
            </a:r>
            <a:r>
              <a:rPr lang="en-US" b="1" dirty="0">
                <a:latin typeface="+Corpo"/>
              </a:rPr>
              <a:t>, di 4 </a:t>
            </a:r>
            <a:r>
              <a:rPr lang="en-US" b="1" dirty="0" err="1">
                <a:latin typeface="+Corpo"/>
              </a:rPr>
              <a:t>ms</a:t>
            </a:r>
            <a:r>
              <a:rPr lang="en-US" b="1" dirty="0">
                <a:latin typeface="+Corpo"/>
              </a:rPr>
              <a:t>?</a:t>
            </a:r>
          </a:p>
          <a:p>
            <a:pPr marL="0" indent="0">
              <a:buNone/>
            </a:pPr>
            <a:r>
              <a:rPr lang="en-US" b="1" dirty="0">
                <a:latin typeface="+Corpo"/>
              </a:rPr>
              <a:t>Quale </a:t>
            </a:r>
            <a:r>
              <a:rPr lang="en-US" b="1" dirty="0" err="1">
                <a:latin typeface="+Corpo"/>
              </a:rPr>
              <a:t>delle</a:t>
            </a:r>
            <a:r>
              <a:rPr lang="en-US" b="1" dirty="0">
                <a:latin typeface="+Corpo"/>
              </a:rPr>
              <a:t> due </a:t>
            </a:r>
            <a:r>
              <a:rPr lang="en-US" b="1" dirty="0" err="1">
                <a:latin typeface="+Corpo"/>
              </a:rPr>
              <a:t>soluzioni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sembra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più</a:t>
            </a:r>
            <a:r>
              <a:rPr lang="en-US" b="1" dirty="0">
                <a:latin typeface="+Corpo"/>
              </a:rPr>
              <a:t> </a:t>
            </a:r>
            <a:r>
              <a:rPr lang="en-US" b="1" dirty="0" err="1">
                <a:latin typeface="+Corpo"/>
              </a:rPr>
              <a:t>favorevole</a:t>
            </a:r>
            <a:r>
              <a:rPr lang="en-US" b="1" dirty="0">
                <a:latin typeface="+Corpo"/>
              </a:rPr>
              <a:t>?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77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(5)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Round- robin: a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assegnato</a:t>
            </a:r>
            <a:r>
              <a:rPr lang="en-US" dirty="0"/>
              <a:t> un </a:t>
            </a:r>
            <a:r>
              <a:rPr lang="en-US" dirty="0" err="1"/>
              <a:t>quanto</a:t>
            </a:r>
            <a:r>
              <a:rPr lang="en-US" dirty="0"/>
              <a:t> di tempo in cui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andare</a:t>
            </a:r>
            <a:r>
              <a:rPr lang="en-US" dirty="0"/>
              <a:t> in </a:t>
            </a:r>
            <a:r>
              <a:rPr lang="en-US" dirty="0" err="1"/>
              <a:t>esecuzione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assegnati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CPU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coda </a:t>
            </a:r>
            <a:r>
              <a:rPr lang="en-US" dirty="0" err="1"/>
              <a:t>circolare</a:t>
            </a:r>
            <a:r>
              <a:rPr lang="en-US" dirty="0"/>
              <a:t>.</a:t>
            </a:r>
          </a:p>
          <a:p>
            <a:r>
              <a:rPr lang="en-US" dirty="0"/>
              <a:t>Se ha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richiesta</a:t>
            </a:r>
            <a:r>
              <a:rPr lang="en-US" dirty="0"/>
              <a:t> </a:t>
            </a:r>
            <a:r>
              <a:rPr lang="en-US" dirty="0" err="1"/>
              <a:t>bloccante</a:t>
            </a:r>
            <a:r>
              <a:rPr lang="en-US" dirty="0"/>
              <a:t> o è </a:t>
            </a:r>
            <a:r>
              <a:rPr lang="en-US" dirty="0" err="1"/>
              <a:t>terminato</a:t>
            </a:r>
            <a:r>
              <a:rPr lang="en-US" dirty="0"/>
              <a:t> prima </a:t>
            </a:r>
            <a:r>
              <a:rPr lang="en-US" dirty="0" err="1"/>
              <a:t>dello</a:t>
            </a:r>
            <a:r>
              <a:rPr lang="en-US" dirty="0"/>
              <a:t> </a:t>
            </a:r>
            <a:r>
              <a:rPr lang="en-US" dirty="0" err="1"/>
              <a:t>scadere</a:t>
            </a:r>
            <a:r>
              <a:rPr lang="en-US" dirty="0"/>
              <a:t> del </a:t>
            </a:r>
            <a:r>
              <a:rPr lang="en-US" dirty="0" err="1"/>
              <a:t>quanto</a:t>
            </a:r>
            <a:r>
              <a:rPr lang="en-US" dirty="0"/>
              <a:t>, la CPU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immediatamente</a:t>
            </a:r>
            <a:r>
              <a:rPr lang="en-US" dirty="0"/>
              <a:t> </a:t>
            </a:r>
            <a:r>
              <a:rPr lang="en-US" dirty="0" err="1"/>
              <a:t>assegnata</a:t>
            </a:r>
            <a:r>
              <a:rPr lang="en-US" dirty="0"/>
              <a:t> al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successivo</a:t>
            </a:r>
            <a:r>
              <a:rPr lang="en-US" dirty="0"/>
              <a:t>.</a:t>
            </a:r>
          </a:p>
          <a:p>
            <a:r>
              <a:rPr lang="en-US" dirty="0"/>
              <a:t>Al </a:t>
            </a:r>
            <a:r>
              <a:rPr lang="en-US" dirty="0" err="1"/>
              <a:t>termine</a:t>
            </a:r>
            <a:r>
              <a:rPr lang="en-US" dirty="0"/>
              <a:t> di un </a:t>
            </a:r>
            <a:r>
              <a:rPr lang="en-US" dirty="0" err="1"/>
              <a:t>quanto</a:t>
            </a:r>
            <a:r>
              <a:rPr lang="en-US" dirty="0"/>
              <a:t> di tempo,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cambiato</a:t>
            </a:r>
            <a:r>
              <a:rPr lang="en-US" dirty="0"/>
              <a:t> </a:t>
            </a:r>
            <a:r>
              <a:rPr lang="en-US" dirty="0" err="1"/>
              <a:t>l’assegnamento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CPU, 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intercorrere</a:t>
            </a:r>
            <a:r>
              <a:rPr lang="en-US" dirty="0"/>
              <a:t> un </a:t>
            </a:r>
            <a:r>
              <a:rPr lang="en-US" dirty="0" err="1"/>
              <a:t>certo</a:t>
            </a:r>
            <a:r>
              <a:rPr lang="en-US" dirty="0"/>
              <a:t> tempo, </a:t>
            </a:r>
            <a:r>
              <a:rPr lang="en-US" dirty="0" err="1"/>
              <a:t>il</a:t>
            </a:r>
            <a:r>
              <a:rPr lang="en-US" dirty="0"/>
              <a:t> tempo di </a:t>
            </a:r>
            <a:r>
              <a:rPr lang="en-US" b="1" dirty="0" err="1"/>
              <a:t>cambio</a:t>
            </a:r>
            <a:r>
              <a:rPr lang="en-US" b="1" dirty="0"/>
              <a:t> di </a:t>
            </a:r>
            <a:r>
              <a:rPr lang="en-US" b="1" dirty="0" err="1"/>
              <a:t>contesto</a:t>
            </a:r>
            <a:r>
              <a:rPr lang="en-US" dirty="0"/>
              <a:t> prima che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nuovo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possa</a:t>
            </a:r>
            <a:r>
              <a:rPr lang="en-US" dirty="0"/>
              <a:t> </a:t>
            </a:r>
            <a:r>
              <a:rPr lang="en-US" dirty="0" err="1"/>
              <a:t>iniziare</a:t>
            </a:r>
            <a:r>
              <a:rPr lang="en-US" dirty="0"/>
              <a:t> la propria </a:t>
            </a:r>
            <a:r>
              <a:rPr lang="en-US" dirty="0" err="1"/>
              <a:t>esecuzione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05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(5)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766456"/>
          </a:xfrm>
        </p:spPr>
        <p:txBody>
          <a:bodyPr>
            <a:normAutofit/>
          </a:bodyPr>
          <a:lstStyle/>
          <a:p>
            <a:r>
              <a:rPr lang="en-US" dirty="0"/>
              <a:t>E: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eseguiti</a:t>
            </a:r>
            <a:r>
              <a:rPr lang="en-US" dirty="0"/>
              <a:t> per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loro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A, B, C e D 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ripettivi</a:t>
            </a:r>
            <a:r>
              <a:rPr lang="en-US" dirty="0"/>
              <a:t> </a:t>
            </a:r>
            <a:r>
              <a:rPr lang="en-US" dirty="0" err="1"/>
              <a:t>cambi</a:t>
            </a:r>
            <a:r>
              <a:rPr lang="en-US" dirty="0"/>
              <a:t> di </a:t>
            </a:r>
            <a:r>
              <a:rPr lang="en-US" dirty="0" err="1"/>
              <a:t>contesto</a:t>
            </a:r>
            <a:r>
              <a:rPr lang="en-US" dirty="0"/>
              <a:t>. </a:t>
            </a:r>
            <a:r>
              <a:rPr lang="en-US" dirty="0" err="1"/>
              <a:t>Quindi</a:t>
            </a:r>
            <a:r>
              <a:rPr lang="en-US" dirty="0"/>
              <a:t> E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aspettare</a:t>
            </a:r>
            <a:r>
              <a:rPr lang="en-US" dirty="0"/>
              <a:t>, per la </a:t>
            </a:r>
            <a:r>
              <a:rPr lang="en-US" dirty="0" err="1"/>
              <a:t>sua</a:t>
            </a:r>
            <a:r>
              <a:rPr lang="en-US" dirty="0"/>
              <a:t> prima </a:t>
            </a:r>
            <a:r>
              <a:rPr lang="en-US" dirty="0" err="1"/>
              <a:t>parte</a:t>
            </a:r>
            <a:r>
              <a:rPr lang="en-US" dirty="0"/>
              <a:t> di </a:t>
            </a:r>
            <a:r>
              <a:rPr lang="en-US" dirty="0" err="1"/>
              <a:t>esecuzione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100 + 1 + 100 +1 + 100 + 1 + 100 + 1 =404 </a:t>
            </a:r>
            <a:r>
              <a:rPr lang="en-US" dirty="0" err="1"/>
              <a:t>ms</a:t>
            </a:r>
            <a:r>
              <a:rPr lang="en-US" dirty="0"/>
              <a:t>, </a:t>
            </a:r>
            <a:r>
              <a:rPr lang="en-US" dirty="0" err="1"/>
              <a:t>cioè</a:t>
            </a:r>
            <a:r>
              <a:rPr lang="en-US" dirty="0"/>
              <a:t> quasi mezzo secondo</a:t>
            </a:r>
          </a:p>
          <a:p>
            <a:r>
              <a:rPr lang="en-US" dirty="0"/>
              <a:t>Il </a:t>
            </a:r>
            <a:r>
              <a:rPr lang="en-US" dirty="0" err="1"/>
              <a:t>rapporto</a:t>
            </a:r>
            <a:r>
              <a:rPr lang="en-US" dirty="0"/>
              <a:t> è molto </a:t>
            </a:r>
            <a:r>
              <a:rPr lang="en-US" dirty="0" err="1"/>
              <a:t>semplice</a:t>
            </a:r>
            <a:r>
              <a:rPr lang="en-US" dirty="0"/>
              <a:t>: 1ms/100ms = 0.01, </a:t>
            </a:r>
            <a:r>
              <a:rPr lang="en-US" dirty="0" err="1"/>
              <a:t>cioè</a:t>
            </a:r>
            <a:r>
              <a:rPr lang="en-US" dirty="0"/>
              <a:t> l’1% </a:t>
            </a:r>
          </a:p>
          <a:p>
            <a:r>
              <a:rPr lang="en-US" dirty="0"/>
              <a:t>Secondo </a:t>
            </a:r>
            <a:r>
              <a:rPr lang="en-US" dirty="0" err="1"/>
              <a:t>caso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4 + 1 + 4 + 1 + 4 + 1 + 4 + 1 =20 </a:t>
            </a:r>
            <a:r>
              <a:rPr lang="en-US" dirty="0" err="1"/>
              <a:t>ms</a:t>
            </a:r>
            <a:endParaRPr lang="en-US" dirty="0"/>
          </a:p>
          <a:p>
            <a:r>
              <a:rPr lang="en-US" dirty="0"/>
              <a:t>Il </a:t>
            </a:r>
            <a:r>
              <a:rPr lang="en-US" dirty="0" err="1"/>
              <a:t>rapporto</a:t>
            </a:r>
            <a:r>
              <a:rPr lang="en-US" dirty="0"/>
              <a:t> è: 1ms/4ms = 0.25, </a:t>
            </a:r>
            <a:r>
              <a:rPr lang="en-US" dirty="0" err="1"/>
              <a:t>cioè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25%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800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Calcolatori e processi (5)</a:t>
            </a:r>
            <a:br>
              <a:rPr lang="it-IT" b="1" dirty="0"/>
            </a:br>
            <a:r>
              <a:rPr lang="it-IT" b="1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1"/>
            <a:ext cx="8915400" cy="399683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Confronto</a:t>
            </a:r>
            <a:r>
              <a:rPr lang="en-US" dirty="0"/>
              <a:t>: pro prima </a:t>
            </a:r>
            <a:r>
              <a:rPr lang="en-US" dirty="0" err="1"/>
              <a:t>soluzione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Tempo </a:t>
            </a:r>
            <a:r>
              <a:rPr lang="en-US" dirty="0" err="1"/>
              <a:t>cambio</a:t>
            </a:r>
            <a:r>
              <a:rPr lang="en-US" dirty="0"/>
              <a:t> di </a:t>
            </a:r>
            <a:r>
              <a:rPr lang="en-US" dirty="0" err="1"/>
              <a:t>contensto</a:t>
            </a:r>
            <a:r>
              <a:rPr lang="en-US" dirty="0"/>
              <a:t> molto </a:t>
            </a:r>
            <a:r>
              <a:rPr lang="en-US" dirty="0" err="1"/>
              <a:t>più</a:t>
            </a:r>
            <a:r>
              <a:rPr lang="en-US" dirty="0"/>
              <a:t> piccolo di tempo </a:t>
            </a:r>
            <a:r>
              <a:rPr lang="en-US" dirty="0" err="1"/>
              <a:t>esecuzione</a:t>
            </a:r>
            <a:r>
              <a:rPr lang="en-US" dirty="0"/>
              <a:t>,</a:t>
            </a:r>
          </a:p>
          <a:p>
            <a:pPr lvl="1"/>
            <a:r>
              <a:rPr lang="en-US" dirty="0" err="1"/>
              <a:t>Processi</a:t>
            </a:r>
            <a:r>
              <a:rPr lang="en-US" dirty="0"/>
              <a:t> con </a:t>
            </a:r>
            <a:r>
              <a:rPr lang="en-US" dirty="0" err="1"/>
              <a:t>lunghe</a:t>
            </a:r>
            <a:r>
              <a:rPr lang="en-US" dirty="0"/>
              <a:t> CPU burst </a:t>
            </a:r>
            <a:r>
              <a:rPr lang="en-US" dirty="0" err="1"/>
              <a:t>favoriti</a:t>
            </a:r>
            <a:endParaRPr lang="en-US" dirty="0"/>
          </a:p>
          <a:p>
            <a:r>
              <a:rPr lang="en-US" dirty="0" err="1"/>
              <a:t>Confronto</a:t>
            </a:r>
            <a:r>
              <a:rPr lang="en-US" dirty="0"/>
              <a:t>: </a:t>
            </a:r>
            <a:r>
              <a:rPr lang="en-US" dirty="0" err="1"/>
              <a:t>contro</a:t>
            </a:r>
            <a:r>
              <a:rPr lang="en-US" dirty="0"/>
              <a:t> prima </a:t>
            </a:r>
            <a:r>
              <a:rPr lang="en-US" dirty="0" err="1"/>
              <a:t>soluzione</a:t>
            </a:r>
            <a:endParaRPr lang="en-US" dirty="0"/>
          </a:p>
          <a:p>
            <a:pPr lvl="1"/>
            <a:r>
              <a:rPr lang="en-US" dirty="0"/>
              <a:t>Tempo </a:t>
            </a:r>
            <a:r>
              <a:rPr lang="en-US" dirty="0" err="1"/>
              <a:t>attesa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</a:t>
            </a:r>
            <a:r>
              <a:rPr lang="en-US" dirty="0" err="1"/>
              <a:t>potenzialmente</a:t>
            </a:r>
            <a:r>
              <a:rPr lang="en-US" dirty="0"/>
              <a:t> </a:t>
            </a:r>
            <a:r>
              <a:rPr lang="en-US" dirty="0" err="1"/>
              <a:t>lungo</a:t>
            </a:r>
            <a:r>
              <a:rPr lang="en-US" dirty="0"/>
              <a:t> (400 </a:t>
            </a:r>
            <a:r>
              <a:rPr lang="en-US" dirty="0" err="1"/>
              <a:t>ms</a:t>
            </a:r>
            <a:r>
              <a:rPr lang="en-US" dirty="0"/>
              <a:t> è un tempo </a:t>
            </a:r>
            <a:r>
              <a:rPr lang="en-US" dirty="0" err="1"/>
              <a:t>considerevole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 </a:t>
            </a:r>
            <a:r>
              <a:rPr lang="en-US" dirty="0" err="1"/>
              <a:t>frequenti</a:t>
            </a:r>
            <a:r>
              <a:rPr lang="en-US" dirty="0"/>
              <a:t> I/O burst, simile a </a:t>
            </a:r>
            <a:r>
              <a:rPr lang="en-US" dirty="0" err="1"/>
              <a:t>seconda</a:t>
            </a:r>
            <a:r>
              <a:rPr lang="en-US" dirty="0"/>
              <a:t> </a:t>
            </a:r>
            <a:r>
              <a:rPr lang="en-US" dirty="0" err="1"/>
              <a:t>soluzione</a:t>
            </a:r>
            <a:endParaRPr lang="en-US" dirty="0"/>
          </a:p>
          <a:p>
            <a:r>
              <a:rPr lang="en-US" dirty="0" err="1"/>
              <a:t>Confronto</a:t>
            </a:r>
            <a:r>
              <a:rPr lang="en-US" dirty="0"/>
              <a:t>: pro </a:t>
            </a:r>
            <a:r>
              <a:rPr lang="en-US" dirty="0" err="1"/>
              <a:t>seconda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Processi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tempo di </a:t>
            </a:r>
            <a:r>
              <a:rPr lang="en-US" dirty="0" err="1"/>
              <a:t>attesa</a:t>
            </a:r>
            <a:r>
              <a:rPr lang="en-US" dirty="0"/>
              <a:t> basso,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specialmente</a:t>
            </a:r>
            <a:r>
              <a:rPr lang="en-US" dirty="0"/>
              <a:t> se </a:t>
            </a:r>
            <a:r>
              <a:rPr lang="en-US" dirty="0" err="1"/>
              <a:t>forniti</a:t>
            </a:r>
            <a:r>
              <a:rPr lang="en-US" dirty="0"/>
              <a:t> di </a:t>
            </a:r>
            <a:r>
              <a:rPr lang="en-US" dirty="0" err="1"/>
              <a:t>iterfaccia</a:t>
            </a:r>
            <a:r>
              <a:rPr lang="en-US" dirty="0"/>
              <a:t> </a:t>
            </a:r>
            <a:r>
              <a:rPr lang="en-US" dirty="0" err="1"/>
              <a:t>utente</a:t>
            </a:r>
            <a:endParaRPr lang="en-US" dirty="0"/>
          </a:p>
          <a:p>
            <a:r>
              <a:rPr lang="en-US" dirty="0" err="1"/>
              <a:t>Confronto</a:t>
            </a:r>
            <a:r>
              <a:rPr lang="en-US" dirty="0"/>
              <a:t>: </a:t>
            </a:r>
            <a:r>
              <a:rPr lang="en-US" dirty="0" err="1"/>
              <a:t>contro</a:t>
            </a:r>
            <a:r>
              <a:rPr lang="en-US" dirty="0"/>
              <a:t> </a:t>
            </a:r>
            <a:r>
              <a:rPr lang="en-US" dirty="0" err="1"/>
              <a:t>seconda</a:t>
            </a:r>
            <a:r>
              <a:rPr lang="en-US" dirty="0"/>
              <a:t> </a:t>
            </a:r>
            <a:r>
              <a:rPr lang="en-US" dirty="0" err="1"/>
              <a:t>soluzione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Cambio </a:t>
            </a:r>
            <a:r>
              <a:rPr lang="en-US" dirty="0" err="1"/>
              <a:t>contesto</a:t>
            </a:r>
            <a:r>
              <a:rPr lang="en-US" dirty="0"/>
              <a:t> è </a:t>
            </a:r>
            <a:r>
              <a:rPr lang="en-US" dirty="0" err="1"/>
              <a:t>rilevante</a:t>
            </a:r>
            <a:r>
              <a:rPr lang="en-US" dirty="0"/>
              <a:t>: </a:t>
            </a:r>
            <a:r>
              <a:rPr lang="en-US" dirty="0" err="1"/>
              <a:t>confrontabile</a:t>
            </a:r>
            <a:r>
              <a:rPr lang="en-US" dirty="0"/>
              <a:t> con tempo </a:t>
            </a:r>
            <a:r>
              <a:rPr lang="en-US" dirty="0" err="1"/>
              <a:t>esecuzione</a:t>
            </a:r>
            <a:endParaRPr lang="en-US" dirty="0"/>
          </a:p>
          <a:p>
            <a:pPr lvl="1"/>
            <a:r>
              <a:rPr lang="en-US" dirty="0" err="1"/>
              <a:t>Sfavorisce</a:t>
            </a:r>
            <a:r>
              <a:rPr lang="en-US" dirty="0"/>
              <a:t> </a:t>
            </a:r>
            <a:r>
              <a:rPr lang="en-US" dirty="0" err="1"/>
              <a:t>processi</a:t>
            </a:r>
            <a:r>
              <a:rPr lang="en-US" dirty="0"/>
              <a:t> con </a:t>
            </a:r>
            <a:r>
              <a:rPr lang="en-US" dirty="0" err="1"/>
              <a:t>lunghe</a:t>
            </a:r>
            <a:r>
              <a:rPr lang="en-US" dirty="0"/>
              <a:t> </a:t>
            </a:r>
            <a:r>
              <a:rPr lang="en-US"/>
              <a:t>CPU burst</a:t>
            </a: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01D078A8-846C-48E8-A2F8-8CF26BBC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79E5D292-6153-4720-9D3C-A52D853F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18/12/2017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FFF9A88-BF38-4F53-BC28-A3603F5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75947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2765</TotalTime>
  <Words>1505</Words>
  <Application>Microsoft Office PowerPoint</Application>
  <PresentationFormat>Widescreen</PresentationFormat>
  <Paragraphs>159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+Corpo</vt:lpstr>
      <vt:lpstr>Arial</vt:lpstr>
      <vt:lpstr>Calibri</vt:lpstr>
      <vt:lpstr>Century Gothic</vt:lpstr>
      <vt:lpstr>Wingdings 3</vt:lpstr>
      <vt:lpstr>Filo</vt:lpstr>
      <vt:lpstr>ESERCITAZIONE 6 - Soluzioni</vt:lpstr>
      <vt:lpstr>Processi e Thread</vt:lpstr>
      <vt:lpstr>Calcolatori e processi (1)</vt:lpstr>
      <vt:lpstr>Calcolatori e processi (1)   Soluzioni (1)</vt:lpstr>
      <vt:lpstr>Calcolatori e processi (2)</vt:lpstr>
      <vt:lpstr>Calcolatori e processi (2) Soluzioni (1)</vt:lpstr>
      <vt:lpstr>Calcolatori e processi (2) Soluzioni (2)</vt:lpstr>
      <vt:lpstr>Calcolatori e processi (3)</vt:lpstr>
      <vt:lpstr>Calcolatori e processi (3) Soluzioni (1)</vt:lpstr>
      <vt:lpstr>Calcolatori e processi (3) Soluzioni (2)</vt:lpstr>
      <vt:lpstr>Calcolatori e processi (3) Soluzioni (3)</vt:lpstr>
      <vt:lpstr>Calcolatori e processi (4)</vt:lpstr>
      <vt:lpstr>Calcolatori e processi (4) Soluzioni (1)</vt:lpstr>
      <vt:lpstr>Calcolatori e processi (4) Soluzioni (2)</vt:lpstr>
      <vt:lpstr>Calcolatori e processi (4) Soluzioni (3)</vt:lpstr>
      <vt:lpstr>Calcolatori e processi (4) Soluzioni (4)</vt:lpstr>
      <vt:lpstr>Calcolatori e processi (5)</vt:lpstr>
      <vt:lpstr>Calcolatori e processi (5) Soluzioni (1)</vt:lpstr>
      <vt:lpstr>Calcolatori e processi (5) Soluzioni (2)</vt:lpstr>
      <vt:lpstr>Calcolatori e processi (5) Soluzioni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164</cp:revision>
  <dcterms:created xsi:type="dcterms:W3CDTF">2017-10-29T11:29:02Z</dcterms:created>
  <dcterms:modified xsi:type="dcterms:W3CDTF">2017-12-18T16:33:15Z</dcterms:modified>
</cp:coreProperties>
</file>