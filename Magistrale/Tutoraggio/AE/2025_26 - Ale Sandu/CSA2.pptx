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0"/>
  </p:notesMasterIdLst>
  <p:sldIdLst>
    <p:sldId id="597" r:id="rId5"/>
    <p:sldId id="347" r:id="rId6"/>
    <p:sldId id="443" r:id="rId7"/>
    <p:sldId id="444" r:id="rId8"/>
    <p:sldId id="445" r:id="rId9"/>
    <p:sldId id="446" r:id="rId10"/>
    <p:sldId id="448" r:id="rId11"/>
    <p:sldId id="447" r:id="rId12"/>
    <p:sldId id="449" r:id="rId13"/>
    <p:sldId id="451" r:id="rId14"/>
    <p:sldId id="450" r:id="rId15"/>
    <p:sldId id="452" r:id="rId16"/>
    <p:sldId id="453" r:id="rId17"/>
    <p:sldId id="455" r:id="rId18"/>
    <p:sldId id="456" r:id="rId19"/>
    <p:sldId id="454" r:id="rId20"/>
    <p:sldId id="457" r:id="rId21"/>
    <p:sldId id="458" r:id="rId22"/>
    <p:sldId id="459" r:id="rId23"/>
    <p:sldId id="460" r:id="rId24"/>
    <p:sldId id="461" r:id="rId25"/>
    <p:sldId id="462" r:id="rId26"/>
    <p:sldId id="463" r:id="rId27"/>
    <p:sldId id="464" r:id="rId28"/>
    <p:sldId id="465" r:id="rId29"/>
    <p:sldId id="466" r:id="rId30"/>
    <p:sldId id="467" r:id="rId31"/>
    <p:sldId id="468" r:id="rId32"/>
    <p:sldId id="469" r:id="rId33"/>
    <p:sldId id="470" r:id="rId34"/>
    <p:sldId id="472" r:id="rId35"/>
    <p:sldId id="471" r:id="rId36"/>
    <p:sldId id="473" r:id="rId37"/>
    <p:sldId id="475" r:id="rId38"/>
    <p:sldId id="474" r:id="rId39"/>
    <p:sldId id="476" r:id="rId40"/>
    <p:sldId id="477" r:id="rId41"/>
    <p:sldId id="478" r:id="rId42"/>
    <p:sldId id="480" r:id="rId43"/>
    <p:sldId id="479" r:id="rId44"/>
    <p:sldId id="481" r:id="rId45"/>
    <p:sldId id="482" r:id="rId46"/>
    <p:sldId id="483" r:id="rId47"/>
    <p:sldId id="484" r:id="rId48"/>
    <p:sldId id="485" r:id="rId49"/>
    <p:sldId id="486" r:id="rId50"/>
    <p:sldId id="487" r:id="rId51"/>
    <p:sldId id="488" r:id="rId52"/>
    <p:sldId id="489" r:id="rId53"/>
    <p:sldId id="490" r:id="rId54"/>
    <p:sldId id="598" r:id="rId55"/>
    <p:sldId id="509" r:id="rId56"/>
    <p:sldId id="510" r:id="rId57"/>
    <p:sldId id="512" r:id="rId58"/>
    <p:sldId id="513" r:id="rId59"/>
    <p:sldId id="516" r:id="rId60"/>
    <p:sldId id="514" r:id="rId61"/>
    <p:sldId id="515" r:id="rId62"/>
    <p:sldId id="517" r:id="rId63"/>
    <p:sldId id="518" r:id="rId64"/>
    <p:sldId id="519" r:id="rId65"/>
    <p:sldId id="520" r:id="rId66"/>
    <p:sldId id="521" r:id="rId67"/>
    <p:sldId id="522" r:id="rId68"/>
    <p:sldId id="523" r:id="rId69"/>
    <p:sldId id="524" r:id="rId70"/>
    <p:sldId id="525" r:id="rId71"/>
    <p:sldId id="526" r:id="rId72"/>
    <p:sldId id="527" r:id="rId73"/>
    <p:sldId id="528" r:id="rId74"/>
    <p:sldId id="529" r:id="rId75"/>
    <p:sldId id="530" r:id="rId76"/>
    <p:sldId id="531" r:id="rId77"/>
    <p:sldId id="532" r:id="rId78"/>
    <p:sldId id="533" r:id="rId79"/>
    <p:sldId id="534" r:id="rId80"/>
    <p:sldId id="535" r:id="rId81"/>
    <p:sldId id="536" r:id="rId82"/>
    <p:sldId id="537" r:id="rId83"/>
    <p:sldId id="538" r:id="rId84"/>
    <p:sldId id="539" r:id="rId85"/>
    <p:sldId id="540" r:id="rId86"/>
    <p:sldId id="541" r:id="rId87"/>
    <p:sldId id="542" r:id="rId88"/>
    <p:sldId id="543" r:id="rId89"/>
    <p:sldId id="544" r:id="rId90"/>
    <p:sldId id="335" r:id="rId91"/>
    <p:sldId id="545" r:id="rId92"/>
    <p:sldId id="547" r:id="rId93"/>
    <p:sldId id="548" r:id="rId94"/>
    <p:sldId id="549" r:id="rId95"/>
    <p:sldId id="551" r:id="rId96"/>
    <p:sldId id="550" r:id="rId97"/>
    <p:sldId id="552" r:id="rId98"/>
    <p:sldId id="553" r:id="rId9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3B47D-C938-40FC-99C0-FAC40F960354}" v="1" dt="2025-04-03T10:23:41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viewProps" Target="viewProp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notesMaster" Target="notesMasters/notesMaster1.xml"/><Relationship Id="rId105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6EBEA-153D-4634-B307-B66CFFE95430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D1373-BABC-468B-9EF3-168D117F6B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378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5017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739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68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082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82743-A472-C43B-AA9C-4D8DC093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CC86F59-5CE7-C448-EE87-9BB1F4420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08B06C-1F70-08F9-FD4A-9B87160B5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AD6607-7588-3708-F2F3-4FE5F3E6E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69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2799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A0B96-B7C8-B8E0-9E93-F28BE1F6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989B9CC-710B-6C66-EFF9-0EB10CA45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DF22860-2F60-9940-3331-AB6B35157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DE118A-CA36-0B38-982D-502C52E97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5107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2D5B-5D37-1EDC-8BC4-C38327D7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10D575A-06B2-B4EB-F2BF-B55E8BC3D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1E7048-11C4-83CE-2D75-915DC2F48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8245F9-8389-BF65-97AC-74D1F28E4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4878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FC2E-04D9-66F8-88D0-877320742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D62FB03-2A51-0841-0F50-62DFE4190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B6B40D8-CA22-7E76-7947-1BCF7A7E1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896AC3-6AA2-7D66-58BA-540BE0B8E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3340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5179C-F771-99C7-317F-2D6FB676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BE0D5AF-0F78-D601-6D03-6F86B3AEA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5D1D31F-2CE7-CCD2-D018-753AE9F3D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E369B4-355F-74A5-27B5-D92B22B28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7940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DC16E-4E6E-25BF-40F4-1120C3A4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D10BF96-72A6-C364-1138-FCB4BBBFE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4A5CAB6-4A71-7591-EBDA-64945E264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4753FF-3FBC-0415-780B-2C96F094C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334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AFAFF-01CB-4D8A-9A63-8EE7B782F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1B87B03-E02B-A46D-AF78-37C72B26E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3246AE0-5E2A-3024-48EB-59D75BE00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A8AD12-385C-F810-7817-65CD8B2FA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8874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29C30-02B0-CA71-30D8-48BAE0DF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BCBAE7B-C24E-9010-7952-8769A6DB4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AA39835-D458-3E1D-472B-7C3BC5041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1E2FC3-6C4D-0640-BC38-44F048628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805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4ACEE-AD30-443E-65AA-51911A0D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987F3D5-1DDD-307D-0B68-404A90D72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C4E9C58-C4FA-3389-9F02-740219FAA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BFFDC3-7126-B4BD-8B1E-BCE1BFCFE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208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E6FE9-61BD-B828-9380-728E1EAE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32C6CD-96FC-2E3F-9766-C355D84EC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401481C-E49A-6948-E824-1836DB760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4901F3-B012-D356-1B86-4F2B561E2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2472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54DB-BCFA-2051-3DA0-06E52219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6413DED-DA5A-CA12-0DE0-80F201B57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412FFF8-9B14-08E2-CAC8-3B42D93E5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297832-9880-C620-E199-A3956E04C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79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5086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924C-5ADD-D522-6353-C83A0D4D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0748CE4-3056-CC67-37F3-BE7B749E1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88E45F-C1B4-058A-8D44-632F839DE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AB869D-9E46-B1D3-0AD8-6D6D1D9BE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80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9593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BF566-5E3B-A5C5-2985-E4C1EC365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C5E1929-A0F4-21CB-89BC-1A6CA2D37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D876747-CE04-D4EF-659E-5F28230E3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FA85BC-7365-952F-D6EA-5EC65B66C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81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7509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D217-D275-534C-B7BD-326D3E32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79470FA-8369-EC32-DACD-C32B090A7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E4518E3-3F15-4C8F-0B65-EF78796C2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288B12-2DEB-BC78-DA92-24426DD73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82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3460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7E95C-E222-B28F-880D-7D8A05FB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22853F-93F9-3C61-CA55-8187140C4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0378D86-D95C-67CB-77BE-5ECDC7CB8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C40FF2-636E-8707-F048-9215DB740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83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40856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4D05-B5E3-AAA0-E282-EEFBC6CC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4864CD7-9F8C-C054-0691-D21F90EED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A529495-CDA7-9819-411D-38B838D3F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7A451E-29D4-231C-2993-4856C1D69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84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91225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7838-1191-2AC5-C00E-AE04ABD4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36615F4-D53C-BB4B-9E2D-2CF7EB645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08069A9-498A-74F0-6BD1-66EF9791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B1D090-5B45-82EE-D082-5DCE1570F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85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7942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46A5-CA02-C807-5359-2748D5EF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8594F4-322D-25CB-F79D-1CB2813AD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7DE68A2-8AC8-644E-EBE1-B6F2BFFC2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40D373-3A72-45EB-D078-BB558C817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4EF21-7AFD-49A0-BC84-F853A354389B}" type="slidenum">
              <a:rPr lang="it-IT" smtClean="0"/>
              <a:t>86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9492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537898-531D-3D78-44F8-D863483FD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9506B6E-DAC9-43C8-0F1C-AACCACC0C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D06D4C-3337-FD07-463E-3C88D000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820809-7F24-192C-348B-352957EC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553D13-A18F-6998-FDF8-B0959A10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455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B82BE1-E1DC-03C2-8444-761DEF26A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823961-0C0C-8543-97CF-B901BF2B5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68E274-4295-C529-2B14-50CC939B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05E950-5CC4-3605-7BAB-9BC3FBC8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348A35C-12FF-B909-8EC8-50ADB3CB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65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5BD934-B37E-B238-9D5A-81696F81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341AEB5-3255-9D40-F8DF-0CDB19A59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D5AD3C-9EEA-824C-9A71-981D7D51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158F4B-0463-B368-A6ED-5F22935B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3EA701-A1FD-07E8-C29E-B524052D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6624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78AA50-BB18-CCD2-3F52-90DC3E05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E16537-7EDE-7A9F-247A-D30B10368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93B22C-0C95-91A6-D60A-86DD3B9A9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506419-E4AD-4316-3480-96DD7ADC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59FEC28-9D65-39A8-974A-383EA4B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131BA90-FC42-E851-9187-9B0E879DE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90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60C72F-7BFF-19C2-B987-8A184ABD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E49A93-804E-D011-4068-4BD64CBA4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7B5EB7-3227-47EF-54FE-DC32061A9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549A739-129B-4313-812C-CCAC17014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6027503-C803-1D50-D434-292733B5B0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6E3E592-235F-0EE2-40C0-92A7458C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05E453B-812E-038E-B298-04B18C18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D3208AD-2BD6-2448-1A04-5C1C6198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056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EDC635-1436-5774-1021-0640C9A3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2C8AC9B-B35A-EFD5-9355-87984678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92CD1B-FFFB-26C5-1A60-5D25F90C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2C1DAFC-2453-C6AF-E88C-DDBD40E3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250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62B8FD3-3C29-6FE6-E312-21EF7ED9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4BF7958-0DF4-0719-E97D-6BA6381D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BC5C8A-E925-4DE5-99E4-77682308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011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AEFF8D-4C6D-F653-4E1A-F15D90FF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95407F-2554-9ECD-5272-5A1A17BCA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B3819A1-AE9E-30BD-F94F-E2AA1F56C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A1B7B0-F601-654F-40F3-432EC39D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FF6455C-9B85-1D05-1EF0-8E03BE91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76C69A0-6656-10FA-542B-79DB0429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001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D91649-A5A3-BEBA-2847-03BCDAF27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6B2763D-CF1D-E7B2-47F2-DC2B2FC08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ADF56D3-91C5-13E1-0EAC-1BCE82AF1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C8740E-4133-19B4-BC58-952E7B97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BA7A9E-8587-4591-0DFD-ADA505A4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4147703-C910-CE99-08BF-DABA73C1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40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9EEBE2-C93B-8CE4-A610-8E4FB431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65B551-52D7-7364-CEDF-82EFECD70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E05A9F-F7CC-E182-A60A-AAC2E180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B95F8A-9995-AACD-174B-5567EB45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D09AF4-6706-8885-1E5E-EAA3F615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7990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5C15E58-D107-EFEC-44CC-593CDC0132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FFC08C3-B026-2F3B-F855-AE5D4AC86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224DB5-46A6-4071-BA8B-D55D2D01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B83865-B9DD-509C-9BC3-0633BDBCF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C8D8C4-C279-203E-11C3-E41B5813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166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6514A39-30AC-B78F-54B8-3DC53899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2915125-6677-278A-A786-7C86B7D12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19C7B4-C30C-6640-1D6F-A8EEDE400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44CD6-2FF7-4663-BA3D-DD878AC076FB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EB1D6D-F0C9-F497-0447-EF0619742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2AE8E5-89FC-7E29-5321-8EF2F96AE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A0277-AB0A-4216-98FB-2BC190ABD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062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6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6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ADB0-ED99-ACD9-1F36-FDAC9C84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7213DA28-684C-C9AF-4627-427C74DE748B}"/>
              </a:ext>
            </a:extLst>
          </p:cNvPr>
          <p:cNvSpPr txBox="1"/>
          <p:nvPr/>
        </p:nvSpPr>
        <p:spPr>
          <a:xfrm>
            <a:off x="0" y="129471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i="0" dirty="0">
                <a:effectLst/>
              </a:rPr>
              <a:t>COMPUTER SYSTEMS ARCHITECTURE </a:t>
            </a:r>
            <a:r>
              <a:rPr lang="it-IT" sz="5400" b="1" i="0" dirty="0">
                <a:effectLst/>
              </a:rPr>
              <a:t>(2)</a:t>
            </a:r>
            <a:endParaRPr lang="it-IT" sz="5400" b="1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B484988-EF47-718D-CA18-3ED72098C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03" y="3202932"/>
            <a:ext cx="6316394" cy="150694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F640F4-891E-18FB-B017-0DEEFD3D5690}"/>
              </a:ext>
            </a:extLst>
          </p:cNvPr>
          <p:cNvSpPr txBox="1"/>
          <p:nvPr/>
        </p:nvSpPr>
        <p:spPr>
          <a:xfrm>
            <a:off x="4274574" y="2479655"/>
            <a:ext cx="3642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Maurizio Fiusco</a:t>
            </a:r>
          </a:p>
        </p:txBody>
      </p:sp>
    </p:spTree>
    <p:extLst>
      <p:ext uri="{BB962C8B-B14F-4D97-AF65-F5344CB8AC3E}">
        <p14:creationId xmlns:p14="http://schemas.microsoft.com/office/powerpoint/2010/main" val="115964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A02E1-864C-20E8-CE9B-F8043CD58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BF10BD8-07A5-A094-FA02-8384DC3C882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8DFB90D-BEC9-9083-79FE-18E9E582A8E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E2824BE-5440-E118-BC35-52C3310EEDAC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C3B5C8-F0A4-72B6-81D8-F1293FC42F57}"/>
              </a:ext>
            </a:extLst>
          </p:cNvPr>
          <p:cNvSpPr txBox="1"/>
          <p:nvPr/>
        </p:nvSpPr>
        <p:spPr>
          <a:xfrm>
            <a:off x="3640735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 dirty="0"/>
              <a:t>16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AE28CB3-6078-95F7-4C06-3502FF9689DF}"/>
              </a:ext>
            </a:extLst>
          </p:cNvPr>
          <p:cNvSpPr txBox="1"/>
          <p:nvPr/>
        </p:nvSpPr>
        <p:spPr>
          <a:xfrm>
            <a:off x="3720985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 dirty="0"/>
              <a:t>2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20585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B87B-9C79-7F38-2C76-FE06CE0A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901C1C6F-9E0A-A11E-34B4-D81EEB1E0109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23554369-4A86-5743-D9E7-FC6F95AA7A0F}"/>
              </a:ext>
            </a:extLst>
          </p:cNvPr>
          <p:cNvSpPr txBox="1"/>
          <p:nvPr/>
        </p:nvSpPr>
        <p:spPr>
          <a:xfrm>
            <a:off x="3640735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 dirty="0"/>
              <a:t>16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51F6A7D-6A94-F257-8795-BFB2B9726904}"/>
              </a:ext>
            </a:extLst>
          </p:cNvPr>
          <p:cNvSpPr txBox="1"/>
          <p:nvPr/>
        </p:nvSpPr>
        <p:spPr>
          <a:xfrm>
            <a:off x="3720985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 dirty="0"/>
              <a:t>2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0ADCBD-1A78-C627-D3F7-23F514F37EA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EEE6834-64CC-522F-A687-90B777CB8B8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03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06D2-3E07-0E32-6F50-6D2BF380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01C1151-8679-338E-FEBB-CEFF8FBBE236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6356EC70-4F89-D043-8ECE-C7DAE0EBD982}"/>
              </a:ext>
            </a:extLst>
          </p:cNvPr>
          <p:cNvSpPr txBox="1"/>
          <p:nvPr/>
        </p:nvSpPr>
        <p:spPr>
          <a:xfrm>
            <a:off x="3640735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 dirty="0"/>
              <a:t>16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B51A9F2-FE97-8A04-6094-FFC4939C3C89}"/>
              </a:ext>
            </a:extLst>
          </p:cNvPr>
          <p:cNvSpPr txBox="1"/>
          <p:nvPr/>
        </p:nvSpPr>
        <p:spPr>
          <a:xfrm>
            <a:off x="3720985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 dirty="0"/>
              <a:t>2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C763F47-3872-2938-E08A-B8546D39973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BB90F6A-E0E3-2DB8-C683-E0D679C35EC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9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A668D-496D-8ACB-DBE4-A0EF9BAE0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C4CA9171-6A89-F3D2-C444-7A11CBD961A2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B6E2F7F7-C8ED-9C2B-72CD-178D85F293C9}"/>
              </a:ext>
            </a:extLst>
          </p:cNvPr>
          <p:cNvSpPr txBox="1"/>
          <p:nvPr/>
        </p:nvSpPr>
        <p:spPr>
          <a:xfrm>
            <a:off x="3640735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 dirty="0"/>
              <a:t>16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92B0E2-AB09-C17A-269B-39C282193E2F}"/>
              </a:ext>
            </a:extLst>
          </p:cNvPr>
          <p:cNvSpPr txBox="1"/>
          <p:nvPr/>
        </p:nvSpPr>
        <p:spPr>
          <a:xfrm>
            <a:off x="3720985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 dirty="0"/>
              <a:t>2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7C0BEB5-64CF-F055-C14F-76EE44C57E4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56DD905-AE9C-A354-985B-89408535CFF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61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B2EE-D7C9-9EF2-DF2F-7537F641E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7B7929D-728A-2052-D79C-95E88E6FB47F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2805B93D-8435-D776-2C37-5BD441566552}"/>
              </a:ext>
            </a:extLst>
          </p:cNvPr>
          <p:cNvSpPr txBox="1"/>
          <p:nvPr/>
        </p:nvSpPr>
        <p:spPr>
          <a:xfrm>
            <a:off x="3640735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 dirty="0"/>
              <a:t>16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60C870-9E47-29B5-BAEA-5AF1517BC722}"/>
              </a:ext>
            </a:extLst>
          </p:cNvPr>
          <p:cNvSpPr txBox="1"/>
          <p:nvPr/>
        </p:nvSpPr>
        <p:spPr>
          <a:xfrm>
            <a:off x="3720985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 dirty="0"/>
              <a:t>2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9C8BD87-BB9B-0AC1-95CE-481D7C00DC9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8FA1AEF-B83C-D958-B0B9-CCEA4F1B923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367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5453-FBFF-126E-BE06-2D3229037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47EE2BC8-7615-675B-5387-99BCA63927C6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EAFAEE4F-A795-1932-49B2-6748D18933F0}"/>
              </a:ext>
            </a:extLst>
          </p:cNvPr>
          <p:cNvSpPr txBox="1"/>
          <p:nvPr/>
        </p:nvSpPr>
        <p:spPr>
          <a:xfrm>
            <a:off x="3640735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 dirty="0"/>
              <a:t>16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2FCB8CD-DCF1-B809-CD98-45F4248617B9}"/>
              </a:ext>
            </a:extLst>
          </p:cNvPr>
          <p:cNvSpPr txBox="1"/>
          <p:nvPr/>
        </p:nvSpPr>
        <p:spPr>
          <a:xfrm>
            <a:off x="3720985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 dirty="0"/>
              <a:t>2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FCD35B9-EAA7-D86B-1EAF-150B30659F8E}"/>
              </a:ext>
            </a:extLst>
          </p:cNvPr>
          <p:cNvSpPr txBox="1"/>
          <p:nvPr/>
        </p:nvSpPr>
        <p:spPr>
          <a:xfrm>
            <a:off x="477518" y="352048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ysClr val="windowText" lastClr="000000"/>
                </a:solidFill>
              </a:rPr>
              <a:t>m = 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4607592-BEB7-03C8-06F5-1321D92FA05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8083C52-5CCC-A8CB-818A-5EEE2DAC6D3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73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1249E-1B0C-C5B7-75F3-94CAEEDC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0355D2C8-4976-9FFE-1B24-753C54ED84C7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5DEB44BC-6B0D-1B94-9CB7-315B225D3432}"/>
              </a:ext>
            </a:extLst>
          </p:cNvPr>
          <p:cNvSpPr txBox="1"/>
          <p:nvPr/>
        </p:nvSpPr>
        <p:spPr>
          <a:xfrm>
            <a:off x="3640735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 dirty="0"/>
              <a:t>16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534162E-02A0-ECB6-EDB1-734CE5348676}"/>
              </a:ext>
            </a:extLst>
          </p:cNvPr>
          <p:cNvSpPr txBox="1"/>
          <p:nvPr/>
        </p:nvSpPr>
        <p:spPr>
          <a:xfrm>
            <a:off x="3720985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 dirty="0"/>
              <a:t>2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FAD4011D-3D98-B9FB-2CDD-56E4BC610809}"/>
                  </a:ext>
                </a:extLst>
              </p:cNvPr>
              <p:cNvSpPr txBox="1"/>
              <p:nvPr/>
            </p:nvSpPr>
            <p:spPr>
              <a:xfrm>
                <a:off x="477518" y="3520487"/>
                <a:ext cx="1171448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200" dirty="0">
                    <a:solidFill>
                      <a:sysClr val="windowText" lastClr="000000"/>
                    </a:solidFill>
                  </a:rPr>
                  <a:t>m = 8</a:t>
                </a:r>
              </a:p>
              <a:p>
                <a:endParaRPr lang="it-IT" sz="2200" dirty="0">
                  <a:solidFill>
                    <a:sysClr val="windowText" lastClr="000000"/>
                  </a:solidFill>
                </a:endParaRPr>
              </a:p>
              <a:p>
                <a:r>
                  <a:rPr lang="it-IT" sz="2200" dirty="0">
                    <a:solidFill>
                      <a:sysClr val="windowText" lastClr="000000"/>
                    </a:solidFill>
                  </a:rPr>
                  <a:t>n + m + 1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i="0" smtClean="0">
                        <a:solidFill>
                          <a:sysClr val="windowText" lastClr="000000"/>
                        </a:solidFill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sz="2200" dirty="0">
                    <a:solidFill>
                      <a:sysClr val="windowText" lastClr="000000"/>
                    </a:solidFill>
                  </a:rPr>
                  <a:t> 2</a:t>
                </a:r>
                <a:r>
                  <a:rPr lang="it-IT" sz="2200" baseline="30000" dirty="0">
                    <a:solidFill>
                      <a:sysClr val="windowText" lastClr="000000"/>
                    </a:solidFill>
                  </a:rPr>
                  <a:t>n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FAD4011D-3D98-B9FB-2CDD-56E4BC610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18" y="3520487"/>
                <a:ext cx="11714482" cy="1107996"/>
              </a:xfrm>
              <a:prstGeom prst="rect">
                <a:avLst/>
              </a:prstGeom>
              <a:blipFill>
                <a:blip r:embed="rId2"/>
                <a:stretch>
                  <a:fillRect l="-676" t="-3867" b="-110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0EA99462-8D41-D1A4-42E8-E1C4E30871D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3CA1447-C798-83B6-B134-EC002748A3E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430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548E-BC55-5EA5-25DF-B98DF96F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65887A1-7570-506E-FFEA-A312DD1C02B1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B14F297E-1A42-45DA-C705-E1E3D90C9E01}"/>
              </a:ext>
            </a:extLst>
          </p:cNvPr>
          <p:cNvSpPr txBox="1"/>
          <p:nvPr/>
        </p:nvSpPr>
        <p:spPr>
          <a:xfrm>
            <a:off x="3640735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 dirty="0"/>
              <a:t>16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637872D-1FC2-5A56-0EFA-59F04748883A}"/>
              </a:ext>
            </a:extLst>
          </p:cNvPr>
          <p:cNvSpPr txBox="1"/>
          <p:nvPr/>
        </p:nvSpPr>
        <p:spPr>
          <a:xfrm>
            <a:off x="3720985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 dirty="0"/>
              <a:t>2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45B60AA-F5FA-4DAF-5667-EA2E2C96118C}"/>
                  </a:ext>
                </a:extLst>
              </p:cNvPr>
              <p:cNvSpPr txBox="1"/>
              <p:nvPr/>
            </p:nvSpPr>
            <p:spPr>
              <a:xfrm>
                <a:off x="477518" y="3520487"/>
                <a:ext cx="11714482" cy="1672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200" dirty="0">
                    <a:solidFill>
                      <a:sysClr val="windowText" lastClr="000000"/>
                    </a:solidFill>
                  </a:rPr>
                  <a:t>m = 8</a:t>
                </a:r>
              </a:p>
              <a:p>
                <a:endParaRPr lang="it-IT" sz="2200" dirty="0">
                  <a:solidFill>
                    <a:sysClr val="windowText" lastClr="000000"/>
                  </a:solidFill>
                </a:endParaRPr>
              </a:p>
              <a:p>
                <a:r>
                  <a:rPr lang="it-IT" sz="2200" dirty="0">
                    <a:solidFill>
                      <a:sysClr val="windowText" lastClr="000000"/>
                    </a:solidFill>
                  </a:rPr>
                  <a:t>n + m + 1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200" i="0" smtClean="0">
                        <a:solidFill>
                          <a:sysClr val="windowText" lastClr="000000"/>
                        </a:solidFill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sz="2200" dirty="0">
                    <a:solidFill>
                      <a:sysClr val="windowText" lastClr="000000"/>
                    </a:solidFill>
                  </a:rPr>
                  <a:t> 2</a:t>
                </a:r>
                <a:r>
                  <a:rPr lang="it-IT" sz="2200" baseline="30000" dirty="0">
                    <a:solidFill>
                      <a:sysClr val="windowText" lastClr="000000"/>
                    </a:solidFill>
                  </a:rPr>
                  <a:t>n</a:t>
                </a:r>
              </a:p>
              <a:p>
                <a:endParaRPr lang="it-IT" sz="2200" baseline="30000" dirty="0">
                  <a:solidFill>
                    <a:sysClr val="windowText" lastClr="000000"/>
                  </a:solidFill>
                </a:endParaRPr>
              </a:p>
              <a:p>
                <a:r>
                  <a:rPr lang="it-IT" sz="2200" dirty="0">
                    <a:solidFill>
                      <a:sysClr val="windowText" lastClr="000000"/>
                    </a:solidFill>
                  </a:rPr>
                  <a:t>n = 4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45B60AA-F5FA-4DAF-5667-EA2E2C961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18" y="3520487"/>
                <a:ext cx="11714482" cy="1672253"/>
              </a:xfrm>
              <a:prstGeom prst="rect">
                <a:avLst/>
              </a:prstGeom>
              <a:blipFill>
                <a:blip r:embed="rId2"/>
                <a:stretch>
                  <a:fillRect l="-676" t="-2555" b="-65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5973918C-9CE4-AE77-E334-67B2FF8D9FE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BC717AD-196B-685B-75B5-34327D328AC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754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B47E-B5AB-5DE0-479F-E87C6DE69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F40A1D2D-527F-94E8-9218-86E951C466C5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648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880508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924982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7083254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230677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45709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770103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FBF7BB-49A9-3686-750F-14930C7CCF8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8D0889-315B-F566-698D-12FC56E9BA0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308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39636-0E7D-48A2-9B42-7C67EB47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19BF3042-046E-82E4-1DEF-B90F7F2178BC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648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880508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924982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7083254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230677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45709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770103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45E40DDC-CEAE-7CA1-76DD-9DACABF9D5C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A31F387-2AF9-048E-A46A-05A43D42E95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95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58A77-BEFC-DDB4-3CB1-C671D864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C73AA7D2-B2DC-2449-5527-67A8E77D52BB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648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880508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924982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7083254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230677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45709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770103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635255-4147-57DD-5B3A-BF3653F9055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1DF525F-B978-54A9-3326-6F7C6697827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489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D709B-602D-92CE-075E-8C623314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5A3CF54-BDE6-69DD-BF81-DF7F3B09A661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648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880508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924982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7083254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230677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45709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8770103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697565E4-8A94-4FB2-77A2-A3EAD05AEF8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AAFC48-8820-A89D-DCC1-41C5EB91D83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790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7626C-A49D-73B1-1659-68863965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FA2B3B9-0399-681D-007F-60B3B18CC681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5404823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2326746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43062206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D02EA983-8F22-3637-3177-EB97127FDEE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9F50C72-62A7-16C3-A3E3-420721BD1BF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880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6F05E-46AC-4155-9138-641872989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65058ED-AFCA-7573-4390-BA06500295E4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5386648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874215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8831473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1ED213-C899-9AE8-A139-AB31D6B9627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DE0561F-9E17-0519-5F5D-F206AFF56931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31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90753-7C4A-D478-3B88-C24FBDE9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3C0CA669-A4C0-B89A-E993-78ECE6B632D2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15241675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6189240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21478269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D131D3-447A-0244-04E8-65987C082C9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74FF8AA-641F-E010-CF95-A3731CB4482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763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B3A7B-9364-5B58-4131-AD450B478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DB16070-1253-9B16-1076-C5AA9C24B375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7423856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9201297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5021668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0BD98BF1-A2E8-57AE-E2AC-3D1C32E9E8F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620B792-50E9-FD1D-4980-B18B869DAE8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936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44005-F2D1-6D7E-D8B2-907DB5CC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496C3574-3A23-B71B-CEEC-9EE08B1E97FB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9298675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64984058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74087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1F5FC19C-7A4E-49B2-325D-6B5324DDE0E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2D3C36-304D-9BD5-4214-8FE4F83C17A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1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E1783-46A5-A37C-67AF-86D23FF9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19CDDBD0-CDA9-ED26-52B6-419437182DAC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410139865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4244667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99995561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A10C61BF-B026-39EF-D756-3F126A819FD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BF446F-54FB-E74B-9C5C-7B0430AD179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756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FF5AD-BEDF-D3F3-8ABC-058C0982E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486E2415-06D0-ADC2-117D-AA0B0F2F5EF0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34979834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44600346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4887281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8D9E0663-C516-351F-E160-051D95B83BA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E2BEDD-5FDF-D3E9-F597-EAF83139431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277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11DB7-FA01-3D54-A8D4-DBADFD0C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61C85D4-F942-F30F-2C6E-6A4FDE05D315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86773987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7032222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789139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72AA1096-7E2F-478F-92CD-28D57681EC8C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C4B4E05-8B9A-B975-BA5F-1DB5B49123D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319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14341-3BB8-D781-5F98-4C33DC9B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7057B9BE-35B8-5516-B01B-AB994882C8D3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99533842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6869095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429117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99E229-90F9-8A9D-73E1-DAB5DBF4FF7C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D1D6F00-C036-D1F9-8A53-DC798C1346B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294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82D49-11C7-6936-4D1E-D75EBCDA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F39B12F6-0790-540B-07D6-E8C71C775DC6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65336055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368103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9838443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it-IT" sz="21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72AAE9-805D-A25C-7127-555C6F57F47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55BC3AD-4D89-C2B3-1965-A58720F80D9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326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2D3E6-C4C3-75AA-97A0-D9D59A26D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526D5B3-C757-F1C5-8E54-1AC2D4132013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01248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471558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01554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21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B8C24B-5687-E6E4-996E-2559A7A570A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5CA503-EFE7-F6E6-1896-765AE0533B4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664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60D35-3DCB-BC38-78A2-6B4AB7A3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FA07EB2C-9200-3799-319C-74448EAC6560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114937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4069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23323091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21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2FB32E4C-AE1C-B744-F885-DD9686C6AE2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B1FCAC8-E901-E018-00AF-FA3FE65A5FFB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337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CD959-20D8-481A-F686-709E9340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73C21AAA-60F3-232E-9594-B51B900E5F59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71232234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5729601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44943733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21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84B7B22B-4E48-6E63-63DE-7C859F69421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FFA123A-C92A-3109-F1FE-7F4640EBB811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78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ABCF-2009-99DB-C945-0A620F58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8BBF853-AFB5-CBEA-4FF8-81B9B18556FC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334076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13870016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43986683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21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3CCCBFA4-6670-3F62-4435-6C241B7365C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91090E-0017-67EA-CEFA-F2BDC2B1FB1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289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CE51-C3EF-80F3-9EFF-3B4F12C0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6C5DCFA-20DA-B7EC-D926-A7DF843AE6B8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5963543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3688347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4522678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21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8F1879-AA57-344A-0158-7E439F11B39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7EA90C5-A937-FAA7-2751-0FFCFDD4390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342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CF9CD-A755-774C-5B40-9339BAD4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4E940C47-5A4F-61FB-C9A6-00B4F7B89A78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67622045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6377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818410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it-IT" sz="21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21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4ECDE1D0-968E-CA81-72B0-9773707B66A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1802A4-6A20-0552-D879-EA9FB55BED7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351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6478-AA3C-507D-986F-76BFC6D3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E8B1EED-5319-CA18-B21A-17D9E3B549E1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1395671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262487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23298707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21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BB29C7-E2E7-5330-31B7-C21EF9FBE58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CFA3898-FD43-9C88-A02E-C79EB338FE2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ysClr val="windowText" lastClr="000000"/>
                </a:solidFill>
              </a:rPr>
              <a:t>Calculate the error correction bits to add to the binary word </a:t>
            </a:r>
            <a:r>
              <a:rPr lang="it-IT" sz="2200" dirty="0">
                <a:solidFill>
                  <a:sysClr val="windowText" lastClr="000000"/>
                </a:solidFill>
              </a:rPr>
              <a:t>1B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81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21FCF-73A3-D9A8-3518-DED1D59E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72A70B-E2C3-22E2-24A2-DD5D04FDABC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ACFEBF9-8637-1383-4523-45BE4D485F9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865047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1E9E7-761D-E00B-168C-9F22CCD2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2B2927E-D70E-FD08-D88B-93240B9EA2DB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21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855CB86B-056E-F1F4-2FD8-2046C3A1991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BFE9A17-AA24-8272-D23A-D5666137BB4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57531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DD754-F258-1336-4C66-DF58538D2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33B9B5E-9CFE-B045-9EC6-14EAF9D9D2EC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01AC6E-8EE2-9F9A-D45A-47C124212BD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892B938-2523-5695-BE99-F717EA869A1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2178231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5FCC-4BA7-BAE2-E655-5B13C52B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1DB893C-9677-43A7-EE04-23A1CCC7238B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17B27BBB-E0CB-35F2-75D7-0C0AC77BCAB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9A3D4A5-0FA4-D4E4-C2ED-19F28C206E3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306170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0A76C-E80E-305C-401A-C926E2A4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D6FA5FE-5643-BF0A-7707-BDA47903BF18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0BC94083-4121-CB03-9F9C-C4F239851B1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BE3168-7C80-81F6-0DD8-AB37FD82236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3195965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E895-F753-212D-4AFD-2D1207CEA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F1AA4BCF-7BD6-579D-4538-4E7EF9486179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👮‍♀️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92B2FE14-5D5D-E06F-42C4-E8F2FCB696C4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7158724-6460-C716-44FB-C067D47C1EE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236FF17-D75E-015B-2C3A-155D2228F97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3637669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DADC-DC87-2D45-CB13-24768D9C0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3EBDB67E-4C77-C41C-F320-F868454AA496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AAAF8209-1463-7087-F669-E56EC3B20B7D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6ED2959-599A-5AD4-63AE-5D3254B5C721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3E6A534-DBCB-CC73-1387-5875C4AC622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801247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C0DF-F756-7C1C-3677-3096BB09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7C2F20E5-DB11-CC90-AA09-03BB6D695469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98B8DFCB-33F3-C3B7-BB2B-3A1E53188E4F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91B6D08E-0E98-1BE7-AEC8-0F0214AD3C7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91B6D08E-0E98-1BE7-AEC8-0F0214AD3C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5331740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98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39D630F6-5802-7D00-6B08-FE32FC4A0C1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0C9C5C2-3548-2946-6846-528DA09C45A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1414879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9210-2554-7006-EF9D-16873AB3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FF976217-87F7-0A86-41AC-41D2F954463A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E000C3C7-30AC-1A28-AAE0-D1D07E63D72A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A0E5300B-EB81-C54A-03B3-E18F5DCB5C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A0E5300B-EB81-C54A-03B3-E18F5DCB5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866714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98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64992679-5369-1F3F-2338-F20B6A034E74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007573C-A979-5ED0-5FA6-34A901E151C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27852035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070AC-8ADC-CE30-FEC0-800C0880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7BFB1CD-B3A5-4787-93CC-5ECCA4567D2C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CF34BA41-B4DE-7408-774E-E659C43B15B3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289167E6-030E-052B-7A76-95844628F0A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289167E6-030E-052B-7A76-95844628F0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952605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D1CAB353-10AA-8CD1-9690-9B3D2ABB3A1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A68632A-33AE-B018-8F86-B925988ECB7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40842460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A51F-ECEC-4554-BBE8-0E9FDF7A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3AC522B9-FF3C-B41C-4D8C-A6A7F427E1CA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9216A3-C985-F5FB-9177-2054AC1264A3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E531A0DA-05B2-D773-5707-665330DCDD4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E531A0DA-05B2-D773-5707-665330DCDD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5074232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475367FF-7184-2D70-2E43-F4325FA3871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54B2C50-1EC8-F77E-D043-0D57425F3BB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7729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92A25-ED6A-A24C-CC6F-5271F413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606FDED-1096-4F5A-8FD2-017C69079E37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75181AB9-C962-DB6E-E190-D281F9E3D6F8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377C45CA-EB2A-8046-450B-999B0C68FEC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377C45CA-EB2A-8046-450B-999B0C68F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0900183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804403-240D-B9B6-5009-98493520358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24FA3B8-4330-9A5A-E4D6-1E78379A685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755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0775-2A93-3DF8-E4AD-F44A2668F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97240FE-8CD0-4C30-BB78-4E3D1DE00CFC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C21B08D7-2187-F8B6-AFB9-C4894C6AB196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92721E78-F720-4855-095C-B13E23492F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92721E78-F720-4855-095C-B13E23492F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695947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87845B0B-033D-9396-1470-4426901719F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8630D67-6A95-C5BC-B0DF-9F307DF71044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4642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EF966-45DD-7C44-399D-B4F7A5B7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FC515E41-0CBD-4D91-5595-2A7576766A63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8C41C7B5-14DB-3691-A0BF-4540D3F07B77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33BCB7C1-7A8C-48EB-0C5B-A78229217C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33BCB7C1-7A8C-48EB-0C5B-A78229217C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0499355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E7A6C964-FC5A-ED61-4DDD-A4149C7A664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CCBF277-D1CB-813E-6635-EBDC173FF23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303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9C26-31C8-263B-9FCA-45A321C3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00547DD-AF5A-2BD3-5322-7D5187A3CC9A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69CEB34E-27D2-274F-DE0C-CC136AAB3708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AFD0F902-CB9C-B8D7-617C-5DF9BC4A84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AFD0F902-CB9C-B8D7-617C-5DF9BC4A8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4812458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CD6083A4-7EAE-FA61-8ACC-B6E0EBE484D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6B08DBD-963C-C307-33A0-BB3C35E8589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21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E63C-FA4C-4CAC-9F1F-85334179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D4608A5-2B5D-671B-F6F4-A3225BE4CF14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DF0659FC-E37B-4954-CA65-58C4DC52A986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AF01B323-DFDC-DCDA-9AAB-4CC74449FBB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AF01B323-DFDC-DCDA-9AAB-4CC74449FB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7886762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9BC8648F-98FE-B848-5104-3782191054A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A1BF737-7BC6-6283-51AB-C2B3609327B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2B1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2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76BC-3E45-0045-55C0-1047D035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92DB6E8-BEF3-5E01-437E-1E4BE1CCE64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it-IT" sz="2200" strike="sngStrike" dirty="0">
                <a:solidFill>
                  <a:sysClr val="windowText" lastClr="000000"/>
                </a:solidFill>
              </a:rPr>
              <a:t>2B1</a:t>
            </a:r>
            <a:r>
              <a:rPr lang="it-IT" sz="2200" dirty="0">
                <a:solidFill>
                  <a:sysClr val="windowText" lastClr="000000"/>
                </a:solidFill>
              </a:rPr>
              <a:t>2B5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en-US" sz="2200" dirty="0">
                <a:solidFill>
                  <a:sysClr val="windowText" lastClr="000000"/>
                </a:solidFill>
              </a:rPr>
              <a:t> 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071CEC7-26AB-B96F-821A-C64BFF54F8B7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D10C81-8268-4ECE-6089-3BAA007E5035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0E83888A-39B2-6901-60E9-8E7D7B055EF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0E83888A-39B2-6901-60E9-8E7D7B055E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738991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BFDCDF62-71FD-653F-27C0-8CF53CF3FC2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2505162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A944-57A2-DB8F-475B-7BEEEBC5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FE09D3CF-746E-8F37-A3EF-0849FE2A7A97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19BBD98A-FCC2-5D18-B059-F98721ECB655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A1B720B4-DF6E-87A8-1FDB-5949171C9B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A1B720B4-DF6E-87A8-1FDB-5949171C9B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F6298849-F06E-D167-714C-E245E3789E7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4CD6905-7012-38A6-0AE6-3A689E44A43B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it-IT" sz="2200" strike="sngStrike" dirty="0">
                <a:solidFill>
                  <a:sysClr val="windowText" lastClr="000000"/>
                </a:solidFill>
              </a:rPr>
              <a:t>2B1</a:t>
            </a:r>
            <a:r>
              <a:rPr lang="it-IT" sz="2200" dirty="0">
                <a:solidFill>
                  <a:sysClr val="windowText" lastClr="000000"/>
                </a:solidFill>
              </a:rPr>
              <a:t>2B5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en-US" sz="2200" dirty="0">
                <a:solidFill>
                  <a:sysClr val="windowText" lastClr="000000"/>
                </a:solidFill>
              </a:rPr>
              <a:t> 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6817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26970-937E-9058-6BE8-5BB82928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F0189EEE-3F00-0D04-A078-639BDEB0E729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1E529BE5-E48D-6D26-4263-C271FB78C762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BCF37C61-CFC5-5BA7-0F4B-27B5EAA0486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BCF37C61-CFC5-5BA7-0F4B-27B5EAA048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544835"/>
                  </p:ext>
                </p:extLst>
              </p:nvPr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21FD9D90-C34B-5CFB-5ED7-207CE5DA080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C6B36CB-4311-8864-A48C-E29CD7BCDAA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it-IT" sz="2200" strike="sngStrike" dirty="0">
                <a:solidFill>
                  <a:sysClr val="windowText" lastClr="000000"/>
                </a:solidFill>
              </a:rPr>
              <a:t>2B1</a:t>
            </a:r>
            <a:r>
              <a:rPr lang="it-IT" sz="2200" dirty="0">
                <a:solidFill>
                  <a:sysClr val="windowText" lastClr="000000"/>
                </a:solidFill>
              </a:rPr>
              <a:t>2B5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en-US" sz="2200" dirty="0">
                <a:solidFill>
                  <a:sysClr val="windowText" lastClr="000000"/>
                </a:solidFill>
              </a:rPr>
              <a:t> 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7340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56EB-717F-A8EF-6C5A-B4355822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4A6F135-4D8B-0868-500B-A19A8FC2F6C7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A75CD1-4CAE-0477-9F01-5F2BB002F8BF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821E75DE-1E3F-C330-5263-53827DDF745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821E75DE-1E3F-C330-5263-53827DDF745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75FAE925-9144-1F22-260D-1FE6AE1B196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C9121A0-A771-6A5A-3B1F-04B81530346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it-IT" sz="2200" strike="sngStrike" dirty="0">
                <a:solidFill>
                  <a:sysClr val="windowText" lastClr="000000"/>
                </a:solidFill>
              </a:rPr>
              <a:t>2B1</a:t>
            </a:r>
            <a:r>
              <a:rPr lang="it-IT" sz="2200" dirty="0">
                <a:solidFill>
                  <a:sysClr val="windowText" lastClr="000000"/>
                </a:solidFill>
              </a:rPr>
              <a:t>2B5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en-US" sz="2200" dirty="0">
                <a:solidFill>
                  <a:sysClr val="windowText" lastClr="000000"/>
                </a:solidFill>
              </a:rPr>
              <a:t> 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1696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44B3-200F-05FB-71AF-E7D8D8E7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60AAD5B-BEEB-351A-0813-02470109B95D}"/>
              </a:ext>
            </a:extLst>
          </p:cNvPr>
          <p:cNvGraphicFramePr>
            <a:graphicFrameLocks noGrp="1"/>
          </p:cNvGraphicFramePr>
          <p:nvPr/>
        </p:nvGraphicFramePr>
        <p:xfrm>
          <a:off x="2195012" y="2067285"/>
          <a:ext cx="5184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4741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6045899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114906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6704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66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📌</a:t>
                      </a: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48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3152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3548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baseline="0" dirty="0">
                          <a:solidFill>
                            <a:schemeClr val="tx1"/>
                          </a:solidFill>
                        </a:rPr>
                        <a:t>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227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2EC35446-67AD-454E-AC70-F9CCB694275E}"/>
              </a:ext>
            </a:extLst>
          </p:cNvPr>
          <p:cNvSpPr txBox="1"/>
          <p:nvPr/>
        </p:nvSpPr>
        <p:spPr>
          <a:xfrm>
            <a:off x="7985760" y="3040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⚠️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7DE50A82-73AF-312F-FA7D-37CB430032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it-IT" sz="21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21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it-IT" sz="2100" b="0" i="0" baseline="-600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it-IT" sz="2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ella 26">
                <a:extLst>
                  <a:ext uri="{FF2B5EF4-FFF2-40B4-BE49-F238E27FC236}">
                    <a16:creationId xmlns:a16="http://schemas.microsoft.com/office/drawing/2014/main" id="{7DE50A82-73AF-312F-FA7D-37CB430032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32988" y="2523369"/>
              <a:ext cx="1728000" cy="839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5887998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05592176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497597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62655679"/>
                        </a:ext>
                      </a:extLst>
                    </a:gridCol>
                  </a:tblGrid>
                  <a:tr h="428435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08" t="-7042" r="-3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7042" r="-2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7042" r="-102817" b="-1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08" t="-7042" r="-2817" b="-1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90216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836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BB266FF4-97ED-C3DB-D5CD-6CA02781455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/>
              <a:t>Hamming</a:t>
            </a:r>
            <a:r>
              <a:rPr lang="it-IT" sz="3600" b="1" dirty="0"/>
              <a:t> Code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39C8AA-E6ED-1D2B-4E12-EF6972C78E1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solidFill>
                  <a:sysClr val="windowText" lastClr="000000"/>
                </a:solidFill>
              </a:rPr>
              <a:t>Assuming</a:t>
            </a:r>
            <a:r>
              <a:rPr lang="it-IT" sz="2200" dirty="0">
                <a:solidFill>
                  <a:sysClr val="windowText" lastClr="000000"/>
                </a:solidFill>
              </a:rPr>
              <a:t> the </a:t>
            </a:r>
            <a:r>
              <a:rPr lang="it-IT" sz="2200" dirty="0" err="1">
                <a:solidFill>
                  <a:sysClr val="windowText" lastClr="000000"/>
                </a:solidFill>
              </a:rPr>
              <a:t>sequence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it-IT" sz="2200" dirty="0">
                <a:solidFill>
                  <a:sysClr val="windowText" lastClr="000000"/>
                </a:solidFill>
                <a:highlight>
                  <a:srgbClr val="00FF00"/>
                </a:highlight>
              </a:rPr>
              <a:t>2D1</a:t>
            </a:r>
            <a:r>
              <a:rPr lang="it-IT" sz="2200" baseline="-25000" dirty="0">
                <a:solidFill>
                  <a:sysClr val="windowText" lastClr="000000"/>
                </a:solidFill>
              </a:rPr>
              <a:t>16</a:t>
            </a:r>
            <a:r>
              <a:rPr lang="it-IT" sz="2200" dirty="0">
                <a:solidFill>
                  <a:sysClr val="windowText" lastClr="000000"/>
                </a:solidFill>
              </a:rPr>
              <a:t> </a:t>
            </a:r>
            <a:r>
              <a:rPr lang="en-US" sz="2200" dirty="0">
                <a:solidFill>
                  <a:sysClr val="windowText" lastClr="000000"/>
                </a:solidFill>
              </a:rPr>
              <a:t>is received, calculate the control bits</a:t>
            </a:r>
            <a:endParaRPr lang="it-IT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5238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5E8AB-FC5C-26AD-AB6D-BCFD5D5A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384F64B-0E93-DFCE-63C9-F943C5ECBA7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DF7EB02-EEEF-ADAB-1C38-98AD604F4D8B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FF16331-80F4-B711-6243-DB03B1153A19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FF16331-80F4-B711-6243-DB03B1153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2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1592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9AB5-ADDE-E56F-6C8F-47F98857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D92B275-4825-D79B-5A96-08E7229C1A47}"/>
              </a:ext>
            </a:extLst>
          </p:cNvPr>
          <p:cNvGraphicFramePr>
            <a:graphicFrameLocks noGrp="1"/>
          </p:cNvGraphicFramePr>
          <p:nvPr/>
        </p:nvGraphicFramePr>
        <p:xfrm>
          <a:off x="538866" y="1333127"/>
          <a:ext cx="34775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126305359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2260424735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3692486331"/>
                    </a:ext>
                  </a:extLst>
                </a:gridCol>
                <a:gridCol w="869387">
                  <a:extLst>
                    <a:ext uri="{9D8B030D-6E8A-4147-A177-3AD203B41FA5}">
                      <a16:colId xmlns:a16="http://schemas.microsoft.com/office/drawing/2014/main" val="1960169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4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0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4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8559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F0ACC0A4-1602-6654-85C2-52CB3EFF4A8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3099E69-99BB-AF5D-AB74-DC00E3C67D93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3099E69-99BB-AF5D-AB74-DC00E3C67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2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0593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9DC6-0C07-3688-948A-DB799923D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F6C4DDC-9D8F-4A62-13E8-DD2CC57F30A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F6C4DDC-9D8F-4A62-13E8-DD2CC57F30A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CEC0C755-1872-99DF-2784-8A67EAD6C90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A170990-AF2F-6EFD-4454-48345589CAAE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A170990-AF2F-6EFD-4454-48345589C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0722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E8F05-BF76-6DD3-25FE-BF48D153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7D0E590F-F45C-CBD6-C1B5-62180B07C0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7D0E590F-F45C-CBD6-C1B5-62180B07C0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79CE1E-9535-3B6A-CC3E-614CD928C0EC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8BA1F6A-D45D-50E8-C671-CEEA793BB1D0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8BA1F6A-D45D-50E8-C671-CEEA793BB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35504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C3D0-3F43-061A-2418-24317439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5CB9E912-D492-9D3D-5D96-EB53E713EEF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5CB9E912-D492-9D3D-5D96-EB53E713EEF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F6B03B54-3D7F-34F5-D208-A753458727F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52D85B8-D50A-6CC4-C34F-6E0BF09D592F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52D85B8-D50A-6CC4-C34F-6E0BF09D5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1821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7266-BF6E-EAD4-7743-A5AE2B53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9F4D699C-1C3F-9ADB-E21C-44CAA309DA1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9F4D699C-1C3F-9ADB-E21C-44CAA309DA1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9C3466C4-955A-A129-DDD9-46CF650E810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167E86C-28BF-2F42-9080-D843B684B76B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167E86C-28BF-2F42-9080-D843B684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7579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F379-4853-8B5D-F040-5D744603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A2534313-51A2-F245-4F9E-F22340F253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A2534313-51A2-F245-4F9E-F22340F253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B47161-842E-7207-DF2D-37211DC4B65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4A287EF-995B-7954-27C2-DEFA7A9C8985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4A287EF-995B-7954-27C2-DEFA7A9C8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9558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495F-5547-37CA-DFCB-46F22775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F1029E0-29AA-C726-AB71-003F32F3F7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F1029E0-29AA-C726-AB71-003F32F3F7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95F8481E-FB48-590A-8FB7-BBBD5F09C6B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2B9366A-2355-2525-17D9-0ADA87272135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2B9366A-2355-2525-17D9-0ADA87272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5151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319DC-41D1-34F6-2A6A-0BD34E714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BFA1AF6-E084-993B-9E5C-E0CA38E47EE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BFA1AF6-E084-993B-9E5C-E0CA38E47EE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CC4013-D2EA-D94C-290D-5823DBAF51E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55AC9D2-8E3B-F31E-D20B-883B6944D2B1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55AC9D2-8E3B-F31E-D20B-883B6944D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6384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3209-D662-9F21-6CC2-C614EBC3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1329F677-A248-CE8C-4C16-722FE0B9AF9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1329F677-A248-CE8C-4C16-722FE0B9AF9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3A5121D1-C5EE-7893-07AB-A3DFCC4D086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7D59FF6-6780-765E-D073-08AA73BB7120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7D59FF6-6780-765E-D073-08AA73BB7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6056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2E1DB-3DC8-9CBB-BCAB-A0E8F8D02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EA39D070-B008-765B-3A49-06EAAA1212B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EA39D070-B008-765B-3A49-06EAAA1212B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B955B605-D98A-D61A-D3A8-5CD484E71F1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C1EA363-0C0C-9B18-27CA-6D687D50BCA6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C1EA363-0C0C-9B18-27CA-6D687D50B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6116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69F0-F4D5-DC7B-8467-EBA987B5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79D26D18-FC3E-E7FE-E8A3-8FD7CF0ADE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79D26D18-FC3E-E7FE-E8A3-8FD7CF0ADE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5AF206EB-8151-824C-D1E1-88DA006773C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841011A-1027-7CF4-2C31-E053ACBE164E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841011A-1027-7CF4-2C31-E053ACBE1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7043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B620-10AD-53D6-FF2F-F4535028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05AA0ECE-AD7D-7B39-7556-13889045F7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05AA0ECE-AD7D-7B39-7556-13889045F7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48838F-3AF2-6B27-CA59-68B152151A4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8829619-B6D2-0324-9D28-BFD32303764C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8829619-B6D2-0324-9D28-BFD323037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104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944B-24CE-8377-65D3-A9C173C8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D8A74770-CD37-6BCF-82E6-C695D528D6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D8A74770-CD37-6BCF-82E6-C695D528D6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C78095F4-0717-1CE0-CDFD-F21C1F5BE06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1FE6E1F-BCC9-3C5C-98BB-B37AB75EADD5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1FE6E1F-BCC9-3C5C-98BB-B37AB75E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621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916E5-8090-6692-8224-B998DCA4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6B04B83-2056-69DA-B9F9-96CFC4E241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6B04B83-2056-69DA-B9F9-96CFC4E241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DD9E1F94-460C-785B-1A15-1E6DDEDD490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F221B6C-7CB6-BC09-3E14-4555FFCF8BC4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F221B6C-7CB6-BC09-3E14-4555FFCF8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8738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A425-B988-6E62-440A-4A138D7E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944FD83D-11D2-851D-1CDD-FA78849BAE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944FD83D-11D2-851D-1CDD-FA78849BAE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A9F13B-D1E9-DC57-A3A8-A3FE7FDF1F2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55FB14A-D8DF-7887-7B24-DABBDBCB7675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55FB14A-D8DF-7887-7B24-DABBDBCB7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3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8526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DE5A4-3144-51B8-7EA3-12386193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23648215-3A95-F98E-5E2A-DB04859B3AB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23648215-3A95-F98E-5E2A-DB04859B3AB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64DF45-6763-34E9-7E74-4A9E10A1C35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5D7AE90-50C1-734E-2AB8-FEDE6EB43421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5D7AE90-50C1-734E-2AB8-FEDE6EB43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4888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B638-A0E1-0FC5-C62C-76026775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6827746-5222-0324-173E-1C9E4340F3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6827746-5222-0324-173E-1C9E4340F3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270EC47B-DF41-73F2-5C00-D6EFFBFD098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B33A31F-72A8-8415-5EC6-A99BF2E8993D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B33A31F-72A8-8415-5EC6-A99BF2E89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9019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4B254-5612-DA82-EFDE-BD7EAC3F1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95519D6F-3FC3-D57D-06C1-E054EA7DD4E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95519D6F-3FC3-D57D-06C1-E054EA7DD4E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E07F07DF-8368-1851-6057-42AB196EF62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23C1DBFD-029B-BEEB-67DA-0E0BFAC84664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23C1DBFD-029B-BEEB-67DA-0E0BFAC84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4742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66FC7-61C4-DB28-2787-33C7FB1F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DF5ABB58-1867-E398-BC34-E773F073B6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DF5ABB58-1867-E398-BC34-E773F073B6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201DEE1B-8BF9-8DB3-1088-E4ACCB0BC4E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0BD1096-73A4-1BE4-976B-E0CCD89F7086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0BD1096-73A4-1BE4-976B-E0CCD89F7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925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3B9D-7F09-A7FC-8163-D60D345C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3BE88E3A-E32F-E628-EA3F-2A758D2493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3BE88E3A-E32F-E628-EA3F-2A758D2493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96D87669-7C98-E89C-C501-04D439F7950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BB4B3ED-6149-22B5-D4CB-2E70F37D8AD0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BB4B3ED-6149-22B5-D4CB-2E70F37D8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297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B979A-EEF2-8120-E0C3-E6AB4984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EA2FCC1-594B-828C-1275-1255BE5610A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EA2FCC1-594B-828C-1275-1255BE5610A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8CDC4FB9-45A7-76B9-0411-B217BBAF001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0F0BEDC-4605-0ED0-3D09-2D3EF48DF03F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0F0BEDC-4605-0ED0-3D09-2D3EF48DF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9115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4A91-0566-D180-E3B0-6E460269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FDDE9DA-6139-E989-E64A-DAD88F6F06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FDDE9DA-6139-E989-E64A-DAD88F6F06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ABF9F2-7DA7-13DB-E036-20F37B27830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AF070B4-7202-AFAF-DB7B-FDA317A917C8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AF070B4-7202-AFAF-DB7B-FDA317A91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1602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605C1-CA8E-5579-9EFD-723F0E2F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93F5FC4-DB15-894C-BA35-D87423E1406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93F5FC4-DB15-894C-BA35-D87423E1406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5F4CAF07-7BE9-5BB1-236F-DEC3B4CA899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20B03C2-E01E-78C5-BC17-7EDD293D704E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20B03C2-E01E-78C5-BC17-7EDD293D7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146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EC017-BD24-93F1-B33E-9A6834B1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34C0054E-769E-C70D-E635-C087C67E943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34C0054E-769E-C70D-E635-C087C67E943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80AEF5-AF33-79EF-06AF-408ADB7E971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A5DBE48-8646-2BB4-BF6A-9EBAD8BAD6C1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A5DBE48-8646-2BB4-BF6A-9EBAD8BAD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1562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5914D-3E18-EC7B-F480-D981DBF8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7E25E9B1-5374-FFB5-4F61-73EF2474655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7E25E9B1-5374-FFB5-4F61-73EF2474655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DF8C79FB-3E12-C7A1-1B8D-D186672CB78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18D690B-0232-FC63-F753-A35A88E031A1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18D690B-0232-FC63-F753-A35A88E03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0298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4975-6C95-9CA0-9458-08260B0C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D680C0A-5992-24A8-4340-7D290DCD7FA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D680C0A-5992-24A8-4340-7D290DCD7FA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AE27E9DB-63AE-C959-E59F-DAEA8E37561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BB8FC41-A39B-C8C7-F65E-6A85C3CB14BD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BB8FC41-A39B-C8C7-F65E-6A85C3CB1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9452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6671-7E9C-F639-1C0E-4B92B9B9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C06BCB15-BB54-437E-489D-A51B1A3E4AF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C06BCB15-BB54-437E-489D-A51B1A3E4AF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A557A362-3758-6C7F-82D9-3E84565AD0A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4FD2D29-95C4-C115-82B1-AA1F51751E9F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4FD2D29-95C4-C115-82B1-AA1F51751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6167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5537-EEE9-3278-17A6-943379F5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6DCF365-6E99-B6D5-5417-42B869C77AC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F6DCF365-6E99-B6D5-5417-42B869C77AC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7184E93C-61DB-BB35-08E3-960E09DC9E8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F0304D7-46AF-8B72-8521-72879B46F47A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F0304D7-46AF-8B72-8521-72879B46F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3138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AB73C-AB1C-93F0-9516-817C3E3B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009519D8-DED3-1ECE-6346-E27AB958BF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009519D8-DED3-1ECE-6346-E27AB958BF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2F3B4C66-8F65-47E3-A9A7-DD1F01093A9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E5D18B2-116B-AF1D-8DCE-0D10CE440F8D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E5D18B2-116B-AF1D-8DCE-0D10CE440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7942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B0A3C-35F3-2F18-60FF-73E5D222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2C4514EC-2A4E-7CBE-8E58-B56366B9F79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2C4514EC-2A4E-7CBE-8E58-B56366B9F79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896A91DF-9F4B-C35E-D681-4CEA4B7CCD1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C7ADEEF-78A1-E267-3774-D9C531F77B5D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C7ADEEF-78A1-E267-3774-D9C531F77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0218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3AFD2-437F-97E5-A58C-B59AD6B32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C6432EBE-43FC-4EFC-4F52-F5550D22C9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C6432EBE-43FC-4EFC-4F52-F5550D22C9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EEBEC652-E825-9246-F88E-3E58E18F4C7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0903999-508F-494A-43D2-191F87106DA2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0903999-508F-494A-43D2-191F87106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75740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5F9FF-E155-4848-A3CE-35CBE3DF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98AFD191-11E7-9276-4F1D-46CC56F9E3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98AFD191-11E7-9276-4F1D-46CC56F9E3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6D9E54-D2C5-F63F-775B-CAA359EBD76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C4188C0-6AAA-8BF9-CA2C-CFAB07682A8D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C4188C0-6AAA-8BF9-CA2C-CFAB07682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945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74FFB-2047-1495-90CE-16DCBD594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F14D2AF-0E28-3CA4-7F43-242D90DB462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4F14D2AF-0E28-3CA4-7F43-242D90DB462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5D456F-93B8-E570-8A6E-2F3C3CECD3F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4ECAFAD-8625-07E0-AC10-382E42C7FAA4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4ECAFAD-8625-07E0-AC10-382E42C7F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8924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79876-C5CB-C830-66C2-7D1258F0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C7311560-60F7-3380-4A0B-B815B2C0978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  <m:r>
                                  <a:rPr lang="it-IT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2400" b="1" i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C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it-IT" sz="2400" b="1" i="0" smtClean="0">
                                    <a:solidFill>
                                      <a:schemeClr val="tx1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2">
                <a:extLst>
                  <a:ext uri="{FF2B5EF4-FFF2-40B4-BE49-F238E27FC236}">
                    <a16:creationId xmlns:a16="http://schemas.microsoft.com/office/drawing/2014/main" id="{C7311560-60F7-3380-4A0B-B815B2C0978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866" y="1333127"/>
              <a:ext cx="8848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1200">
                      <a:extLst>
                        <a:ext uri="{9D8B030D-6E8A-4147-A177-3AD203B41FA5}">
                          <a16:colId xmlns:a16="http://schemas.microsoft.com/office/drawing/2014/main" val="1263053591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2260424735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3692486331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130169696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12663282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436586903"/>
                        </a:ext>
                      </a:extLst>
                    </a:gridCol>
                    <a:gridCol w="871200">
                      <a:extLst>
                        <a:ext uri="{9D8B030D-6E8A-4147-A177-3AD203B41FA5}">
                          <a16:colId xmlns:a16="http://schemas.microsoft.com/office/drawing/2014/main" val="1960169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789" t="-9333" r="-37018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5434" t="-9333" r="-268493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5485" t="-9333" r="-32731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413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67449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7715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1253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652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4042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143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1478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358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07C522DB-CDCD-C6FD-B0A6-8DC6C61B130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Truth </a:t>
            </a:r>
            <a:r>
              <a:rPr lang="it-IT" sz="3600" b="1" dirty="0" err="1"/>
              <a:t>Tables</a:t>
            </a:r>
            <a:endParaRPr lang="it-IT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BD30D3A-0F1E-0092-D0B4-01C090EAC9A2}"/>
                  </a:ext>
                </a:extLst>
              </p:cNvPr>
              <p:cNvSpPr txBox="1"/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1" i="0" smtClean="0"/>
                        <m:t>Y</m:t>
                      </m:r>
                      <m:r>
                        <m:rPr>
                          <m:nor/>
                        </m:rPr>
                        <a:rPr lang="it-IT" sz="2400" b="1" i="0" smtClean="0"/>
                        <m:t> 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C</m:t>
                      </m:r>
                      <m:r>
                        <m:rPr>
                          <m:nor/>
                        </m:rPr>
                        <a:rPr lang="it-IT" sz="2400" b="1" i="0" smtClean="0"/>
                        <m:t>)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it-IT" sz="2400" b="1" i="0" smtClean="0"/>
                        <m:t>(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r>
                        <m:rPr>
                          <m:nor/>
                        </m:rPr>
                        <a:rPr lang="it-IT" sz="2400" b="1" i="0" smtClean="0"/>
                        <m:t>B</m:t>
                      </m:r>
                      <m:r>
                        <m:rPr>
                          <m:nor/>
                        </m:rPr>
                        <a:rPr lang="it-IT" sz="2400" b="1" i="0" smtClean="0"/>
                        <m:t>+</m:t>
                      </m:r>
                      <m:acc>
                        <m:accPr>
                          <m:chr m:val="̅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400" b="1" i="0" smtClean="0"/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lang="it-IT" sz="2400" b="1" i="0" smtClean="0"/>
                        <m:t>) + </m:t>
                      </m:r>
                      <m:r>
                        <m:rPr>
                          <m:nor/>
                        </m:rPr>
                        <a:rPr lang="it-IT" sz="2400" b="1" i="0" smtClean="0"/>
                        <m:t>A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BD30D3A-0F1E-0092-D0B4-01C090EAC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47" y="604263"/>
                <a:ext cx="4922520" cy="461665"/>
              </a:xfrm>
              <a:prstGeom prst="rect">
                <a:avLst/>
              </a:prstGeom>
              <a:blipFill>
                <a:blip r:embed="rId4"/>
                <a:stretch>
                  <a:fillRect l="-248" b="-11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8063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D9CB-9BAE-5240-AC69-0682466C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EE51CBF-C702-8290-DC49-D277B81206F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AF2442C-2ECD-76F4-5753-708525E1F120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21E525-3B1A-B096-3B3D-A8479FDFC23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D7DFFC6-BC8D-8BDA-CFFC-CA05350F97A1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D7DFFC6-BC8D-8BDA-CFFC-CA05350F9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9042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0BEC-2FB7-8AF5-2653-E3A6D2FE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BEDCF0-1845-02D8-AEC6-E1631F3EC6C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E68AFE-562F-C263-C6A6-28B1F500B83E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842D8BB-F97E-D0FB-C3C2-92A71D1F7211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E3E5663B-3620-EDF3-DC9D-98C59A7D14DF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E3E5663B-3620-EDF3-DC9D-98C59A7D1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E71C47D-EFE7-2E18-39CB-72905CE665D7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E71C47D-EFE7-2E18-39CB-72905CE66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D5D0193C-804E-05D0-89AC-F65C88583013}"/>
              </a:ext>
            </a:extLst>
          </p:cNvPr>
          <p:cNvSpPr/>
          <p:nvPr/>
        </p:nvSpPr>
        <p:spPr>
          <a:xfrm rot="16200000">
            <a:off x="1098353" y="1445484"/>
            <a:ext cx="144331" cy="124883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0F0014A-F594-B95C-EBD9-C014C6E5EACD}"/>
              </a:ext>
            </a:extLst>
          </p:cNvPr>
          <p:cNvCxnSpPr>
            <a:stCxn id="8" idx="1"/>
          </p:cNvCxnSpPr>
          <p:nvPr/>
        </p:nvCxnSpPr>
        <p:spPr>
          <a:xfrm flipH="1">
            <a:off x="1168403" y="2142067"/>
            <a:ext cx="2116" cy="24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443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1BF95-93BE-DBCC-9741-69102953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45207EA-FF6C-5B64-F0A4-1233F003A35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D581B8A-A8CC-90B3-F45A-63F256A66058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5FC639-3578-2759-3516-3588DBA2D58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FC5456B-D5E1-9984-96E6-B8FBFBF4E315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FC5456B-D5E1-9984-96E6-B8FBFBF4E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2FF36C6-8C4A-4AA9-2949-66CA6A9FB88A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highlight>
                                    <a:srgbClr val="FFFF00"/>
                                  </a:highlight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2FF36C6-8C4A-4AA9-2949-66CA6A9FB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blipFill>
                <a:blip r:embed="rId3"/>
                <a:stretch>
                  <a:fillRect t="-2899" b="-14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BEBC5730-B88C-956E-2F49-DC298BD5DC10}"/>
              </a:ext>
            </a:extLst>
          </p:cNvPr>
          <p:cNvSpPr/>
          <p:nvPr/>
        </p:nvSpPr>
        <p:spPr>
          <a:xfrm rot="16200000">
            <a:off x="1098353" y="1445484"/>
            <a:ext cx="144331" cy="124883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A0373C3-3E3D-4B6D-5B63-80724A4C57D5}"/>
              </a:ext>
            </a:extLst>
          </p:cNvPr>
          <p:cNvCxnSpPr>
            <a:stCxn id="8" idx="1"/>
          </p:cNvCxnSpPr>
          <p:nvPr/>
        </p:nvCxnSpPr>
        <p:spPr>
          <a:xfrm flipH="1">
            <a:off x="1168403" y="2142067"/>
            <a:ext cx="2116" cy="24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39636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8F62A-DC60-A5F9-04CC-85B80F2B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75B6677-EAC8-2FCA-1218-C886A9B9B30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E3FD1C-8465-D60D-7E4A-D4C1281147A4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134816-4D60-F4A2-B2C6-A4327C96B55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E74C63C-711C-8AFE-4718-A61A21A0E88A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E74C63C-711C-8AFE-4718-A61A21A0E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A959FD6-EA90-5162-0486-8717428678F8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highlight>
                                    <a:srgbClr val="FFFF00"/>
                                  </a:highlight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A959FD6-EA90-5162-0486-871742867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blipFill>
                <a:blip r:embed="rId3"/>
                <a:stretch>
                  <a:fillRect t="-2899" b="-14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F43B2765-CDF8-B111-615B-AED874D18F38}"/>
              </a:ext>
            </a:extLst>
          </p:cNvPr>
          <p:cNvSpPr/>
          <p:nvPr/>
        </p:nvSpPr>
        <p:spPr>
          <a:xfrm rot="16200000">
            <a:off x="1098353" y="1445484"/>
            <a:ext cx="144331" cy="124883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BCAEB65-B17D-21EA-501D-2BC10CA179AA}"/>
              </a:ext>
            </a:extLst>
          </p:cNvPr>
          <p:cNvCxnSpPr>
            <a:stCxn id="8" idx="1"/>
          </p:cNvCxnSpPr>
          <p:nvPr/>
        </p:nvCxnSpPr>
        <p:spPr>
          <a:xfrm flipH="1">
            <a:off x="1168403" y="2142067"/>
            <a:ext cx="2116" cy="24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4BFA86A-7493-2FCF-C08B-D280554B6DE5}"/>
                  </a:ext>
                </a:extLst>
              </p:cNvPr>
              <p:cNvSpPr txBox="1"/>
              <p:nvPr/>
            </p:nvSpPr>
            <p:spPr>
              <a:xfrm>
                <a:off x="3757448" y="2597839"/>
                <a:ext cx="3336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0070C0"/>
                    </a:solidFill>
                  </a:rPr>
                  <a:t>De Morgan's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</m:t>
                    </m:r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+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Y</m:t>
                        </m:r>
                      </m:e>
                    </m:acc>
                  </m:oMath>
                </a14:m>
                <a:r>
                  <a:rPr lang="it-IT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4BFA86A-7493-2FCF-C08B-D280554B6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48" y="2597839"/>
                <a:ext cx="3336079" cy="369332"/>
              </a:xfrm>
              <a:prstGeom prst="rect">
                <a:avLst/>
              </a:prstGeom>
              <a:blipFill>
                <a:blip r:embed="rId4"/>
                <a:stretch>
                  <a:fillRect l="-1460" t="-6557" r="-200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0068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76C7-DBA6-C710-070A-1721BC0A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B5F70E-A9FF-2212-C246-23698E94E53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08AEB6-3264-D5DB-869E-10FDAEB10743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FCFAE3D-7EB4-7D2F-796A-3767611F8BC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3E74A38-3C80-C785-17DA-4DC26EBF6499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3E74A38-3C80-C785-17DA-4DC26EBF6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7FFCAD9-DEC1-D9B5-A556-9578CF0EFC68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highlight>
                                    <a:srgbClr val="FFFF00"/>
                                  </a:highlight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47FFCAD9-DEC1-D9B5-A556-9578CF0EF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blipFill>
                <a:blip r:embed="rId3"/>
                <a:stretch>
                  <a:fillRect t="-2899" b="-14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5A75EC6F-550F-52D8-CDFE-FFB801799A16}"/>
              </a:ext>
            </a:extLst>
          </p:cNvPr>
          <p:cNvSpPr/>
          <p:nvPr/>
        </p:nvSpPr>
        <p:spPr>
          <a:xfrm rot="16200000">
            <a:off x="1098353" y="1445484"/>
            <a:ext cx="144331" cy="124883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E12B8C9-E7C2-3C13-0168-74D4072CD0D9}"/>
              </a:ext>
            </a:extLst>
          </p:cNvPr>
          <p:cNvCxnSpPr>
            <a:stCxn id="8" idx="1"/>
          </p:cNvCxnSpPr>
          <p:nvPr/>
        </p:nvCxnSpPr>
        <p:spPr>
          <a:xfrm flipH="1">
            <a:off x="1168403" y="2142067"/>
            <a:ext cx="2116" cy="24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1232FA22-0961-9D4F-4E14-97FB1C0E99AC}"/>
                  </a:ext>
                </a:extLst>
              </p:cNvPr>
              <p:cNvSpPr txBox="1"/>
              <p:nvPr/>
            </p:nvSpPr>
            <p:spPr>
              <a:xfrm>
                <a:off x="3757448" y="2597839"/>
                <a:ext cx="3336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0070C0"/>
                    </a:solidFill>
                  </a:rPr>
                  <a:t>De Morgan's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</m:t>
                    </m:r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+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Y</m:t>
                        </m:r>
                      </m:e>
                    </m:acc>
                  </m:oMath>
                </a14:m>
                <a:r>
                  <a:rPr lang="it-IT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1232FA22-0961-9D4F-4E14-97FB1C0E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48" y="2597839"/>
                <a:ext cx="3336079" cy="369332"/>
              </a:xfrm>
              <a:prstGeom prst="rect">
                <a:avLst/>
              </a:prstGeom>
              <a:blipFill>
                <a:blip r:embed="rId4"/>
                <a:stretch>
                  <a:fillRect l="-1460" t="-6557" r="-200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E92704F-9AEB-9CD6-EBB9-27D35912D485}"/>
                  </a:ext>
                </a:extLst>
              </p:cNvPr>
              <p:cNvSpPr txBox="1"/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E92704F-9AEB-9CD6-EBB9-27D35912D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blipFill>
                <a:blip r:embed="rId5"/>
                <a:stretch>
                  <a:fillRect l="-3425" r="-1438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52969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F0C9-0FE9-BA8F-C9EC-7F0F7062F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398FA32-C7C6-826A-F939-079136664ED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129F082-0047-A882-1017-608E803D480E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2CC410-AB76-6734-911F-C2C73828687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A376CD9-AF34-EE68-BE68-AEBEAC8613EB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A376CD9-AF34-EE68-BE68-AEBEAC861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A0339F2-434A-FD40-81E6-344EF95F2359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A0339F2-434A-FD40-81E6-344EF95F2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3391FE88-A3F7-71D0-9BFC-564A7C0B1BB7}"/>
              </a:ext>
            </a:extLst>
          </p:cNvPr>
          <p:cNvSpPr/>
          <p:nvPr/>
        </p:nvSpPr>
        <p:spPr>
          <a:xfrm rot="16200000">
            <a:off x="1098353" y="1445484"/>
            <a:ext cx="144331" cy="124883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8048F9D-D101-A2BF-8BF3-0C186809CB38}"/>
              </a:ext>
            </a:extLst>
          </p:cNvPr>
          <p:cNvCxnSpPr>
            <a:stCxn id="8" idx="1"/>
          </p:cNvCxnSpPr>
          <p:nvPr/>
        </p:nvCxnSpPr>
        <p:spPr>
          <a:xfrm flipH="1">
            <a:off x="1168403" y="2142067"/>
            <a:ext cx="2116" cy="24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0B07739-2852-8554-0829-5374B20CE062}"/>
                  </a:ext>
                </a:extLst>
              </p:cNvPr>
              <p:cNvSpPr txBox="1"/>
              <p:nvPr/>
            </p:nvSpPr>
            <p:spPr>
              <a:xfrm>
                <a:off x="3757448" y="2597839"/>
                <a:ext cx="3502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0070C0"/>
                    </a:solidFill>
                  </a:rPr>
                  <a:t>De Morgan's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</m:t>
                    </m:r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+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Y</m:t>
                        </m:r>
                      </m:e>
                    </m:acc>
                  </m:oMath>
                </a14:m>
                <a:r>
                  <a:rPr lang="it-IT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0B07739-2852-8554-0829-5374B20CE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48" y="2597839"/>
                <a:ext cx="3502334" cy="369332"/>
              </a:xfrm>
              <a:prstGeom prst="rect">
                <a:avLst/>
              </a:prstGeom>
              <a:blipFill>
                <a:blip r:embed="rId4"/>
                <a:stretch>
                  <a:fillRect l="-1391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719CA84-41C0-737C-54BF-F14D7D049D8A}"/>
                  </a:ext>
                </a:extLst>
              </p:cNvPr>
              <p:cNvSpPr txBox="1"/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)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719CA84-41C0-737C-54BF-F14D7D049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blipFill>
                <a:blip r:embed="rId5"/>
                <a:stretch>
                  <a:fillRect l="-3425" r="-1438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94093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A060-F788-67B5-C1AE-90C0ABAC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167D631-73E2-D791-EA17-38B8367E5FD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AB7307-5765-4570-3D00-14FFC57D0EAF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823A9AD-8F24-0B15-A15E-08134D6B9FB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44F5F7E-870E-60F9-7E37-7B437EF1E7E5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44F5F7E-870E-60F9-7E37-7B437EF1E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3ED100A-F5BB-6929-75CA-569E69FF1241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3ED100A-F5BB-6929-75CA-569E69FF1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EB614AD3-9FAC-A568-5A77-BF10A65A6488}"/>
              </a:ext>
            </a:extLst>
          </p:cNvPr>
          <p:cNvSpPr/>
          <p:nvPr/>
        </p:nvSpPr>
        <p:spPr>
          <a:xfrm rot="16200000">
            <a:off x="1098353" y="1445484"/>
            <a:ext cx="144331" cy="124883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21B606F-DB08-7325-B05A-9E567C85BD1F}"/>
              </a:ext>
            </a:extLst>
          </p:cNvPr>
          <p:cNvCxnSpPr>
            <a:stCxn id="8" idx="1"/>
          </p:cNvCxnSpPr>
          <p:nvPr/>
        </p:nvCxnSpPr>
        <p:spPr>
          <a:xfrm flipH="1">
            <a:off x="1168403" y="2142067"/>
            <a:ext cx="2116" cy="24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A6910120-C86A-E5D4-EC75-CD26693F6012}"/>
                  </a:ext>
                </a:extLst>
              </p:cNvPr>
              <p:cNvSpPr txBox="1"/>
              <p:nvPr/>
            </p:nvSpPr>
            <p:spPr>
              <a:xfrm>
                <a:off x="3757448" y="2597839"/>
                <a:ext cx="35300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0070C0"/>
                    </a:solidFill>
                  </a:rPr>
                  <a:t>De Morgan's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</m:t>
                    </m:r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+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Y</m:t>
                        </m:r>
                      </m:e>
                    </m:acc>
                  </m:oMath>
                </a14:m>
                <a:r>
                  <a:rPr lang="it-IT" b="1" dirty="0">
                    <a:solidFill>
                      <a:srgbClr val="0070C0"/>
                    </a:solidFill>
                  </a:rPr>
                  <a:t> </a:t>
                </a:r>
              </a:p>
              <a:p>
                <a:endParaRPr lang="it-IT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A6910120-C86A-E5D4-EC75-CD26693F6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48" y="2597839"/>
                <a:ext cx="3530043" cy="646331"/>
              </a:xfrm>
              <a:prstGeom prst="rect">
                <a:avLst/>
              </a:prstGeom>
              <a:blipFill>
                <a:blip r:embed="rId4"/>
                <a:stretch>
                  <a:fillRect l="-1382" t="-377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CC0E4BD-BAEA-561F-9258-6D4CEDF51298}"/>
                  </a:ext>
                </a:extLst>
              </p:cNvPr>
              <p:cNvSpPr txBox="1"/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CC0E4BD-BAEA-561F-9258-6D4CEDF51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blipFill>
                <a:blip r:embed="rId5"/>
                <a:stretch>
                  <a:fillRect l="-3425" t="-3571" r="-1438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1531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416B-C7D1-A31D-084F-63CB11D5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1B54CE0-5AEF-32C0-89C2-147B02E65B7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F113F89-B1FD-5745-26C9-846415C1299B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E84DC09-B545-3852-87B9-768710A980C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DF91591-4569-77DE-E036-E9DE37B2485F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DF91591-4569-77DE-E036-E9DE37B24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9D02964-F8EF-80D6-FA58-B30A850E30F3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9D02964-F8EF-80D6-FA58-B30A850E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3F984636-34C1-DE83-99C4-7FF79C806FF6}"/>
              </a:ext>
            </a:extLst>
          </p:cNvPr>
          <p:cNvSpPr/>
          <p:nvPr/>
        </p:nvSpPr>
        <p:spPr>
          <a:xfrm rot="16200000">
            <a:off x="1098353" y="1445484"/>
            <a:ext cx="144331" cy="124883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8CA0148-6B72-0C87-93F3-1EC3B3331E35}"/>
              </a:ext>
            </a:extLst>
          </p:cNvPr>
          <p:cNvCxnSpPr>
            <a:stCxn id="8" idx="1"/>
          </p:cNvCxnSpPr>
          <p:nvPr/>
        </p:nvCxnSpPr>
        <p:spPr>
          <a:xfrm flipH="1">
            <a:off x="1168403" y="2142067"/>
            <a:ext cx="2116" cy="24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12885314-4836-837D-8A80-8F3C5162FFE7}"/>
                  </a:ext>
                </a:extLst>
              </p:cNvPr>
              <p:cNvSpPr txBox="1"/>
              <p:nvPr/>
            </p:nvSpPr>
            <p:spPr>
              <a:xfrm>
                <a:off x="3757448" y="2597839"/>
                <a:ext cx="3326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0070C0"/>
                    </a:solidFill>
                  </a:rPr>
                  <a:t>De Morgan's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</m:t>
                    </m:r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+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Y</m:t>
                        </m:r>
                      </m:e>
                    </m:acc>
                  </m:oMath>
                </a14:m>
                <a:r>
                  <a:rPr lang="it-IT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12885314-4836-837D-8A80-8F3C5162F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48" y="2597839"/>
                <a:ext cx="3326843" cy="369332"/>
              </a:xfrm>
              <a:prstGeom prst="rect">
                <a:avLst/>
              </a:prstGeom>
              <a:blipFill>
                <a:blip r:embed="rId4"/>
                <a:stretch>
                  <a:fillRect l="-1465" t="-6557" r="-2381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F31D00AD-8FA0-DE41-1DFA-E0D8357E8672}"/>
                  </a:ext>
                </a:extLst>
              </p:cNvPr>
              <p:cNvSpPr txBox="1"/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F31D00AD-8FA0-DE41-1DFA-E0D8357E8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blipFill>
                <a:blip r:embed="rId5"/>
                <a:stretch>
                  <a:fillRect l="-3425" t="-3571" r="-1438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1435D5A1-3C0B-842C-6F38-EBD723F50137}"/>
                  </a:ext>
                </a:extLst>
              </p:cNvPr>
              <p:cNvSpPr txBox="1"/>
              <p:nvPr/>
            </p:nvSpPr>
            <p:spPr>
              <a:xfrm>
                <a:off x="3757447" y="3096428"/>
                <a:ext cx="34376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0070C0"/>
                    </a:solidFill>
                  </a:rPr>
                  <a:t>Absorption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dirty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r>
                  <a:rPr lang="it-IT" b="1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∙(X + Y) = X</a:t>
                </a:r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1435D5A1-3C0B-842C-6F38-EBD723F50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47" y="3096428"/>
                <a:ext cx="3437680" cy="369332"/>
              </a:xfrm>
              <a:prstGeom prst="rect">
                <a:avLst/>
              </a:prstGeom>
              <a:blipFill>
                <a:blip r:embed="rId6"/>
                <a:stretch>
                  <a:fillRect l="-1418" t="-819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8248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81FF-AD75-B280-2DDE-04C86A8B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19C4EE7-45AC-EF7D-7815-35C66243581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Equalities </a:t>
            </a:r>
            <a:r>
              <a:rPr lang="it-IT" sz="3600" b="1" dirty="0" err="1"/>
              <a:t>between</a:t>
            </a:r>
            <a:r>
              <a:rPr lang="it-IT" sz="3600" b="1" dirty="0"/>
              <a:t> </a:t>
            </a:r>
            <a:r>
              <a:rPr lang="it-IT" sz="3600" b="1" dirty="0" err="1"/>
              <a:t>Boolean</a:t>
            </a:r>
            <a:r>
              <a:rPr lang="it-IT" sz="3600" b="1" dirty="0"/>
              <a:t> </a:t>
            </a:r>
            <a:r>
              <a:rPr lang="it-IT" sz="3600" b="1" dirty="0" err="1"/>
              <a:t>expressions</a:t>
            </a:r>
            <a:endParaRPr lang="it-IT" sz="36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21D98DA-C627-EE64-8999-2DF9FD36657E}"/>
              </a:ext>
            </a:extLst>
          </p:cNvPr>
          <p:cNvSpPr txBox="1"/>
          <p:nvPr/>
        </p:nvSpPr>
        <p:spPr>
          <a:xfrm>
            <a:off x="6421120" y="6417548"/>
            <a:ext cx="5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ex. 1, p. 81  </a:t>
            </a:r>
            <a:r>
              <a:rPr lang="it-IT" i="1" dirty="0"/>
              <a:t>Introduzione alla programmazione ARM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8155EA-5BC5-82FC-1A08-1CC2E792EE5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Verify the following inequality using the properties of Boolean algebra</a:t>
            </a:r>
            <a:endParaRPr lang="it-IT" sz="2200" baseline="-25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601E436B-45B2-2777-8C44-105BB5DA927F}"/>
                  </a:ext>
                </a:extLst>
              </p:cNvPr>
              <p:cNvSpPr txBox="1"/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 </m:t>
                      </m:r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/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/>
                            <m:t>B</m:t>
                          </m:r>
                        </m:e>
                      </m:acc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601E436B-45B2-2777-8C44-105BB5DA9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2" y="1574800"/>
                <a:ext cx="2149627" cy="418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024C6481-688E-4A48-C39A-2A8D22903122}"/>
                  </a:ext>
                </a:extLst>
              </p:cNvPr>
              <p:cNvSpPr txBox="1"/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it-IT" sz="2200" b="0" i="0" smtClean="0"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2200" b="0" i="0" smtClean="0"/>
                        <m:t>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024C6481-688E-4A48-C39A-2A8D22903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2548467"/>
                <a:ext cx="1489190" cy="4187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51659B88-957D-8D4F-0951-32DAA87EBAFE}"/>
              </a:ext>
            </a:extLst>
          </p:cNvPr>
          <p:cNvSpPr/>
          <p:nvPr/>
        </p:nvSpPr>
        <p:spPr>
          <a:xfrm rot="16200000">
            <a:off x="1098353" y="1445484"/>
            <a:ext cx="144331" cy="124883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7BDB64E5-0763-5387-0258-F9DE45D75A54}"/>
              </a:ext>
            </a:extLst>
          </p:cNvPr>
          <p:cNvCxnSpPr>
            <a:stCxn id="8" idx="1"/>
          </p:cNvCxnSpPr>
          <p:nvPr/>
        </p:nvCxnSpPr>
        <p:spPr>
          <a:xfrm flipH="1">
            <a:off x="1168403" y="2142067"/>
            <a:ext cx="2116" cy="24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7FF760C5-3282-FEEA-24CE-6FDE169FD350}"/>
                  </a:ext>
                </a:extLst>
              </p:cNvPr>
              <p:cNvSpPr txBox="1"/>
              <p:nvPr/>
            </p:nvSpPr>
            <p:spPr>
              <a:xfrm>
                <a:off x="3757448" y="2597839"/>
                <a:ext cx="4093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0070C0"/>
                    </a:solidFill>
                  </a:rPr>
                  <a:t>De Morgan's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  <a:ea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 =</m:t>
                    </m:r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X</m:t>
                        </m:r>
                      </m:e>
                    </m:acc>
                    <m:r>
                      <a:rPr lang="it-IT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1" i="0" smtClean="0">
                        <a:solidFill>
                          <a:srgbClr val="0070C0"/>
                        </a:solidFill>
                      </a:rPr>
                      <m:t>+ </m:t>
                    </m:r>
                    <m:acc>
                      <m:accPr>
                        <m:chr m:val="̅"/>
                        <m:ctrlPr>
                          <a:rPr lang="it-IT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i="0" smtClean="0">
                            <a:solidFill>
                              <a:srgbClr val="0070C0"/>
                            </a:solidFill>
                          </a:rPr>
                          <m:t>Y</m:t>
                        </m:r>
                      </m:e>
                    </m:acc>
                  </m:oMath>
                </a14:m>
                <a:r>
                  <a:rPr lang="it-IT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7FF760C5-3282-FEEA-24CE-6FDE169F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48" y="2597839"/>
                <a:ext cx="4093461" cy="369332"/>
              </a:xfrm>
              <a:prstGeom prst="rect">
                <a:avLst/>
              </a:prstGeom>
              <a:blipFill>
                <a:blip r:embed="rId4"/>
                <a:stretch>
                  <a:fillRect l="-1190" t="-655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DEFE371-465B-AEE4-6F2C-09982E9B443A}"/>
                  </a:ext>
                </a:extLst>
              </p:cNvPr>
              <p:cNvSpPr txBox="1"/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 +</m:t>
                      </m:r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highlight>
                                <a:srgbClr val="FFFF00"/>
                              </a:highlight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>
                          <a:highlight>
                            <a:srgbClr val="FFFF00"/>
                          </a:highlight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=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DEFE371-465B-AEE4-6F2C-09982E9B4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127206"/>
                <a:ext cx="1782539" cy="338554"/>
              </a:xfrm>
              <a:prstGeom prst="rect">
                <a:avLst/>
              </a:prstGeom>
              <a:blipFill>
                <a:blip r:embed="rId5"/>
                <a:stretch>
                  <a:fillRect l="-3425" t="-3571" r="-14384" b="-285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D73195BE-236F-37AB-F984-5BCAB752B7BD}"/>
                  </a:ext>
                </a:extLst>
              </p:cNvPr>
              <p:cNvSpPr txBox="1"/>
              <p:nvPr/>
            </p:nvSpPr>
            <p:spPr>
              <a:xfrm>
                <a:off x="3757447" y="3096428"/>
                <a:ext cx="3659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>
                    <a:solidFill>
                      <a:srgbClr val="0070C0"/>
                    </a:solidFill>
                  </a:rPr>
                  <a:t>Absorption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 err="1">
                    <a:solidFill>
                      <a:srgbClr val="0070C0"/>
                    </a:solidFill>
                  </a:rPr>
                  <a:t>Law</a:t>
                </a:r>
                <a:r>
                  <a:rPr lang="it-IT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1" i="0" dirty="0" smtClean="0">
                        <a:solidFill>
                          <a:srgbClr val="0070C0"/>
                        </a:solidFill>
                      </a:rPr>
                      <m:t>X</m:t>
                    </m:r>
                  </m:oMath>
                </a14:m>
                <a:r>
                  <a:rPr lang="it-IT" b="1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∙(X + Y) = X</a:t>
                </a:r>
                <a:endParaRPr lang="it-IT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D73195BE-236F-37AB-F984-5BCAB752B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47" y="3096428"/>
                <a:ext cx="3659353" cy="369332"/>
              </a:xfrm>
              <a:prstGeom prst="rect">
                <a:avLst/>
              </a:prstGeom>
              <a:blipFill>
                <a:blip r:embed="rId6"/>
                <a:stretch>
                  <a:fillRect l="-1331" t="-819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13BBCA4-5E6D-ED62-BE39-35067D92CC5E}"/>
                  </a:ext>
                </a:extLst>
              </p:cNvPr>
              <p:cNvSpPr txBox="1"/>
              <p:nvPr/>
            </p:nvSpPr>
            <p:spPr>
              <a:xfrm>
                <a:off x="546101" y="3625795"/>
                <a:ext cx="718145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200" b="0" i="0" smtClean="0"/>
                        <m:t>A</m:t>
                      </m:r>
                      <m:r>
                        <m:rPr>
                          <m:nor/>
                        </m:rPr>
                        <a:rPr lang="it-IT" sz="2200" b="0" i="0" smtClean="0"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̅"/>
                          <m:ctrlPr>
                            <a:rPr lang="it-I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it-IT" sz="2200" b="0" i="0" smtClean="0"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lang="it-IT" sz="2200" b="0" i="0" smtClean="0"/>
                        <m:t> </m:t>
                      </m:r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13BBCA4-5E6D-ED62-BE39-35067D92C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1" y="3625795"/>
                <a:ext cx="718145" cy="338554"/>
              </a:xfrm>
              <a:prstGeom prst="rect">
                <a:avLst/>
              </a:prstGeom>
              <a:blipFill>
                <a:blip r:embed="rId7"/>
                <a:stretch>
                  <a:fillRect l="-9402" r="-58120" b="-54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741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9FA87A72B8FA458B8499D3C33A64D9" ma:contentTypeVersion="14" ma:contentTypeDescription="Creare un nuovo documento." ma:contentTypeScope="" ma:versionID="243e0ccaa4e6de0133d9291014e7dca1">
  <xsd:schema xmlns:xsd="http://www.w3.org/2001/XMLSchema" xmlns:xs="http://www.w3.org/2001/XMLSchema" xmlns:p="http://schemas.microsoft.com/office/2006/metadata/properties" xmlns:ns3="73cdcc7e-0db4-4d6f-9752-577853f10653" xmlns:ns4="b7b338cc-af36-421f-920d-2f6875eb63d8" targetNamespace="http://schemas.microsoft.com/office/2006/metadata/properties" ma:root="true" ma:fieldsID="6fe1eba5a05770dafbc632a054f4276d" ns3:_="" ns4:_="">
    <xsd:import namespace="73cdcc7e-0db4-4d6f-9752-577853f10653"/>
    <xsd:import namespace="b7b338cc-af36-421f-920d-2f6875eb63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dcc7e-0db4-4d6f-9752-577853f106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338cc-af36-421f-920d-2f6875eb63d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cdcc7e-0db4-4d6f-9752-577853f10653" xsi:nil="true"/>
  </documentManagement>
</p:properties>
</file>

<file path=customXml/itemProps1.xml><?xml version="1.0" encoding="utf-8"?>
<ds:datastoreItem xmlns:ds="http://schemas.openxmlformats.org/officeDocument/2006/customXml" ds:itemID="{8CC1BA79-068E-4A68-8FB2-04BD3E320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cdcc7e-0db4-4d6f-9752-577853f10653"/>
    <ds:schemaRef ds:uri="b7b338cc-af36-421f-920d-2f6875eb63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21CA18-4F46-465F-BE6F-E8D2AC1028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BF23CB-4EBB-4C65-B2C6-BB7179A113FE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  <ds:schemaRef ds:uri="73cdcc7e-0db4-4d6f-9752-577853f10653"/>
    <ds:schemaRef ds:uri="b7b338cc-af36-421f-920d-2f6875eb63d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6029</Words>
  <Application>Microsoft Office PowerPoint</Application>
  <PresentationFormat>Widescreen</PresentationFormat>
  <Paragraphs>3477</Paragraphs>
  <Slides>95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95</vt:i4>
      </vt:variant>
    </vt:vector>
  </HeadingPairs>
  <TitlesOfParts>
    <vt:vector size="96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maurizio fiusco</dc:creator>
  <cp:lastModifiedBy>maurizio fiusco</cp:lastModifiedBy>
  <cp:revision>2</cp:revision>
  <dcterms:created xsi:type="dcterms:W3CDTF">2025-04-03T10:13:07Z</dcterms:created>
  <dcterms:modified xsi:type="dcterms:W3CDTF">2025-04-28T07:08:10Z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0x0101005E9FA87A72B8FA458B8499D3C33A64D9</vt:lpwstr>
  </property>
</Properties>
</file>