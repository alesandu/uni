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8" r:id="rId4"/>
    <p:sldId id="259" r:id="rId5"/>
    <p:sldId id="282" r:id="rId6"/>
    <p:sldId id="261" r:id="rId7"/>
    <p:sldId id="283" r:id="rId8"/>
    <p:sldId id="284" r:id="rId9"/>
    <p:sldId id="264" r:id="rId10"/>
    <p:sldId id="265" r:id="rId11"/>
    <p:sldId id="285" r:id="rId12"/>
    <p:sldId id="286" r:id="rId13"/>
    <p:sldId id="287" r:id="rId14"/>
    <p:sldId id="288" r:id="rId15"/>
    <p:sldId id="270" r:id="rId16"/>
    <p:sldId id="271" r:id="rId17"/>
    <p:sldId id="275" r:id="rId18"/>
    <p:sldId id="276" r:id="rId19"/>
    <p:sldId id="289" r:id="rId20"/>
    <p:sldId id="272" r:id="rId21"/>
    <p:sldId id="277" r:id="rId22"/>
    <p:sldId id="278" r:id="rId23"/>
    <p:sldId id="290" r:id="rId24"/>
    <p:sldId id="273" r:id="rId25"/>
    <p:sldId id="279" r:id="rId26"/>
    <p:sldId id="291" r:id="rId27"/>
    <p:sldId id="292" r:id="rId28"/>
    <p:sldId id="29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14/11/2017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14/11/2017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2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funzioni logiche</a:t>
            </a:r>
          </a:p>
          <a:p>
            <a:r>
              <a:rPr lang="it-IT" b="1" dirty="0"/>
              <a:t>Circuiti combinatori e sequenziali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13/11/2017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funzioni logiche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644667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1) Rappresentare le funzioni logiche F e G in termini delle variabili A, B e C, in forma normale congiuntiva e disgiuntiva e poi con solo operazioni NOR: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E457CB40-AD6A-468D-97F1-A45EC46135C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982912" y="2778267"/>
          <a:ext cx="6417760" cy="2836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552">
                  <a:extLst>
                    <a:ext uri="{9D8B030D-6E8A-4147-A177-3AD203B41FA5}">
                      <a16:colId xmlns:a16="http://schemas.microsoft.com/office/drawing/2014/main" val="3598827600"/>
                    </a:ext>
                  </a:extLst>
                </a:gridCol>
                <a:gridCol w="1283552">
                  <a:extLst>
                    <a:ext uri="{9D8B030D-6E8A-4147-A177-3AD203B41FA5}">
                      <a16:colId xmlns:a16="http://schemas.microsoft.com/office/drawing/2014/main" val="3039126238"/>
                    </a:ext>
                  </a:extLst>
                </a:gridCol>
                <a:gridCol w="1283552">
                  <a:extLst>
                    <a:ext uri="{9D8B030D-6E8A-4147-A177-3AD203B41FA5}">
                      <a16:colId xmlns:a16="http://schemas.microsoft.com/office/drawing/2014/main" val="3828136975"/>
                    </a:ext>
                  </a:extLst>
                </a:gridCol>
                <a:gridCol w="1283552">
                  <a:extLst>
                    <a:ext uri="{9D8B030D-6E8A-4147-A177-3AD203B41FA5}">
                      <a16:colId xmlns:a16="http://schemas.microsoft.com/office/drawing/2014/main" val="2298993972"/>
                    </a:ext>
                  </a:extLst>
                </a:gridCol>
                <a:gridCol w="1283552">
                  <a:extLst>
                    <a:ext uri="{9D8B030D-6E8A-4147-A177-3AD203B41FA5}">
                      <a16:colId xmlns:a16="http://schemas.microsoft.com/office/drawing/2014/main" val="1194895185"/>
                    </a:ext>
                  </a:extLst>
                </a:gridCol>
              </a:tblGrid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 dirty="0">
                          <a:effectLst/>
                          <a:latin typeface="Times New Roman, serif"/>
                        </a:rPr>
                        <a:t>A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B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C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F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G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534611843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91603627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342947703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03506386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226740685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961344471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441063293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924074813"/>
                  </a:ext>
                </a:extLst>
              </a:tr>
              <a:tr h="315163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0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439481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49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510FC5-F3CA-4661-80ED-090ED1C8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(1)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0E6AF9-7E4C-4CE3-B384-142FF4BB8B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/>
              <a:t>Forma normale disgiuntiva</a:t>
            </a:r>
          </a:p>
          <a:p>
            <a:pPr lvl="1">
              <a:buFont typeface="+mj-lt"/>
              <a:buAutoNum type="arabicPeriod"/>
            </a:pPr>
            <a:r>
              <a:rPr lang="it-IT" dirty="0"/>
              <a:t>Per ogni riga tavola verità con valore 1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Variabili con valore 0  in forma negata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Variabili con valore 1  in forma positiva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Prodotto tra variabili</a:t>
            </a:r>
          </a:p>
          <a:p>
            <a:pPr lvl="1">
              <a:buFont typeface="+mj-lt"/>
              <a:buAutoNum type="arabicPeriod"/>
            </a:pPr>
            <a:r>
              <a:rPr lang="it-IT" dirty="0"/>
              <a:t>Somma espressioni ottenute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BBD9E5B-4D49-44F4-9EE0-B1F5FB7061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/>
              <a:t>Forma normale congiuntiva</a:t>
            </a:r>
          </a:p>
          <a:p>
            <a:pPr lvl="1">
              <a:buFont typeface="+mj-lt"/>
              <a:buAutoNum type="arabicPeriod"/>
            </a:pPr>
            <a:r>
              <a:rPr lang="it-IT" dirty="0"/>
              <a:t>Per ogni riga tavola verità con valore 0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Variabili con valore 0  in forma positiva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Variabili con valore 1  in forma negata</a:t>
            </a:r>
          </a:p>
          <a:p>
            <a:pPr lvl="2">
              <a:buFont typeface="+mj-lt"/>
              <a:buAutoNum type="arabicPeriod"/>
            </a:pPr>
            <a:r>
              <a:rPr lang="it-IT" dirty="0"/>
              <a:t>Somma tra variabili</a:t>
            </a:r>
          </a:p>
          <a:p>
            <a:pPr lvl="1">
              <a:buFont typeface="+mj-lt"/>
              <a:buAutoNum type="arabicPeriod"/>
            </a:pPr>
            <a:r>
              <a:rPr lang="it-IT" dirty="0"/>
              <a:t>Prodotto espressioni ottenute</a:t>
            </a:r>
          </a:p>
          <a:p>
            <a:pPr lvl="1">
              <a:buFont typeface="+mj-lt"/>
              <a:buAutoNum type="arabicPeriod"/>
            </a:pP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9870E2-BE87-49C7-A144-841B4018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7897D2-04F9-4FAB-A830-A64F76AD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627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510FC5-F3CA-4661-80ED-090ED1C8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(3)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50E6AF9-7E4C-4CE3-B384-142FF4BB8B3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589212" y="2133600"/>
                <a:ext cx="3603041" cy="3777622"/>
              </a:xfrm>
            </p:spPr>
            <p:txBody>
              <a:bodyPr/>
              <a:lstStyle/>
              <a:p>
                <a:r>
                  <a:rPr lang="it-IT" dirty="0"/>
                  <a:t>Forma normale disgiuntiva</a:t>
                </a:r>
              </a:p>
              <a:p>
                <a:pPr lvl="1"/>
                <a:r>
                  <a:rPr lang="it-IT" dirty="0"/>
                  <a:t>F=(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+ ABC</a:t>
                </a:r>
              </a:p>
              <a:p>
                <a:pPr lvl="1"/>
                <a:r>
                  <a:rPr lang="it-IT" dirty="0"/>
                  <a:t>G = AB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dirty="0">
                  <a:effectLst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50E6AF9-7E4C-4CE3-B384-142FF4BB8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589212" y="2133600"/>
                <a:ext cx="3603041" cy="3777622"/>
              </a:xfrm>
              <a:blipFill>
                <a:blip r:embed="rId2"/>
                <a:stretch>
                  <a:fillRect l="-1184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CBBD9E5B-4D49-44F4-9EE0-B1F5FB70611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92253" y="2126222"/>
                <a:ext cx="5312358" cy="3777622"/>
              </a:xfrm>
            </p:spPr>
            <p:txBody>
              <a:bodyPr/>
              <a:lstStyle/>
              <a:p>
                <a:r>
                  <a:rPr lang="it-IT" dirty="0"/>
                  <a:t>Forma normale congiuntiva</a:t>
                </a:r>
              </a:p>
              <a:p>
                <a:pPr lvl="1"/>
                <a:r>
                  <a:rPr lang="it-IT" dirty="0"/>
                  <a:t>F = (A + 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* (A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+C) * (A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* </a:t>
                </a:r>
              </a:p>
              <a:p>
                <a:pPr marL="457200" lvl="1" indent="0">
                  <a:buNone/>
                </a:pPr>
                <a:r>
                  <a:rPr lang="it-IT" dirty="0"/>
                  <a:t>*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 + B +C) *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+C) *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+ 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</a:t>
                </a:r>
              </a:p>
              <a:p>
                <a:pPr lvl="1"/>
                <a:r>
                  <a:rPr lang="it-IT" dirty="0"/>
                  <a:t>G = (A+B+C)*(A + 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* (A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+C) * (A +</a:t>
                </a:r>
              </a:p>
              <a:p>
                <a:pPr marL="457200" lvl="1" indent="0">
                  <a:buNone/>
                </a:pPr>
                <a:r>
                  <a:rPr lang="it-IT" dirty="0"/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*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+ B +C) *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+ 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*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</a:p>
              <a:p>
                <a:pPr marL="457200" lvl="1" indent="0">
                  <a:buNone/>
                </a:pPr>
                <a:r>
                  <a:rPr lang="it-IT" dirty="0"/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</a:t>
                </a:r>
              </a:p>
              <a:p>
                <a:pPr lvl="1">
                  <a:buFont typeface="+mj-lt"/>
                  <a:buAutoNum type="arabicPeriod"/>
                </a:pPr>
                <a:endParaRPr lang="it-IT" dirty="0"/>
              </a:p>
            </p:txBody>
          </p:sp>
        </mc:Choice>
        <mc:Fallback xmlns="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CBBD9E5B-4D49-44F4-9EE0-B1F5FB7061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92253" y="2126222"/>
                <a:ext cx="5312358" cy="3777622"/>
              </a:xfrm>
              <a:blipFill>
                <a:blip r:embed="rId3"/>
                <a:stretch>
                  <a:fillRect l="-804" t="-9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9870E2-BE87-49C7-A144-841B4018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E7897D2-04F9-4FAB-A830-A64F76AD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43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A826870E-D4A9-4AE3-94E7-E35046F1B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250" y="1305913"/>
            <a:ext cx="3929634" cy="4555138"/>
          </a:xfrm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AA9EC6B-61F8-45CB-B94B-28146EFD9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89212" y="3472590"/>
            <a:ext cx="3505199" cy="775617"/>
          </a:xfrm>
        </p:spPr>
        <p:txBody>
          <a:bodyPr>
            <a:normAutofit/>
          </a:bodyPr>
          <a:lstStyle/>
          <a:p>
            <a:r>
              <a:rPr lang="it-IT" sz="1600" dirty="0"/>
              <a:t>Passare da Forma normale congiuntiva (POS) a Forma NOR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D5339D-6036-45BC-9A80-3FDE9AD89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8AB6CC-840D-4DB4-B70A-5371078B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56E48C0-DE7E-4D13-8378-DD2DDA226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80344"/>
            <a:ext cx="8911687" cy="1280890"/>
          </a:xfrm>
        </p:spPr>
        <p:txBody>
          <a:bodyPr>
            <a:normAutofit/>
          </a:bodyPr>
          <a:lstStyle/>
          <a:p>
            <a:r>
              <a:rPr lang="it-IT" sz="3600" b="1" dirty="0"/>
              <a:t>Algebre di Boole e funzioni logiche (1)</a:t>
            </a:r>
            <a:br>
              <a:rPr lang="it-IT" sz="3600" b="1" dirty="0"/>
            </a:br>
            <a:r>
              <a:rPr lang="it-IT" sz="3600" b="1" dirty="0"/>
              <a:t>Soluzioni (3)</a:t>
            </a: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69079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CFFDA7-E315-48FA-BF1A-A1A4AD6C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(3)</a:t>
            </a:r>
            <a:br>
              <a:rPr lang="it-IT" b="1" dirty="0"/>
            </a:br>
            <a:r>
              <a:rPr lang="it-IT" b="1" dirty="0"/>
              <a:t>Soluzioni (4)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5226384-0B95-4C38-86A8-3CA3F10B49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F= ¬(A </a:t>
                </a:r>
                <a:r>
                  <a:rPr lang="it-IT" i="1" dirty="0"/>
                  <a:t>NOR</a:t>
                </a:r>
                <a:r>
                  <a:rPr lang="it-IT" dirty="0"/>
                  <a:t> B </a:t>
                </a:r>
                <a:r>
                  <a:rPr lang="it-IT" i="1" dirty="0"/>
                  <a:t>NOR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* ¬(A </a:t>
                </a:r>
                <a:r>
                  <a:rPr lang="it-IT" i="1" dirty="0"/>
                  <a:t>NOR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</a:t>
                </a:r>
                <a:r>
                  <a:rPr lang="it-IT" dirty="0"/>
                  <a:t> C) * ¬(A </a:t>
                </a:r>
                <a:r>
                  <a:rPr lang="it-IT" i="1" dirty="0"/>
                  <a:t>NOR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*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</a:t>
                </a:r>
                <a:r>
                  <a:rPr lang="it-IT" dirty="0"/>
                  <a:t> B </a:t>
                </a:r>
                <a:r>
                  <a:rPr lang="it-IT" i="1" dirty="0"/>
                  <a:t>NOR </a:t>
                </a:r>
                <a:r>
                  <a:rPr lang="it-IT" dirty="0"/>
                  <a:t>C) *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 </a:t>
                </a:r>
                <a:r>
                  <a:rPr lang="it-IT" dirty="0"/>
                  <a:t>C) *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</a:t>
                </a:r>
                <a:r>
                  <a:rPr lang="it-IT" dirty="0"/>
                  <a:t> B </a:t>
                </a:r>
                <a:r>
                  <a:rPr lang="it-IT" i="1" dirty="0"/>
                  <a:t>NOR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					per (1) </a:t>
                </a:r>
              </a:p>
              <a:p>
                <a:r>
                  <a:rPr lang="it-IT" dirty="0"/>
                  <a:t>F = (A </a:t>
                </a:r>
                <a:r>
                  <a:rPr lang="it-IT" i="1" dirty="0"/>
                  <a:t>NOR</a:t>
                </a:r>
                <a:r>
                  <a:rPr lang="it-IT" dirty="0"/>
                  <a:t> B </a:t>
                </a:r>
                <a:r>
                  <a:rPr lang="it-IT" i="1" dirty="0"/>
                  <a:t>NOR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* (A </a:t>
                </a:r>
                <a:r>
                  <a:rPr lang="it-IT" i="1" dirty="0"/>
                  <a:t>NOR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</a:t>
                </a:r>
                <a:r>
                  <a:rPr lang="it-IT" dirty="0"/>
                  <a:t> C) * (A </a:t>
                </a:r>
                <a:r>
                  <a:rPr lang="it-IT" i="1" dirty="0"/>
                  <a:t>NOR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 *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</a:t>
                </a:r>
                <a:r>
                  <a:rPr lang="it-IT" dirty="0"/>
                  <a:t> B </a:t>
                </a:r>
                <a:r>
                  <a:rPr lang="it-IT" i="1" dirty="0"/>
                  <a:t>NOR </a:t>
                </a:r>
                <a:r>
                  <a:rPr lang="it-IT" dirty="0"/>
                  <a:t>C) *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 </a:t>
                </a:r>
                <a:r>
                  <a:rPr lang="it-IT" dirty="0"/>
                  <a:t>C) *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:r>
                  <a:rPr lang="it-IT" i="1" dirty="0"/>
                  <a:t>NOR</a:t>
                </a:r>
                <a:r>
                  <a:rPr lang="it-IT" dirty="0"/>
                  <a:t> B </a:t>
                </a:r>
                <a:r>
                  <a:rPr lang="it-IT" i="1" dirty="0"/>
                  <a:t>NOR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)						per (2) </a:t>
                </a:r>
              </a:p>
              <a:p>
                <a:r>
                  <a:rPr lang="it-IT" dirty="0"/>
                  <a:t>(3) A</a:t>
                </a:r>
                <a:r>
                  <a:rPr lang="it-IT" b="1" dirty="0"/>
                  <a:t> </a:t>
                </a:r>
                <a:r>
                  <a:rPr lang="it-IT" dirty="0"/>
                  <a:t>=</a:t>
                </a:r>
                <a:r>
                  <a:rPr lang="it-IT" b="1" dirty="0"/>
                  <a:t> </a:t>
                </a:r>
                <a:r>
                  <a:rPr lang="it-IT" dirty="0"/>
                  <a:t>A </a:t>
                </a:r>
                <a:r>
                  <a:rPr lang="it-IT" i="1" dirty="0"/>
                  <a:t>NOR </a:t>
                </a:r>
                <a:r>
                  <a:rPr lang="it-IT" dirty="0"/>
                  <a:t>A</a:t>
                </a:r>
              </a:p>
              <a:p>
                <a:r>
                  <a:rPr lang="it-IT" dirty="0"/>
                  <a:t>F = (A </a:t>
                </a:r>
                <a:r>
                  <a:rPr lang="it-IT" i="1" dirty="0"/>
                  <a:t>NOR</a:t>
                </a:r>
                <a:r>
                  <a:rPr lang="it-IT" dirty="0"/>
                  <a:t> B </a:t>
                </a:r>
                <a:r>
                  <a:rPr lang="it-IT" i="1" dirty="0"/>
                  <a:t>NOR</a:t>
                </a:r>
                <a:r>
                  <a:rPr lang="it-IT" dirty="0"/>
                  <a:t> (C </a:t>
                </a:r>
                <a:r>
                  <a:rPr lang="it-IT" i="1" dirty="0"/>
                  <a:t>NOR</a:t>
                </a:r>
                <a:r>
                  <a:rPr lang="it-IT" dirty="0"/>
                  <a:t> C)) </a:t>
                </a:r>
                <a:r>
                  <a:rPr lang="it-IT" i="1" dirty="0"/>
                  <a:t>NOR</a:t>
                </a:r>
                <a:r>
                  <a:rPr lang="it-IT" dirty="0"/>
                  <a:t> (A </a:t>
                </a:r>
                <a:r>
                  <a:rPr lang="it-IT" i="1" dirty="0"/>
                  <a:t>NOR</a:t>
                </a:r>
                <a:r>
                  <a:rPr lang="it-IT" dirty="0"/>
                  <a:t> B </a:t>
                </a:r>
                <a:r>
                  <a:rPr lang="it-IT" i="1" dirty="0"/>
                  <a:t>NOR</a:t>
                </a:r>
                <a:r>
                  <a:rPr lang="it-IT" dirty="0"/>
                  <a:t> C) </a:t>
                </a:r>
                <a:r>
                  <a:rPr lang="it-IT" i="1" dirty="0"/>
                  <a:t>NOR </a:t>
                </a:r>
                <a:r>
                  <a:rPr lang="it-IT" dirty="0"/>
                  <a:t>(A </a:t>
                </a:r>
                <a:r>
                  <a:rPr lang="it-IT" i="1" dirty="0"/>
                  <a:t>NOR</a:t>
                </a:r>
                <a:r>
                  <a:rPr lang="it-IT" dirty="0"/>
                  <a:t> (B </a:t>
                </a:r>
                <a:r>
                  <a:rPr lang="it-IT" i="1" dirty="0"/>
                  <a:t>NOR</a:t>
                </a:r>
                <a:r>
                  <a:rPr lang="it-IT" dirty="0"/>
                  <a:t> B) </a:t>
                </a:r>
                <a:r>
                  <a:rPr lang="it-IT" i="1" dirty="0"/>
                  <a:t>NOR </a:t>
                </a:r>
                <a:r>
                  <a:rPr lang="it-IT" dirty="0"/>
                  <a:t>(C </a:t>
                </a:r>
                <a:r>
                  <a:rPr lang="it-IT" i="1" dirty="0"/>
                  <a:t>NOR</a:t>
                </a:r>
                <a:r>
                  <a:rPr lang="it-IT" dirty="0"/>
                  <a:t> C)) </a:t>
                </a:r>
                <a:r>
                  <a:rPr lang="it-IT" i="1" dirty="0"/>
                  <a:t>NOR </a:t>
                </a:r>
                <a:r>
                  <a:rPr lang="it-IT" dirty="0"/>
                  <a:t>((A </a:t>
                </a:r>
                <a:r>
                  <a:rPr lang="it-IT" i="1" dirty="0"/>
                  <a:t>NOR</a:t>
                </a:r>
                <a:r>
                  <a:rPr lang="it-IT" dirty="0"/>
                  <a:t> A) </a:t>
                </a:r>
                <a:r>
                  <a:rPr lang="it-IT" i="1" dirty="0"/>
                  <a:t>NOR</a:t>
                </a:r>
                <a:r>
                  <a:rPr lang="it-IT" dirty="0"/>
                  <a:t> B</a:t>
                </a:r>
                <a:r>
                  <a:rPr lang="it-IT" i="1" dirty="0"/>
                  <a:t> NOR </a:t>
                </a:r>
                <a:r>
                  <a:rPr lang="it-IT" dirty="0"/>
                  <a:t>C) </a:t>
                </a:r>
                <a:r>
                  <a:rPr lang="it-IT" i="1" dirty="0"/>
                  <a:t>NOR </a:t>
                </a:r>
                <a:r>
                  <a:rPr lang="it-IT" dirty="0"/>
                  <a:t>( (A </a:t>
                </a:r>
                <a:r>
                  <a:rPr lang="it-IT" i="1" dirty="0"/>
                  <a:t>NOR</a:t>
                </a:r>
                <a:r>
                  <a:rPr lang="it-IT" dirty="0"/>
                  <a:t> A) </a:t>
                </a:r>
                <a:r>
                  <a:rPr lang="it-IT" i="1" dirty="0"/>
                  <a:t>NOR</a:t>
                </a:r>
                <a:r>
                  <a:rPr lang="it-IT" dirty="0"/>
                  <a:t> (B </a:t>
                </a:r>
                <a:r>
                  <a:rPr lang="it-IT" i="1" dirty="0"/>
                  <a:t>NOR</a:t>
                </a:r>
                <a:r>
                  <a:rPr lang="it-IT" dirty="0"/>
                  <a:t> B) </a:t>
                </a:r>
                <a:r>
                  <a:rPr lang="it-IT" i="1" dirty="0"/>
                  <a:t>NOR </a:t>
                </a:r>
                <a:r>
                  <a:rPr lang="it-IT" dirty="0"/>
                  <a:t>C) </a:t>
                </a:r>
                <a:r>
                  <a:rPr lang="it-IT" i="1" dirty="0"/>
                  <a:t>NOR</a:t>
                </a:r>
                <a:r>
                  <a:rPr lang="it-IT" dirty="0"/>
                  <a:t>( (A </a:t>
                </a:r>
                <a:r>
                  <a:rPr lang="it-IT" i="1" dirty="0"/>
                  <a:t>NOR</a:t>
                </a:r>
                <a:r>
                  <a:rPr lang="it-IT" dirty="0"/>
                  <a:t> A) </a:t>
                </a:r>
                <a:r>
                  <a:rPr lang="it-IT" i="1" dirty="0"/>
                  <a:t>NOR</a:t>
                </a:r>
                <a:r>
                  <a:rPr lang="it-IT" dirty="0"/>
                  <a:t> B </a:t>
                </a:r>
                <a:r>
                  <a:rPr lang="it-IT" i="1" dirty="0"/>
                  <a:t>NOR </a:t>
                </a:r>
                <a:r>
                  <a:rPr lang="it-IT" dirty="0"/>
                  <a:t>(C </a:t>
                </a:r>
                <a:r>
                  <a:rPr lang="it-IT" i="1" dirty="0"/>
                  <a:t>NOR</a:t>
                </a:r>
                <a:r>
                  <a:rPr lang="it-IT" dirty="0"/>
                  <a:t> C))</a:t>
                </a:r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5226384-0B95-4C38-86A8-3CA3F10B49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 r="-10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BA4762-1B12-42B7-BECD-F5368C44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931FD66-E7CD-4AB9-8BB8-DE27D13C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417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D108D6-29B0-4AC2-A927-8B81101F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(3)</a:t>
            </a:r>
            <a:br>
              <a:rPr lang="it-IT" b="1" dirty="0"/>
            </a:br>
            <a:r>
              <a:rPr lang="it-IT" b="1" dirty="0"/>
              <a:t>Soluzioni (5)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B2A0A1-0458-430B-AEC1-07E760552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G=(A </a:t>
            </a:r>
            <a:r>
              <a:rPr lang="it-IT" i="1" dirty="0"/>
              <a:t>NOR</a:t>
            </a:r>
            <a:r>
              <a:rPr lang="it-IT" dirty="0"/>
              <a:t> B </a:t>
            </a:r>
            <a:r>
              <a:rPr lang="it-IT" i="1" dirty="0"/>
              <a:t>NOR</a:t>
            </a:r>
            <a:r>
              <a:rPr lang="it-IT" dirty="0"/>
              <a:t> C) </a:t>
            </a:r>
            <a:r>
              <a:rPr lang="it-IT" i="1" dirty="0"/>
              <a:t>NOR</a:t>
            </a:r>
            <a:r>
              <a:rPr lang="it-IT" dirty="0"/>
              <a:t> (A </a:t>
            </a:r>
            <a:r>
              <a:rPr lang="it-IT" i="1" dirty="0"/>
              <a:t>NOR</a:t>
            </a:r>
            <a:r>
              <a:rPr lang="it-IT" dirty="0"/>
              <a:t> B </a:t>
            </a:r>
            <a:r>
              <a:rPr lang="it-IT" i="1" dirty="0"/>
              <a:t>NOR</a:t>
            </a:r>
            <a:r>
              <a:rPr lang="it-IT" dirty="0"/>
              <a:t> (C </a:t>
            </a:r>
            <a:r>
              <a:rPr lang="it-IT" i="1" dirty="0"/>
              <a:t>NOR</a:t>
            </a:r>
            <a:r>
              <a:rPr lang="it-IT" dirty="0"/>
              <a:t> C)) </a:t>
            </a:r>
            <a:r>
              <a:rPr lang="it-IT" i="1" dirty="0"/>
              <a:t>NOR</a:t>
            </a:r>
            <a:r>
              <a:rPr lang="it-IT" dirty="0"/>
              <a:t> (A </a:t>
            </a:r>
            <a:r>
              <a:rPr lang="it-IT" i="1" dirty="0"/>
              <a:t>NOR</a:t>
            </a:r>
            <a:r>
              <a:rPr lang="it-IT" dirty="0"/>
              <a:t> (B </a:t>
            </a:r>
            <a:r>
              <a:rPr lang="it-IT" i="1" dirty="0"/>
              <a:t>NOR</a:t>
            </a:r>
            <a:r>
              <a:rPr lang="it-IT" dirty="0"/>
              <a:t> B) </a:t>
            </a:r>
            <a:r>
              <a:rPr lang="it-IT" i="1" dirty="0"/>
              <a:t>NOR</a:t>
            </a:r>
            <a:r>
              <a:rPr lang="it-IT" dirty="0"/>
              <a:t> C) </a:t>
            </a:r>
            <a:r>
              <a:rPr lang="it-IT" i="1" dirty="0"/>
              <a:t>NOR</a:t>
            </a:r>
            <a:r>
              <a:rPr lang="it-IT" dirty="0"/>
              <a:t> (A </a:t>
            </a:r>
            <a:r>
              <a:rPr lang="it-IT" i="1" dirty="0"/>
              <a:t>NOR</a:t>
            </a:r>
            <a:r>
              <a:rPr lang="it-IT" dirty="0"/>
              <a:t> (B </a:t>
            </a:r>
            <a:r>
              <a:rPr lang="it-IT" i="1" dirty="0"/>
              <a:t>NOR</a:t>
            </a:r>
            <a:r>
              <a:rPr lang="it-IT" dirty="0"/>
              <a:t> B) </a:t>
            </a:r>
            <a:r>
              <a:rPr lang="it-IT" i="1" dirty="0"/>
              <a:t>NOR</a:t>
            </a:r>
            <a:r>
              <a:rPr lang="it-IT" dirty="0"/>
              <a:t> (C </a:t>
            </a:r>
            <a:r>
              <a:rPr lang="it-IT" i="1" dirty="0"/>
              <a:t>NOR</a:t>
            </a:r>
            <a:r>
              <a:rPr lang="it-IT" dirty="0"/>
              <a:t> C)) </a:t>
            </a:r>
            <a:r>
              <a:rPr lang="it-IT" i="1" dirty="0"/>
              <a:t>NOR</a:t>
            </a:r>
            <a:r>
              <a:rPr lang="it-IT" dirty="0"/>
              <a:t> ( (A </a:t>
            </a:r>
            <a:r>
              <a:rPr lang="it-IT" i="1" dirty="0"/>
              <a:t>NOR</a:t>
            </a:r>
            <a:r>
              <a:rPr lang="it-IT" dirty="0"/>
              <a:t> A) </a:t>
            </a:r>
            <a:r>
              <a:rPr lang="it-IT" i="1" dirty="0"/>
              <a:t>NOR</a:t>
            </a:r>
            <a:r>
              <a:rPr lang="it-IT" dirty="0"/>
              <a:t> B </a:t>
            </a:r>
            <a:r>
              <a:rPr lang="it-IT" i="1" dirty="0"/>
              <a:t>NOR</a:t>
            </a:r>
            <a:r>
              <a:rPr lang="it-IT" dirty="0"/>
              <a:t> C) </a:t>
            </a:r>
            <a:r>
              <a:rPr lang="it-IT" i="1" dirty="0"/>
              <a:t>NOR</a:t>
            </a:r>
            <a:r>
              <a:rPr lang="it-IT" dirty="0"/>
              <a:t> ( (A </a:t>
            </a:r>
            <a:r>
              <a:rPr lang="it-IT" i="1" dirty="0"/>
              <a:t>NOR</a:t>
            </a:r>
            <a:r>
              <a:rPr lang="it-IT" dirty="0"/>
              <a:t> A) </a:t>
            </a:r>
            <a:r>
              <a:rPr lang="it-IT" i="1" dirty="0"/>
              <a:t>NOR</a:t>
            </a:r>
            <a:r>
              <a:rPr lang="it-IT" dirty="0"/>
              <a:t> B </a:t>
            </a:r>
            <a:r>
              <a:rPr lang="it-IT" i="1" dirty="0"/>
              <a:t>NOR</a:t>
            </a:r>
            <a:r>
              <a:rPr lang="it-IT" dirty="0"/>
              <a:t> (C </a:t>
            </a:r>
            <a:r>
              <a:rPr lang="it-IT" i="1" dirty="0"/>
              <a:t>NOR</a:t>
            </a:r>
            <a:r>
              <a:rPr lang="it-IT" dirty="0"/>
              <a:t> C)) </a:t>
            </a:r>
            <a:r>
              <a:rPr lang="it-IT" i="1" dirty="0"/>
              <a:t>NOR</a:t>
            </a:r>
            <a:r>
              <a:rPr lang="it-IT" dirty="0"/>
              <a:t> ( (A </a:t>
            </a:r>
            <a:r>
              <a:rPr lang="it-IT" i="1" dirty="0"/>
              <a:t>NOR</a:t>
            </a:r>
            <a:r>
              <a:rPr lang="it-IT" dirty="0"/>
              <a:t> A) </a:t>
            </a:r>
            <a:r>
              <a:rPr lang="it-IT" i="1" dirty="0"/>
              <a:t>NOR</a:t>
            </a:r>
            <a:r>
              <a:rPr lang="it-IT" dirty="0"/>
              <a:t> (B </a:t>
            </a:r>
            <a:r>
              <a:rPr lang="it-IT" i="1" dirty="0"/>
              <a:t>NOR</a:t>
            </a:r>
            <a:r>
              <a:rPr lang="it-IT" dirty="0"/>
              <a:t> B) </a:t>
            </a:r>
            <a:r>
              <a:rPr lang="it-IT" i="1" dirty="0"/>
              <a:t>NOR</a:t>
            </a:r>
            <a:r>
              <a:rPr lang="it-IT" dirty="0"/>
              <a:t> (C </a:t>
            </a:r>
            <a:r>
              <a:rPr lang="it-IT" i="1" dirty="0"/>
              <a:t>NOR</a:t>
            </a:r>
            <a:r>
              <a:rPr lang="it-IT" dirty="0"/>
              <a:t> C))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3820605-C0DF-4D6B-9192-AB02E2AD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B62D4ED-7A7E-4690-A7E7-C52E0ABF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5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91617F-4494-487F-9DE4-EE9013D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t-IT" b="1" dirty="0"/>
                  <a:t>2) Rappresentare in forma minima la funzione logica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it-IT" b="1" i="1" dirty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C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it-IT" b="1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it-IT" b="1" i="1" dirty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it-IT" b="1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BCD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976C3-D232-4548-9ABE-A48EA4A7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C779EC-EED3-436F-8A6F-0ED6E85E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900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91617F-4494-487F-9DE4-EE9013D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t-IT" dirty="0"/>
                  <a:t>Forma minima: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it-IT" dirty="0"/>
                  <a:t>Consenso tra coppie congiunzioni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it-IT" dirty="0"/>
                  <a:t>Tutte variabili uguali, a meno di una negata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it-IT" dirty="0"/>
                  <a:t>Genero nuova congiunzione con solo le variabili per cui vale il consenso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it-IT" dirty="0"/>
                  <a:t>Esempio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it-IT" dirty="0"/>
                  <a:t> →</a:t>
                </a:r>
                <a14:m>
                  <m:oMath xmlns:m="http://schemas.openxmlformats.org/officeDocument/2006/math"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it-IT" dirty="0"/>
                  <a:t>Itero il procedimento fino a che non è più possibile comprimere</a:t>
                </a:r>
              </a:p>
              <a:p>
                <a:pPr marL="457200" lvl="1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976C3-D232-4548-9ABE-A48EA4A7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C779EC-EED3-436F-8A6F-0ED6E85E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15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91617F-4494-487F-9DE4-EE9013D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(4)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252B181F-B3B5-4EE0-856F-136C8EF8CC68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591068" y="3577389"/>
          <a:ext cx="89154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1537623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08736979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0933635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53952174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86688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656219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 dirty="0">
                          <a:effectLst/>
                          <a:latin typeface="Times New Roman, serif"/>
                        </a:rPr>
                        <a:t>#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A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B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C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D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CONSENT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87114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SI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56802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2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SI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0009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4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SI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68255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6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SI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26249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7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SI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764462843"/>
                  </a:ext>
                </a:extLst>
              </a:tr>
            </a:tbl>
          </a:graphicData>
        </a:graphic>
      </p:graphicFrame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976C3-D232-4548-9ABE-A48EA4A7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C779EC-EED3-436F-8A6F-0ED6E85E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5B5607-C312-4840-9FA6-B03DEA152886}"/>
              </a:ext>
            </a:extLst>
          </p:cNvPr>
          <p:cNvSpPr txBox="1"/>
          <p:nvPr/>
        </p:nvSpPr>
        <p:spPr>
          <a:xfrm>
            <a:off x="2589212" y="2597679"/>
            <a:ext cx="891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Nella colonna # c’è l’identificativo della congiunzione, definito dal suo valore binario.</a:t>
            </a:r>
          </a:p>
        </p:txBody>
      </p:sp>
    </p:spTree>
    <p:extLst>
      <p:ext uri="{BB962C8B-B14F-4D97-AF65-F5344CB8AC3E}">
        <p14:creationId xmlns:p14="http://schemas.microsoft.com/office/powerpoint/2010/main" val="2007475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91617F-4494-487F-9DE4-EE9013D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(4)</a:t>
            </a:r>
            <a:br>
              <a:rPr lang="it-IT" b="1" dirty="0"/>
            </a:br>
            <a:r>
              <a:rPr lang="it-IT" b="1" dirty="0"/>
              <a:t>Soluzioni (3)</a:t>
            </a:r>
            <a:endParaRPr lang="it-IT" dirty="0"/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252B181F-B3B5-4EE0-856F-136C8EF8CC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754214"/>
              </p:ext>
            </p:extLst>
          </p:nvPr>
        </p:nvGraphicFramePr>
        <p:xfrm>
          <a:off x="2591068" y="3577389"/>
          <a:ext cx="89154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1537623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08736979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0933635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53952174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86688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656219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 dirty="0">
                          <a:effectLst/>
                          <a:latin typeface="Times New Roman, serif"/>
                        </a:rPr>
                        <a:t>#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A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B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C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D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CONSENT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87114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 | 2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-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SI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56802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 | 4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-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SI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0009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2 | 6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-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SI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68255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4 | 6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-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SI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26249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6 | 7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1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-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NO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764462843"/>
                  </a:ext>
                </a:extLst>
              </a:tr>
            </a:tbl>
          </a:graphicData>
        </a:graphic>
      </p:graphicFrame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976C3-D232-4548-9ABE-A48EA4A7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C779EC-EED3-436F-8A6F-0ED6E85E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5B5607-C312-4840-9FA6-B03DEA152886}"/>
              </a:ext>
            </a:extLst>
          </p:cNvPr>
          <p:cNvSpPr txBox="1"/>
          <p:nvPr/>
        </p:nvSpPr>
        <p:spPr>
          <a:xfrm>
            <a:off x="2589212" y="2597679"/>
            <a:ext cx="891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Nella colonna # c’è l’identificativo delle congiunzioni che, consentendo, hanno definito una nuova congiunzione</a:t>
            </a:r>
          </a:p>
        </p:txBody>
      </p:sp>
    </p:spTree>
    <p:extLst>
      <p:ext uri="{BB962C8B-B14F-4D97-AF65-F5344CB8AC3E}">
        <p14:creationId xmlns:p14="http://schemas.microsoft.com/office/powerpoint/2010/main" val="314511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91617F-4494-487F-9DE4-EE9013D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(4)</a:t>
            </a:r>
            <a:br>
              <a:rPr lang="it-IT" b="1" dirty="0"/>
            </a:br>
            <a:r>
              <a:rPr lang="it-IT" b="1" dirty="0"/>
              <a:t>Soluzioni (4)</a:t>
            </a:r>
            <a:endParaRPr lang="it-IT" dirty="0"/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252B181F-B3B5-4EE0-856F-136C8EF8CC68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591068" y="3577389"/>
          <a:ext cx="8915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1537623846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08736979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70933635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53952174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86688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656219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 dirty="0">
                          <a:effectLst/>
                          <a:latin typeface="Times New Roman, serif"/>
                        </a:rPr>
                        <a:t>#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A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B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C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D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b="1">
                          <a:effectLst/>
                          <a:latin typeface="Times New Roman, serif"/>
                        </a:rPr>
                        <a:t>CONSENT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87114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(0 | 4) | (2 | 6)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-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-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NO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56802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(0 | 2) | (4 | 6)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-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-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>
                          <a:effectLst/>
                          <a:latin typeface="Times New Roman, serif"/>
                        </a:rPr>
                        <a:t>0</a:t>
                      </a:r>
                      <a:endParaRPr lang="it-IT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20000"/>
                        </a:lnSpc>
                      </a:pPr>
                      <a:r>
                        <a:rPr lang="it-IT" sz="1200" dirty="0">
                          <a:effectLst/>
                          <a:latin typeface="Times New Roman, serif"/>
                        </a:rPr>
                        <a:t>NO</a:t>
                      </a:r>
                      <a:endParaRPr lang="it-IT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800096476"/>
                  </a:ext>
                </a:extLst>
              </a:tr>
            </a:tbl>
          </a:graphicData>
        </a:graphic>
      </p:graphicFrame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976C3-D232-4548-9ABE-A48EA4A7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C779EC-EED3-436F-8A6F-0ED6E85E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5B5607-C312-4840-9FA6-B03DEA152886}"/>
              </a:ext>
            </a:extLst>
          </p:cNvPr>
          <p:cNvSpPr txBox="1"/>
          <p:nvPr/>
        </p:nvSpPr>
        <p:spPr>
          <a:xfrm>
            <a:off x="2589212" y="2597679"/>
            <a:ext cx="891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Nella colonna # c’è l’identificativo delle congiunzioni che, consentendo, hanno definito una nuova congiunzione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F0A9F0F-6900-4D85-9398-732F1C55811B}"/>
                  </a:ext>
                </a:extLst>
              </p:cNvPr>
              <p:cNvSpPr txBox="1"/>
              <p:nvPr/>
            </p:nvSpPr>
            <p:spPr>
              <a:xfrm>
                <a:off x="2589212" y="4892842"/>
                <a:ext cx="8915400" cy="369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Si ottengono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(cioè </a:t>
                </a:r>
                <a:r>
                  <a:rPr lang="it-IT" dirty="0">
                    <a:latin typeface="Times New Roman, serif"/>
                  </a:rPr>
                  <a:t>(0 | 4) | (2 | 6)</a:t>
                </a:r>
                <a:r>
                  <a:rPr lang="it-IT" dirty="0"/>
                  <a:t>)e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BC (cioè (</a:t>
                </a:r>
                <a:r>
                  <a:rPr lang="it-IT" dirty="0">
                    <a:latin typeface="Times New Roman, serif"/>
                  </a:rPr>
                  <a:t>6 | 7</a:t>
                </a:r>
                <a:r>
                  <a:rPr lang="it-IT" dirty="0"/>
                  <a:t>)).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F0A9F0F-6900-4D85-9398-732F1C558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4892842"/>
                <a:ext cx="8915400" cy="369909"/>
              </a:xfrm>
              <a:prstGeom prst="rect">
                <a:avLst/>
              </a:prstGeom>
              <a:blipFill>
                <a:blip r:embed="rId2"/>
                <a:stretch>
                  <a:fillRect l="-616" t="-11667" b="-2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6612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91617F-4494-487F-9DE4-EE9013D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(4)</a:t>
            </a:r>
            <a:br>
              <a:rPr lang="it-IT" b="1" dirty="0"/>
            </a:br>
            <a:r>
              <a:rPr lang="it-IT" b="1"/>
              <a:t>Soluzioni (5)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976C3-D232-4548-9ABE-A48EA4A7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C779EC-EED3-436F-8A6F-0ED6E85E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85B5607-C312-4840-9FA6-B03DEA152886}"/>
              </a:ext>
            </a:extLst>
          </p:cNvPr>
          <p:cNvSpPr txBox="1"/>
          <p:nvPr/>
        </p:nvSpPr>
        <p:spPr>
          <a:xfrm>
            <a:off x="2589212" y="1905000"/>
            <a:ext cx="891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Verificare se uno degli implicanti è dominato, cioè se tutte le congiunzioni originali che lo contengono contengano anche l’altro implicante. Nel caso in cui questo si verifichi, l’implicante dominato viene rimosso dalla forma minima.</a:t>
            </a:r>
            <a:endParaRPr lang="it-IT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F0A9F0F-6900-4D85-9398-732F1C55811B}"/>
                  </a:ext>
                </a:extLst>
              </p:cNvPr>
              <p:cNvSpPr txBox="1"/>
              <p:nvPr/>
            </p:nvSpPr>
            <p:spPr>
              <a:xfrm>
                <a:off x="2589212" y="4892842"/>
                <a:ext cx="8915400" cy="646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Nessun implicante è dominato in questo caso.</a:t>
                </a:r>
              </a:p>
              <a:p>
                <a:r>
                  <a:rPr lang="it-IT" dirty="0"/>
                  <a:t>La forma minima, dunque è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dirty="0"/>
                  <a:t>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 BC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F0A9F0F-6900-4D85-9398-732F1C558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4892842"/>
                <a:ext cx="8915400" cy="646908"/>
              </a:xfrm>
              <a:prstGeom prst="rect">
                <a:avLst/>
              </a:prstGeom>
              <a:blipFill>
                <a:blip r:embed="rId2"/>
                <a:stretch>
                  <a:fillRect l="-616" t="-5660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la 9">
                <a:extLst>
                  <a:ext uri="{FF2B5EF4-FFF2-40B4-BE49-F238E27FC236}">
                    <a16:creationId xmlns:a16="http://schemas.microsoft.com/office/drawing/2014/main" id="{7C49F521-8812-4B49-8AD6-90A4976FE828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2589212" y="3240505"/>
              <a:ext cx="8128002" cy="110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366528200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19820384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89883980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55549158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43513183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814688570"/>
                        </a:ext>
                      </a:extLst>
                    </a:gridCol>
                  </a:tblGrid>
                  <a:tr h="316225"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4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2470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dirty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oMath>
                          </a14:m>
                          <a:r>
                            <a:rPr lang="it-IT" dirty="0"/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dirty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oMath>
                          </a14:m>
                          <a:r>
                            <a:rPr lang="it-IT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7345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dirty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oMath>
                          </a14:m>
                          <a:r>
                            <a:rPr lang="it-IT" dirty="0"/>
                            <a:t> 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00606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la 9">
                <a:extLst>
                  <a:ext uri="{FF2B5EF4-FFF2-40B4-BE49-F238E27FC236}">
                    <a16:creationId xmlns:a16="http://schemas.microsoft.com/office/drawing/2014/main" id="{7C49F521-8812-4B49-8AD6-90A4976FE8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3959379"/>
                  </p:ext>
                </p:extLst>
              </p:nvPr>
            </p:nvGraphicFramePr>
            <p:xfrm>
              <a:off x="2589212" y="3240505"/>
              <a:ext cx="8128002" cy="110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366528200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19820384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89883980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55549158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435131837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81468857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4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2470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448" t="-104839" r="-500448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7345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3"/>
                          <a:stretch>
                            <a:fillRect l="-448" t="-208197" r="-50044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dirty="0"/>
                            <a:t>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00606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5481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13/11/2017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257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91617F-4494-487F-9DE4-EE9013DC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t-IT" b="1" dirty="0"/>
                  <a:t>1) Si costruisca un circuito multiplexer con 8 dati in input, un output e 3 input di controllo, che sia effettivamente in grado di calcolare il valore di verità di una funzione booleana a </a:t>
                </a:r>
                <a:r>
                  <a:rPr lang="it-IT" b="1" i="1" dirty="0"/>
                  <a:t>quattro </a:t>
                </a:r>
                <a:r>
                  <a:rPr lang="it-IT" b="1" dirty="0"/>
                  <a:t>variabili.</a:t>
                </a:r>
              </a:p>
              <a:p>
                <a:pPr marL="0" indent="0">
                  <a:buNone/>
                </a:pPr>
                <a:r>
                  <a:rPr lang="it-IT" b="1" dirty="0"/>
                  <a:t>La funzione da calcolare è la seguente: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B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lang="it-IT" b="1" dirty="0"/>
                  <a:t> D + 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069D96-91CA-4D7E-B961-82C0AF8CA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 r="-4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0F976C3-D232-4548-9ABE-A48EA4A7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C779EC-EED3-436F-8A6F-0ED6E85E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80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DC3423-6B9F-4E34-8261-7B3DF3D8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(1)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920D54-9BBC-4A27-A490-0F9E9159B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Un multiplexer a 3 input di controllo può rappresentare qualsiasi tavola di verità di una funzione booleana a 3 variabili. Per forzarlo a calcolare una funzione booleana a </a:t>
            </a:r>
            <a:r>
              <a:rPr lang="it-IT" i="1" dirty="0"/>
              <a:t>quattro</a:t>
            </a:r>
            <a:r>
              <a:rPr lang="it-IT" dirty="0"/>
              <a:t> variabili si deve conoscere la sua struttura interna, illustrata in figura. Sul libro (</a:t>
            </a:r>
            <a:r>
              <a:rPr lang="it-IT" b="1" dirty="0"/>
              <a:t>Architettura dei calcolatori</a:t>
            </a:r>
            <a:r>
              <a:rPr lang="it-IT" dirty="0"/>
              <a:t>, </a:t>
            </a:r>
            <a:r>
              <a:rPr lang="it-IT" dirty="0" err="1"/>
              <a:t>Tanenbaum</a:t>
            </a:r>
            <a:r>
              <a:rPr lang="it-IT" dirty="0"/>
              <a:t>), si trova a pagina 144.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981965-CE97-4649-98A5-E68AD379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86CB61-4045-41B4-B559-2210E58A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8929CE-17E6-419E-9923-B033514C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300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DC3423-6B9F-4E34-8261-7B3DF3D8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(1)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22165FC2-E7FA-443C-80AB-A73B22E146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6298" y="2133600"/>
            <a:ext cx="3501229" cy="3778250"/>
          </a:xfrm>
        </p:spPr>
      </p:pic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981965-CE97-4649-98A5-E68AD379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86CB61-4045-41B4-B559-2210E58A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8929CE-17E6-419E-9923-B033514C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316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DC3423-6B9F-4E34-8261-7B3DF3D8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(1)</a:t>
            </a:r>
            <a:br>
              <a:rPr lang="it-IT" b="1" dirty="0"/>
            </a:br>
            <a:r>
              <a:rPr lang="it-IT" b="1" dirty="0"/>
              <a:t>Soluzioni (3)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A920D54-9BBC-4A27-A490-0F9E9159B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4405146" cy="37776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dirty="0"/>
                  <a:t>Si inserisca all’interno del circuito la variabile D (e il suo corrispettivo D), in modo tale da collegarla agli input corretti, per soddisfare la funzione richiesta. Tutti gli altri input vanno collegati a terra. Quindi si desidera collegare D all’ingresso D</a:t>
                </a:r>
                <a:r>
                  <a:rPr lang="it-IT" baseline="-25000" dirty="0"/>
                  <a:t>2</a:t>
                </a:r>
                <a:r>
                  <a:rPr lang="it-IT" dirty="0"/>
                  <a:t>, corrispondente alla porta relativa 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:r>
                  <a:rPr lang="it-IT" dirty="0"/>
                  <a:t>agli ingressi D</a:t>
                </a:r>
                <a:r>
                  <a:rPr lang="it-IT" baseline="-25000" dirty="0"/>
                  <a:t>0</a:t>
                </a:r>
                <a:r>
                  <a:rPr lang="it-IT" dirty="0"/>
                  <a:t> e D</a:t>
                </a:r>
                <a:r>
                  <a:rPr lang="it-IT" baseline="-25000" dirty="0"/>
                  <a:t>4</a:t>
                </a:r>
                <a:r>
                  <a:rPr lang="it-IT" dirty="0"/>
                  <a:t>, corrispondenti alle porte relative 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 e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. Il risultato sarà, dunque, quello illustrato in figura.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A920D54-9BBC-4A27-A490-0F9E9159B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4405146" cy="3777622"/>
              </a:xfrm>
              <a:blipFill>
                <a:blip r:embed="rId2"/>
                <a:stretch>
                  <a:fillRect l="-1247" t="-806" r="-41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981965-CE97-4649-98A5-E68AD379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86CB61-4045-41B4-B559-2210E58A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8929CE-17E6-419E-9923-B033514C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F6D2A8FB-E4F1-4AF7-A9E8-259E70703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999" y="2129586"/>
            <a:ext cx="3957613" cy="339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79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2) Un chip MSI molto comune è il sommatore a 4 bit. È possibile agganciare quattro di questi chip per ottenere un sommatore a 16 bit? Disegnarlo, se possibile. Quanti pin avrà il nuovo sommatore?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714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(2)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866274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L’</a:t>
            </a:r>
            <a:r>
              <a:rPr lang="it-IT" dirty="0" err="1"/>
              <a:t>adder</a:t>
            </a:r>
            <a:r>
              <a:rPr lang="it-IT" dirty="0"/>
              <a:t> a 4 bit altro non è che la giustapposizione di 4 circuiti full-</a:t>
            </a:r>
            <a:r>
              <a:rPr lang="it-IT" dirty="0" err="1"/>
              <a:t>adder</a:t>
            </a:r>
            <a:r>
              <a:rPr lang="it-IT" dirty="0"/>
              <a:t> a un bit (sul libro, si tratta di questo argomento alle pagine 149-150).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3F2D96F-0F42-439E-ABB7-25607F36B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821" y="2999874"/>
            <a:ext cx="7154779" cy="268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94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(2)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3996837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I valori in ingresso sono indicati come le coppie di 4 pin A</a:t>
            </a:r>
            <a:r>
              <a:rPr lang="it-IT" baseline="-25000" dirty="0"/>
              <a:t>1</a:t>
            </a:r>
            <a:r>
              <a:rPr lang="it-IT" dirty="0"/>
              <a:t>, A</a:t>
            </a:r>
            <a:r>
              <a:rPr lang="it-IT" baseline="-25000" dirty="0"/>
              <a:t>2</a:t>
            </a:r>
            <a:r>
              <a:rPr lang="it-IT" dirty="0"/>
              <a:t>, A</a:t>
            </a:r>
            <a:r>
              <a:rPr lang="it-IT" baseline="-25000" dirty="0"/>
              <a:t>3</a:t>
            </a:r>
            <a:r>
              <a:rPr lang="it-IT" dirty="0"/>
              <a:t>, A</a:t>
            </a:r>
            <a:r>
              <a:rPr lang="it-IT" baseline="-25000" dirty="0"/>
              <a:t>4</a:t>
            </a:r>
            <a:r>
              <a:rPr lang="it-IT" dirty="0"/>
              <a:t> e B</a:t>
            </a:r>
            <a:r>
              <a:rPr lang="it-IT" baseline="-25000" dirty="0"/>
              <a:t>1</a:t>
            </a:r>
            <a:r>
              <a:rPr lang="it-IT" dirty="0"/>
              <a:t>, B</a:t>
            </a:r>
            <a:r>
              <a:rPr lang="it-IT" baseline="-25000" dirty="0"/>
              <a:t>2</a:t>
            </a:r>
            <a:r>
              <a:rPr lang="it-IT" dirty="0"/>
              <a:t>, B</a:t>
            </a:r>
            <a:r>
              <a:rPr lang="it-IT" baseline="-25000" dirty="0"/>
              <a:t>3</a:t>
            </a:r>
            <a:r>
              <a:rPr lang="it-IT" dirty="0"/>
              <a:t>, B4, che rappresentano i bit dal meno al più significativo dei valori A e B. Gli output sono i 4 bit risultanti e marcati con le </a:t>
            </a:r>
            <a:r>
              <a:rPr lang="it-IT" dirty="0" err="1"/>
              <a:t>tag</a:t>
            </a:r>
            <a:r>
              <a:rPr lang="it-IT" dirty="0"/>
              <a:t> S</a:t>
            </a:r>
            <a:r>
              <a:rPr lang="it-IT" baseline="-25000" dirty="0"/>
              <a:t>1</a:t>
            </a:r>
            <a:r>
              <a:rPr lang="it-IT" dirty="0"/>
              <a:t>, …, S</a:t>
            </a:r>
            <a:r>
              <a:rPr lang="it-IT" baseline="-25000" dirty="0"/>
              <a:t>4</a:t>
            </a:r>
            <a:r>
              <a:rPr lang="it-IT" dirty="0"/>
              <a:t>. I riporti, invece sono rappresentati dalle </a:t>
            </a:r>
            <a:r>
              <a:rPr lang="it-IT" dirty="0" err="1"/>
              <a:t>tag</a:t>
            </a:r>
            <a:r>
              <a:rPr lang="it-IT" dirty="0"/>
              <a:t> C</a:t>
            </a:r>
            <a:r>
              <a:rPr lang="it-IT" baseline="-25000" dirty="0"/>
              <a:t>I</a:t>
            </a:r>
            <a:r>
              <a:rPr lang="it-IT" dirty="0"/>
              <a:t> per quello in ingresso e C</a:t>
            </a:r>
            <a:r>
              <a:rPr lang="it-IT" baseline="-25000" dirty="0"/>
              <a:t>O</a:t>
            </a:r>
            <a:r>
              <a:rPr lang="it-IT" dirty="0"/>
              <a:t> per quello in uscita.</a:t>
            </a:r>
            <a:endParaRPr lang="it-IT" dirty="0">
              <a:effectLst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437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DC3423-6B9F-4E34-8261-7B3DF3D8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(1)</a:t>
            </a:r>
            <a:br>
              <a:rPr lang="it-IT" b="1" dirty="0"/>
            </a:br>
            <a:r>
              <a:rPr lang="it-IT" b="1" dirty="0"/>
              <a:t>Soluzioni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920D54-9BBC-4A27-A490-0F9E9159B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405146" cy="37776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t-IT" dirty="0"/>
              <a:t>I valori in ingresso sono indicati come le coppie di 4 pin A</a:t>
            </a:r>
            <a:r>
              <a:rPr lang="it-IT" baseline="-25000" dirty="0"/>
              <a:t>1</a:t>
            </a:r>
            <a:r>
              <a:rPr lang="it-IT" dirty="0"/>
              <a:t>, A</a:t>
            </a:r>
            <a:r>
              <a:rPr lang="it-IT" baseline="-25000" dirty="0"/>
              <a:t>2</a:t>
            </a:r>
            <a:r>
              <a:rPr lang="it-IT" dirty="0"/>
              <a:t>, A</a:t>
            </a:r>
            <a:r>
              <a:rPr lang="it-IT" baseline="-25000" dirty="0"/>
              <a:t>3</a:t>
            </a:r>
            <a:r>
              <a:rPr lang="it-IT" dirty="0"/>
              <a:t>, A</a:t>
            </a:r>
            <a:r>
              <a:rPr lang="it-IT" baseline="-25000" dirty="0"/>
              <a:t>4</a:t>
            </a:r>
            <a:r>
              <a:rPr lang="it-IT" dirty="0"/>
              <a:t> e B</a:t>
            </a:r>
            <a:r>
              <a:rPr lang="it-IT" baseline="-25000" dirty="0"/>
              <a:t>1</a:t>
            </a:r>
            <a:r>
              <a:rPr lang="it-IT" dirty="0"/>
              <a:t>, B</a:t>
            </a:r>
            <a:r>
              <a:rPr lang="it-IT" baseline="-25000" dirty="0"/>
              <a:t>2</a:t>
            </a:r>
            <a:r>
              <a:rPr lang="it-IT" dirty="0"/>
              <a:t>, B</a:t>
            </a:r>
            <a:r>
              <a:rPr lang="it-IT" baseline="-25000" dirty="0"/>
              <a:t>3</a:t>
            </a:r>
            <a:r>
              <a:rPr lang="it-IT" dirty="0"/>
              <a:t>, B4, che rappresentano i bit dal meno al più significativo dei valori A e B. Gli output sono i 4 bit risultanti e marcati con le </a:t>
            </a:r>
            <a:r>
              <a:rPr lang="it-IT" dirty="0" err="1"/>
              <a:t>tag</a:t>
            </a:r>
            <a:r>
              <a:rPr lang="it-IT" dirty="0"/>
              <a:t> S</a:t>
            </a:r>
            <a:r>
              <a:rPr lang="it-IT" baseline="-25000" dirty="0"/>
              <a:t>1</a:t>
            </a:r>
            <a:r>
              <a:rPr lang="it-IT" dirty="0"/>
              <a:t>, …, S</a:t>
            </a:r>
            <a:r>
              <a:rPr lang="it-IT" baseline="-25000" dirty="0"/>
              <a:t>4</a:t>
            </a:r>
            <a:r>
              <a:rPr lang="it-IT" dirty="0"/>
              <a:t>. I riporti, invece sono rappresentati dalle </a:t>
            </a:r>
            <a:r>
              <a:rPr lang="it-IT" dirty="0" err="1"/>
              <a:t>tag</a:t>
            </a:r>
            <a:r>
              <a:rPr lang="it-IT" dirty="0"/>
              <a:t> C</a:t>
            </a:r>
            <a:r>
              <a:rPr lang="it-IT" baseline="-25000" dirty="0"/>
              <a:t>I</a:t>
            </a:r>
            <a:r>
              <a:rPr lang="it-IT" dirty="0"/>
              <a:t> per quello in ingresso e C</a:t>
            </a:r>
            <a:r>
              <a:rPr lang="it-IT" baseline="-25000" dirty="0"/>
              <a:t>O</a:t>
            </a:r>
            <a:r>
              <a:rPr lang="it-IT" dirty="0"/>
              <a:t> per quello in uscita.</a:t>
            </a:r>
          </a:p>
          <a:p>
            <a:pPr marL="0" indent="0">
              <a:buNone/>
            </a:pPr>
            <a:r>
              <a:rPr lang="it-IT" dirty="0"/>
              <a:t>Ora, è ovviamente possibile applicare la stessa idea usata per creare un sommatore a 4 bit per crearne uno a 16 bit. Il numero totale di pin finale è facilmente calcolabile: ne occorrono 32 per i dati in input, 16 per la somma in output, 1 per il riporto in ingresso iniziale (collegato, come nella figura sovrastante, alla terra) e 1 per il riporto in uscita finale. La somma è pari a 50. Il circuito risultante è mostrato in figura.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981965-CE97-4649-98A5-E68AD379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86CB61-4045-41B4-B559-2210E58A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8929CE-17E6-419E-9923-B033514C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A1E7970-3A2D-46DC-BB1D-183E3D0A1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358" y="2465114"/>
            <a:ext cx="4510254" cy="248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47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3) Si studi un circuito flip-flop pilotato dal fronte di salita del clock. Lo si modifichi in modo tale che sia pilotato dal fronte di discesa del clock.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085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(3)</a:t>
            </a:r>
            <a:br>
              <a:rPr lang="it-IT" b="1" dirty="0"/>
            </a:br>
            <a:r>
              <a:rPr lang="it-IT" b="1" dirty="0"/>
              <a:t>Soluzioni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Il circuito flip-flop pilotato dalla salita del clock è mostrato in figura.</a:t>
            </a:r>
          </a:p>
          <a:p>
            <a:pPr marL="0" indent="0">
              <a:buNone/>
            </a:pPr>
            <a:r>
              <a:rPr lang="it-IT" dirty="0"/>
              <a:t>Per tutti gli aspetti teorici relativi al funzionamento e all’utilizzo del flip-flop, vi consiglio di vedere, sempre sul </a:t>
            </a:r>
            <a:r>
              <a:rPr lang="it-IT" dirty="0" err="1"/>
              <a:t>Tanenbaum</a:t>
            </a:r>
            <a:r>
              <a:rPr lang="it-IT" dirty="0"/>
              <a:t>, la pagine 157 e successive. </a:t>
            </a:r>
            <a:r>
              <a:rPr lang="it-IT"/>
              <a:t>Nella </a:t>
            </a:r>
            <a:r>
              <a:rPr lang="it-IT" dirty="0"/>
              <a:t>domanda, si fa riferimento al flip-flop temporizzato, indicato sul libro come flip-flop D.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816B964-443C-4979-BAEC-5112D2225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671" y="3703136"/>
            <a:ext cx="3792658" cy="242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18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(3)</a:t>
            </a:r>
            <a:br>
              <a:rPr lang="it-IT" b="1" dirty="0"/>
            </a:br>
            <a:r>
              <a:rPr lang="it-IT" b="1" dirty="0"/>
              <a:t>Soluzioni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453272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Può sembrare che la porta E riceva sempre un segnale negativo, ma questo non è completamente vero, grazie al ritardo nella propagazione del segnale causato dalla presenza della porta NOT. La porta E, quindi, avrà valore 1 per un breve istante nel momento in cui CK (il clock) passa dal valore 0 al valore 1 (fronte di salita del clock).</a:t>
            </a:r>
          </a:p>
          <a:p>
            <a:pPr marL="0" indent="0">
              <a:buNone/>
            </a:pPr>
            <a:r>
              <a:rPr lang="it-IT" dirty="0"/>
              <a:t>Il funzionamento è mostrato qui a fianco.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5129101-79C5-42E7-A7D4-D9F16BF07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484" y="1905000"/>
            <a:ext cx="4285714" cy="3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76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(3)</a:t>
            </a:r>
            <a:br>
              <a:rPr lang="it-IT" b="1" dirty="0"/>
            </a:br>
            <a:r>
              <a:rPr lang="it-IT" b="1" dirty="0"/>
              <a:t>Soluzioni (3)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7224857-9FF5-4BE9-98B8-39C0011C60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4453272" cy="37776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dirty="0"/>
                  <a:t>Viene richiesto, dunque, che la porta E riceva il segnale alto quando CK passa da 1 a 0, invece che da 0 a 1. La soluzione è abbastanza semplice: si vuole che E abbia valore 1 esclusivamente quando sia CK che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𝐶𝐾</m:t>
                        </m:r>
                      </m:e>
                    </m:acc>
                  </m:oMath>
                </a14:m>
                <a:r>
                  <a:rPr lang="it-IT" dirty="0"/>
                  <a:t> (opportunamente ritardato) abbiano valore 0. Intuitivamente, è facile vedere (anche dalla tavola di verità) che la porta logica che fa al caso nostro è una porta NOR. Il circuito risultante, dunque, è quello illustrato in figura.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7224857-9FF5-4BE9-98B8-39C0011C6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4453272" cy="3777622"/>
              </a:xfrm>
              <a:blipFill>
                <a:blip r:embed="rId2"/>
                <a:stretch>
                  <a:fillRect l="-1233" t="-806" r="-23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015228B-4AB9-4E93-A1EE-C6CE7AC21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340" y="2589986"/>
            <a:ext cx="4453272" cy="285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55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Circuiti combinatori e sequenziali (3)</a:t>
            </a:r>
            <a:br>
              <a:rPr lang="it-IT" b="1" dirty="0"/>
            </a:br>
            <a:r>
              <a:rPr lang="it-IT" b="1" dirty="0"/>
              <a:t>Soluzioni (4)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453272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Questa seconda figura mostra l’andamento dei segnali, giusto per verificare che quanto abbiamo detto sia corretto.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D0B2919-7277-4D54-8366-DCB2D6FD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484" y="2431935"/>
            <a:ext cx="4447619" cy="3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06275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650</TotalTime>
  <Words>2151</Words>
  <Application>Microsoft Office PowerPoint</Application>
  <PresentationFormat>Widescreen</PresentationFormat>
  <Paragraphs>304</Paragraphs>
  <Slides>28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6" baseType="lpstr">
      <vt:lpstr>Arial</vt:lpstr>
      <vt:lpstr>Calibri</vt:lpstr>
      <vt:lpstr>Cambria Math</vt:lpstr>
      <vt:lpstr>Century Gothic</vt:lpstr>
      <vt:lpstr>Times New Roman, serif</vt:lpstr>
      <vt:lpstr>Wingdings</vt:lpstr>
      <vt:lpstr>Wingdings 3</vt:lpstr>
      <vt:lpstr>Filo</vt:lpstr>
      <vt:lpstr>ESERCITAZIONE 2</vt:lpstr>
      <vt:lpstr>Algebre di Boole e funzioni logiche</vt:lpstr>
      <vt:lpstr>Algebre di Boole e funzioni logiche (1)</vt:lpstr>
      <vt:lpstr>Algebre di Boole e funzioni logiche (1) Soluzioni (1)</vt:lpstr>
      <vt:lpstr>Algebre di Boole e funzioni logiche (3) Soluzioni (2)</vt:lpstr>
      <vt:lpstr>Algebre di Boole e funzioni logiche (1) Soluzioni (3)</vt:lpstr>
      <vt:lpstr>Algebre di Boole e funzioni logiche (3) Soluzioni (4)</vt:lpstr>
      <vt:lpstr>Algebre di Boole e funzioni logiche (3) Soluzioni (5)</vt:lpstr>
      <vt:lpstr>Algebre di Boole e funzioni logiche (2)</vt:lpstr>
      <vt:lpstr>Algebre di Boole e funzioni logiche (2) Soluzioni (1)</vt:lpstr>
      <vt:lpstr>Algebre di Boole e funzioni logiche (4) Soluzioni (2)</vt:lpstr>
      <vt:lpstr>Algebre di Boole e funzioni logiche (4) Soluzioni (3)</vt:lpstr>
      <vt:lpstr>Algebre di Boole e funzioni logiche (4) Soluzioni (4)</vt:lpstr>
      <vt:lpstr>Algebre di Boole e funzioni logiche (4) Soluzioni (5)</vt:lpstr>
      <vt:lpstr>Circuiti combinatori e sequenziali</vt:lpstr>
      <vt:lpstr>Circuiti combinatori e sequenziali (1)</vt:lpstr>
      <vt:lpstr>Circuiti combinatori e sequenziali (1) Soluzioni (1)</vt:lpstr>
      <vt:lpstr>Circuiti combinatori e sequenziali (1) Soluzioni (2)</vt:lpstr>
      <vt:lpstr>Circuiti combinatori e sequenziali (1) Soluzioni (3)</vt:lpstr>
      <vt:lpstr>Circuiti combinatori e sequenziali (2)</vt:lpstr>
      <vt:lpstr>Circuiti combinatori e sequenziali (2) Soluzioni (1)</vt:lpstr>
      <vt:lpstr>Circuiti combinatori e sequenziali (2) Soluzioni (2)</vt:lpstr>
      <vt:lpstr>Circuiti combinatori e sequenziali (1) Soluzioni (3)</vt:lpstr>
      <vt:lpstr>Circuiti combinatori e sequenziali (3)</vt:lpstr>
      <vt:lpstr>Circuiti combinatori e sequenziali (3) Soluzioni (1)</vt:lpstr>
      <vt:lpstr>Circuiti combinatori e sequenziali (3) Soluzioni (2)</vt:lpstr>
      <vt:lpstr>Circuiti combinatori e sequenziali (3) Soluzioni (3)</vt:lpstr>
      <vt:lpstr>Circuiti combinatori e sequenziali (3) Soluzioni (4)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69</cp:revision>
  <dcterms:created xsi:type="dcterms:W3CDTF">2017-10-29T11:29:02Z</dcterms:created>
  <dcterms:modified xsi:type="dcterms:W3CDTF">2017-11-14T10:29:59Z</dcterms:modified>
</cp:coreProperties>
</file>