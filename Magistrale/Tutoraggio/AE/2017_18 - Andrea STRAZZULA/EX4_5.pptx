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93" r:id="rId3"/>
    <p:sldId id="302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3" r:id="rId13"/>
    <p:sldId id="304" r:id="rId14"/>
    <p:sldId id="305" r:id="rId15"/>
    <p:sldId id="306" r:id="rId16"/>
    <p:sldId id="307" r:id="rId17"/>
    <p:sldId id="308" r:id="rId18"/>
    <p:sldId id="309" r:id="rId19"/>
    <p:sldId id="31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28/11/2017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28/11/2017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27/11/2017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4.5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Approfondimento Circuiti Logici e Sequenziali</a:t>
            </a:r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Approfondimento: multiplexer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11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Multiplexer: soluzione alternativa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Multiplexer: composizione interna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DB4EFF30-8B8A-49C9-9188-27976DDBF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173" y="1995821"/>
            <a:ext cx="3501229" cy="377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85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Multiplexer: soluzione alternativa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38644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dirty="0"/>
                  <a:t>Soluzione alternativa al problema già analizzato dell’uso dei multiplexer a 3 input di controllo per espressioni logiche a 4 variabili.</a:t>
                </a:r>
              </a:p>
              <a:p>
                <a:pPr marL="0" indent="0">
                  <a:buNone/>
                </a:pPr>
                <a:r>
                  <a:rPr lang="it-IT" dirty="0"/>
                  <a:t>ESEMPIO: </a:t>
                </a:r>
                <a:r>
                  <a:rPr lang="en-US" dirty="0"/>
                  <a:t>ABC+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en-US" dirty="0"/>
                  <a:t>+ 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CIRCUITO PER ABC+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acc>
                      <m:accPr>
                        <m:chr m:val="̅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3864429"/>
              </a:xfrm>
              <a:blipFill>
                <a:blip r:embed="rId2"/>
                <a:stretch>
                  <a:fillRect l="-616" t="-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B94F1F3-3594-406B-90BD-F8A205F686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418"/>
          <a:stretch/>
        </p:blipFill>
        <p:spPr>
          <a:xfrm>
            <a:off x="7088027" y="2757138"/>
            <a:ext cx="2514761" cy="324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58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Multiplexer: soluzione alternativa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38644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Idea: </a:t>
                </a:r>
                <a:r>
                  <a:rPr lang="en-US" dirty="0" err="1"/>
                  <a:t>usare</a:t>
                </a:r>
                <a:r>
                  <a:rPr lang="en-US" dirty="0"/>
                  <a:t> </a:t>
                </a:r>
                <a:r>
                  <a:rPr lang="en-US" dirty="0" err="1"/>
                  <a:t>il</a:t>
                </a:r>
                <a:r>
                  <a:rPr lang="en-US" dirty="0"/>
                  <a:t> bit di chip selection (</a:t>
                </a:r>
                <a:r>
                  <a:rPr lang="en-US" dirty="0" err="1"/>
                  <a:t>che</a:t>
                </a:r>
                <a:r>
                  <a:rPr lang="en-US" dirty="0"/>
                  <a:t> </a:t>
                </a:r>
                <a:r>
                  <a:rPr lang="en-US" dirty="0" err="1"/>
                  <a:t>chiameremo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𝐶𝑆</m:t>
                        </m:r>
                      </m:e>
                    </m:acc>
                  </m:oMath>
                </a14:m>
                <a:r>
                  <a:rPr lang="en-US" dirty="0"/>
                  <a:t>) </a:t>
                </a:r>
                <a:r>
                  <a:rPr lang="en-US" dirty="0" err="1"/>
                  <a:t>che</a:t>
                </a:r>
                <a:r>
                  <a:rPr lang="en-US" dirty="0"/>
                  <a:t> ci </a:t>
                </a:r>
                <a:r>
                  <a:rPr lang="en-US" dirty="0" err="1"/>
                  <a:t>permette</a:t>
                </a:r>
                <a:r>
                  <a:rPr lang="en-US" dirty="0"/>
                  <a:t> di </a:t>
                </a:r>
                <a:r>
                  <a:rPr lang="en-US" dirty="0" err="1"/>
                  <a:t>selezionare</a:t>
                </a:r>
                <a:r>
                  <a:rPr lang="en-US" dirty="0"/>
                  <a:t> </a:t>
                </a:r>
                <a:r>
                  <a:rPr lang="en-US" dirty="0" err="1"/>
                  <a:t>il</a:t>
                </a:r>
                <a:r>
                  <a:rPr lang="en-US" dirty="0"/>
                  <a:t> mux o </a:t>
                </a:r>
                <a:r>
                  <a:rPr lang="en-US" dirty="0" err="1"/>
                  <a:t>meno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Utilizzare</a:t>
                </a:r>
                <a:r>
                  <a:rPr lang="en-US" dirty="0"/>
                  <a:t> </a:t>
                </a:r>
                <a:r>
                  <a:rPr lang="en-US" dirty="0" err="1"/>
                  <a:t>più</a:t>
                </a:r>
                <a:r>
                  <a:rPr lang="en-US" dirty="0"/>
                  <a:t> mux </a:t>
                </a:r>
                <a:r>
                  <a:rPr lang="en-US" dirty="0" err="1"/>
                  <a:t>collegati</a:t>
                </a:r>
                <a:r>
                  <a:rPr lang="en-US" dirty="0"/>
                  <a:t> </a:t>
                </a:r>
                <a:r>
                  <a:rPr lang="en-US" dirty="0" err="1"/>
                  <a:t>alla</a:t>
                </a:r>
                <a:r>
                  <a:rPr lang="en-US" dirty="0"/>
                  <a:t> </a:t>
                </a:r>
                <a:r>
                  <a:rPr lang="en-US" dirty="0" err="1"/>
                  <a:t>variabile</a:t>
                </a:r>
                <a:r>
                  <a:rPr lang="en-US" dirty="0"/>
                  <a:t> E (o, in </a:t>
                </a:r>
                <a:r>
                  <a:rPr lang="en-US" dirty="0" err="1"/>
                  <a:t>alternativa</a:t>
                </a:r>
                <a:r>
                  <a:rPr lang="en-US" dirty="0"/>
                  <a:t>, in forma </a:t>
                </a:r>
                <a:r>
                  <a:rPr lang="en-US" dirty="0" err="1"/>
                  <a:t>negata</a:t>
                </a:r>
                <a:r>
                  <a:rPr lang="en-US" dirty="0"/>
                  <a:t>) in </a:t>
                </a:r>
                <a:r>
                  <a:rPr lang="en-US" dirty="0" err="1"/>
                  <a:t>modo</a:t>
                </a:r>
                <a:r>
                  <a:rPr lang="en-US" dirty="0"/>
                  <a:t> tale </a:t>
                </a:r>
                <a:r>
                  <a:rPr lang="en-US" dirty="0" err="1"/>
                  <a:t>che</a:t>
                </a:r>
                <a:r>
                  <a:rPr lang="en-US" dirty="0"/>
                  <a:t> </a:t>
                </a:r>
                <a:r>
                  <a:rPr lang="en-US" dirty="0" err="1"/>
                  <a:t>il</a:t>
                </a:r>
                <a:r>
                  <a:rPr lang="en-US" dirty="0"/>
                  <a:t> </a:t>
                </a:r>
                <a:r>
                  <a:rPr lang="en-US" dirty="0" err="1"/>
                  <a:t>risultato</a:t>
                </a:r>
                <a:r>
                  <a:rPr lang="en-US" dirty="0"/>
                  <a:t> </a:t>
                </a:r>
                <a:r>
                  <a:rPr lang="en-US" dirty="0" err="1"/>
                  <a:t>dipenda</a:t>
                </a:r>
                <a:r>
                  <a:rPr lang="en-US" dirty="0"/>
                  <a:t> da </a:t>
                </a:r>
                <a:r>
                  <a:rPr lang="en-US" dirty="0" err="1"/>
                  <a:t>esso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 err="1"/>
                  <a:t>Nel</a:t>
                </a:r>
                <a:r>
                  <a:rPr lang="en-US" dirty="0"/>
                  <a:t> </a:t>
                </a:r>
                <a:r>
                  <a:rPr lang="en-US" dirty="0" err="1"/>
                  <a:t>caso</a:t>
                </a:r>
                <a:r>
                  <a:rPr lang="en-US" dirty="0"/>
                  <a:t> in </a:t>
                </a:r>
                <a:r>
                  <a:rPr lang="en-US" dirty="0" err="1"/>
                  <a:t>analisi</a:t>
                </a:r>
                <a:r>
                  <a:rPr lang="en-US" dirty="0"/>
                  <a:t>: </a:t>
                </a:r>
                <a:r>
                  <a:rPr lang="en-US" dirty="0" err="1"/>
                  <a:t>il</a:t>
                </a:r>
                <a:r>
                  <a:rPr lang="en-US" dirty="0"/>
                  <a:t> mux </a:t>
                </a:r>
                <a:r>
                  <a:rPr lang="en-US" dirty="0" err="1"/>
                  <a:t>illustrato</a:t>
                </a:r>
                <a:r>
                  <a:rPr lang="en-US" dirty="0"/>
                  <a:t> </a:t>
                </a:r>
                <a:r>
                  <a:rPr lang="en-US" dirty="0" err="1"/>
                  <a:t>alla</a:t>
                </a:r>
                <a:r>
                  <a:rPr lang="en-US" dirty="0"/>
                  <a:t> slide </a:t>
                </a:r>
                <a:r>
                  <a:rPr lang="en-US" dirty="0" err="1"/>
                  <a:t>precedente</a:t>
                </a:r>
                <a:r>
                  <a:rPr lang="en-US" dirty="0"/>
                  <a:t> </a:t>
                </a:r>
                <a:r>
                  <a:rPr lang="en-US" dirty="0" err="1"/>
                  <a:t>dovrà</a:t>
                </a:r>
                <a:r>
                  <a:rPr lang="en-US" dirty="0"/>
                  <a:t> </a:t>
                </a:r>
                <a:r>
                  <a:rPr lang="en-US" dirty="0" err="1"/>
                  <a:t>attivarsi</a:t>
                </a:r>
                <a:r>
                  <a:rPr lang="en-US" dirty="0"/>
                  <a:t> </a:t>
                </a:r>
                <a:r>
                  <a:rPr lang="en-US" dirty="0" err="1"/>
                  <a:t>quando</a:t>
                </a:r>
                <a:r>
                  <a:rPr lang="en-US" dirty="0"/>
                  <a:t> E è 0, </a:t>
                </a:r>
                <a:r>
                  <a:rPr lang="en-US" dirty="0" err="1"/>
                  <a:t>mentre</a:t>
                </a:r>
                <a:r>
                  <a:rPr lang="en-US" dirty="0"/>
                  <a:t> </a:t>
                </a:r>
                <a:r>
                  <a:rPr lang="en-US" dirty="0" err="1"/>
                  <a:t>creeremo</a:t>
                </a:r>
                <a:r>
                  <a:rPr lang="en-US" dirty="0"/>
                  <a:t> un secondo mux </a:t>
                </a:r>
                <a:r>
                  <a:rPr lang="en-US" dirty="0" err="1"/>
                  <a:t>che</a:t>
                </a:r>
                <a:r>
                  <a:rPr lang="en-US" dirty="0"/>
                  <a:t> </a:t>
                </a:r>
                <a:r>
                  <a:rPr lang="en-US" dirty="0" err="1"/>
                  <a:t>restituirà</a:t>
                </a:r>
                <a:r>
                  <a:rPr lang="en-US" dirty="0"/>
                  <a:t> 1 a </a:t>
                </a:r>
                <a:r>
                  <a:rPr lang="en-US" dirty="0" err="1"/>
                  <a:t>vuoto</a:t>
                </a:r>
                <a:r>
                  <a:rPr lang="en-US" dirty="0"/>
                  <a:t> </a:t>
                </a:r>
                <a:r>
                  <a:rPr lang="en-US" dirty="0" err="1"/>
                  <a:t>che</a:t>
                </a:r>
                <a:r>
                  <a:rPr lang="en-US" dirty="0"/>
                  <a:t>, </a:t>
                </a:r>
                <a:r>
                  <a:rPr lang="en-US" dirty="0" err="1"/>
                  <a:t>invece</a:t>
                </a:r>
                <a:r>
                  <a:rPr lang="en-US" dirty="0"/>
                  <a:t>, </a:t>
                </a:r>
                <a:r>
                  <a:rPr lang="en-US" dirty="0" err="1"/>
                  <a:t>sarà</a:t>
                </a:r>
                <a:r>
                  <a:rPr lang="en-US" dirty="0"/>
                  <a:t> </a:t>
                </a:r>
                <a:r>
                  <a:rPr lang="en-US" dirty="0" err="1"/>
                  <a:t>selezionato</a:t>
                </a:r>
                <a:r>
                  <a:rPr lang="en-US" dirty="0"/>
                  <a:t> </a:t>
                </a:r>
                <a:r>
                  <a:rPr lang="en-US" dirty="0" err="1"/>
                  <a:t>nel</a:t>
                </a:r>
                <a:r>
                  <a:rPr lang="en-US" dirty="0"/>
                  <a:t> </a:t>
                </a:r>
                <a:r>
                  <a:rPr lang="en-US" dirty="0" err="1"/>
                  <a:t>caso</a:t>
                </a:r>
                <a:r>
                  <a:rPr lang="en-US" dirty="0"/>
                  <a:t> in cui E </a:t>
                </a:r>
                <a:r>
                  <a:rPr lang="en-US" dirty="0" err="1"/>
                  <a:t>sia</a:t>
                </a:r>
                <a:r>
                  <a:rPr lang="en-US" dirty="0"/>
                  <a:t> 1.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		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3864429"/>
              </a:xfrm>
              <a:blipFill>
                <a:blip r:embed="rId2"/>
                <a:stretch>
                  <a:fillRect l="-616" t="-789" r="-95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101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Multiplexer: soluzione alternativa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Immagine dei due </a:t>
            </a:r>
            <a:r>
              <a:rPr lang="it-IT" dirty="0" err="1"/>
              <a:t>mux</a:t>
            </a:r>
            <a:r>
              <a:rPr lang="it-IT" dirty="0"/>
              <a:t> e del loro collegamento a E.</a:t>
            </a:r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07058EE-6CB8-4254-8925-11E6E7764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625" y="2494381"/>
            <a:ext cx="6382975" cy="358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16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Multiplexer: soluzione alternativa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Il </a:t>
            </a:r>
            <a:r>
              <a:rPr lang="en-US" dirty="0" err="1"/>
              <a:t>circuito</a:t>
            </a:r>
            <a:r>
              <a:rPr lang="en-US" dirty="0"/>
              <a:t> </a:t>
            </a:r>
            <a:r>
              <a:rPr lang="en-US" dirty="0" err="1"/>
              <a:t>mostrato</a:t>
            </a:r>
            <a:r>
              <a:rPr lang="en-US" dirty="0"/>
              <a:t> in </a:t>
            </a:r>
            <a:r>
              <a:rPr lang="en-US" dirty="0" err="1"/>
              <a:t>questa</a:t>
            </a:r>
            <a:r>
              <a:rPr lang="en-US" dirty="0"/>
              <a:t> </a:t>
            </a:r>
            <a:r>
              <a:rPr lang="en-US" dirty="0" err="1"/>
              <a:t>seconda</a:t>
            </a:r>
            <a:r>
              <a:rPr lang="en-US" dirty="0"/>
              <a:t> </a:t>
            </a:r>
            <a:r>
              <a:rPr lang="en-US" dirty="0" err="1"/>
              <a:t>figura</a:t>
            </a:r>
            <a:r>
              <a:rPr lang="en-US" dirty="0"/>
              <a:t> </a:t>
            </a:r>
            <a:r>
              <a:rPr lang="en-US" dirty="0" err="1"/>
              <a:t>implementa</a:t>
            </a:r>
            <a:r>
              <a:rPr lang="en-US" dirty="0"/>
              <a:t> </a:t>
            </a:r>
            <a:r>
              <a:rPr lang="en-US" dirty="0" err="1"/>
              <a:t>esattamente</a:t>
            </a:r>
            <a:r>
              <a:rPr lang="en-US" dirty="0"/>
              <a:t> </a:t>
            </a:r>
            <a:r>
              <a:rPr lang="en-US" dirty="0" err="1"/>
              <a:t>quanto</a:t>
            </a:r>
            <a:r>
              <a:rPr lang="en-US" dirty="0"/>
              <a:t> </a:t>
            </a:r>
            <a:r>
              <a:rPr lang="en-US" dirty="0" err="1"/>
              <a:t>detto</a:t>
            </a:r>
            <a:r>
              <a:rPr lang="en-US" dirty="0"/>
              <a:t> </a:t>
            </a:r>
            <a:r>
              <a:rPr lang="en-US" dirty="0" err="1"/>
              <a:t>finora</a:t>
            </a:r>
            <a:r>
              <a:rPr lang="en-US" dirty="0"/>
              <a:t>:</a:t>
            </a:r>
          </a:p>
          <a:p>
            <a:r>
              <a:rPr lang="en-US" dirty="0"/>
              <a:t>	Se E ha </a:t>
            </a:r>
            <a:r>
              <a:rPr lang="en-US" dirty="0" err="1"/>
              <a:t>valore</a:t>
            </a:r>
            <a:r>
              <a:rPr lang="en-US" dirty="0"/>
              <a:t> 0, la porta CS del mux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riceve</a:t>
            </a:r>
            <a:r>
              <a:rPr lang="en-US" dirty="0"/>
              <a:t> un </a:t>
            </a:r>
            <a:r>
              <a:rPr lang="en-US" dirty="0" err="1"/>
              <a:t>segnale</a:t>
            </a:r>
            <a:r>
              <a:rPr lang="en-US" dirty="0"/>
              <a:t> basso (0), </a:t>
            </a:r>
            <a:r>
              <a:rPr lang="en-US" dirty="0" err="1"/>
              <a:t>attivando</a:t>
            </a:r>
            <a:r>
              <a:rPr lang="en-US" dirty="0"/>
              <a:t> </a:t>
            </a:r>
            <a:r>
              <a:rPr lang="en-US" dirty="0" err="1"/>
              <a:t>proprio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mux</a:t>
            </a:r>
            <a:r>
              <a:rPr lang="en-US" baseline="-25000" dirty="0"/>
              <a:t>1</a:t>
            </a:r>
            <a:r>
              <a:rPr lang="en-US" dirty="0"/>
              <a:t>. Da </a:t>
            </a:r>
            <a:r>
              <a:rPr lang="en-US" dirty="0" err="1"/>
              <a:t>esso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calcolato</a:t>
            </a:r>
            <a:r>
              <a:rPr lang="en-US" dirty="0"/>
              <a:t>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della</a:t>
            </a:r>
            <a:r>
              <a:rPr lang="en-US" dirty="0"/>
              <a:t> </a:t>
            </a:r>
            <a:r>
              <a:rPr lang="en-US" dirty="0" err="1"/>
              <a:t>funzione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, </a:t>
            </a:r>
            <a:r>
              <a:rPr lang="en-US" dirty="0" err="1"/>
              <a:t>escludendo</a:t>
            </a:r>
            <a:r>
              <a:rPr lang="en-US" dirty="0"/>
              <a:t> la </a:t>
            </a:r>
            <a:r>
              <a:rPr lang="en-US" dirty="0" err="1"/>
              <a:t>variabile</a:t>
            </a:r>
            <a:r>
              <a:rPr lang="en-US" dirty="0"/>
              <a:t> E. </a:t>
            </a: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valore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mandato</a:t>
            </a:r>
            <a:r>
              <a:rPr lang="en-US" dirty="0"/>
              <a:t> in output. </a:t>
            </a:r>
            <a:r>
              <a:rPr lang="en-US" dirty="0" err="1"/>
              <a:t>Allo</a:t>
            </a:r>
            <a:r>
              <a:rPr lang="en-US" dirty="0"/>
              <a:t> </a:t>
            </a:r>
            <a:r>
              <a:rPr lang="en-US" dirty="0" err="1"/>
              <a:t>stesso</a:t>
            </a:r>
            <a:r>
              <a:rPr lang="en-US" dirty="0"/>
              <a:t> tempo, </a:t>
            </a:r>
            <a:r>
              <a:rPr lang="en-US" dirty="0" err="1"/>
              <a:t>il</a:t>
            </a:r>
            <a:r>
              <a:rPr lang="en-US" dirty="0"/>
              <a:t> mux</a:t>
            </a:r>
            <a:r>
              <a:rPr lang="en-US" baseline="-25000" dirty="0"/>
              <a:t>2</a:t>
            </a:r>
            <a:r>
              <a:rPr lang="en-US" dirty="0"/>
              <a:t> non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selezionato</a:t>
            </a:r>
            <a:r>
              <a:rPr lang="en-US" dirty="0"/>
              <a:t>, (la </a:t>
            </a:r>
            <a:r>
              <a:rPr lang="en-US" dirty="0" err="1"/>
              <a:t>sua</a:t>
            </a:r>
            <a:r>
              <a:rPr lang="en-US" dirty="0"/>
              <a:t> porta </a:t>
            </a:r>
            <a:r>
              <a:rPr lang="en-US" dirty="0" err="1"/>
              <a:t>logica</a:t>
            </a:r>
            <a:r>
              <a:rPr lang="en-US" dirty="0"/>
              <a:t> CS </a:t>
            </a:r>
            <a:r>
              <a:rPr lang="en-US" dirty="0" err="1"/>
              <a:t>riceve</a:t>
            </a:r>
            <a:r>
              <a:rPr lang="en-US" dirty="0"/>
              <a:t> un </a:t>
            </a:r>
            <a:r>
              <a:rPr lang="en-US" dirty="0" err="1"/>
              <a:t>segnale</a:t>
            </a:r>
            <a:r>
              <a:rPr lang="en-US" dirty="0"/>
              <a:t> alto) e </a:t>
            </a:r>
            <a:r>
              <a:rPr lang="en-US" dirty="0" err="1"/>
              <a:t>quindi</a:t>
            </a:r>
            <a:r>
              <a:rPr lang="en-US" dirty="0"/>
              <a:t> non fa </a:t>
            </a:r>
            <a:r>
              <a:rPr lang="en-US" dirty="0" err="1"/>
              <a:t>nulla</a:t>
            </a:r>
            <a:r>
              <a:rPr lang="en-US" dirty="0"/>
              <a:t>.</a:t>
            </a:r>
          </a:p>
          <a:p>
            <a:r>
              <a:rPr lang="en-US" dirty="0"/>
              <a:t>Se E ha </a:t>
            </a:r>
            <a:r>
              <a:rPr lang="en-US" dirty="0" err="1"/>
              <a:t>valore</a:t>
            </a:r>
            <a:r>
              <a:rPr lang="en-US" dirty="0"/>
              <a:t> 1, la porta CS del mux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riceve</a:t>
            </a:r>
            <a:r>
              <a:rPr lang="en-US" dirty="0"/>
              <a:t> un </a:t>
            </a:r>
            <a:r>
              <a:rPr lang="en-US" dirty="0" err="1"/>
              <a:t>segnale</a:t>
            </a:r>
            <a:r>
              <a:rPr lang="en-US" dirty="0"/>
              <a:t> basso (0),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dunque</a:t>
            </a:r>
            <a:r>
              <a:rPr lang="en-US" dirty="0"/>
              <a:t>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attivato</a:t>
            </a:r>
            <a:r>
              <a:rPr lang="en-US" dirty="0"/>
              <a:t>. </a:t>
            </a:r>
            <a:r>
              <a:rPr lang="en-US" dirty="0" err="1"/>
              <a:t>Visto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è un </a:t>
            </a:r>
            <a:r>
              <a:rPr lang="en-US" dirty="0" err="1"/>
              <a:t>circuito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restituisce</a:t>
            </a:r>
            <a:r>
              <a:rPr lang="en-US" dirty="0"/>
              <a:t> </a:t>
            </a:r>
            <a:r>
              <a:rPr lang="en-US" dirty="0" err="1"/>
              <a:t>sempre</a:t>
            </a:r>
            <a:r>
              <a:rPr lang="en-US" dirty="0"/>
              <a:t> 1, </a:t>
            </a:r>
            <a:r>
              <a:rPr lang="en-US" dirty="0" err="1"/>
              <a:t>farà</a:t>
            </a:r>
            <a:r>
              <a:rPr lang="en-US" dirty="0"/>
              <a:t> </a:t>
            </a:r>
            <a:r>
              <a:rPr lang="en-US" dirty="0" err="1"/>
              <a:t>uscire</a:t>
            </a:r>
            <a:r>
              <a:rPr lang="en-US" dirty="0"/>
              <a:t> dal </a:t>
            </a:r>
            <a:r>
              <a:rPr lang="en-US" dirty="0" err="1"/>
              <a:t>proprio</a:t>
            </a:r>
            <a:r>
              <a:rPr lang="en-US" dirty="0"/>
              <a:t> output </a:t>
            </a:r>
            <a:r>
              <a:rPr lang="en-US" dirty="0" err="1"/>
              <a:t>il</a:t>
            </a:r>
            <a:r>
              <a:rPr lang="en-US" dirty="0"/>
              <a:t> </a:t>
            </a:r>
            <a:r>
              <a:rPr lang="en-US" dirty="0" err="1"/>
              <a:t>valore</a:t>
            </a:r>
            <a:r>
              <a:rPr lang="en-US" dirty="0"/>
              <a:t> 1, a </a:t>
            </a:r>
            <a:r>
              <a:rPr lang="en-US" dirty="0" err="1"/>
              <a:t>prescindere</a:t>
            </a:r>
            <a:r>
              <a:rPr lang="en-US" dirty="0"/>
              <a:t> </a:t>
            </a:r>
            <a:r>
              <a:rPr lang="en-US" dirty="0" err="1"/>
              <a:t>dai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presenti</a:t>
            </a:r>
            <a:r>
              <a:rPr lang="en-US" dirty="0"/>
              <a:t> sui bit di </a:t>
            </a:r>
            <a:r>
              <a:rPr lang="en-US" dirty="0" err="1"/>
              <a:t>controllo</a:t>
            </a:r>
            <a:r>
              <a:rPr lang="en-US" dirty="0"/>
              <a:t>. </a:t>
            </a:r>
            <a:r>
              <a:rPr lang="en-US" dirty="0" err="1"/>
              <a:t>Contemporaneamente</a:t>
            </a:r>
            <a:r>
              <a:rPr lang="en-US" dirty="0"/>
              <a:t> mux</a:t>
            </a:r>
            <a:r>
              <a:rPr lang="en-US" baseline="-25000" dirty="0"/>
              <a:t>1</a:t>
            </a:r>
            <a:r>
              <a:rPr lang="en-US" dirty="0"/>
              <a:t> non </a:t>
            </a:r>
            <a:r>
              <a:rPr lang="en-US" dirty="0" err="1"/>
              <a:t>viene</a:t>
            </a:r>
            <a:r>
              <a:rPr lang="en-US" dirty="0"/>
              <a:t> </a:t>
            </a:r>
            <a:r>
              <a:rPr lang="en-US" dirty="0" err="1"/>
              <a:t>selezionato</a:t>
            </a:r>
            <a:r>
              <a:rPr lang="en-US" dirty="0"/>
              <a:t>, e </a:t>
            </a:r>
            <a:r>
              <a:rPr lang="en-US" dirty="0" err="1"/>
              <a:t>quindi</a:t>
            </a:r>
            <a:r>
              <a:rPr lang="en-US" dirty="0"/>
              <a:t> non </a:t>
            </a:r>
            <a:r>
              <a:rPr lang="en-US" dirty="0" err="1"/>
              <a:t>farà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68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Multiplexer: soluzione alternativa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386442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err="1"/>
                  <a:t>Applichiamo</a:t>
                </a:r>
                <a:r>
                  <a:rPr lang="en-US" dirty="0"/>
                  <a:t> </a:t>
                </a:r>
                <a:r>
                  <a:rPr lang="en-US" dirty="0" err="1"/>
                  <a:t>ora</a:t>
                </a:r>
                <a:r>
                  <a:rPr lang="en-US" dirty="0"/>
                  <a:t> </a:t>
                </a:r>
                <a:r>
                  <a:rPr lang="en-US" dirty="0" err="1"/>
                  <a:t>quanto</a:t>
                </a:r>
                <a:r>
                  <a:rPr lang="en-US" dirty="0"/>
                  <a:t> </a:t>
                </a:r>
                <a:r>
                  <a:rPr lang="en-US" dirty="0" err="1"/>
                  <a:t>descritto</a:t>
                </a:r>
                <a:r>
                  <a:rPr lang="en-US" dirty="0"/>
                  <a:t> a un </a:t>
                </a:r>
                <a:r>
                  <a:rPr lang="en-US" dirty="0" err="1"/>
                  <a:t>esempio</a:t>
                </a:r>
                <a:r>
                  <a:rPr lang="en-US" dirty="0"/>
                  <a:t> </a:t>
                </a:r>
                <a:r>
                  <a:rPr lang="en-US" dirty="0" err="1"/>
                  <a:t>più</a:t>
                </a:r>
                <a:r>
                  <a:rPr lang="en-US" dirty="0"/>
                  <a:t> </a:t>
                </a:r>
                <a:r>
                  <a:rPr lang="en-US" dirty="0" err="1"/>
                  <a:t>complesso</a:t>
                </a:r>
                <a:r>
                  <a:rPr lang="en-US" dirty="0"/>
                  <a:t>, come </a:t>
                </a:r>
                <a:r>
                  <a:rPr lang="en-US" dirty="0" err="1"/>
                  <a:t>l’esercizio</a:t>
                </a:r>
                <a:r>
                  <a:rPr lang="en-US" dirty="0"/>
                  <a:t> 4 </a:t>
                </a:r>
                <a:r>
                  <a:rPr lang="en-US" dirty="0" err="1"/>
                  <a:t>dell’esercitazione</a:t>
                </a:r>
                <a:r>
                  <a:rPr lang="en-US" dirty="0"/>
                  <a:t> 3 (</a:t>
                </a:r>
                <a:r>
                  <a:rPr lang="en-US" dirty="0" err="1"/>
                  <a:t>disponibile</a:t>
                </a:r>
                <a:r>
                  <a:rPr lang="en-US" dirty="0"/>
                  <a:t> </a:t>
                </a:r>
                <a:r>
                  <a:rPr lang="en-US" dirty="0" err="1"/>
                  <a:t>sul</a:t>
                </a:r>
                <a:r>
                  <a:rPr lang="en-US" dirty="0"/>
                  <a:t> </a:t>
                </a:r>
                <a:r>
                  <a:rPr lang="en-US" dirty="0" err="1"/>
                  <a:t>sito</a:t>
                </a:r>
                <a:r>
                  <a:rPr lang="en-US" dirty="0"/>
                  <a:t> del </a:t>
                </a:r>
                <a:r>
                  <a:rPr lang="en-US" dirty="0" err="1"/>
                  <a:t>corso</a:t>
                </a:r>
                <a:r>
                  <a:rPr lang="en-US" dirty="0"/>
                  <a:t>).</a:t>
                </a:r>
              </a:p>
              <a:p>
                <a:pPr marL="0" indent="0">
                  <a:buNone/>
                </a:pPr>
                <a:r>
                  <a:rPr lang="it-IT" dirty="0"/>
                  <a:t>Y 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lang="it-IT" dirty="0"/>
                  <a:t>D + AB</a:t>
                </a:r>
              </a:p>
              <a:p>
                <a:pPr marL="0" indent="0">
                  <a:buNone/>
                </a:pPr>
                <a:r>
                  <a:rPr lang="en-US" dirty="0"/>
                  <a:t>Il mux </a:t>
                </a:r>
                <a:r>
                  <a:rPr lang="en-US" dirty="0" err="1"/>
                  <a:t>selezionato</a:t>
                </a:r>
                <a:r>
                  <a:rPr lang="en-US" dirty="0"/>
                  <a:t> da D = 0 </a:t>
                </a:r>
                <a:r>
                  <a:rPr lang="en-US" dirty="0" err="1"/>
                  <a:t>dovrà</a:t>
                </a:r>
                <a:r>
                  <a:rPr lang="en-US" dirty="0"/>
                  <a:t> </a:t>
                </a:r>
                <a:r>
                  <a:rPr lang="en-US" dirty="0" err="1"/>
                  <a:t>realizzare</a:t>
                </a:r>
                <a:r>
                  <a:rPr lang="en-US" dirty="0"/>
                  <a:t> solo la </a:t>
                </a:r>
                <a:r>
                  <a:rPr lang="en-US" dirty="0" err="1"/>
                  <a:t>funzione</a:t>
                </a:r>
                <a:r>
                  <a:rPr lang="en-US" dirty="0"/>
                  <a:t> </a:t>
                </a:r>
                <a:r>
                  <a:rPr lang="en-US" dirty="0" err="1"/>
                  <a:t>logica</a:t>
                </a:r>
                <a:r>
                  <a:rPr lang="en-US" dirty="0"/>
                  <a:t> AB, </a:t>
                </a:r>
                <a:r>
                  <a:rPr lang="en-US" dirty="0" err="1"/>
                  <a:t>mentre</a:t>
                </a:r>
                <a:r>
                  <a:rPr lang="en-US" dirty="0"/>
                  <a:t> </a:t>
                </a:r>
                <a:r>
                  <a:rPr lang="en-US" dirty="0" err="1"/>
                  <a:t>quello</a:t>
                </a:r>
                <a:r>
                  <a:rPr lang="en-US" dirty="0"/>
                  <a:t> </a:t>
                </a:r>
                <a:r>
                  <a:rPr lang="en-US" dirty="0" err="1"/>
                  <a:t>selezionato</a:t>
                </a:r>
                <a:r>
                  <a:rPr lang="en-US" dirty="0"/>
                  <a:t> da D = 1 </a:t>
                </a:r>
                <a:r>
                  <a:rPr lang="en-US" dirty="0" err="1"/>
                  <a:t>dovrà</a:t>
                </a:r>
                <a:r>
                  <a:rPr lang="en-US" dirty="0"/>
                  <a:t> </a:t>
                </a:r>
                <a:r>
                  <a:rPr lang="en-US" dirty="0" err="1"/>
                  <a:t>realizzare</a:t>
                </a:r>
                <a:r>
                  <a:rPr lang="en-US" dirty="0"/>
                  <a:t> la </a:t>
                </a:r>
                <a:r>
                  <a:rPr lang="en-US" dirty="0" err="1"/>
                  <a:t>funzione</a:t>
                </a:r>
                <a:r>
                  <a:rPr lang="en-US" dirty="0"/>
                  <a:t> </a:t>
                </a:r>
                <a:r>
                  <a:rPr lang="en-US" dirty="0" err="1"/>
                  <a:t>logica</a:t>
                </a:r>
                <a:r>
                  <a:rPr lang="en-US" dirty="0"/>
                  <a:t> AB+C.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3864429"/>
              </a:xfrm>
              <a:blipFill>
                <a:blip r:embed="rId2"/>
                <a:stretch>
                  <a:fillRect l="-616" t="-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294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Multiplexer: soluzione alternativa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864429"/>
          </a:xfrm>
        </p:spPr>
        <p:txBody>
          <a:bodyPr>
            <a:normAutofit/>
          </a:bodyPr>
          <a:lstStyle/>
          <a:p>
            <a:r>
              <a:rPr lang="en-US" dirty="0" err="1"/>
              <a:t>Nel</a:t>
            </a:r>
            <a:r>
              <a:rPr lang="en-US" dirty="0"/>
              <a:t> mux</a:t>
            </a:r>
            <a:r>
              <a:rPr lang="en-US" baseline="-25000" dirty="0"/>
              <a:t>1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le </a:t>
            </a:r>
            <a:r>
              <a:rPr lang="en-US" dirty="0" err="1"/>
              <a:t>porte</a:t>
            </a:r>
            <a:r>
              <a:rPr lang="en-US" dirty="0"/>
              <a:t> D</a:t>
            </a:r>
            <a:r>
              <a:rPr lang="en-US" baseline="-25000" dirty="0"/>
              <a:t>6</a:t>
            </a:r>
            <a:r>
              <a:rPr lang="en-US" dirty="0"/>
              <a:t> e D</a:t>
            </a:r>
            <a:r>
              <a:rPr lang="en-US" baseline="-25000" dirty="0"/>
              <a:t>7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collegate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(</a:t>
            </a:r>
            <a:r>
              <a:rPr lang="en-US" dirty="0" err="1"/>
              <a:t>attivano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AND del </a:t>
            </a:r>
            <a:r>
              <a:rPr lang="en-US" dirty="0" err="1"/>
              <a:t>tipo</a:t>
            </a:r>
            <a:r>
              <a:rPr lang="en-US" dirty="0"/>
              <a:t> 11x)</a:t>
            </a:r>
          </a:p>
          <a:p>
            <a:pPr lvl="1"/>
            <a:r>
              <a:rPr lang="en-US" dirty="0" err="1"/>
              <a:t>tutte</a:t>
            </a:r>
            <a:r>
              <a:rPr lang="en-US" dirty="0"/>
              <a:t> le </a:t>
            </a:r>
            <a:r>
              <a:rPr lang="en-US" dirty="0" err="1"/>
              <a:t>altre</a:t>
            </a:r>
            <a:r>
              <a:rPr lang="en-US" dirty="0"/>
              <a:t> </a:t>
            </a:r>
            <a:r>
              <a:rPr lang="en-US" dirty="0" err="1"/>
              <a:t>porte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collegate</a:t>
            </a:r>
            <a:r>
              <a:rPr lang="en-US" dirty="0"/>
              <a:t> a terra</a:t>
            </a:r>
          </a:p>
          <a:p>
            <a:r>
              <a:rPr lang="en-US" dirty="0" err="1"/>
              <a:t>Nel</a:t>
            </a:r>
            <a:r>
              <a:rPr lang="en-US" dirty="0"/>
              <a:t> mux</a:t>
            </a:r>
            <a:r>
              <a:rPr lang="en-US" baseline="-25000" dirty="0"/>
              <a:t>2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le </a:t>
            </a:r>
            <a:r>
              <a:rPr lang="en-US" dirty="0" err="1"/>
              <a:t>porte</a:t>
            </a:r>
            <a:r>
              <a:rPr lang="en-US" dirty="0"/>
              <a:t> D</a:t>
            </a:r>
            <a:r>
              <a:rPr lang="en-US" baseline="-25000" dirty="0"/>
              <a:t>0</a:t>
            </a:r>
            <a:r>
              <a:rPr lang="en-US" dirty="0"/>
              <a:t>, D</a:t>
            </a:r>
            <a:r>
              <a:rPr lang="en-US" baseline="-25000" dirty="0"/>
              <a:t>2</a:t>
            </a:r>
            <a:r>
              <a:rPr lang="en-US" dirty="0"/>
              <a:t>, D</a:t>
            </a:r>
            <a:r>
              <a:rPr lang="en-US" baseline="-25000" dirty="0"/>
              <a:t>4</a:t>
            </a:r>
            <a:r>
              <a:rPr lang="en-US" dirty="0"/>
              <a:t>, D</a:t>
            </a:r>
            <a:r>
              <a:rPr lang="en-US" baseline="-25000" dirty="0"/>
              <a:t>6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collegate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(</a:t>
            </a:r>
            <a:r>
              <a:rPr lang="en-US" dirty="0" err="1"/>
              <a:t>implementano</a:t>
            </a:r>
            <a:r>
              <a:rPr lang="en-US" dirty="0"/>
              <a:t> C, </a:t>
            </a:r>
            <a:r>
              <a:rPr lang="en-US" dirty="0" err="1"/>
              <a:t>attivando</a:t>
            </a:r>
            <a:r>
              <a:rPr lang="en-US" dirty="0"/>
              <a:t> </a:t>
            </a:r>
            <a:r>
              <a:rPr lang="en-US" dirty="0" err="1"/>
              <a:t>tutti</a:t>
            </a:r>
            <a:r>
              <a:rPr lang="en-US" dirty="0"/>
              <a:t> </a:t>
            </a:r>
            <a:r>
              <a:rPr lang="en-US" dirty="0" err="1"/>
              <a:t>gli</a:t>
            </a:r>
            <a:r>
              <a:rPr lang="en-US" dirty="0"/>
              <a:t> AND del </a:t>
            </a:r>
            <a:r>
              <a:rPr lang="en-US" dirty="0" err="1"/>
              <a:t>tipo</a:t>
            </a:r>
            <a:r>
              <a:rPr lang="en-US" dirty="0"/>
              <a:t> xx0)</a:t>
            </a:r>
          </a:p>
          <a:p>
            <a:pPr lvl="1"/>
            <a:r>
              <a:rPr lang="en-US" dirty="0"/>
              <a:t>la porta D</a:t>
            </a:r>
            <a:r>
              <a:rPr lang="en-US" baseline="-25000" dirty="0"/>
              <a:t>7</a:t>
            </a:r>
            <a:r>
              <a:rPr lang="en-US" dirty="0"/>
              <a:t> è </a:t>
            </a:r>
            <a:r>
              <a:rPr lang="en-US" dirty="0" err="1"/>
              <a:t>collegata</a:t>
            </a:r>
            <a:r>
              <a:rPr lang="en-US" dirty="0"/>
              <a:t> </a:t>
            </a:r>
            <a:r>
              <a:rPr lang="en-US" dirty="0" err="1"/>
              <a:t>alla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, </a:t>
            </a:r>
            <a:r>
              <a:rPr lang="en-US" dirty="0" err="1"/>
              <a:t>poiché</a:t>
            </a:r>
            <a:r>
              <a:rPr lang="en-US" dirty="0"/>
              <a:t> </a:t>
            </a:r>
            <a:r>
              <a:rPr lang="en-US" dirty="0" err="1"/>
              <a:t>implenta</a:t>
            </a:r>
            <a:r>
              <a:rPr lang="en-US" dirty="0"/>
              <a:t> AB (</a:t>
            </a:r>
            <a:r>
              <a:rPr lang="en-US" dirty="0" err="1"/>
              <a:t>attiva</a:t>
            </a:r>
            <a:r>
              <a:rPr lang="en-US" dirty="0"/>
              <a:t> </a:t>
            </a:r>
            <a:r>
              <a:rPr lang="en-US" dirty="0" err="1"/>
              <a:t>l'unico</a:t>
            </a:r>
            <a:r>
              <a:rPr lang="en-US" dirty="0"/>
              <a:t> </a:t>
            </a:r>
            <a:r>
              <a:rPr lang="en-US" dirty="0" err="1"/>
              <a:t>ingresso</a:t>
            </a:r>
            <a:r>
              <a:rPr lang="en-US" dirty="0"/>
              <a:t> non </a:t>
            </a:r>
            <a:r>
              <a:rPr lang="en-US" dirty="0" err="1"/>
              <a:t>ancora</a:t>
            </a:r>
            <a:r>
              <a:rPr lang="en-US" dirty="0"/>
              <a:t> </a:t>
            </a:r>
            <a:r>
              <a:rPr lang="en-US" dirty="0" err="1"/>
              <a:t>attivato</a:t>
            </a:r>
            <a:r>
              <a:rPr lang="en-US" dirty="0"/>
              <a:t> del </a:t>
            </a:r>
            <a:r>
              <a:rPr lang="en-US" dirty="0" err="1"/>
              <a:t>tipo</a:t>
            </a:r>
            <a:r>
              <a:rPr lang="en-US" dirty="0"/>
              <a:t> 110, </a:t>
            </a:r>
            <a:r>
              <a:rPr lang="en-US" dirty="0" err="1"/>
              <a:t>cioè</a:t>
            </a:r>
            <a:r>
              <a:rPr lang="en-US" dirty="0"/>
              <a:t> 111)</a:t>
            </a:r>
          </a:p>
          <a:p>
            <a:pPr lvl="1"/>
            <a:r>
              <a:rPr lang="en-US" dirty="0"/>
              <a:t>le </a:t>
            </a:r>
            <a:r>
              <a:rPr lang="en-US" dirty="0" err="1"/>
              <a:t>altre</a:t>
            </a:r>
            <a:r>
              <a:rPr lang="en-US" dirty="0"/>
              <a:t> </a:t>
            </a:r>
            <a:r>
              <a:rPr lang="en-US" dirty="0" err="1"/>
              <a:t>porte</a:t>
            </a:r>
            <a:r>
              <a:rPr lang="en-US" dirty="0"/>
              <a:t> </a:t>
            </a:r>
            <a:r>
              <a:rPr lang="en-US" dirty="0" err="1"/>
              <a:t>sono</a:t>
            </a:r>
            <a:r>
              <a:rPr lang="en-US" dirty="0"/>
              <a:t> </a:t>
            </a:r>
            <a:r>
              <a:rPr lang="en-US" dirty="0" err="1"/>
              <a:t>collegate</a:t>
            </a:r>
            <a:r>
              <a:rPr lang="en-US" dirty="0"/>
              <a:t> a terra.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930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Multiplexer: soluzione alternativa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65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Immagine dei due </a:t>
            </a:r>
            <a:r>
              <a:rPr lang="it-IT" dirty="0" err="1"/>
              <a:t>mux</a:t>
            </a:r>
            <a:r>
              <a:rPr lang="it-IT" dirty="0"/>
              <a:t> e del loro collegamento a D.</a:t>
            </a:r>
            <a:endParaRPr lang="en-US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B1B9D41-773B-45C1-99EE-368CEAAF3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369" y="2727325"/>
            <a:ext cx="5403261" cy="303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87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Approfondimento: Circuiti Logici e sequenziali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571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Circuiti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53845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Decoder</a:t>
            </a:r>
            <a:r>
              <a:rPr lang="it-IT" dirty="0"/>
              <a:t>:</a:t>
            </a:r>
          </a:p>
          <a:p>
            <a:r>
              <a:rPr lang="it-IT" dirty="0"/>
              <a:t>Input: numero a </a:t>
            </a:r>
            <a:r>
              <a:rPr lang="it-IT" i="1" dirty="0"/>
              <a:t>n </a:t>
            </a:r>
            <a:r>
              <a:rPr lang="it-IT" dirty="0"/>
              <a:t>bit</a:t>
            </a:r>
          </a:p>
          <a:p>
            <a:r>
              <a:rPr lang="it-IT" dirty="0"/>
              <a:t>Output: impostare a 1 una sola delle 2</a:t>
            </a:r>
            <a:r>
              <a:rPr lang="it-IT" baseline="30000" dirty="0"/>
              <a:t>n</a:t>
            </a:r>
            <a:r>
              <a:rPr lang="it-IT" dirty="0"/>
              <a:t> uscite</a:t>
            </a:r>
          </a:p>
          <a:p>
            <a:r>
              <a:rPr lang="it-IT" dirty="0"/>
              <a:t>Esempio uso: Indirizzare piccola memoria a 8 bit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A7B5BC2-E3C9-44C6-8BC0-052C23BE0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319" y="1438447"/>
            <a:ext cx="3229511" cy="39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79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Circuiti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53845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 err="1"/>
              <a:t>Comparator</a:t>
            </a:r>
            <a:r>
              <a:rPr lang="it-IT" dirty="0"/>
              <a:t>:</a:t>
            </a:r>
          </a:p>
          <a:p>
            <a:r>
              <a:rPr lang="it-IT" dirty="0"/>
              <a:t>Input: 2 numeri a </a:t>
            </a:r>
            <a:r>
              <a:rPr lang="it-IT" i="1" dirty="0"/>
              <a:t>n </a:t>
            </a:r>
            <a:r>
              <a:rPr lang="it-IT" dirty="0"/>
              <a:t>bit</a:t>
            </a:r>
          </a:p>
          <a:p>
            <a:r>
              <a:rPr lang="it-IT" dirty="0"/>
              <a:t>Output: 0  nel caso in cui gli input siano diversi, uno nel caso in cui siano uguali</a:t>
            </a:r>
          </a:p>
          <a:p>
            <a:r>
              <a:rPr lang="it-IT" dirty="0"/>
              <a:t>Esempio uso: calcolare somme di prodotti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6121589-DDDD-4D27-8881-4B735B65C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700" y="1970314"/>
            <a:ext cx="44481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03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Circuiti (3)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53845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 err="1"/>
              <a:t>Adder</a:t>
            </a:r>
            <a:r>
              <a:rPr lang="it-IT" b="1" dirty="0"/>
              <a:t> (1bit)</a:t>
            </a:r>
            <a:r>
              <a:rPr lang="it-IT" dirty="0"/>
              <a:t>:</a:t>
            </a:r>
          </a:p>
          <a:p>
            <a:r>
              <a:rPr lang="it-IT" dirty="0"/>
              <a:t>Input: 2 numeri a </a:t>
            </a:r>
            <a:r>
              <a:rPr lang="it-IT" i="1" dirty="0"/>
              <a:t>1 </a:t>
            </a:r>
            <a:r>
              <a:rPr lang="it-IT" dirty="0"/>
              <a:t>bit</a:t>
            </a:r>
          </a:p>
          <a:p>
            <a:r>
              <a:rPr lang="it-IT" dirty="0"/>
              <a:t>Output: Somma dei due numeri all’uscita S, Riporto della somma all’uscita C</a:t>
            </a:r>
          </a:p>
          <a:p>
            <a:r>
              <a:rPr lang="it-IT" dirty="0"/>
              <a:t>Esempio uso: Sommare valori</a:t>
            </a:r>
          </a:p>
          <a:p>
            <a:r>
              <a:rPr lang="it-IT" dirty="0"/>
              <a:t>Può essere esteso a </a:t>
            </a:r>
            <a:r>
              <a:rPr lang="it-IT" i="1" dirty="0"/>
              <a:t>n</a:t>
            </a:r>
            <a:r>
              <a:rPr lang="it-IT" dirty="0"/>
              <a:t> bit ponendone </a:t>
            </a:r>
            <a:r>
              <a:rPr lang="it-IT" i="1" dirty="0"/>
              <a:t>n</a:t>
            </a:r>
            <a:r>
              <a:rPr lang="it-IT" dirty="0"/>
              <a:t> in cascata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020A6BB-7ADC-4515-B80F-F2CCF7572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650" y="2628900"/>
            <a:ext cx="28575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146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Circuiti (4)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53845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ALU (1bit)</a:t>
            </a:r>
            <a:r>
              <a:rPr lang="it-IT" dirty="0"/>
              <a:t>:</a:t>
            </a:r>
          </a:p>
          <a:p>
            <a:r>
              <a:rPr lang="it-IT" dirty="0"/>
              <a:t>Unico circuito per effettuare:</a:t>
            </a:r>
          </a:p>
          <a:p>
            <a:pPr lvl="1"/>
            <a:r>
              <a:rPr lang="it-IT" dirty="0"/>
              <a:t>Operazione Logica AND,</a:t>
            </a:r>
          </a:p>
          <a:p>
            <a:pPr lvl="1"/>
            <a:r>
              <a:rPr lang="it-IT" dirty="0"/>
              <a:t>Operazione Logica OR,</a:t>
            </a:r>
          </a:p>
          <a:p>
            <a:pPr lvl="1"/>
            <a:r>
              <a:rPr lang="it-IT" dirty="0"/>
              <a:t>Somma di due parole.</a:t>
            </a:r>
          </a:p>
          <a:p>
            <a:r>
              <a:rPr lang="it-IT" dirty="0"/>
              <a:t>Estendibile a </a:t>
            </a:r>
            <a:r>
              <a:rPr lang="it-IT" i="1" dirty="0"/>
              <a:t>n </a:t>
            </a:r>
            <a:r>
              <a:rPr lang="it-IT" dirty="0"/>
              <a:t>bit mettendone </a:t>
            </a:r>
            <a:r>
              <a:rPr lang="it-IT" i="1" dirty="0"/>
              <a:t>n</a:t>
            </a:r>
            <a:r>
              <a:rPr lang="it-IT" dirty="0"/>
              <a:t> in cascata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70B3D81-EF18-461C-82D4-FCD2C3FC4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3057" y="1496785"/>
            <a:ext cx="4151159" cy="386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02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Circuiti (5)</a:t>
            </a:r>
            <a:endParaRPr lang="it-IT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4453845" cy="3864429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it-IT" b="1" dirty="0"/>
                  <a:t>Latch SR</a:t>
                </a:r>
                <a:r>
                  <a:rPr lang="it-IT" dirty="0"/>
                  <a:t>:</a:t>
                </a:r>
              </a:p>
              <a:p>
                <a:r>
                  <a:rPr lang="it-IT" dirty="0"/>
                  <a:t>Memoria a 1 bit</a:t>
                </a:r>
              </a:p>
              <a:p>
                <a:r>
                  <a:rPr lang="it-IT" dirty="0"/>
                  <a:t>Input:</a:t>
                </a:r>
              </a:p>
              <a:p>
                <a:pPr lvl="1"/>
                <a:r>
                  <a:rPr lang="it-IT" b="1" dirty="0"/>
                  <a:t>S </a:t>
                </a:r>
                <a:r>
                  <a:rPr lang="it-IT" dirty="0"/>
                  <a:t>(</a:t>
                </a:r>
                <a:r>
                  <a:rPr lang="it-IT" i="1" dirty="0"/>
                  <a:t>Setting</a:t>
                </a:r>
                <a:r>
                  <a:rPr lang="it-IT" dirty="0"/>
                  <a:t>): imposta il valore in memoria,</a:t>
                </a:r>
              </a:p>
              <a:p>
                <a:pPr lvl="1"/>
                <a:r>
                  <a:rPr lang="it-IT" b="1" dirty="0"/>
                  <a:t>R </a:t>
                </a:r>
                <a:r>
                  <a:rPr lang="it-IT" i="1" dirty="0"/>
                  <a:t>(</a:t>
                </a:r>
                <a:r>
                  <a:rPr lang="it-IT" i="1" dirty="0" err="1"/>
                  <a:t>Resetting</a:t>
                </a:r>
                <a:r>
                  <a:rPr lang="it-IT" i="1" dirty="0"/>
                  <a:t>)</a:t>
                </a:r>
                <a:r>
                  <a:rPr lang="it-IT" dirty="0"/>
                  <a:t>: azzera il valore del latch.</a:t>
                </a:r>
                <a:endParaRPr lang="it-IT" b="1" i="1" dirty="0"/>
              </a:p>
              <a:p>
                <a:r>
                  <a:rPr lang="it-IT" dirty="0"/>
                  <a:t>Output: Q 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complementari</a:t>
                </a:r>
                <a:endParaRPr lang="en-US" dirty="0"/>
              </a:p>
              <a:p>
                <a:r>
                  <a:rPr lang="en-US" dirty="0"/>
                  <a:t>Output non determinate </a:t>
                </a:r>
                <a:r>
                  <a:rPr lang="en-US" dirty="0" err="1"/>
                  <a:t>unicamente</a:t>
                </a:r>
                <a:r>
                  <a:rPr lang="en-US" dirty="0"/>
                  <a:t> da </a:t>
                </a:r>
                <a:r>
                  <a:rPr lang="en-US" dirty="0" err="1"/>
                  <a:t>valori</a:t>
                </a:r>
                <a:r>
                  <a:rPr lang="en-US" dirty="0"/>
                  <a:t> input </a:t>
                </a:r>
                <a:r>
                  <a:rPr lang="en-US" dirty="0" err="1"/>
                  <a:t>corrente</a:t>
                </a:r>
                <a:r>
                  <a:rPr lang="en-US" dirty="0"/>
                  <a:t>.			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4453845" cy="3864429"/>
              </a:xfrm>
              <a:blipFill>
                <a:blip r:embed="rId2"/>
                <a:stretch>
                  <a:fillRect l="-1233" t="-78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D08BF3A-B2C5-4B36-90C4-544CD255E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870" y="1905000"/>
            <a:ext cx="3733146" cy="30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643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Circuiti (6)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53845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Latch SR Temporizzato</a:t>
            </a:r>
            <a:r>
              <a:rPr lang="it-IT" dirty="0"/>
              <a:t>:</a:t>
            </a:r>
          </a:p>
          <a:p>
            <a:r>
              <a:rPr lang="it-IT" dirty="0"/>
              <a:t>Come latch SR, ma cambio stato solo in specifici momenti</a:t>
            </a:r>
          </a:p>
          <a:p>
            <a:r>
              <a:rPr lang="it-IT" dirty="0"/>
              <a:t>Cambio stato solo quando clock (E) vale 1</a:t>
            </a:r>
            <a:r>
              <a:rPr lang="en-US" dirty="0"/>
              <a:t>		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27989AC-828B-4C0C-BE5F-37FEB1932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937" y="2247900"/>
            <a:ext cx="4887308" cy="236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26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Circuiti (7)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53845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Latch D Temporizzato</a:t>
            </a:r>
            <a:r>
              <a:rPr lang="it-IT" dirty="0"/>
              <a:t>:</a:t>
            </a:r>
          </a:p>
          <a:p>
            <a:r>
              <a:rPr lang="it-IT" dirty="0"/>
              <a:t>Come latch SR, ma con un unico input per evitare ambiguità (S=R=1)</a:t>
            </a:r>
          </a:p>
          <a:p>
            <a:r>
              <a:rPr lang="it-IT" dirty="0"/>
              <a:t>Valore D viene campionato quando clock vale 1</a:t>
            </a:r>
            <a:r>
              <a:rPr lang="en-US" dirty="0"/>
              <a:t>	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7DC995F-CD0D-4BFA-A252-0A6A795FE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817" y="2313214"/>
            <a:ext cx="4463142" cy="223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863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it-IT" b="1" dirty="0"/>
              <a:t>Circuiti (8)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453845" cy="3864429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Flip-flop</a:t>
            </a:r>
            <a:r>
              <a:rPr lang="it-IT" dirty="0"/>
              <a:t>:</a:t>
            </a:r>
          </a:p>
          <a:p>
            <a:r>
              <a:rPr lang="it-IT" dirty="0"/>
              <a:t>Campionamento valore linea e memorizzazione</a:t>
            </a:r>
          </a:p>
          <a:p>
            <a:r>
              <a:rPr lang="it-IT" dirty="0"/>
              <a:t>Campionamento durante transizione clock da 0 a1.</a:t>
            </a:r>
            <a:r>
              <a:rPr lang="en-US" dirty="0"/>
              <a:t>	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D2E3EA78-DD21-4E6F-B27C-BABFA7FC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27/11/2017</a:t>
            </a:r>
            <a:endParaRPr lang="en-US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7731695C-C04C-4BD0-B044-905A7BF51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273954" y="859971"/>
            <a:ext cx="1936036" cy="513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15943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1626</TotalTime>
  <Words>890</Words>
  <Application>Microsoft Office PowerPoint</Application>
  <PresentationFormat>Widescreen</PresentationFormat>
  <Paragraphs>146</Paragraphs>
  <Slides>19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Century Gothic</vt:lpstr>
      <vt:lpstr>Wingdings 3</vt:lpstr>
      <vt:lpstr>Filo</vt:lpstr>
      <vt:lpstr>ESERCITAZIONE 4.5</vt:lpstr>
      <vt:lpstr>Approfondimento: multiplexer</vt:lpstr>
      <vt:lpstr>Multiplexer: soluzione alternativa</vt:lpstr>
      <vt:lpstr>Multiplexer: soluzione alternativa</vt:lpstr>
      <vt:lpstr>Multiplexer: soluzione alternativa</vt:lpstr>
      <vt:lpstr>Multiplexer: soluzione alternativa</vt:lpstr>
      <vt:lpstr>Multiplexer: soluzione alternativa</vt:lpstr>
      <vt:lpstr>Multiplexer: soluzione alternativa</vt:lpstr>
      <vt:lpstr>Multiplexer: soluzione alternativa</vt:lpstr>
      <vt:lpstr>Multiplexer: soluzione alternativa</vt:lpstr>
      <vt:lpstr>Approfondimento: Circuiti Logici e sequenziali</vt:lpstr>
      <vt:lpstr>Circuiti (1)</vt:lpstr>
      <vt:lpstr>Circuiti (2)</vt:lpstr>
      <vt:lpstr>Circuiti (3)</vt:lpstr>
      <vt:lpstr>Circuiti (4)</vt:lpstr>
      <vt:lpstr>Circuiti (5)</vt:lpstr>
      <vt:lpstr>Circuiti (6)</vt:lpstr>
      <vt:lpstr>Circuiti (7)</vt:lpstr>
      <vt:lpstr>Circuiti (8)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106</cp:revision>
  <dcterms:created xsi:type="dcterms:W3CDTF">2017-10-29T11:29:02Z</dcterms:created>
  <dcterms:modified xsi:type="dcterms:W3CDTF">2017-11-28T11:50:44Z</dcterms:modified>
</cp:coreProperties>
</file>