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9" r:id="rId6"/>
    <p:sldId id="260" r:id="rId7"/>
    <p:sldId id="283" r:id="rId8"/>
    <p:sldId id="273" r:id="rId9"/>
    <p:sldId id="275" r:id="rId10"/>
    <p:sldId id="284" r:id="rId11"/>
    <p:sldId id="277" r:id="rId12"/>
    <p:sldId id="285" r:id="rId13"/>
    <p:sldId id="279" r:id="rId14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0C1F"/>
    <a:srgbClr val="903163"/>
    <a:srgbClr val="E1E1E1"/>
    <a:srgbClr val="AA2C71"/>
    <a:srgbClr val="A62C6F"/>
    <a:srgbClr val="F9E7F1"/>
    <a:srgbClr val="852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E8F38073-FA7A-4072-BB6D-6D51307638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BC4144-DC0B-4943-A951-A7E4C50C5C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87D2D-D8E5-4773-83ED-B732C78C68BF}" type="datetime1">
              <a:rPr lang="it-IT" smtClean="0"/>
              <a:t>19/12/2021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25F86A-2439-4892-95D2-AF6CD90300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203B3C-C9C8-4110-BFEC-B8343D2E2F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51033-DB4D-4F86-9CD9-4A67EF79E9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43724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07C4D6-67FF-4A18-AD5D-66FE6F69B62B}" type="datetime1">
              <a:rPr lang="it-IT" noProof="0" smtClean="0"/>
              <a:t>19/12/2021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2E1C88-3939-4832-BAAB-091D6FA96EB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105004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Eliminare questa diapositiva al termine della preparazione delle altre diapositive.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12E1C88-3939-4832-BAAB-091D6FA96EB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59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6616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7143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1999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5707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0859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2195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013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316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182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 bwMode="white">
          <a:xfrm>
            <a:off x="464567" y="3085765"/>
            <a:ext cx="11262866" cy="3304800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8000">
                <a:schemeClr val="accent2">
                  <a:lumMod val="7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99226" y="1020431"/>
            <a:ext cx="10993549" cy="1475013"/>
          </a:xfrm>
          <a:effectLst/>
        </p:spPr>
        <p:txBody>
          <a:bodyPr rtlCol="0" anchor="ctr" anchorCtr="0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A5990AC-EE73-4DBE-AA37-12146E63ACC2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688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3C994CB-2BC6-164B-80D4-304B4CB6D8C3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4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 rtl="0">
              <a:defRPr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3090B-48F5-4511-AD11-235AA7D0E446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B5BE0FDB-DB48-E242-8A1F-5B06F79B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54665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mmagine e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5655714" cy="524439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5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 anchor="ctr" anchorCtr="0"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773724"/>
            <a:ext cx="5388785" cy="4958862"/>
          </a:xfrm>
        </p:spPr>
        <p:txBody>
          <a:bodyPr rtlCol="0"/>
          <a:lstStyle>
            <a:lvl1pPr rtl="0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6D3C73-A2CB-4B76-A644-FE2B054D8EC6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378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 bwMode="white">
          <a:xfrm>
            <a:off x="447817" y="5141974"/>
            <a:ext cx="11290860" cy="1258827"/>
          </a:xfrm>
          <a:prstGeom prst="rect">
            <a:avLst/>
          </a:prstGeom>
          <a:gradFill flip="none" rotWithShape="1">
            <a:gsLst>
              <a:gs pos="100000">
                <a:srgbClr val="903163"/>
              </a:gs>
              <a:gs pos="60000">
                <a:schemeClr val="accent1">
                  <a:lumMod val="95000"/>
                  <a:lumOff val="5000"/>
                </a:schemeClr>
              </a:gs>
              <a:gs pos="1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581B8A2-4ED8-4D65-BB68-84E8ECB40E34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92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 rtl="0">
              <a:defRPr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 rtl="0">
              <a:defRPr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AAD3CD-1972-4CB3-9BFC-714B2C7FB5A6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3696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3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7739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714624"/>
            <a:ext cx="3378403" cy="3194051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9FF3E418-D154-4298-80CA-29EAE134CAF4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6D289ABA-BA71-41AF-AA30-58CB8F426F6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45430" y="2714624"/>
            <a:ext cx="3378403" cy="3194051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22" name="Segnaposto contenuto 3">
            <a:extLst>
              <a:ext uri="{FF2B5EF4-FFF2-40B4-BE49-F238E27FC236}">
                <a16:creationId xmlns:a16="http://schemas.microsoft.com/office/drawing/2014/main" id="{C06DFC81-3912-4844-B25C-E1D7CBCD80A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00414" y="2714624"/>
            <a:ext cx="3378403" cy="3194051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4" name="Segnaposto testo 2">
            <a:extLst>
              <a:ext uri="{FF2B5EF4-FFF2-40B4-BE49-F238E27FC236}">
                <a16:creationId xmlns:a16="http://schemas.microsoft.com/office/drawing/2014/main" id="{11556C46-FD2A-4916-B30C-DB066CAEA47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241852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E2328988-0888-4C1A-8F73-17D455B6F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80115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D81892BA-72AB-4029-BF58-4D6F90C4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2123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Segnaposto testo 2">
            <a:extLst>
              <a:ext uri="{FF2B5EF4-FFF2-40B4-BE49-F238E27FC236}">
                <a16:creationId xmlns:a16="http://schemas.microsoft.com/office/drawing/2014/main" id="{8E232301-6803-418F-8637-ABBAC64416D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9683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7119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3" y="2250892"/>
            <a:ext cx="5393102" cy="536005"/>
          </a:xfrm>
        </p:spPr>
        <p:txBody>
          <a:bodyPr rtlCol="0" anchor="b">
            <a:noAutofit/>
          </a:bodyPr>
          <a:lstStyle>
            <a:lvl1pPr marL="0" indent="0" rtl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217707" y="2250892"/>
            <a:ext cx="5393102" cy="553373"/>
          </a:xfrm>
        </p:spPr>
        <p:txBody>
          <a:bodyPr rtlCol="0" anchor="b">
            <a:noAutofit/>
          </a:bodyPr>
          <a:lstStyle>
            <a:lvl1pPr marL="0" indent="0" rtl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4D8A31FA-8FE4-4760-B7FC-4A7B4D79FA8D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1669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 bwMode="white">
          <a:xfrm>
            <a:off x="440683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6950FC-BB05-4494-AC6E-D031D4E75280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CEC16FA-81A4-6F41-9FCE-6262A453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4544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30117A61-F155-4A6A-8CC0-4EBDB1138590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DFBB0525-CFF9-4A39-B5EA-57925399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858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 bwMode="white">
          <a:xfrm>
            <a:off x="447817" y="5141973"/>
            <a:ext cx="11298200" cy="127470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9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t" anchorCtr="0">
            <a:normAutofit/>
          </a:bodyPr>
          <a:lstStyle>
            <a:lvl1pPr rtl="0"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 rtl="0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8EAAD33-3982-47CE-81A6-C23A45D2B5E0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1697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 rtl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EA50C9-12D8-412D-BAC2-F0E9EFA90446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6921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gradFill flip="none"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 dirty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12F2E8CE-9B42-451B-9785-26E55D8D2567}" type="datetime8">
              <a:rPr lang="it-IT" noProof="0" smtClean="0"/>
              <a:t>19/12/2021 10:12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073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73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3D2F1E46-45DB-42F0-AF2D-ABD0145DA7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IV Tutorato – Sistemi Operativi</a:t>
            </a:r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7E93A8DE-D65E-4E83-872E-EBF3906E0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Esercitazione sulle classi di esercizi presenti sul libro sui sistemi operativi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16FD552-0924-4D15-8BA2-BEFF82D91027}"/>
              </a:ext>
            </a:extLst>
          </p:cNvPr>
          <p:cNvSpPr txBox="1"/>
          <p:nvPr/>
        </p:nvSpPr>
        <p:spPr>
          <a:xfrm>
            <a:off x="3505200" y="6036732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Paolo Ciasco – paolo.ciasco@alumni.uniroma2.eu</a:t>
            </a:r>
          </a:p>
        </p:txBody>
      </p:sp>
      <p:pic>
        <p:nvPicPr>
          <p:cNvPr id="1032" name="Picture 8" descr="Sistemi operativi Archives - Moreware Blog">
            <a:extLst>
              <a:ext uri="{FF2B5EF4-FFF2-40B4-BE49-F238E27FC236}">
                <a16:creationId xmlns:a16="http://schemas.microsoft.com/office/drawing/2014/main" id="{452EF0B3-133D-4EEA-A538-0B1DC0B7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534" y="3522133"/>
            <a:ext cx="5096932" cy="218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037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A4435-3751-4780-9A9B-F91171E7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/>
          <a:lstStyle/>
          <a:p>
            <a:pPr rtl="0"/>
            <a:r>
              <a:rPr lang="it-IT" dirty="0" err="1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ProCessi</a:t>
            </a:r>
            <a:r>
              <a:rPr lang="it-IT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it-IT" dirty="0" err="1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thread</a:t>
            </a:r>
            <a:endParaRPr lang="it-IT" dirty="0">
              <a:latin typeface="+mn-lt"/>
            </a:endParaRPr>
          </a:p>
        </p:txBody>
      </p:sp>
      <p:pic>
        <p:nvPicPr>
          <p:cNvPr id="6" name="Elemento grafico 5" descr="Lampadina">
            <a:extLst>
              <a:ext uri="{FF2B5EF4-FFF2-40B4-BE49-F238E27FC236}">
                <a16:creationId xmlns:a16="http://schemas.microsoft.com/office/drawing/2014/main" id="{E9661DC4-D526-4678-A1C8-58A8BEB68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6900" y="1939155"/>
            <a:ext cx="262800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1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sz="2000" dirty="0"/>
              <a:t>In un computer con 2GB di memoria, il sistema operativo occupa 1024MB e i processi occupano in media 256MB; se il tempo di attesa medio dell’I/O è del 80%, qual è la % di </a:t>
            </a:r>
            <a:r>
              <a:rPr lang="it-IT" sz="2000" dirty="0" err="1"/>
              <a:t>usage</a:t>
            </a:r>
            <a:r>
              <a:rPr lang="it-IT" sz="2000" dirty="0"/>
              <a:t> della CPU? Se aggiungo 512MB di RAM, quanto diventa il nuovo carico della CPU?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Ex.1 – p.209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8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A4435-3751-4780-9A9B-F91171E7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/>
          <a:lstStyle/>
          <a:p>
            <a:pPr rtl="0"/>
            <a:r>
              <a:rPr lang="it-IT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Scheduling sui sistemi batch</a:t>
            </a:r>
            <a:endParaRPr lang="it-IT" dirty="0">
              <a:latin typeface="+mn-lt"/>
            </a:endParaRPr>
          </a:p>
        </p:txBody>
      </p:sp>
      <p:pic>
        <p:nvPicPr>
          <p:cNvPr id="6" name="Elemento grafico 5" descr="Lampadina">
            <a:extLst>
              <a:ext uri="{FF2B5EF4-FFF2-40B4-BE49-F238E27FC236}">
                <a16:creationId xmlns:a16="http://schemas.microsoft.com/office/drawing/2014/main" id="{E9661DC4-D526-4678-A1C8-58A8BEB68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6900" y="1939155"/>
            <a:ext cx="262800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7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sz="2000" dirty="0"/>
              <a:t>Supponiamo di usare l’algoritmo FCFS per lo scheduling in un sistema batch con 5 job che arrivano nel seguente ordine: P1 al tempo 0, P2 dopo 3ms, P3 dopo 1ms rispetto P1, P4 dopo 1ms rispetto P3 ed infine P5 dopo 2ms rispetto P4. Dati i tempi di esecuzione rispettivi dei processi 4,2,4,2,4 calcolare tempi medi di attesa e turnaround. 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Ex.2 – p.210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7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sz="2000" dirty="0"/>
              <a:t>Supponendo di utilizzare l’algoritmo </a:t>
            </a:r>
            <a:r>
              <a:rPr lang="it-IT" sz="2000" dirty="0" err="1"/>
              <a:t>Shortest</a:t>
            </a:r>
            <a:r>
              <a:rPr lang="it-IT" sz="2000" dirty="0"/>
              <a:t> Job First per lo scheduling in un sistema batch, dovendo eseguire 4 processi con i seguenti tempi di esecuzione 8, 10, 12 e 6 quali saranno il tempo medio di turnaround e quello di attesa?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Ex.3 – p.211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9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A4435-3751-4780-9A9B-F91171E7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/>
          <a:lstStyle/>
          <a:p>
            <a:pPr rtl="0"/>
            <a:r>
              <a:rPr lang="it-IT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Scheduling sui sistemi interattivi</a:t>
            </a:r>
            <a:endParaRPr lang="it-IT" dirty="0">
              <a:latin typeface="+mn-lt"/>
            </a:endParaRPr>
          </a:p>
        </p:txBody>
      </p:sp>
      <p:pic>
        <p:nvPicPr>
          <p:cNvPr id="6" name="Elemento grafico 5" descr="Lampadina">
            <a:extLst>
              <a:ext uri="{FF2B5EF4-FFF2-40B4-BE49-F238E27FC236}">
                <a16:creationId xmlns:a16="http://schemas.microsoft.com/office/drawing/2014/main" id="{E9661DC4-D526-4678-A1C8-58A8BEB68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6900" y="1939155"/>
            <a:ext cx="262800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7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>
              <a:buNone/>
            </a:pPr>
            <a:r>
              <a:rPr lang="it-IT" sz="2000" dirty="0"/>
              <a:t>Supponendo di utilizzare l’algoritmo Round-Robin per schedulare in un sistema interattivo, se l’ordine di esecuzione è P1 -&gt; P2 -&gt; … -&gt; P5, il quantum è di 200 µs e il cambio di contesto avviene in 2 µs, supponendo che P1 sia terminato dopo quanto tempo verrà eseguito P5? Qual è il rapporto tra cambio di contesto e tempo di esecuzione? Come cambiano i tempi se il quantum scende a 12 µs ? Quale delle due soluzioni è più favorevole?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Ex.4 –  p.215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7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A4435-3751-4780-9A9B-F91171E7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/>
          <a:lstStyle/>
          <a:p>
            <a:pPr rtl="0"/>
            <a:r>
              <a:rPr lang="it-IT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Scheduling sui sistemi soft real-time</a:t>
            </a:r>
            <a:endParaRPr lang="it-IT" dirty="0">
              <a:latin typeface="+mn-lt"/>
            </a:endParaRPr>
          </a:p>
        </p:txBody>
      </p:sp>
      <p:pic>
        <p:nvPicPr>
          <p:cNvPr id="6" name="Elemento grafico 5" descr="Lampadina">
            <a:extLst>
              <a:ext uri="{FF2B5EF4-FFF2-40B4-BE49-F238E27FC236}">
                <a16:creationId xmlns:a16="http://schemas.microsoft.com/office/drawing/2014/main" id="{E9661DC4-D526-4678-A1C8-58A8BEB68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6900" y="1939155"/>
            <a:ext cx="262800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56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>
              <a:buNone/>
            </a:pPr>
            <a:r>
              <a:rPr lang="it-IT" sz="2000" dirty="0"/>
              <a:t>Supponendo di dover valutare la fattibilità di un sistema soft real-time con eventi periodici P0 = 0.5 µs, P1 = 300 µs, P2 = 15 </a:t>
            </a:r>
            <a:r>
              <a:rPr lang="it-IT" sz="2000" dirty="0" err="1"/>
              <a:t>ms</a:t>
            </a:r>
            <a:r>
              <a:rPr lang="it-IT" sz="2000" dirty="0"/>
              <a:t>, P3 = 800 ms. Con rispettivi tempi di elaborazione C0 = 50 ns, C1 = 0.1 </a:t>
            </a:r>
            <a:r>
              <a:rPr lang="it-IT" sz="2000" dirty="0" err="1"/>
              <a:t>ms</a:t>
            </a:r>
            <a:r>
              <a:rPr lang="it-IT" sz="2000" dirty="0"/>
              <a:t>, C2 = 3ms, C3 = 0.2 s. Il sistema è sostenibile? Se si aggiunge un nuovo evento periodico P4 = 1000 µs, con C4 = 0.12 </a:t>
            </a:r>
            <a:r>
              <a:rPr lang="it-IT" sz="2000" dirty="0" err="1"/>
              <a:t>ms</a:t>
            </a:r>
            <a:r>
              <a:rPr lang="it-IT" sz="2000" dirty="0"/>
              <a:t>, il sistema è ancora sostenibile?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Ex.5 – p.218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7265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Custom 1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Custom 2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478008_TF00315753" id="{B6079F87-2288-4B31-B503-69CFD357610F}" vid="{710D6233-2CCE-47BB-A677-478C8391FEE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D7D86086DEDAC43B0A6F2200CEC9A5B" ma:contentTypeVersion="12" ma:contentTypeDescription="Creare un nuovo documento." ma:contentTypeScope="" ma:versionID="0738b2f566a5410929b22a176f09446f">
  <xsd:schema xmlns:xsd="http://www.w3.org/2001/XMLSchema" xmlns:xs="http://www.w3.org/2001/XMLSchema" xmlns:p="http://schemas.microsoft.com/office/2006/metadata/properties" xmlns:ns3="d493c310-7e49-49b4-b579-60fdd2f2c483" xmlns:ns4="e539edeb-cabf-4bbd-9afc-6cc1727a10dc" targetNamespace="http://schemas.microsoft.com/office/2006/metadata/properties" ma:root="true" ma:fieldsID="5402e63644fa8e0e9a81d7671ec362b5" ns3:_="" ns4:_="">
    <xsd:import namespace="d493c310-7e49-49b4-b579-60fdd2f2c483"/>
    <xsd:import namespace="e539edeb-cabf-4bbd-9afc-6cc1727a10d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93c310-7e49-49b4-b579-60fdd2f2c48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9edeb-cabf-4bbd-9afc-6cc1727a1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D890AB-0B9C-40E3-AB0D-FE0B099F9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93c310-7e49-49b4-b579-60fdd2f2c483"/>
    <ds:schemaRef ds:uri="e539edeb-cabf-4bbd-9afc-6cc1727a10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C4EF74-2977-4065-95FE-55F8E4B639D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658AF07-9E42-47AF-83DF-C9E8FADF71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della lezione</Template>
  <TotalTime>0</TotalTime>
  <Words>440</Words>
  <Application>Microsoft Office PowerPoint</Application>
  <PresentationFormat>Widescreen</PresentationFormat>
  <Paragraphs>32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Calibri</vt:lpstr>
      <vt:lpstr>Candara</vt:lpstr>
      <vt:lpstr>Wingdings 2</vt:lpstr>
      <vt:lpstr>Dividendo</vt:lpstr>
      <vt:lpstr>IV Tutorato – Sistemi Operativi</vt:lpstr>
      <vt:lpstr>ProCessi e thread</vt:lpstr>
      <vt:lpstr>Ex.1 – p.209</vt:lpstr>
      <vt:lpstr>Scheduling sui sistemi batch</vt:lpstr>
      <vt:lpstr>Ex.2 – p.210</vt:lpstr>
      <vt:lpstr>Ex.3 – p.211</vt:lpstr>
      <vt:lpstr>Scheduling sui sistemi interattivi</vt:lpstr>
      <vt:lpstr>Ex.4 –  p.215</vt:lpstr>
      <vt:lpstr>Scheduling sui sistemi soft real-time</vt:lpstr>
      <vt:lpstr>Ex.5 – p.218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2021-12-04T15:53:59Z</dcterms:created>
  <dcterms:modified xsi:type="dcterms:W3CDTF">2021-12-19T10:13:28Z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0x010100AD7D86086DEDAC43B0A6F2200CEC9A5B</vt:lpwstr>
  </property>
</Properties>
</file>