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1"/>
  </p:notesMasterIdLst>
  <p:sldIdLst>
    <p:sldId id="256" r:id="rId5"/>
    <p:sldId id="272" r:id="rId6"/>
    <p:sldId id="270" r:id="rId7"/>
    <p:sldId id="259" r:id="rId8"/>
    <p:sldId id="268" r:id="rId9"/>
    <p:sldId id="278" r:id="rId10"/>
    <p:sldId id="317" r:id="rId11"/>
    <p:sldId id="283" r:id="rId12"/>
    <p:sldId id="292" r:id="rId13"/>
    <p:sldId id="293" r:id="rId14"/>
    <p:sldId id="294" r:id="rId15"/>
    <p:sldId id="295" r:id="rId16"/>
    <p:sldId id="296" r:id="rId17"/>
    <p:sldId id="297" r:id="rId18"/>
    <p:sldId id="298" r:id="rId19"/>
    <p:sldId id="284" r:id="rId20"/>
    <p:sldId id="285" r:id="rId21"/>
    <p:sldId id="279" r:id="rId22"/>
    <p:sldId id="280" r:id="rId23"/>
    <p:sldId id="318" r:id="rId24"/>
    <p:sldId id="304" r:id="rId25"/>
    <p:sldId id="282" r:id="rId26"/>
    <p:sldId id="299" r:id="rId27"/>
    <p:sldId id="300" r:id="rId28"/>
    <p:sldId id="301" r:id="rId29"/>
    <p:sldId id="277" r:id="rId30"/>
    <p:sldId id="287" r:id="rId31"/>
    <p:sldId id="319" r:id="rId32"/>
    <p:sldId id="320" r:id="rId33"/>
    <p:sldId id="321" r:id="rId34"/>
    <p:sldId id="305" r:id="rId35"/>
    <p:sldId id="306" r:id="rId36"/>
    <p:sldId id="307" r:id="rId37"/>
    <p:sldId id="308" r:id="rId38"/>
    <p:sldId id="309" r:id="rId39"/>
    <p:sldId id="310" r:id="rId40"/>
    <p:sldId id="311" r:id="rId41"/>
    <p:sldId id="312" r:id="rId42"/>
    <p:sldId id="314" r:id="rId43"/>
    <p:sldId id="313" r:id="rId44"/>
    <p:sldId id="322" r:id="rId45"/>
    <p:sldId id="290" r:id="rId46"/>
    <p:sldId id="291" r:id="rId47"/>
    <p:sldId id="325" r:id="rId48"/>
    <p:sldId id="326" r:id="rId49"/>
    <p:sldId id="327" r:id="rId50"/>
    <p:sldId id="315" r:id="rId51"/>
    <p:sldId id="316" r:id="rId52"/>
    <p:sldId id="273" r:id="rId53"/>
    <p:sldId id="289" r:id="rId54"/>
    <p:sldId id="328" r:id="rId55"/>
    <p:sldId id="323" r:id="rId56"/>
    <p:sldId id="324" r:id="rId57"/>
    <p:sldId id="329" r:id="rId58"/>
    <p:sldId id="330" r:id="rId59"/>
    <p:sldId id="331" r:id="rId6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0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65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61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olo ciasco" userId="b7eafee9-c9ee-4dc4-87d3-6972407fd6ba" providerId="ADAL" clId="{C22D5EF0-CD5C-49F6-A49B-45E0BDA80F05}"/>
    <pc:docChg chg="modSld">
      <pc:chgData name="paolo ciasco" userId="b7eafee9-c9ee-4dc4-87d3-6972407fd6ba" providerId="ADAL" clId="{C22D5EF0-CD5C-49F6-A49B-45E0BDA80F05}" dt="2021-11-28T10:56:47.263" v="55" actId="20577"/>
      <pc:docMkLst>
        <pc:docMk/>
      </pc:docMkLst>
      <pc:sldChg chg="modSp">
        <pc:chgData name="paolo ciasco" userId="b7eafee9-c9ee-4dc4-87d3-6972407fd6ba" providerId="ADAL" clId="{C22D5EF0-CD5C-49F6-A49B-45E0BDA80F05}" dt="2021-11-28T10:56:47.263" v="55" actId="20577"/>
        <pc:sldMkLst>
          <pc:docMk/>
          <pc:sldMk cId="1301995689" sldId="256"/>
        </pc:sldMkLst>
        <pc:spChg chg="mod">
          <ac:chgData name="paolo ciasco" userId="b7eafee9-c9ee-4dc4-87d3-6972407fd6ba" providerId="ADAL" clId="{C22D5EF0-CD5C-49F6-A49B-45E0BDA80F05}" dt="2021-11-28T10:56:38.492" v="15" actId="20577"/>
          <ac:spMkLst>
            <pc:docMk/>
            <pc:sldMk cId="1301995689" sldId="256"/>
            <ac:spMk id="2" creationId="{19EC60B8-7EFB-4A55-B486-97493B881A95}"/>
          </ac:spMkLst>
        </pc:spChg>
        <pc:spChg chg="mod">
          <ac:chgData name="paolo ciasco" userId="b7eafee9-c9ee-4dc4-87d3-6972407fd6ba" providerId="ADAL" clId="{C22D5EF0-CD5C-49F6-A49B-45E0BDA80F05}" dt="2021-11-28T10:56:47.263" v="55" actId="20577"/>
          <ac:spMkLst>
            <pc:docMk/>
            <pc:sldMk cId="1301995689" sldId="256"/>
            <ac:spMk id="3" creationId="{408BEBC4-B98B-40D2-994C-D23348DB863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9254E4-56BB-4140-861F-A59731CDEA7A}" type="datetimeFigureOut">
              <a:rPr lang="it-IT" smtClean="0"/>
              <a:t>28/11/2021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75BFEB-AD95-4B6D-BA90-448E233BAFE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89544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8B25EA-4FFE-4F86-8BC3-10F747616721}" type="slidenum">
              <a:rPr lang="it-IT" altLang="it-IT"/>
              <a:pPr/>
              <a:t>2</a:t>
            </a:fld>
            <a:endParaRPr lang="it-IT" altLang="it-IT"/>
          </a:p>
        </p:txBody>
      </p:sp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altLang="it-IT" dirty="0"/>
              <a:t>Il docente mentre descrive gli obiettivi della lezione, può</a:t>
            </a:r>
            <a:r>
              <a:rPr lang="it-IT" altLang="it-IT" baseline="0" dirty="0"/>
              <a:t> utilizzare </a:t>
            </a:r>
            <a:r>
              <a:rPr lang="it-IT" altLang="it-IT" dirty="0"/>
              <a:t>puntatore pennarello rosso.</a:t>
            </a:r>
          </a:p>
        </p:txBody>
      </p:sp>
    </p:spTree>
    <p:extLst>
      <p:ext uri="{BB962C8B-B14F-4D97-AF65-F5344CB8AC3E}">
        <p14:creationId xmlns:p14="http://schemas.microsoft.com/office/powerpoint/2010/main" val="3540593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8D3B92A-33C4-46FD-94AE-70439121BBCF}" type="slidenum">
              <a:rPr lang="it-IT" altLang="it-IT"/>
              <a:pPr/>
              <a:t>3</a:t>
            </a:fld>
            <a:endParaRPr lang="it-IT" altLang="it-IT"/>
          </a:p>
        </p:txBody>
      </p:sp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altLang="it-IT" sz="1000" dirty="0"/>
              <a:t>Le slide devono essere redatte con sobrietà, senza uso di troppi colori (lo stretto necessario) e con frasi brevi. Interlinea 1-1,5</a:t>
            </a:r>
          </a:p>
          <a:p>
            <a:r>
              <a:rPr lang="it-IT" altLang="it-IT" sz="1000" dirty="0"/>
              <a:t>Possono essere inseriti collegamenti a filmati, pdf, pagine web e quant’altro. Tutti i collegamenti ipertestuali devono essere attivabili dal </a:t>
            </a:r>
            <a:r>
              <a:rPr lang="it-IT" altLang="it-IT" sz="1000" dirty="0" err="1"/>
              <a:t>ppt</a:t>
            </a:r>
            <a:r>
              <a:rPr lang="it-IT" altLang="it-IT" sz="1000" dirty="0"/>
              <a:t>.</a:t>
            </a:r>
          </a:p>
          <a:p>
            <a:endParaRPr lang="it-IT" altLang="it-IT" sz="1000" dirty="0"/>
          </a:p>
          <a:p>
            <a:r>
              <a:rPr lang="it-IT" altLang="it-IT" sz="1000" dirty="0"/>
              <a:t>Nel caso in cui nella slide siano presenti collegamenti ipertestuali, è opportuno indicare, sempre nel campo note, quando sarà commentato il  contenuto del collegamento: prima, dopo o contestualmente al clic del mouse che apre il collegamento ipertestuale. </a:t>
            </a:r>
          </a:p>
          <a:p>
            <a:r>
              <a:rPr lang="it-IT" altLang="it-IT" sz="1000" dirty="0"/>
              <a:t>È necessario che la Produzione acquisisca preventivamente tutti i video scaricati dal Web (ad esempio da </a:t>
            </a:r>
            <a:r>
              <a:rPr lang="it-IT" altLang="it-IT" sz="1000" dirty="0" err="1"/>
              <a:t>YouTube</a:t>
            </a:r>
            <a:r>
              <a:rPr lang="it-IT" altLang="it-IT" sz="1000" dirty="0"/>
              <a:t>) per inviarli al CPM per l’attribuzione del formato necessario. </a:t>
            </a:r>
          </a:p>
          <a:p>
            <a:endParaRPr lang="it-IT" altLang="it-IT" sz="1000" dirty="0"/>
          </a:p>
        </p:txBody>
      </p:sp>
    </p:spTree>
    <p:extLst>
      <p:ext uri="{BB962C8B-B14F-4D97-AF65-F5344CB8AC3E}">
        <p14:creationId xmlns:p14="http://schemas.microsoft.com/office/powerpoint/2010/main" val="37028412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8D3B92A-33C4-46FD-94AE-70439121BBCF}" type="slidenum">
              <a:rPr lang="it-IT" altLang="it-IT"/>
              <a:pPr/>
              <a:t>4</a:t>
            </a:fld>
            <a:endParaRPr lang="it-IT" altLang="it-IT"/>
          </a:p>
        </p:txBody>
      </p:sp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altLang="it-IT" sz="1000" dirty="0"/>
              <a:t>Le slide devono essere redatte con sobrietà, senza uso di troppi colori (lo stretto necessario) e con frasi brevi. Interlinea 1-1,5</a:t>
            </a:r>
          </a:p>
          <a:p>
            <a:r>
              <a:rPr lang="it-IT" altLang="it-IT" sz="1000" dirty="0"/>
              <a:t>Possono essere inseriti collegamenti a filmati, pdf, pagine web e quant’altro. Tutti i collegamenti ipertestuali devono essere attivabili dal </a:t>
            </a:r>
            <a:r>
              <a:rPr lang="it-IT" altLang="it-IT" sz="1000" dirty="0" err="1"/>
              <a:t>ppt</a:t>
            </a:r>
            <a:r>
              <a:rPr lang="it-IT" altLang="it-IT" sz="1000" dirty="0"/>
              <a:t>.</a:t>
            </a:r>
          </a:p>
          <a:p>
            <a:endParaRPr lang="it-IT" altLang="it-IT" sz="1000" dirty="0"/>
          </a:p>
          <a:p>
            <a:r>
              <a:rPr lang="it-IT" altLang="it-IT" sz="1000" dirty="0"/>
              <a:t>Nel caso in cui nella slide siano presenti collegamenti ipertestuali, è opportuno indicare, sempre nel campo note, quando sarà commentato il  contenuto del collegamento: prima, dopo o contestualmente al clic del mouse che apre il collegamento ipertestuale. </a:t>
            </a:r>
          </a:p>
          <a:p>
            <a:r>
              <a:rPr lang="it-IT" altLang="it-IT" sz="1000" dirty="0"/>
              <a:t>È necessario che la Produzione acquisisca preventivamente tutti i video scaricati dal Web (ad esempio da </a:t>
            </a:r>
            <a:r>
              <a:rPr lang="it-IT" altLang="it-IT" sz="1000" dirty="0" err="1"/>
              <a:t>YouTube</a:t>
            </a:r>
            <a:r>
              <a:rPr lang="it-IT" altLang="it-IT" sz="1000" dirty="0"/>
              <a:t>) per inviarli al CPM per l’attribuzione del formato necessario. </a:t>
            </a:r>
          </a:p>
          <a:p>
            <a:endParaRPr lang="it-IT" altLang="it-IT" sz="1000" dirty="0"/>
          </a:p>
        </p:txBody>
      </p:sp>
    </p:spTree>
    <p:extLst>
      <p:ext uri="{BB962C8B-B14F-4D97-AF65-F5344CB8AC3E}">
        <p14:creationId xmlns:p14="http://schemas.microsoft.com/office/powerpoint/2010/main" val="19348949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altLang="it-IT" sz="1800" dirty="0"/>
              <a:t>Le slide devono essere redatte con sobrietà, senza uso di troppi colori (lo stretto necessario) e con frasi brevi. Interlinea 1-1,5</a:t>
            </a:r>
          </a:p>
          <a:p>
            <a:r>
              <a:rPr lang="it-IT" altLang="it-IT" sz="1800" dirty="0"/>
              <a:t>Possono essere inseriti collegamenti a filmati, pdf, pagine web e quant’altro. Tutti i collegamenti ipertestuali devono essere attivabili dal </a:t>
            </a:r>
            <a:r>
              <a:rPr lang="it-IT" altLang="it-IT" sz="1800" dirty="0" err="1"/>
              <a:t>ppt</a:t>
            </a:r>
            <a:r>
              <a:rPr lang="it-IT" altLang="it-IT" sz="1800" dirty="0"/>
              <a:t>.</a:t>
            </a:r>
          </a:p>
          <a:p>
            <a:endParaRPr lang="it-IT" altLang="it-IT" sz="1800" dirty="0"/>
          </a:p>
          <a:p>
            <a:r>
              <a:rPr lang="it-IT" altLang="it-IT" sz="1800" dirty="0"/>
              <a:t>Nel caso in cui nella slide siano presenti collegamenti ipertestuali, è opportuno indicare, sempre nel campo note, quando sarà commentato il  contenuto del collegamento: prima, dopo o contestualmente al clic del mouse che apre il collegamento ipertestuale. </a:t>
            </a:r>
          </a:p>
          <a:p>
            <a:r>
              <a:rPr lang="it-IT" altLang="it-IT" sz="1800" dirty="0"/>
              <a:t>È necessario che la Produzione acquisisca preventivamente tutti i video scaricati dal Web (ad esempio da </a:t>
            </a:r>
            <a:r>
              <a:rPr lang="it-IT" altLang="it-IT" sz="1800" dirty="0" err="1"/>
              <a:t>YouTube</a:t>
            </a:r>
            <a:r>
              <a:rPr lang="it-IT" altLang="it-IT" sz="1800" dirty="0"/>
              <a:t>) per inviarli al CPM per l’attribuzione del formato necessario. 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81900B-752F-40E2-B1FD-F97C796CBB05}" type="slidenum">
              <a:rPr lang="it-IT" altLang="it-IT" smtClean="0"/>
              <a:pPr/>
              <a:t>5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2728612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altLang="it-IT" sz="1800" dirty="0"/>
              <a:t>Le slide devono essere redatte con sobrietà, senza uso di troppi colori (lo stretto necessario) e con frasi brevi. Interlinea 1-1,5</a:t>
            </a:r>
          </a:p>
          <a:p>
            <a:r>
              <a:rPr lang="it-IT" altLang="it-IT" sz="1800" dirty="0"/>
              <a:t>Possono essere inseriti collegamenti a filmati, pdf, pagine web e quant’altro. Tutti i collegamenti ipertestuali devono essere attivabili dal </a:t>
            </a:r>
            <a:r>
              <a:rPr lang="it-IT" altLang="it-IT" sz="1800" dirty="0" err="1"/>
              <a:t>ppt</a:t>
            </a:r>
            <a:r>
              <a:rPr lang="it-IT" altLang="it-IT" sz="1800" dirty="0"/>
              <a:t>.</a:t>
            </a:r>
          </a:p>
          <a:p>
            <a:endParaRPr lang="it-IT" altLang="it-IT" sz="1800" dirty="0"/>
          </a:p>
          <a:p>
            <a:r>
              <a:rPr lang="it-IT" altLang="it-IT" sz="1800" dirty="0"/>
              <a:t>Nel caso in cui nella slide siano presenti collegamenti ipertestuali, è opportuno indicare, sempre nel campo note, quando sarà commentato il  contenuto del collegamento: prima, dopo o contestualmente al clic del mouse che apre il collegamento ipertestuale. </a:t>
            </a:r>
          </a:p>
          <a:p>
            <a:r>
              <a:rPr lang="it-IT" altLang="it-IT" sz="1800" dirty="0"/>
              <a:t>È necessario che la Produzione acquisisca preventivamente tutti i video scaricati dal Web (ad esempio da </a:t>
            </a:r>
            <a:r>
              <a:rPr lang="it-IT" altLang="it-IT" sz="1800" dirty="0" err="1"/>
              <a:t>YouTube</a:t>
            </a:r>
            <a:r>
              <a:rPr lang="it-IT" altLang="it-IT" sz="1800" dirty="0"/>
              <a:t>) per inviarli al CPM per l’attribuzione del formato necessario. 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81900B-752F-40E2-B1FD-F97C796CBB05}" type="slidenum">
              <a:rPr lang="it-IT" altLang="it-IT" smtClean="0"/>
              <a:pPr/>
              <a:t>16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9964503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altLang="it-IT" sz="1800" dirty="0"/>
              <a:t>Le slide devono essere redatte con sobrietà, senza uso di troppi colori (lo stretto necessario) e con frasi brevi. Interlinea 1-1,5</a:t>
            </a:r>
          </a:p>
          <a:p>
            <a:r>
              <a:rPr lang="it-IT" altLang="it-IT" sz="1800" dirty="0"/>
              <a:t>Possono essere inseriti collegamenti a filmati, pdf, pagine web e quant’altro. Tutti i collegamenti ipertestuali devono essere attivabili dal </a:t>
            </a:r>
            <a:r>
              <a:rPr lang="it-IT" altLang="it-IT" sz="1800" dirty="0" err="1"/>
              <a:t>ppt</a:t>
            </a:r>
            <a:r>
              <a:rPr lang="it-IT" altLang="it-IT" sz="1800" dirty="0"/>
              <a:t>.</a:t>
            </a:r>
          </a:p>
          <a:p>
            <a:endParaRPr lang="it-IT" altLang="it-IT" sz="1800" dirty="0"/>
          </a:p>
          <a:p>
            <a:r>
              <a:rPr lang="it-IT" altLang="it-IT" sz="1800" dirty="0"/>
              <a:t>Nel caso in cui nella slide siano presenti collegamenti ipertestuali, è opportuno indicare, sempre nel campo note, quando sarà commentato il  contenuto del collegamento: prima, dopo o contestualmente al clic del mouse che apre il collegamento ipertestuale. </a:t>
            </a:r>
          </a:p>
          <a:p>
            <a:r>
              <a:rPr lang="it-IT" altLang="it-IT" sz="1800" dirty="0"/>
              <a:t>È necessario che la Produzione acquisisca preventivamente tutti i video scaricati dal Web (ad esempio da </a:t>
            </a:r>
            <a:r>
              <a:rPr lang="it-IT" altLang="it-IT" sz="1800" dirty="0" err="1"/>
              <a:t>YouTube</a:t>
            </a:r>
            <a:r>
              <a:rPr lang="it-IT" altLang="it-IT" sz="1800" dirty="0"/>
              <a:t>) per inviarli al CPM per l’attribuzione del formato necessario. 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81900B-752F-40E2-B1FD-F97C796CBB05}" type="slidenum">
              <a:rPr lang="it-IT" altLang="it-IT" smtClean="0"/>
              <a:pPr/>
              <a:t>18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6412152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altLang="it-IT" sz="1800" dirty="0"/>
              <a:t>Le slide devono essere redatte con sobrietà, senza uso di troppi colori (lo stretto necessario) e con frasi brevi. Interlinea 1-1,5</a:t>
            </a:r>
          </a:p>
          <a:p>
            <a:r>
              <a:rPr lang="it-IT" altLang="it-IT" sz="1800" dirty="0"/>
              <a:t>Possono essere inseriti collegamenti a filmati, pdf, pagine web e quant’altro. Tutti i collegamenti ipertestuali devono essere attivabili dal </a:t>
            </a:r>
            <a:r>
              <a:rPr lang="it-IT" altLang="it-IT" sz="1800" dirty="0" err="1"/>
              <a:t>ppt</a:t>
            </a:r>
            <a:r>
              <a:rPr lang="it-IT" altLang="it-IT" sz="1800" dirty="0"/>
              <a:t>.</a:t>
            </a:r>
          </a:p>
          <a:p>
            <a:endParaRPr lang="it-IT" altLang="it-IT" sz="1800" dirty="0"/>
          </a:p>
          <a:p>
            <a:r>
              <a:rPr lang="it-IT" altLang="it-IT" sz="1800" dirty="0"/>
              <a:t>Nel caso in cui nella slide siano presenti collegamenti ipertestuali, è opportuno indicare, sempre nel campo note, quando sarà commentato il  contenuto del collegamento: prima, dopo o contestualmente al clic del mouse che apre il collegamento ipertestuale. </a:t>
            </a:r>
          </a:p>
          <a:p>
            <a:r>
              <a:rPr lang="it-IT" altLang="it-IT" sz="1800" dirty="0"/>
              <a:t>È necessario che la Produzione acquisisca preventivamente tutti i video scaricati dal Web (ad esempio da </a:t>
            </a:r>
            <a:r>
              <a:rPr lang="it-IT" altLang="it-IT" sz="1800" dirty="0" err="1"/>
              <a:t>YouTube</a:t>
            </a:r>
            <a:r>
              <a:rPr lang="it-IT" altLang="it-IT" sz="1800" dirty="0"/>
              <a:t>) per inviarli al CPM per l’attribuzione del formato necessario. 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81900B-752F-40E2-B1FD-F97C796CBB05}" type="slidenum">
              <a:rPr lang="it-IT" altLang="it-IT" smtClean="0"/>
              <a:pPr/>
              <a:t>26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8432537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altLang="it-IT" sz="1800" dirty="0"/>
              <a:t>Le slide devono essere redatte con sobrietà, senza uso di troppi colori (lo stretto necessario) e con frasi brevi. Interlinea 1-1,5</a:t>
            </a:r>
          </a:p>
          <a:p>
            <a:r>
              <a:rPr lang="it-IT" altLang="it-IT" sz="1800" dirty="0"/>
              <a:t>Possono essere inseriti collegamenti a filmati, pdf, pagine web e quant’altro. Tutti i collegamenti ipertestuali devono essere attivabili dal </a:t>
            </a:r>
            <a:r>
              <a:rPr lang="it-IT" altLang="it-IT" sz="1800" dirty="0" err="1"/>
              <a:t>ppt</a:t>
            </a:r>
            <a:r>
              <a:rPr lang="it-IT" altLang="it-IT" sz="1800" dirty="0"/>
              <a:t>.</a:t>
            </a:r>
          </a:p>
          <a:p>
            <a:endParaRPr lang="it-IT" altLang="it-IT" sz="1800" dirty="0"/>
          </a:p>
          <a:p>
            <a:r>
              <a:rPr lang="it-IT" altLang="it-IT" sz="1800" dirty="0"/>
              <a:t>Nel caso in cui nella slide siano presenti collegamenti ipertestuali, è opportuno indicare, sempre nel campo note, quando sarà commentato il  contenuto del collegamento: prima, dopo o contestualmente al clic del mouse che apre il collegamento ipertestuale. </a:t>
            </a:r>
          </a:p>
          <a:p>
            <a:r>
              <a:rPr lang="it-IT" altLang="it-IT" sz="1800" dirty="0"/>
              <a:t>È necessario che la Produzione acquisisca preventivamente tutti i video scaricati dal Web (ad esempio da </a:t>
            </a:r>
            <a:r>
              <a:rPr lang="it-IT" altLang="it-IT" sz="1800" dirty="0" err="1"/>
              <a:t>YouTube</a:t>
            </a:r>
            <a:r>
              <a:rPr lang="it-IT" altLang="it-IT" sz="1800" dirty="0"/>
              <a:t>) per inviarli al CPM per l’attribuzione del formato necessario. 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81900B-752F-40E2-B1FD-F97C796CBB05}" type="slidenum">
              <a:rPr lang="it-IT" altLang="it-IT" smtClean="0"/>
              <a:pPr/>
              <a:t>42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8988303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altLang="it-IT" sz="1800" dirty="0"/>
              <a:t>Le slide devono essere redatte con sobrietà, senza uso di troppi colori (lo stretto necessario) e con frasi brevi. Interlinea 1-1,5</a:t>
            </a:r>
          </a:p>
          <a:p>
            <a:r>
              <a:rPr lang="it-IT" altLang="it-IT" sz="1800" dirty="0"/>
              <a:t>Possono essere inseriti collegamenti a filmati, pdf, pagine web e quant’altro. Tutti i collegamenti ipertestuali devono essere attivabili dal </a:t>
            </a:r>
            <a:r>
              <a:rPr lang="it-IT" altLang="it-IT" sz="1800" dirty="0" err="1"/>
              <a:t>ppt</a:t>
            </a:r>
            <a:r>
              <a:rPr lang="it-IT" altLang="it-IT" sz="1800" dirty="0"/>
              <a:t>.</a:t>
            </a:r>
          </a:p>
          <a:p>
            <a:endParaRPr lang="it-IT" altLang="it-IT" sz="1800" dirty="0"/>
          </a:p>
          <a:p>
            <a:r>
              <a:rPr lang="it-IT" altLang="it-IT" sz="1800" dirty="0"/>
              <a:t>Nel caso in cui nella slide siano presenti collegamenti ipertestuali, è opportuno indicare, sempre nel campo note, quando sarà commentato il  contenuto del collegamento: prima, dopo o contestualmente al clic del mouse che apre il collegamento ipertestuale. </a:t>
            </a:r>
          </a:p>
          <a:p>
            <a:r>
              <a:rPr lang="it-IT" altLang="it-IT" sz="1800" dirty="0"/>
              <a:t>È necessario che la Produzione acquisisca preventivamente tutti i video scaricati dal Web (ad esempio da </a:t>
            </a:r>
            <a:r>
              <a:rPr lang="it-IT" altLang="it-IT" sz="1800" dirty="0" err="1"/>
              <a:t>YouTube</a:t>
            </a:r>
            <a:r>
              <a:rPr lang="it-IT" altLang="it-IT" sz="1800" dirty="0"/>
              <a:t>) per inviarli al CPM per l’attribuzione del formato necessario. 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81900B-752F-40E2-B1FD-F97C796CBB05}" type="slidenum">
              <a:rPr lang="it-IT" altLang="it-IT" smtClean="0"/>
              <a:pPr/>
              <a:t>43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5556201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altLang="it-IT" sz="1800" dirty="0"/>
              <a:t>Le slide devono essere redatte con sobrietà, senza uso di troppi colori (lo stretto necessario) e con frasi brevi. Interlinea 1-1,5</a:t>
            </a:r>
          </a:p>
          <a:p>
            <a:r>
              <a:rPr lang="it-IT" altLang="it-IT" sz="1800" dirty="0"/>
              <a:t>Possono essere inseriti collegamenti a filmati, pdf, pagine web e quant’altro. Tutti i collegamenti ipertestuali devono essere attivabili dal </a:t>
            </a:r>
            <a:r>
              <a:rPr lang="it-IT" altLang="it-IT" sz="1800" dirty="0" err="1"/>
              <a:t>ppt</a:t>
            </a:r>
            <a:r>
              <a:rPr lang="it-IT" altLang="it-IT" sz="1800" dirty="0"/>
              <a:t>.</a:t>
            </a:r>
          </a:p>
          <a:p>
            <a:endParaRPr lang="it-IT" altLang="it-IT" sz="1800" dirty="0"/>
          </a:p>
          <a:p>
            <a:r>
              <a:rPr lang="it-IT" altLang="it-IT" sz="1800" dirty="0"/>
              <a:t>Nel caso in cui nella slide siano presenti collegamenti ipertestuali, è opportuno indicare, sempre nel campo note, quando sarà commentato il  contenuto del collegamento: prima, dopo o contestualmente al clic del mouse che apre il collegamento ipertestuale. </a:t>
            </a:r>
          </a:p>
          <a:p>
            <a:r>
              <a:rPr lang="it-IT" altLang="it-IT" sz="1800" dirty="0"/>
              <a:t>È necessario che la Produzione acquisisca preventivamente tutti i video scaricati dal Web (ad esempio da </a:t>
            </a:r>
            <a:r>
              <a:rPr lang="it-IT" altLang="it-IT" sz="1800" dirty="0" err="1"/>
              <a:t>YouTube</a:t>
            </a:r>
            <a:r>
              <a:rPr lang="it-IT" altLang="it-IT" sz="1800" dirty="0"/>
              <a:t>) per inviarli al CPM per l’attribuzione del formato necessario. 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81900B-752F-40E2-B1FD-F97C796CBB05}" type="slidenum">
              <a:rPr lang="it-IT" altLang="it-IT" smtClean="0"/>
              <a:pPr/>
              <a:t>44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770165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altLang="it-IT" sz="1800" dirty="0"/>
              <a:t>Le slide devono essere redatte con sobrietà, senza uso di troppi colori (lo stretto necessario) e con frasi brevi. Interlinea 1-1,5</a:t>
            </a:r>
          </a:p>
          <a:p>
            <a:r>
              <a:rPr lang="it-IT" altLang="it-IT" sz="1800" dirty="0"/>
              <a:t>Possono essere inseriti collegamenti a filmati, pdf, pagine web e quant’altro. Tutti i collegamenti ipertestuali devono essere attivabili dal </a:t>
            </a:r>
            <a:r>
              <a:rPr lang="it-IT" altLang="it-IT" sz="1800" dirty="0" err="1"/>
              <a:t>ppt</a:t>
            </a:r>
            <a:r>
              <a:rPr lang="it-IT" altLang="it-IT" sz="1800" dirty="0"/>
              <a:t>.</a:t>
            </a:r>
          </a:p>
          <a:p>
            <a:endParaRPr lang="it-IT" altLang="it-IT" sz="1800" dirty="0"/>
          </a:p>
          <a:p>
            <a:r>
              <a:rPr lang="it-IT" altLang="it-IT" sz="1800" dirty="0"/>
              <a:t>Nel caso in cui nella slide siano presenti collegamenti ipertestuali, è opportuno indicare, sempre nel campo note, quando sarà commentato il  contenuto del collegamento: prima, dopo o contestualmente al clic del mouse che apre il collegamento ipertestuale. </a:t>
            </a:r>
          </a:p>
          <a:p>
            <a:r>
              <a:rPr lang="it-IT" altLang="it-IT" sz="1800" dirty="0"/>
              <a:t>È necessario che la Produzione acquisisca preventivamente tutti i video scaricati dal Web (ad esempio da </a:t>
            </a:r>
            <a:r>
              <a:rPr lang="it-IT" altLang="it-IT" sz="1800" dirty="0" err="1"/>
              <a:t>YouTube</a:t>
            </a:r>
            <a:r>
              <a:rPr lang="it-IT" altLang="it-IT" sz="1800" dirty="0"/>
              <a:t>) per inviarli al CPM per l’attribuzione del formato necessario. 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81900B-752F-40E2-B1FD-F97C796CBB05}" type="slidenum">
              <a:rPr lang="it-IT" altLang="it-IT" smtClean="0"/>
              <a:pPr/>
              <a:t>45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5635991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altLang="it-IT" sz="1800" dirty="0"/>
              <a:t>Le slide devono essere redatte con sobrietà, senza uso di troppi colori (lo stretto necessario) e con frasi brevi. Interlinea 1-1,5</a:t>
            </a:r>
          </a:p>
          <a:p>
            <a:r>
              <a:rPr lang="it-IT" altLang="it-IT" sz="1800" dirty="0"/>
              <a:t>Possono essere inseriti collegamenti a filmati, pdf, pagine web e quant’altro. Tutti i collegamenti ipertestuali devono essere attivabili dal </a:t>
            </a:r>
            <a:r>
              <a:rPr lang="it-IT" altLang="it-IT" sz="1800" dirty="0" err="1"/>
              <a:t>ppt</a:t>
            </a:r>
            <a:r>
              <a:rPr lang="it-IT" altLang="it-IT" sz="1800" dirty="0"/>
              <a:t>.</a:t>
            </a:r>
          </a:p>
          <a:p>
            <a:endParaRPr lang="it-IT" altLang="it-IT" sz="1800" dirty="0"/>
          </a:p>
          <a:p>
            <a:r>
              <a:rPr lang="it-IT" altLang="it-IT" sz="1800" dirty="0"/>
              <a:t>Nel caso in cui nella slide siano presenti collegamenti ipertestuali, è opportuno indicare, sempre nel campo note, quando sarà commentato il  contenuto del collegamento: prima, dopo o contestualmente al clic del mouse che apre il collegamento ipertestuale. </a:t>
            </a:r>
          </a:p>
          <a:p>
            <a:r>
              <a:rPr lang="it-IT" altLang="it-IT" sz="1800" dirty="0"/>
              <a:t>È necessario che la Produzione acquisisca preventivamente tutti i video scaricati dal Web (ad esempio da </a:t>
            </a:r>
            <a:r>
              <a:rPr lang="it-IT" altLang="it-IT" sz="1800" dirty="0" err="1"/>
              <a:t>YouTube</a:t>
            </a:r>
            <a:r>
              <a:rPr lang="it-IT" altLang="it-IT" sz="1800" dirty="0"/>
              <a:t>) per inviarli al CPM per l’attribuzione del formato necessario. 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81900B-752F-40E2-B1FD-F97C796CBB05}" type="slidenum">
              <a:rPr lang="it-IT" altLang="it-IT" smtClean="0"/>
              <a:pPr/>
              <a:t>46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2069599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81900B-752F-40E2-B1FD-F97C796CBB05}" type="slidenum">
              <a:rPr lang="it-IT" altLang="it-IT" smtClean="0"/>
              <a:pPr/>
              <a:t>48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9027038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altLang="it-IT" sz="1800" dirty="0"/>
              <a:t>Le slide devono essere redatte con sobrietà, senza uso di troppi colori (lo stretto necessario) e con frasi brevi. Interlinea 1-1,5</a:t>
            </a:r>
          </a:p>
          <a:p>
            <a:r>
              <a:rPr lang="it-IT" altLang="it-IT" sz="1800" dirty="0"/>
              <a:t>Possono essere inseriti collegamenti a filmati, pdf, pagine web e quant’altro. Tutti i collegamenti ipertestuali devono essere attivabili dal </a:t>
            </a:r>
            <a:r>
              <a:rPr lang="it-IT" altLang="it-IT" sz="1800" dirty="0" err="1"/>
              <a:t>ppt</a:t>
            </a:r>
            <a:r>
              <a:rPr lang="it-IT" altLang="it-IT" sz="1800" dirty="0"/>
              <a:t>.</a:t>
            </a:r>
          </a:p>
          <a:p>
            <a:endParaRPr lang="it-IT" altLang="it-IT" sz="1800" dirty="0"/>
          </a:p>
          <a:p>
            <a:r>
              <a:rPr lang="it-IT" altLang="it-IT" sz="1800" dirty="0"/>
              <a:t>Nel caso in cui nella slide siano presenti collegamenti ipertestuali, è opportuno indicare, sempre nel campo note, quando sarà commentato il  contenuto del collegamento: prima, dopo o contestualmente al clic del mouse che apre il collegamento ipertestuale. </a:t>
            </a:r>
          </a:p>
          <a:p>
            <a:r>
              <a:rPr lang="it-IT" altLang="it-IT" sz="1800" dirty="0"/>
              <a:t>È necessario che la Produzione acquisisca preventivamente tutti i video scaricati dal Web (ad esempio da </a:t>
            </a:r>
            <a:r>
              <a:rPr lang="it-IT" altLang="it-IT" sz="1800" dirty="0" err="1"/>
              <a:t>YouTube</a:t>
            </a:r>
            <a:r>
              <a:rPr lang="it-IT" altLang="it-IT" sz="1800" dirty="0"/>
              <a:t>) per inviarli al CPM per l’attribuzione del formato necessario. 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81900B-752F-40E2-B1FD-F97C796CBB05}" type="slidenum">
              <a:rPr lang="it-IT" altLang="it-IT" smtClean="0"/>
              <a:pPr/>
              <a:t>49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0688533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altLang="it-IT" sz="1800" dirty="0"/>
              <a:t>Le slide devono essere redatte con sobrietà, senza uso di troppi colori (lo stretto necessario) e con frasi brevi. Interlinea 1-1,5</a:t>
            </a:r>
          </a:p>
          <a:p>
            <a:r>
              <a:rPr lang="it-IT" altLang="it-IT" sz="1800" dirty="0"/>
              <a:t>Possono essere inseriti collegamenti a filmati, pdf, pagine web e quant’altro. Tutti i collegamenti ipertestuali devono essere attivabili dal </a:t>
            </a:r>
            <a:r>
              <a:rPr lang="it-IT" altLang="it-IT" sz="1800" dirty="0" err="1"/>
              <a:t>ppt</a:t>
            </a:r>
            <a:r>
              <a:rPr lang="it-IT" altLang="it-IT" sz="1800" dirty="0"/>
              <a:t>.</a:t>
            </a:r>
          </a:p>
          <a:p>
            <a:endParaRPr lang="it-IT" altLang="it-IT" sz="1800" dirty="0"/>
          </a:p>
          <a:p>
            <a:r>
              <a:rPr lang="it-IT" altLang="it-IT" sz="1800" dirty="0"/>
              <a:t>Nel caso in cui nella slide siano presenti collegamenti ipertestuali, è opportuno indicare, sempre nel campo note, quando sarà commentato il  contenuto del collegamento: prima, dopo o contestualmente al clic del mouse che apre il collegamento ipertestuale. </a:t>
            </a:r>
          </a:p>
          <a:p>
            <a:r>
              <a:rPr lang="it-IT" altLang="it-IT" sz="1800" dirty="0"/>
              <a:t>È necessario che la Produzione acquisisca preventivamente tutti i video scaricati dal Web (ad esempio da </a:t>
            </a:r>
            <a:r>
              <a:rPr lang="it-IT" altLang="it-IT" sz="1800" dirty="0" err="1"/>
              <a:t>YouTube</a:t>
            </a:r>
            <a:r>
              <a:rPr lang="it-IT" altLang="it-IT" sz="1800" dirty="0"/>
              <a:t>) per inviarli al CPM per l’attribuzione del formato necessario. 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81900B-752F-40E2-B1FD-F97C796CBB05}" type="slidenum">
              <a:rPr lang="it-IT" altLang="it-IT" smtClean="0"/>
              <a:pPr/>
              <a:t>50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2735342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altLang="it-IT" sz="1800" dirty="0"/>
              <a:t>Le slide devono essere redatte con sobrietà, senza uso di troppi colori (lo stretto necessario) e con frasi brevi. Interlinea 1-1,5</a:t>
            </a:r>
          </a:p>
          <a:p>
            <a:r>
              <a:rPr lang="it-IT" altLang="it-IT" sz="1800" dirty="0"/>
              <a:t>Possono essere inseriti collegamenti a filmati, pdf, pagine web e quant’altro. Tutti i collegamenti ipertestuali devono essere attivabili dal </a:t>
            </a:r>
            <a:r>
              <a:rPr lang="it-IT" altLang="it-IT" sz="1800" dirty="0" err="1"/>
              <a:t>ppt</a:t>
            </a:r>
            <a:r>
              <a:rPr lang="it-IT" altLang="it-IT" sz="1800" dirty="0"/>
              <a:t>.</a:t>
            </a:r>
          </a:p>
          <a:p>
            <a:endParaRPr lang="it-IT" altLang="it-IT" sz="1800" dirty="0"/>
          </a:p>
          <a:p>
            <a:r>
              <a:rPr lang="it-IT" altLang="it-IT" sz="1800" dirty="0"/>
              <a:t>Nel caso in cui nella slide siano presenti collegamenti ipertestuali, è opportuno indicare, sempre nel campo note, quando sarà commentato il  contenuto del collegamento: prima, dopo o contestualmente al clic del mouse che apre il collegamento ipertestuale. </a:t>
            </a:r>
          </a:p>
          <a:p>
            <a:r>
              <a:rPr lang="it-IT" altLang="it-IT" sz="1800" dirty="0"/>
              <a:t>È necessario che la Produzione acquisisca preventivamente tutti i video scaricati dal Web (ad esempio da </a:t>
            </a:r>
            <a:r>
              <a:rPr lang="it-IT" altLang="it-IT" sz="1800" dirty="0" err="1"/>
              <a:t>YouTube</a:t>
            </a:r>
            <a:r>
              <a:rPr lang="it-IT" altLang="it-IT" sz="1800" dirty="0"/>
              <a:t>) per inviarli al CPM per l’attribuzione del formato necessario. 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81900B-752F-40E2-B1FD-F97C796CBB05}" type="slidenum">
              <a:rPr lang="it-IT" altLang="it-IT" smtClean="0"/>
              <a:pPr/>
              <a:t>51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7723013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altLang="it-IT" sz="1800" dirty="0"/>
              <a:t>Le slide devono essere redatte con sobrietà, senza uso di troppi colori (lo stretto necessario) e con frasi brevi. Interlinea 1-1,5</a:t>
            </a:r>
          </a:p>
          <a:p>
            <a:r>
              <a:rPr lang="it-IT" altLang="it-IT" sz="1800" dirty="0"/>
              <a:t>Possono essere inseriti collegamenti a filmati, pdf, pagine web e quant’altro. Tutti i collegamenti ipertestuali devono essere attivabili dal </a:t>
            </a:r>
            <a:r>
              <a:rPr lang="it-IT" altLang="it-IT" sz="1800" dirty="0" err="1"/>
              <a:t>ppt</a:t>
            </a:r>
            <a:r>
              <a:rPr lang="it-IT" altLang="it-IT" sz="1800" dirty="0"/>
              <a:t>.</a:t>
            </a:r>
          </a:p>
          <a:p>
            <a:endParaRPr lang="it-IT" altLang="it-IT" sz="1800" dirty="0"/>
          </a:p>
          <a:p>
            <a:r>
              <a:rPr lang="it-IT" altLang="it-IT" sz="1800" dirty="0"/>
              <a:t>Nel caso in cui nella slide siano presenti collegamenti ipertestuali, è opportuno indicare, sempre nel campo note, quando sarà commentato il  contenuto del collegamento: prima, dopo o contestualmente al clic del mouse che apre il collegamento ipertestuale. </a:t>
            </a:r>
          </a:p>
          <a:p>
            <a:r>
              <a:rPr lang="it-IT" altLang="it-IT" sz="1800" dirty="0"/>
              <a:t>È necessario che la Produzione acquisisca preventivamente tutti i video scaricati dal Web (ad esempio da </a:t>
            </a:r>
            <a:r>
              <a:rPr lang="it-IT" altLang="it-IT" sz="1800" dirty="0" err="1"/>
              <a:t>YouTube</a:t>
            </a:r>
            <a:r>
              <a:rPr lang="it-IT" altLang="it-IT" sz="1800" dirty="0"/>
              <a:t>) per inviarli al CPM per l’attribuzione del formato necessario. 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81900B-752F-40E2-B1FD-F97C796CBB05}" type="slidenum">
              <a:rPr lang="it-IT" altLang="it-IT" smtClean="0"/>
              <a:pPr/>
              <a:t>52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1721678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altLang="it-IT" sz="1800" dirty="0"/>
              <a:t>Le slide devono essere redatte con sobrietà, senza uso di troppi colori (lo stretto necessario) e con frasi brevi. Interlinea 1-1,5</a:t>
            </a:r>
          </a:p>
          <a:p>
            <a:r>
              <a:rPr lang="it-IT" altLang="it-IT" sz="1800" dirty="0"/>
              <a:t>Possono essere inseriti collegamenti a filmati, pdf, pagine web e quant’altro. Tutti i collegamenti ipertestuali devono essere attivabili dal </a:t>
            </a:r>
            <a:r>
              <a:rPr lang="it-IT" altLang="it-IT" sz="1800" dirty="0" err="1"/>
              <a:t>ppt</a:t>
            </a:r>
            <a:r>
              <a:rPr lang="it-IT" altLang="it-IT" sz="1800" dirty="0"/>
              <a:t>.</a:t>
            </a:r>
          </a:p>
          <a:p>
            <a:endParaRPr lang="it-IT" altLang="it-IT" sz="1800" dirty="0"/>
          </a:p>
          <a:p>
            <a:r>
              <a:rPr lang="it-IT" altLang="it-IT" sz="1800" dirty="0"/>
              <a:t>Nel caso in cui nella slide siano presenti collegamenti ipertestuali, è opportuno indicare, sempre nel campo note, quando sarà commentato il  contenuto del collegamento: prima, dopo o contestualmente al clic del mouse che apre il collegamento ipertestuale. </a:t>
            </a:r>
          </a:p>
          <a:p>
            <a:r>
              <a:rPr lang="it-IT" altLang="it-IT" sz="1800" dirty="0"/>
              <a:t>È necessario che la Produzione acquisisca preventivamente tutti i video scaricati dal Web (ad esempio da </a:t>
            </a:r>
            <a:r>
              <a:rPr lang="it-IT" altLang="it-IT" sz="1800" dirty="0" err="1"/>
              <a:t>YouTube</a:t>
            </a:r>
            <a:r>
              <a:rPr lang="it-IT" altLang="it-IT" sz="1800" dirty="0"/>
              <a:t>) per inviarli al CPM per l’attribuzione del formato necessario. 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81900B-752F-40E2-B1FD-F97C796CBB05}" type="slidenum">
              <a:rPr lang="it-IT" altLang="it-IT" smtClean="0"/>
              <a:pPr/>
              <a:t>53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7470386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altLang="it-IT" sz="1800" dirty="0"/>
              <a:t>Le slide devono essere redatte con sobrietà, senza uso di troppi colori (lo stretto necessario) e con frasi brevi. Interlinea 1-1,5</a:t>
            </a:r>
          </a:p>
          <a:p>
            <a:r>
              <a:rPr lang="it-IT" altLang="it-IT" sz="1800" dirty="0"/>
              <a:t>Possono essere inseriti collegamenti a filmati, pdf, pagine web e quant’altro. Tutti i collegamenti ipertestuali devono essere attivabili dal </a:t>
            </a:r>
            <a:r>
              <a:rPr lang="it-IT" altLang="it-IT" sz="1800" dirty="0" err="1"/>
              <a:t>ppt</a:t>
            </a:r>
            <a:r>
              <a:rPr lang="it-IT" altLang="it-IT" sz="1800" dirty="0"/>
              <a:t>.</a:t>
            </a:r>
          </a:p>
          <a:p>
            <a:endParaRPr lang="it-IT" altLang="it-IT" sz="1800" dirty="0"/>
          </a:p>
          <a:p>
            <a:r>
              <a:rPr lang="it-IT" altLang="it-IT" sz="1800" dirty="0"/>
              <a:t>Nel caso in cui nella slide siano presenti collegamenti ipertestuali, è opportuno indicare, sempre nel campo note, quando sarà commentato il  contenuto del collegamento: prima, dopo o contestualmente al clic del mouse che apre il collegamento ipertestuale. </a:t>
            </a:r>
          </a:p>
          <a:p>
            <a:r>
              <a:rPr lang="it-IT" altLang="it-IT" sz="1800" dirty="0"/>
              <a:t>È necessario che la Produzione acquisisca preventivamente tutti i video scaricati dal Web (ad esempio da </a:t>
            </a:r>
            <a:r>
              <a:rPr lang="it-IT" altLang="it-IT" sz="1800" dirty="0" err="1"/>
              <a:t>YouTube</a:t>
            </a:r>
            <a:r>
              <a:rPr lang="it-IT" altLang="it-IT" sz="1800" dirty="0"/>
              <a:t>) per inviarli al CPM per l’attribuzione del formato necessario. 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81900B-752F-40E2-B1FD-F97C796CBB05}" type="slidenum">
              <a:rPr lang="it-IT" altLang="it-IT" smtClean="0"/>
              <a:pPr/>
              <a:t>54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8093843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altLang="it-IT" sz="1800" dirty="0"/>
              <a:t>Le slide devono essere redatte con sobrietà, senza uso di troppi colori (lo stretto necessario) e con frasi brevi. Interlinea 1-1,5</a:t>
            </a:r>
          </a:p>
          <a:p>
            <a:r>
              <a:rPr lang="it-IT" altLang="it-IT" sz="1800" dirty="0"/>
              <a:t>Possono essere inseriti collegamenti a filmati, pdf, pagine web e quant’altro. Tutti i collegamenti ipertestuali devono essere attivabili dal </a:t>
            </a:r>
            <a:r>
              <a:rPr lang="it-IT" altLang="it-IT" sz="1800" dirty="0" err="1"/>
              <a:t>ppt</a:t>
            </a:r>
            <a:r>
              <a:rPr lang="it-IT" altLang="it-IT" sz="1800" dirty="0"/>
              <a:t>.</a:t>
            </a:r>
          </a:p>
          <a:p>
            <a:endParaRPr lang="it-IT" altLang="it-IT" sz="1800" dirty="0"/>
          </a:p>
          <a:p>
            <a:r>
              <a:rPr lang="it-IT" altLang="it-IT" sz="1800" dirty="0"/>
              <a:t>Nel caso in cui nella slide siano presenti collegamenti ipertestuali, è opportuno indicare, sempre nel campo note, quando sarà commentato il  contenuto del collegamento: prima, dopo o contestualmente al clic del mouse che apre il collegamento ipertestuale. </a:t>
            </a:r>
          </a:p>
          <a:p>
            <a:r>
              <a:rPr lang="it-IT" altLang="it-IT" sz="1800" dirty="0"/>
              <a:t>È necessario che la Produzione acquisisca preventivamente tutti i video scaricati dal Web (ad esempio da </a:t>
            </a:r>
            <a:r>
              <a:rPr lang="it-IT" altLang="it-IT" sz="1800" dirty="0" err="1"/>
              <a:t>YouTube</a:t>
            </a:r>
            <a:r>
              <a:rPr lang="it-IT" altLang="it-IT" sz="1800" dirty="0"/>
              <a:t>) per inviarli al CPM per l’attribuzione del formato necessario. 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81900B-752F-40E2-B1FD-F97C796CBB05}" type="slidenum">
              <a:rPr lang="it-IT" altLang="it-IT" smtClean="0"/>
              <a:pPr/>
              <a:t>55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7379699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altLang="it-IT" sz="1800" dirty="0"/>
              <a:t>Le slide devono essere redatte con sobrietà, senza uso di troppi colori (lo stretto necessario) e con frasi brevi. Interlinea 1-1,5</a:t>
            </a:r>
          </a:p>
          <a:p>
            <a:r>
              <a:rPr lang="it-IT" altLang="it-IT" sz="1800" dirty="0"/>
              <a:t>Possono essere inseriti collegamenti a filmati, pdf, pagine web e quant’altro. Tutti i collegamenti ipertestuali devono essere attivabili dal </a:t>
            </a:r>
            <a:r>
              <a:rPr lang="it-IT" altLang="it-IT" sz="1800" dirty="0" err="1"/>
              <a:t>ppt</a:t>
            </a:r>
            <a:r>
              <a:rPr lang="it-IT" altLang="it-IT" sz="1800" dirty="0"/>
              <a:t>.</a:t>
            </a:r>
          </a:p>
          <a:p>
            <a:endParaRPr lang="it-IT" altLang="it-IT" sz="1800" dirty="0"/>
          </a:p>
          <a:p>
            <a:r>
              <a:rPr lang="it-IT" altLang="it-IT" sz="1800" dirty="0"/>
              <a:t>Nel caso in cui nella slide siano presenti collegamenti ipertestuali, è opportuno indicare, sempre nel campo note, quando sarà commentato il  contenuto del collegamento: prima, dopo o contestualmente al clic del mouse che apre il collegamento ipertestuale. </a:t>
            </a:r>
          </a:p>
          <a:p>
            <a:r>
              <a:rPr lang="it-IT" altLang="it-IT" sz="1800" dirty="0"/>
              <a:t>È necessario che la Produzione acquisisca preventivamente tutti i video scaricati dal Web (ad esempio da </a:t>
            </a:r>
            <a:r>
              <a:rPr lang="it-IT" altLang="it-IT" sz="1800" dirty="0" err="1"/>
              <a:t>YouTube</a:t>
            </a:r>
            <a:r>
              <a:rPr lang="it-IT" altLang="it-IT" sz="1800" dirty="0"/>
              <a:t>) per inviarli al CPM per l’attribuzione del formato necessario. 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81900B-752F-40E2-B1FD-F97C796CBB05}" type="slidenum">
              <a:rPr lang="it-IT" altLang="it-IT" smtClean="0"/>
              <a:pPr/>
              <a:t>56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530735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0B4AB6E-059A-4A5E-9830-4DD3C9FAB9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99FCA9E-5330-4AFD-A89C-92C283759A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39BC23B-7168-46D2-BDAA-7456C01AA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48F40-A0CD-4DDF-8DE9-DFB0E4EFC8D2}" type="datetimeFigureOut">
              <a:rPr lang="it-IT" smtClean="0"/>
              <a:t>28/11/2021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F97415B-A463-42D2-B8BB-B77BE5C7F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4755D30-EBD6-4B66-97F4-8D6071C31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BFE4A-7909-4179-9FC5-7667D1E078C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6324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359D736-500F-4980-B20A-66E00F0FE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8F62860-63C8-4CA5-ABCF-8468231CD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DDFA574-6931-45B7-99D0-2F9BA77E8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48F40-A0CD-4DDF-8DE9-DFB0E4EFC8D2}" type="datetimeFigureOut">
              <a:rPr lang="it-IT" smtClean="0"/>
              <a:t>28/11/2021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F9C3CA0-47E4-4D2D-AF14-17897EF6A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8AD466A-9CB0-48C6-BF05-7A2E12804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BFE4A-7909-4179-9FC5-7667D1E078C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37572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D4C5A02-4049-4B68-A25F-D8EEC5884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EC11344-DCA0-4C30-94AE-0209790254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0E24574-7974-45B0-88FB-0368F807A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48F40-A0CD-4DDF-8DE9-DFB0E4EFC8D2}" type="datetimeFigureOut">
              <a:rPr lang="it-IT" smtClean="0"/>
              <a:t>28/11/2021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2B0298B-FEFD-41F1-A6C4-81D158F69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C013AB2-45F0-4742-9DEB-D1D1AE408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BFE4A-7909-4179-9FC5-7667D1E078C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9288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CB89A9-2545-4E89-96C3-867CFA75B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1F5F8E4-BC57-40F9-9EE3-73C9F76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2C608D0-0740-4374-A529-F9450E750D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093F438-AA20-49A0-81B7-7B31F592A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48F40-A0CD-4DDF-8DE9-DFB0E4EFC8D2}" type="datetimeFigureOut">
              <a:rPr lang="it-IT" smtClean="0"/>
              <a:t>28/11/2021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3B15697-F366-46B8-948E-815C5447D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B9155EE-3842-45A8-AC79-26F96B882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BFE4A-7909-4179-9FC5-7667D1E078C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64400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C177EDE-8C97-4302-B149-13C66D966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A153762-06F3-43A5-9EAF-DEB487E09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F3C1A80-0BF8-423B-A430-BC29A171A6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EB2D795-65E6-4110-8206-B9E945D57D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CCD1B9B-53AC-49BC-8CC1-C5E19EB68A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2BA6E245-7FA9-4DD4-8830-E79B2AD2F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48F40-A0CD-4DDF-8DE9-DFB0E4EFC8D2}" type="datetimeFigureOut">
              <a:rPr lang="it-IT" smtClean="0"/>
              <a:t>28/11/2021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4807675A-9C42-44E5-AD16-D80300A03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3AA282C7-7360-4F29-B2A6-57DFB4C7E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BFE4A-7909-4179-9FC5-7667D1E078C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7349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985E74-7A96-4DD5-98B5-BC785D5DD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2847231-0CC6-4F55-AB1D-0BC9F933D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48F40-A0CD-4DDF-8DE9-DFB0E4EFC8D2}" type="datetimeFigureOut">
              <a:rPr lang="it-IT" smtClean="0"/>
              <a:t>28/11/2021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C17AF26-511F-4315-BD96-C4A6B4D68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595BF9C-109E-4DFF-B9BC-6144B90BC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BFE4A-7909-4179-9FC5-7667D1E078C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21986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1CAEA9DE-539C-4739-AFA8-9FFBC87A1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48F40-A0CD-4DDF-8DE9-DFB0E4EFC8D2}" type="datetimeFigureOut">
              <a:rPr lang="it-IT" smtClean="0"/>
              <a:t>28/11/2021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8B05ECF-0A92-4383-887B-1B5BD58A7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EAE5E7E-9545-49F8-8465-D78ED61BB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BFE4A-7909-4179-9FC5-7667D1E078C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12673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0A81086-0D69-4702-9CA7-A91526FCF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5C1D91D-870B-4F45-A081-D16251CA1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0CA6A9E-8585-4C93-98A3-6CCDD1BFCF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4E4CC23-349B-4382-AD29-8E7ADA1BD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48F40-A0CD-4DDF-8DE9-DFB0E4EFC8D2}" type="datetimeFigureOut">
              <a:rPr lang="it-IT" smtClean="0"/>
              <a:t>28/11/2021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EB1683E-6AA3-42D2-9C2E-E2028FE0A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0019C1D-E4D7-4789-801E-25BD78F98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BFE4A-7909-4179-9FC5-7667D1E078C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39271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019A711-8A89-49F4-A1B2-D5DF7E51C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240C17E-3154-418F-939D-D481F6B23B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5CDFBE3-8569-4176-98D2-3726464380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9BBA9D9-A1C2-420C-9398-FB2AF95BC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48F40-A0CD-4DDF-8DE9-DFB0E4EFC8D2}" type="datetimeFigureOut">
              <a:rPr lang="it-IT" smtClean="0"/>
              <a:t>28/11/2021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3C05A8C-0890-48E0-888E-D3EA27DCB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F835D84-A45F-4A79-84DD-4F44FD22A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BFE4A-7909-4179-9FC5-7667D1E078C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01249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E6105CA-30D1-4339-9C23-7977BF7C3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669D437-EF0B-4014-B13E-4223BCDBF0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15BB05B-2DAF-456D-94BD-D83FFDC61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48F40-A0CD-4DDF-8DE9-DFB0E4EFC8D2}" type="datetimeFigureOut">
              <a:rPr lang="it-IT" smtClean="0"/>
              <a:t>28/11/2021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49D41A7-1464-40F6-A4F9-0349690E2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DD12416-1B63-4E3F-B1E9-089903E41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BFE4A-7909-4179-9FC5-7667D1E078C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95469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C3F7C37-FC1E-4704-9C47-41A4813A01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80F1232-F177-4014-9F34-1CCB935405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B655E5A-5399-4B50-8CEE-5FA87961C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48F40-A0CD-4DDF-8DE9-DFB0E4EFC8D2}" type="datetimeFigureOut">
              <a:rPr lang="it-IT" smtClean="0"/>
              <a:t>28/11/2021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36DBA88-38D5-4A49-8F16-C7499952A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CFE1688-8E88-4344-AB42-336183A42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BFE4A-7909-4179-9FC5-7667D1E078C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1966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848B25C8-545F-4DF2-8F20-8FA474E4B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4E4574C-FDC2-46B0-BA31-A5D1CFE5D3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AD25372-BB29-494E-8972-7A1C2026F3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748F40-A0CD-4DDF-8DE9-DFB0E4EFC8D2}" type="datetimeFigureOut">
              <a:rPr lang="it-IT" smtClean="0"/>
              <a:t>28/11/2021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019EA1C-1184-4615-BD2C-55A332340C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605756D-9275-4C7D-AB52-E9B7E7D3B7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1BFE4A-7909-4179-9FC5-7667D1E078C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9258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EC60B8-7EFB-4A55-B486-97493B881A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I Tutorato - ASE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08BEBC4-B98B-40D2-994C-D23348DB86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Algebre di Boole e Circuiti Logici</a:t>
            </a:r>
          </a:p>
        </p:txBody>
      </p:sp>
    </p:spTree>
    <p:extLst>
      <p:ext uri="{BB962C8B-B14F-4D97-AF65-F5344CB8AC3E}">
        <p14:creationId xmlns:p14="http://schemas.microsoft.com/office/powerpoint/2010/main" val="1301995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 dirty="0"/>
              <a:t>Oggetti utilizzati</a:t>
            </a:r>
          </a:p>
        </p:txBody>
      </p:sp>
      <p:sp>
        <p:nvSpPr>
          <p:cNvPr id="2" name="Segnaposto contenut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Espressioni logiche</a:t>
            </a:r>
          </a:p>
          <a:p>
            <a:endParaRPr lang="it-IT" dirty="0"/>
          </a:p>
          <a:p>
            <a:endParaRPr lang="it-IT" dirty="0"/>
          </a:p>
          <a:p>
            <a:r>
              <a:rPr lang="it-IT" altLang="it-IT" sz="2117" dirty="0"/>
              <a:t>Tavola di verità</a:t>
            </a:r>
          </a:p>
          <a:p>
            <a:endParaRPr lang="it-IT" altLang="it-IT" dirty="0"/>
          </a:p>
          <a:p>
            <a:endParaRPr lang="it-IT" altLang="it-IT" dirty="0"/>
          </a:p>
          <a:p>
            <a:endParaRPr lang="it-IT" altLang="it-IT" dirty="0"/>
          </a:p>
          <a:p>
            <a:r>
              <a:rPr lang="it-IT" altLang="it-IT" dirty="0"/>
              <a:t>Circuiti logici </a:t>
            </a:r>
          </a:p>
          <a:p>
            <a:pPr marL="0" indent="0">
              <a:buNone/>
            </a:pPr>
            <a:endParaRPr lang="it-IT" altLang="it-IT" sz="2117" dirty="0"/>
          </a:p>
          <a:p>
            <a:endParaRPr lang="it-IT" sz="2117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A675A-D075-40F0-825B-2C7A92A355BC}" type="slidenum">
              <a:rPr lang="it-IT" altLang="it-IT"/>
              <a:pPr/>
              <a:t>2</a:t>
            </a:fld>
            <a:endParaRPr lang="it-IT" altLang="it-IT"/>
          </a:p>
        </p:txBody>
      </p:sp>
      <p:grpSp>
        <p:nvGrpSpPr>
          <p:cNvPr id="9222" name="Gruppo 9221"/>
          <p:cNvGrpSpPr/>
          <p:nvPr/>
        </p:nvGrpSpPr>
        <p:grpSpPr>
          <a:xfrm>
            <a:off x="3961694" y="4420362"/>
            <a:ext cx="6408822" cy="1696913"/>
            <a:chOff x="2375868" y="4264311"/>
            <a:chExt cx="6055836" cy="1603450"/>
          </a:xfrm>
        </p:grpSpPr>
        <p:sp>
          <p:nvSpPr>
            <p:cNvPr id="5" name="Ritardo 4"/>
            <p:cNvSpPr/>
            <p:nvPr/>
          </p:nvSpPr>
          <p:spPr bwMode="auto">
            <a:xfrm>
              <a:off x="4968156" y="4464223"/>
              <a:ext cx="648072" cy="576064"/>
            </a:xfrm>
            <a:prstGeom prst="flowChartDelay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6770" tIns="48385" rIns="96770" bIns="48385" numCol="1" rtlCol="0" anchor="t" anchorCtr="0" compatLnSpc="1">
              <a:prstTxWarp prst="textNoShape">
                <a:avLst/>
              </a:prstTxWarp>
            </a:bodyPr>
            <a:lstStyle/>
            <a:p>
              <a:pPr defTabSz="774504" fontAlgn="base">
                <a:spcBef>
                  <a:spcPct val="0"/>
                </a:spcBef>
                <a:spcAft>
                  <a:spcPct val="0"/>
                </a:spcAft>
              </a:pPr>
              <a:endParaRPr lang="it-IT" sz="1482">
                <a:latin typeface="Arial" panose="020B0604020202020204" pitchFamily="34" charset="0"/>
              </a:endParaRPr>
            </a:p>
          </p:txBody>
        </p:sp>
        <p:cxnSp>
          <p:nvCxnSpPr>
            <p:cNvPr id="7" name="Connettore diritto 6"/>
            <p:cNvCxnSpPr/>
            <p:nvPr/>
          </p:nvCxnSpPr>
          <p:spPr bwMode="auto">
            <a:xfrm flipH="1">
              <a:off x="2519884" y="4608239"/>
              <a:ext cx="2448272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" name="Ovale 7"/>
            <p:cNvSpPr/>
            <p:nvPr/>
          </p:nvSpPr>
          <p:spPr bwMode="auto">
            <a:xfrm>
              <a:off x="2375868" y="4536231"/>
              <a:ext cx="144016" cy="144016"/>
            </a:xfrm>
            <a:prstGeom prst="ellips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6770" tIns="48385" rIns="96770" bIns="48385" numCol="1" rtlCol="0" anchor="t" anchorCtr="0" compatLnSpc="1">
              <a:prstTxWarp prst="textNoShape">
                <a:avLst/>
              </a:prstTxWarp>
            </a:bodyPr>
            <a:lstStyle/>
            <a:p>
              <a:pPr defTabSz="774504" fontAlgn="base">
                <a:spcBef>
                  <a:spcPct val="0"/>
                </a:spcBef>
                <a:spcAft>
                  <a:spcPct val="0"/>
                </a:spcAft>
              </a:pPr>
              <a:endParaRPr lang="it-IT" sz="1482">
                <a:latin typeface="Arial" panose="020B0604020202020204" pitchFamily="34" charset="0"/>
              </a:endParaRPr>
            </a:p>
          </p:txBody>
        </p:sp>
        <p:sp>
          <p:nvSpPr>
            <p:cNvPr id="11" name="Ovale 10"/>
            <p:cNvSpPr/>
            <p:nvPr/>
          </p:nvSpPr>
          <p:spPr bwMode="auto">
            <a:xfrm>
              <a:off x="2375868" y="5256311"/>
              <a:ext cx="144016" cy="144016"/>
            </a:xfrm>
            <a:prstGeom prst="ellips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6770" tIns="48385" rIns="96770" bIns="48385" numCol="1" rtlCol="0" anchor="t" anchorCtr="0" compatLnSpc="1">
              <a:prstTxWarp prst="textNoShape">
                <a:avLst/>
              </a:prstTxWarp>
            </a:bodyPr>
            <a:lstStyle/>
            <a:p>
              <a:pPr defTabSz="774504" fontAlgn="base">
                <a:spcBef>
                  <a:spcPct val="0"/>
                </a:spcBef>
                <a:spcAft>
                  <a:spcPct val="0"/>
                </a:spcAft>
              </a:pPr>
              <a:endParaRPr lang="it-IT" sz="1482">
                <a:latin typeface="Arial" panose="020B0604020202020204" pitchFamily="34" charset="0"/>
              </a:endParaRPr>
            </a:p>
          </p:txBody>
        </p:sp>
        <p:cxnSp>
          <p:nvCxnSpPr>
            <p:cNvPr id="12" name="Connettore diritto 11"/>
            <p:cNvCxnSpPr>
              <a:stCxn id="20" idx="2"/>
            </p:cNvCxnSpPr>
            <p:nvPr/>
          </p:nvCxnSpPr>
          <p:spPr bwMode="auto">
            <a:xfrm flipH="1">
              <a:off x="2519884" y="5326987"/>
              <a:ext cx="1981552" cy="133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3" name="Ovale 12"/>
            <p:cNvSpPr/>
            <p:nvPr/>
          </p:nvSpPr>
          <p:spPr bwMode="auto">
            <a:xfrm>
              <a:off x="3960044" y="5256311"/>
              <a:ext cx="144016" cy="144016"/>
            </a:xfrm>
            <a:prstGeom prst="ellips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6770" tIns="48385" rIns="96770" bIns="48385" numCol="1" rtlCol="0" anchor="t" anchorCtr="0" compatLnSpc="1">
              <a:prstTxWarp prst="textNoShape">
                <a:avLst/>
              </a:prstTxWarp>
            </a:bodyPr>
            <a:lstStyle/>
            <a:p>
              <a:pPr defTabSz="774504" fontAlgn="base">
                <a:spcBef>
                  <a:spcPct val="0"/>
                </a:spcBef>
                <a:spcAft>
                  <a:spcPct val="0"/>
                </a:spcAft>
              </a:pPr>
              <a:endParaRPr lang="it-IT" sz="1482">
                <a:latin typeface="Arial" panose="020B0604020202020204" pitchFamily="34" charset="0"/>
              </a:endParaRPr>
            </a:p>
          </p:txBody>
        </p:sp>
        <p:sp>
          <p:nvSpPr>
            <p:cNvPr id="9" name="Triangolo isoscele 8"/>
            <p:cNvSpPr/>
            <p:nvPr/>
          </p:nvSpPr>
          <p:spPr bwMode="auto">
            <a:xfrm rot="5400000">
              <a:off x="3419984" y="5076291"/>
              <a:ext cx="576064" cy="504056"/>
            </a:xfrm>
            <a:prstGeom prst="triangl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6770" tIns="48385" rIns="96770" bIns="48385" numCol="1" rtlCol="0" anchor="t" anchorCtr="0" compatLnSpc="1">
              <a:prstTxWarp prst="textNoShape">
                <a:avLst/>
              </a:prstTxWarp>
            </a:bodyPr>
            <a:lstStyle/>
            <a:p>
              <a:pPr defTabSz="774504" fontAlgn="base">
                <a:spcBef>
                  <a:spcPct val="0"/>
                </a:spcBef>
                <a:spcAft>
                  <a:spcPct val="0"/>
                </a:spcAft>
              </a:pPr>
              <a:endParaRPr lang="it-IT" sz="1482">
                <a:latin typeface="Arial" panose="020B0604020202020204" pitchFamily="34" charset="0"/>
              </a:endParaRPr>
            </a:p>
          </p:txBody>
        </p:sp>
        <p:cxnSp>
          <p:nvCxnSpPr>
            <p:cNvPr id="17" name="Connettore 4 16"/>
            <p:cNvCxnSpPr/>
            <p:nvPr/>
          </p:nvCxnSpPr>
          <p:spPr bwMode="auto">
            <a:xfrm rot="5400000" flipH="1" flipV="1">
              <a:off x="4536108" y="4896271"/>
              <a:ext cx="432048" cy="432048"/>
            </a:xfrm>
            <a:prstGeom prst="bentConnector3">
              <a:avLst>
                <a:gd name="adj1" fmla="val 105168"/>
              </a:avLst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0" name="Ovale 19"/>
            <p:cNvSpPr/>
            <p:nvPr/>
          </p:nvSpPr>
          <p:spPr bwMode="auto">
            <a:xfrm>
              <a:off x="4501436" y="5290983"/>
              <a:ext cx="72008" cy="72008"/>
            </a:xfrm>
            <a:prstGeom prst="ellipse">
              <a:avLst/>
            </a:prstGeom>
            <a:solidFill>
              <a:schemeClr val="tx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6770" tIns="48385" rIns="96770" bIns="48385" numCol="1" rtlCol="0" anchor="t" anchorCtr="0" compatLnSpc="1">
              <a:prstTxWarp prst="textNoShape">
                <a:avLst/>
              </a:prstTxWarp>
            </a:bodyPr>
            <a:lstStyle/>
            <a:p>
              <a:pPr defTabSz="774504" fontAlgn="base">
                <a:spcBef>
                  <a:spcPct val="0"/>
                </a:spcBef>
                <a:spcAft>
                  <a:spcPct val="0"/>
                </a:spcAft>
              </a:pPr>
              <a:endParaRPr lang="it-IT" sz="1482">
                <a:latin typeface="Arial" panose="020B0604020202020204" pitchFamily="34" charset="0"/>
              </a:endParaRPr>
            </a:p>
          </p:txBody>
        </p:sp>
        <p:cxnSp>
          <p:nvCxnSpPr>
            <p:cNvPr id="22" name="Connettore diritto 21"/>
            <p:cNvCxnSpPr/>
            <p:nvPr/>
          </p:nvCxnSpPr>
          <p:spPr bwMode="auto">
            <a:xfrm flipH="1">
              <a:off x="5616228" y="4752255"/>
              <a:ext cx="936104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4" name="Ritardo 23"/>
            <p:cNvSpPr/>
            <p:nvPr/>
          </p:nvSpPr>
          <p:spPr bwMode="auto">
            <a:xfrm>
              <a:off x="6559328" y="4568953"/>
              <a:ext cx="648072" cy="576064"/>
            </a:xfrm>
            <a:prstGeom prst="flowChartDelay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6770" tIns="48385" rIns="96770" bIns="48385" numCol="1" rtlCol="0" anchor="t" anchorCtr="0" compatLnSpc="1">
              <a:prstTxWarp prst="textNoShape">
                <a:avLst/>
              </a:prstTxWarp>
            </a:bodyPr>
            <a:lstStyle/>
            <a:p>
              <a:pPr defTabSz="774504" fontAlgn="base">
                <a:spcBef>
                  <a:spcPct val="0"/>
                </a:spcBef>
                <a:spcAft>
                  <a:spcPct val="0"/>
                </a:spcAft>
              </a:pPr>
              <a:endParaRPr lang="it-IT" sz="1482">
                <a:latin typeface="Arial" panose="020B0604020202020204" pitchFamily="34" charset="0"/>
              </a:endParaRPr>
            </a:p>
          </p:txBody>
        </p:sp>
        <p:sp>
          <p:nvSpPr>
            <p:cNvPr id="25" name="Ovale 24"/>
            <p:cNvSpPr/>
            <p:nvPr/>
          </p:nvSpPr>
          <p:spPr bwMode="auto">
            <a:xfrm>
              <a:off x="7211003" y="4788999"/>
              <a:ext cx="144016" cy="144016"/>
            </a:xfrm>
            <a:prstGeom prst="ellips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6770" tIns="48385" rIns="96770" bIns="48385" numCol="1" rtlCol="0" anchor="t" anchorCtr="0" compatLnSpc="1">
              <a:prstTxWarp prst="textNoShape">
                <a:avLst/>
              </a:prstTxWarp>
            </a:bodyPr>
            <a:lstStyle/>
            <a:p>
              <a:pPr defTabSz="774504" fontAlgn="base">
                <a:spcBef>
                  <a:spcPct val="0"/>
                </a:spcBef>
                <a:spcAft>
                  <a:spcPct val="0"/>
                </a:spcAft>
              </a:pPr>
              <a:endParaRPr lang="it-IT" sz="1482">
                <a:latin typeface="Arial" panose="020B0604020202020204" pitchFamily="34" charset="0"/>
              </a:endParaRPr>
            </a:p>
          </p:txBody>
        </p:sp>
        <p:cxnSp>
          <p:nvCxnSpPr>
            <p:cNvPr id="26" name="Connettore 4 25"/>
            <p:cNvCxnSpPr>
              <a:stCxn id="20" idx="6"/>
            </p:cNvCxnSpPr>
            <p:nvPr/>
          </p:nvCxnSpPr>
          <p:spPr bwMode="auto">
            <a:xfrm flipV="1">
              <a:off x="4573444" y="4988031"/>
              <a:ext cx="1979034" cy="338956"/>
            </a:xfrm>
            <a:prstGeom prst="bentConnector3">
              <a:avLst>
                <a:gd name="adj1" fmla="val 80219"/>
              </a:avLst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" name="Connettore diritto 35"/>
            <p:cNvCxnSpPr/>
            <p:nvPr/>
          </p:nvCxnSpPr>
          <p:spPr bwMode="auto">
            <a:xfrm flipH="1">
              <a:off x="7353088" y="4861602"/>
              <a:ext cx="936104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" name="Ovale 36"/>
            <p:cNvSpPr/>
            <p:nvPr/>
          </p:nvSpPr>
          <p:spPr bwMode="auto">
            <a:xfrm>
              <a:off x="8287688" y="4783971"/>
              <a:ext cx="144016" cy="144016"/>
            </a:xfrm>
            <a:prstGeom prst="ellips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6770" tIns="48385" rIns="96770" bIns="48385" numCol="1" rtlCol="0" anchor="t" anchorCtr="0" compatLnSpc="1">
              <a:prstTxWarp prst="textNoShape">
                <a:avLst/>
              </a:prstTxWarp>
            </a:bodyPr>
            <a:lstStyle/>
            <a:p>
              <a:pPr defTabSz="774504" fontAlgn="base">
                <a:spcBef>
                  <a:spcPct val="0"/>
                </a:spcBef>
                <a:spcAft>
                  <a:spcPct val="0"/>
                </a:spcAft>
              </a:pPr>
              <a:endParaRPr lang="it-IT" sz="1482">
                <a:latin typeface="Arial" panose="020B0604020202020204" pitchFamily="34" charset="0"/>
              </a:endParaRPr>
            </a:p>
          </p:txBody>
        </p:sp>
        <p:sp>
          <p:nvSpPr>
            <p:cNvPr id="9221" name="Rettangolo 9220"/>
            <p:cNvSpPr/>
            <p:nvPr/>
          </p:nvSpPr>
          <p:spPr bwMode="auto">
            <a:xfrm>
              <a:off x="2951215" y="4264311"/>
              <a:ext cx="4897024" cy="1603450"/>
            </a:xfrm>
            <a:prstGeom prst="rect">
              <a:avLst/>
            </a:prstGeom>
            <a:noFill/>
            <a:ln w="1905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6770" tIns="48385" rIns="96770" bIns="48385" numCol="1" rtlCol="0" anchor="t" anchorCtr="0" compatLnSpc="1">
              <a:prstTxWarp prst="textNoShape">
                <a:avLst/>
              </a:prstTxWarp>
            </a:bodyPr>
            <a:lstStyle/>
            <a:p>
              <a:pPr defTabSz="774504" fontAlgn="base">
                <a:spcBef>
                  <a:spcPct val="0"/>
                </a:spcBef>
                <a:spcAft>
                  <a:spcPct val="0"/>
                </a:spcAft>
              </a:pPr>
              <a:endParaRPr lang="it-IT" sz="1482">
                <a:latin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223" name="Rettangolo 9222"/>
              <p:cNvSpPr/>
              <p:nvPr/>
            </p:nvSpPr>
            <p:spPr>
              <a:xfrm>
                <a:off x="4405537" y="1869333"/>
                <a:ext cx="2435675" cy="4199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it-IT" sz="1905">
                          <a:latin typeface="Cambria Math" panose="02040503050406030204" pitchFamily="18" charset="0"/>
                        </a:rPr>
                        <m:t>(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1905" dirty="0"/>
              </a:p>
            </p:txBody>
          </p:sp>
        </mc:Choice>
        <mc:Fallback xmlns="">
          <p:sp>
            <p:nvSpPr>
              <p:cNvPr id="9223" name="Rettangolo 92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5537" y="1869333"/>
                <a:ext cx="2435675" cy="419923"/>
              </a:xfrm>
              <a:prstGeom prst="rect">
                <a:avLst/>
              </a:prstGeom>
              <a:blipFill>
                <a:blip r:embed="rId3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24" name="Rettangolo 9223"/>
              <p:cNvSpPr/>
              <p:nvPr/>
            </p:nvSpPr>
            <p:spPr>
              <a:xfrm>
                <a:off x="6166400" y="1755037"/>
                <a:ext cx="4081477" cy="5298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bar>
                                <m:barPr>
                                  <m:pos m:val="top"/>
                                  <m:ctrlPr>
                                    <a:rPr lang="it-IT" sz="1905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it-IT" sz="1905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bar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bar>
                          <m:r>
                            <a:rPr lang="it-IT" sz="1905"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bar>
                        </m:e>
                      </m:acc>
                    </m:oMath>
                  </m:oMathPara>
                </a14:m>
                <a:endParaRPr lang="it-IT" sz="1905" dirty="0"/>
              </a:p>
            </p:txBody>
          </p:sp>
        </mc:Choice>
        <mc:Fallback xmlns="">
          <p:sp>
            <p:nvSpPr>
              <p:cNvPr id="9224" name="Rettangolo 92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6400" y="1755037"/>
                <a:ext cx="4081477" cy="5298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225" name="Tabella 9224"/>
          <p:cNvGraphicFramePr>
            <a:graphicFrameLocks noGrp="1"/>
          </p:cNvGraphicFramePr>
          <p:nvPr/>
        </p:nvGraphicFramePr>
        <p:xfrm>
          <a:off x="5629483" y="3012542"/>
          <a:ext cx="2288820" cy="8386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4410">
                  <a:extLst>
                    <a:ext uri="{9D8B030D-6E8A-4147-A177-3AD203B41FA5}">
                      <a16:colId xmlns:a16="http://schemas.microsoft.com/office/drawing/2014/main" val="2281579397"/>
                    </a:ext>
                  </a:extLst>
                </a:gridCol>
                <a:gridCol w="1144410">
                  <a:extLst>
                    <a:ext uri="{9D8B030D-6E8A-4147-A177-3AD203B41FA5}">
                      <a16:colId xmlns:a16="http://schemas.microsoft.com/office/drawing/2014/main" val="3430577068"/>
                    </a:ext>
                  </a:extLst>
                </a:gridCol>
              </a:tblGrid>
              <a:tr h="419336">
                <a:tc>
                  <a:txBody>
                    <a:bodyPr/>
                    <a:lstStyle/>
                    <a:p>
                      <a:pPr algn="ctr"/>
                      <a:r>
                        <a:rPr lang="it-IT" sz="2100" dirty="0"/>
                        <a:t>Ingressi</a:t>
                      </a:r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100" dirty="0"/>
                        <a:t>Uscite</a:t>
                      </a:r>
                    </a:p>
                  </a:txBody>
                  <a:tcPr marL="96770" marR="96770" marT="48385" marB="48385"/>
                </a:tc>
                <a:extLst>
                  <a:ext uri="{0D108BD9-81ED-4DB2-BD59-A6C34878D82A}">
                    <a16:rowId xmlns:a16="http://schemas.microsoft.com/office/drawing/2014/main" val="2685777361"/>
                  </a:ext>
                </a:extLst>
              </a:tr>
              <a:tr h="419336">
                <a:tc>
                  <a:txBody>
                    <a:bodyPr/>
                    <a:lstStyle/>
                    <a:p>
                      <a:pPr algn="ctr"/>
                      <a:endParaRPr lang="it-IT" sz="2100"/>
                    </a:p>
                  </a:txBody>
                  <a:tcPr marL="96770" marR="96770" marT="48385" marB="48385"/>
                </a:tc>
                <a:tc>
                  <a:txBody>
                    <a:bodyPr/>
                    <a:lstStyle/>
                    <a:p>
                      <a:pPr algn="ctr"/>
                      <a:endParaRPr lang="it-IT" sz="2100" dirty="0"/>
                    </a:p>
                  </a:txBody>
                  <a:tcPr marL="96770" marR="96770" marT="48385" marB="48385"/>
                </a:tc>
                <a:extLst>
                  <a:ext uri="{0D108BD9-81ED-4DB2-BD59-A6C34878D82A}">
                    <a16:rowId xmlns:a16="http://schemas.microsoft.com/office/drawing/2014/main" val="15453529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7054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 </a:t>
            </a:r>
            <a:r>
              <a:rPr lang="en-US" dirty="0" err="1"/>
              <a:t>trasformazioni</a:t>
            </a:r>
            <a:r>
              <a:rPr lang="en-US" dirty="0"/>
              <a:t> </a:t>
            </a:r>
            <a:r>
              <a:rPr lang="en-US" dirty="0" err="1"/>
              <a:t>nel</a:t>
            </a:r>
            <a:r>
              <a:rPr lang="en-US" dirty="0"/>
              <a:t> </a:t>
            </a:r>
            <a:r>
              <a:rPr lang="en-US" dirty="0" err="1"/>
              <a:t>dominio</a:t>
            </a:r>
            <a:r>
              <a:rPr lang="en-US" dirty="0"/>
              <a:t> di Boole</a:t>
            </a:r>
            <a:endParaRPr lang="it-IT" altLang="it-IT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1066454" y="2974304"/>
            <a:ext cx="10059092" cy="3151422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635"/>
              </a:spcAft>
            </a:pPr>
            <a:r>
              <a:rPr lang="en-US" dirty="0"/>
              <a:t>Per </a:t>
            </a:r>
            <a:r>
              <a:rPr lang="en-US" dirty="0" err="1"/>
              <a:t>ogni</a:t>
            </a:r>
            <a:r>
              <a:rPr lang="en-US" dirty="0"/>
              <a:t> </a:t>
            </a:r>
            <a:r>
              <a:rPr lang="en-US" dirty="0" err="1"/>
              <a:t>espressione</a:t>
            </a:r>
            <a:r>
              <a:rPr lang="en-US" dirty="0"/>
              <a:t> </a:t>
            </a:r>
            <a:r>
              <a:rPr lang="en-US" dirty="0" err="1"/>
              <a:t>logica</a:t>
            </a:r>
            <a:r>
              <a:rPr lang="en-US" dirty="0"/>
              <a:t> </a:t>
            </a:r>
            <a:r>
              <a:rPr lang="en-US" dirty="0" err="1"/>
              <a:t>c’è</a:t>
            </a:r>
            <a:r>
              <a:rPr lang="en-US" dirty="0"/>
              <a:t> un </a:t>
            </a:r>
            <a:r>
              <a:rPr lang="en-US" dirty="0" err="1"/>
              <a:t>circuito</a:t>
            </a:r>
            <a:r>
              <a:rPr lang="en-US" dirty="0"/>
              <a:t> </a:t>
            </a:r>
            <a:r>
              <a:rPr lang="en-US" dirty="0" err="1"/>
              <a:t>digitale</a:t>
            </a:r>
            <a:r>
              <a:rPr lang="en-US" dirty="0"/>
              <a:t> </a:t>
            </a:r>
            <a:r>
              <a:rPr lang="en-US" dirty="0" err="1"/>
              <a:t>equivalente</a:t>
            </a:r>
            <a:r>
              <a:rPr lang="en-US" dirty="0"/>
              <a:t> e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colonna</a:t>
            </a:r>
            <a:r>
              <a:rPr lang="en-US" dirty="0"/>
              <a:t> </a:t>
            </a:r>
            <a:r>
              <a:rPr lang="en-US" dirty="0" err="1"/>
              <a:t>della</a:t>
            </a:r>
            <a:r>
              <a:rPr lang="en-US" dirty="0"/>
              <a:t> </a:t>
            </a:r>
            <a:r>
              <a:rPr lang="en-US" dirty="0" err="1"/>
              <a:t>tavola</a:t>
            </a:r>
            <a:r>
              <a:rPr lang="en-US" dirty="0"/>
              <a:t> di </a:t>
            </a:r>
            <a:r>
              <a:rPr lang="en-US" dirty="0" err="1"/>
              <a:t>verità</a:t>
            </a:r>
            <a:r>
              <a:rPr lang="en-US" dirty="0"/>
              <a:t>.</a:t>
            </a:r>
          </a:p>
          <a:p>
            <a:pPr>
              <a:spcBef>
                <a:spcPts val="0"/>
              </a:spcBef>
              <a:spcAft>
                <a:spcPts val="635"/>
              </a:spcAft>
            </a:pPr>
            <a:r>
              <a:rPr lang="en-US" dirty="0"/>
              <a:t>Per </a:t>
            </a:r>
            <a:r>
              <a:rPr lang="en-US" dirty="0" err="1"/>
              <a:t>ogni</a:t>
            </a:r>
            <a:r>
              <a:rPr lang="en-US" dirty="0"/>
              <a:t> </a:t>
            </a:r>
            <a:r>
              <a:rPr lang="en-US" dirty="0" err="1"/>
              <a:t>colonna</a:t>
            </a:r>
            <a:r>
              <a:rPr lang="en-US" dirty="0"/>
              <a:t> </a:t>
            </a:r>
            <a:r>
              <a:rPr lang="en-US" dirty="0" err="1"/>
              <a:t>della</a:t>
            </a:r>
            <a:r>
              <a:rPr lang="en-US" dirty="0"/>
              <a:t> </a:t>
            </a:r>
            <a:r>
              <a:rPr lang="en-US" dirty="0" err="1"/>
              <a:t>tavola</a:t>
            </a:r>
            <a:r>
              <a:rPr lang="en-US" dirty="0"/>
              <a:t> di </a:t>
            </a:r>
            <a:r>
              <a:rPr lang="en-US" dirty="0" err="1"/>
              <a:t>verità</a:t>
            </a:r>
            <a:r>
              <a:rPr lang="en-US" dirty="0"/>
              <a:t> </a:t>
            </a:r>
            <a:r>
              <a:rPr lang="en-US" dirty="0" err="1"/>
              <a:t>c’è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espressione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la </a:t>
            </a:r>
            <a:r>
              <a:rPr lang="en-US" dirty="0" err="1"/>
              <a:t>rappresenta</a:t>
            </a:r>
            <a:r>
              <a:rPr lang="en-US" dirty="0"/>
              <a:t> e un </a:t>
            </a:r>
            <a:r>
              <a:rPr lang="en-US" dirty="0" err="1"/>
              <a:t>corrispondente</a:t>
            </a:r>
            <a:r>
              <a:rPr lang="en-US" dirty="0"/>
              <a:t> </a:t>
            </a:r>
            <a:r>
              <a:rPr lang="en-US" dirty="0" err="1"/>
              <a:t>circuito</a:t>
            </a:r>
            <a:r>
              <a:rPr lang="en-US" dirty="0"/>
              <a:t> </a:t>
            </a:r>
            <a:r>
              <a:rPr lang="en-US" dirty="0" err="1"/>
              <a:t>digitale</a:t>
            </a:r>
            <a:r>
              <a:rPr lang="en-US" dirty="0"/>
              <a:t>.</a:t>
            </a:r>
          </a:p>
          <a:p>
            <a:pPr>
              <a:spcBef>
                <a:spcPts val="0"/>
              </a:spcBef>
              <a:spcAft>
                <a:spcPts val="635"/>
              </a:spcAft>
            </a:pPr>
            <a:r>
              <a:rPr lang="en-US" dirty="0"/>
              <a:t>Per </a:t>
            </a:r>
            <a:r>
              <a:rPr lang="en-US" dirty="0" err="1"/>
              <a:t>ogni</a:t>
            </a:r>
            <a:r>
              <a:rPr lang="en-US" dirty="0"/>
              <a:t> </a:t>
            </a:r>
            <a:r>
              <a:rPr lang="en-US" dirty="0" err="1"/>
              <a:t>circuito</a:t>
            </a:r>
            <a:r>
              <a:rPr lang="en-US" dirty="0"/>
              <a:t> </a:t>
            </a:r>
            <a:r>
              <a:rPr lang="en-US" dirty="0" err="1"/>
              <a:t>digitale</a:t>
            </a:r>
            <a:r>
              <a:rPr lang="en-US" dirty="0"/>
              <a:t> </a:t>
            </a:r>
            <a:r>
              <a:rPr lang="en-US" dirty="0" err="1"/>
              <a:t>c’è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espressione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lo </a:t>
            </a:r>
            <a:r>
              <a:rPr lang="en-US" dirty="0" err="1"/>
              <a:t>descrive</a:t>
            </a:r>
            <a:r>
              <a:rPr lang="en-US" dirty="0"/>
              <a:t> </a:t>
            </a:r>
            <a:r>
              <a:rPr lang="en-US" dirty="0" err="1"/>
              <a:t>ed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corrispondente</a:t>
            </a:r>
            <a:r>
              <a:rPr lang="en-US" dirty="0"/>
              <a:t> </a:t>
            </a:r>
            <a:r>
              <a:rPr lang="en-US" dirty="0" err="1"/>
              <a:t>colonna</a:t>
            </a:r>
            <a:r>
              <a:rPr lang="en-US" dirty="0"/>
              <a:t> </a:t>
            </a:r>
            <a:r>
              <a:rPr lang="en-US" dirty="0" err="1"/>
              <a:t>della</a:t>
            </a:r>
            <a:r>
              <a:rPr lang="en-US" dirty="0"/>
              <a:t> </a:t>
            </a:r>
            <a:r>
              <a:rPr lang="en-US" dirty="0" err="1"/>
              <a:t>tavola</a:t>
            </a:r>
            <a:r>
              <a:rPr lang="en-US" dirty="0"/>
              <a:t> di </a:t>
            </a:r>
            <a:r>
              <a:rPr lang="en-US" dirty="0" err="1"/>
              <a:t>verità</a:t>
            </a:r>
            <a:r>
              <a:rPr lang="en-US" dirty="0"/>
              <a:t>.</a:t>
            </a:r>
          </a:p>
          <a:p>
            <a:pPr marL="0" indent="0">
              <a:spcBef>
                <a:spcPts val="0"/>
              </a:spcBef>
              <a:spcAft>
                <a:spcPts val="635"/>
              </a:spcAft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7EF2DE-0CFE-4FA7-87DF-45C192173952}" type="slidenum">
              <a:rPr lang="it-IT" altLang="it-IT"/>
              <a:pPr/>
              <a:t>3</a:t>
            </a:fld>
            <a:endParaRPr lang="it-IT" altLang="it-IT"/>
          </a:p>
        </p:txBody>
      </p:sp>
      <p:sp>
        <p:nvSpPr>
          <p:cNvPr id="5" name="Rettangolo arrotondato 4"/>
          <p:cNvSpPr/>
          <p:nvPr/>
        </p:nvSpPr>
        <p:spPr bwMode="auto">
          <a:xfrm>
            <a:off x="3505149" y="1844749"/>
            <a:ext cx="1203998" cy="797955"/>
          </a:xfrm>
          <a:prstGeom prst="roundRect">
            <a:avLst/>
          </a:prstGeom>
          <a:solidFill>
            <a:srgbClr val="92D050">
              <a:alpha val="62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6770" tIns="48385" rIns="96770" bIns="48385" numCol="1" rtlCol="0" anchor="ctr" anchorCtr="0" compatLnSpc="1">
            <a:prstTxWarp prst="textNoShape">
              <a:avLst/>
            </a:prstTxWarp>
          </a:bodyPr>
          <a:lstStyle/>
          <a:p>
            <a:pPr algn="ctr" defTabSz="774504" fontAlgn="base">
              <a:spcBef>
                <a:spcPct val="0"/>
              </a:spcBef>
              <a:spcAft>
                <a:spcPct val="0"/>
              </a:spcAft>
            </a:pPr>
            <a:r>
              <a:rPr lang="it-IT" sz="1482" dirty="0">
                <a:latin typeface="Arial" charset="0"/>
              </a:rPr>
              <a:t>Tavola di verità</a:t>
            </a:r>
          </a:p>
        </p:txBody>
      </p:sp>
      <p:sp>
        <p:nvSpPr>
          <p:cNvPr id="6" name="Rettangolo arrotondato 5"/>
          <p:cNvSpPr/>
          <p:nvPr/>
        </p:nvSpPr>
        <p:spPr bwMode="auto">
          <a:xfrm>
            <a:off x="5509426" y="1867254"/>
            <a:ext cx="1260214" cy="775450"/>
          </a:xfrm>
          <a:prstGeom prst="roundRect">
            <a:avLst/>
          </a:prstGeom>
          <a:solidFill>
            <a:srgbClr val="7030A0">
              <a:alpha val="28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6770" tIns="48385" rIns="96770" bIns="48385" numCol="1" rtlCol="0" anchor="ctr" anchorCtr="0" compatLnSpc="1">
            <a:prstTxWarp prst="textNoShape">
              <a:avLst/>
            </a:prstTxWarp>
          </a:bodyPr>
          <a:lstStyle/>
          <a:p>
            <a:pPr algn="ctr" defTabSz="774504" fontAlgn="base">
              <a:spcBef>
                <a:spcPct val="0"/>
              </a:spcBef>
              <a:spcAft>
                <a:spcPct val="0"/>
              </a:spcAft>
            </a:pPr>
            <a:r>
              <a:rPr lang="it-IT" sz="1482" dirty="0">
                <a:latin typeface="Arial" charset="0"/>
              </a:rPr>
              <a:t>Espressioni logiche</a:t>
            </a:r>
          </a:p>
        </p:txBody>
      </p:sp>
      <p:sp>
        <p:nvSpPr>
          <p:cNvPr id="7" name="Rettangolo arrotondato 6"/>
          <p:cNvSpPr/>
          <p:nvPr/>
        </p:nvSpPr>
        <p:spPr bwMode="auto">
          <a:xfrm>
            <a:off x="7555987" y="1844750"/>
            <a:ext cx="1203998" cy="797955"/>
          </a:xfrm>
          <a:prstGeom prst="roundRect">
            <a:avLst/>
          </a:prstGeom>
          <a:solidFill>
            <a:srgbClr val="FFC000">
              <a:alpha val="28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6770" tIns="48385" rIns="96770" bIns="48385" numCol="1" rtlCol="0" anchor="ctr" anchorCtr="0" compatLnSpc="1">
            <a:prstTxWarp prst="textNoShape">
              <a:avLst/>
            </a:prstTxWarp>
          </a:bodyPr>
          <a:lstStyle/>
          <a:p>
            <a:pPr algn="ctr" defTabSz="774504" fontAlgn="base">
              <a:spcBef>
                <a:spcPct val="0"/>
              </a:spcBef>
              <a:spcAft>
                <a:spcPct val="0"/>
              </a:spcAft>
            </a:pPr>
            <a:r>
              <a:rPr lang="it-IT" sz="1482" dirty="0">
                <a:latin typeface="Arial" charset="0"/>
              </a:rPr>
              <a:t>Circuito digitale</a:t>
            </a:r>
          </a:p>
        </p:txBody>
      </p:sp>
      <p:sp>
        <p:nvSpPr>
          <p:cNvPr id="8" name="Freccia ad arco 7"/>
          <p:cNvSpPr/>
          <p:nvPr/>
        </p:nvSpPr>
        <p:spPr bwMode="auto">
          <a:xfrm rot="183279">
            <a:off x="5684498" y="1386999"/>
            <a:ext cx="837015" cy="865965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0800000"/>
              <a:gd name="adj5" fmla="val 2087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770" tIns="48385" rIns="96770" bIns="48385" numCol="1" rtlCol="0" anchor="t" anchorCtr="0" compatLnSpc="1">
            <a:prstTxWarp prst="textNoShape">
              <a:avLst/>
            </a:prstTxWarp>
          </a:bodyPr>
          <a:lstStyle/>
          <a:p>
            <a:pPr defTabSz="774504" fontAlgn="base">
              <a:spcBef>
                <a:spcPct val="0"/>
              </a:spcBef>
              <a:spcAft>
                <a:spcPct val="0"/>
              </a:spcAft>
            </a:pPr>
            <a:endParaRPr lang="it-IT" sz="1482">
              <a:latin typeface="Arial" charset="0"/>
            </a:endParaRPr>
          </a:p>
        </p:txBody>
      </p:sp>
      <p:sp>
        <p:nvSpPr>
          <p:cNvPr id="9" name="Freccia a sinistra 8"/>
          <p:cNvSpPr/>
          <p:nvPr/>
        </p:nvSpPr>
        <p:spPr bwMode="auto">
          <a:xfrm>
            <a:off x="4765411" y="1889439"/>
            <a:ext cx="720147" cy="315385"/>
          </a:xfrm>
          <a:prstGeom prst="lef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770" tIns="48385" rIns="96770" bIns="48385" numCol="1" rtlCol="0" anchor="t" anchorCtr="0" compatLnSpc="1">
            <a:prstTxWarp prst="textNoShape">
              <a:avLst/>
            </a:prstTxWarp>
          </a:bodyPr>
          <a:lstStyle/>
          <a:p>
            <a:pPr defTabSz="774504" fontAlgn="base">
              <a:spcBef>
                <a:spcPct val="0"/>
              </a:spcBef>
              <a:spcAft>
                <a:spcPct val="0"/>
              </a:spcAft>
            </a:pPr>
            <a:endParaRPr lang="it-IT" sz="1482">
              <a:latin typeface="Arial" charset="0"/>
            </a:endParaRPr>
          </a:p>
        </p:txBody>
      </p:sp>
      <p:sp>
        <p:nvSpPr>
          <p:cNvPr id="10" name="Freccia a sinistra 9"/>
          <p:cNvSpPr/>
          <p:nvPr/>
        </p:nvSpPr>
        <p:spPr bwMode="auto">
          <a:xfrm>
            <a:off x="6757073" y="1922556"/>
            <a:ext cx="720147" cy="315385"/>
          </a:xfrm>
          <a:prstGeom prst="lef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770" tIns="48385" rIns="96770" bIns="48385" numCol="1" rtlCol="0" anchor="t" anchorCtr="0" compatLnSpc="1">
            <a:prstTxWarp prst="textNoShape">
              <a:avLst/>
            </a:prstTxWarp>
          </a:bodyPr>
          <a:lstStyle/>
          <a:p>
            <a:pPr defTabSz="774504" fontAlgn="base">
              <a:spcBef>
                <a:spcPct val="0"/>
              </a:spcBef>
              <a:spcAft>
                <a:spcPct val="0"/>
              </a:spcAft>
            </a:pPr>
            <a:endParaRPr lang="it-IT" sz="1482">
              <a:latin typeface="Arial" charset="0"/>
            </a:endParaRPr>
          </a:p>
        </p:txBody>
      </p:sp>
      <p:sp>
        <p:nvSpPr>
          <p:cNvPr id="11" name="Freccia a sinistra 10"/>
          <p:cNvSpPr/>
          <p:nvPr/>
        </p:nvSpPr>
        <p:spPr bwMode="auto">
          <a:xfrm rot="10800000">
            <a:off x="4765411" y="2249513"/>
            <a:ext cx="720147" cy="315385"/>
          </a:xfrm>
          <a:prstGeom prst="lef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770" tIns="48385" rIns="96770" bIns="48385" numCol="1" rtlCol="0" anchor="t" anchorCtr="0" compatLnSpc="1">
            <a:prstTxWarp prst="textNoShape">
              <a:avLst/>
            </a:prstTxWarp>
          </a:bodyPr>
          <a:lstStyle/>
          <a:p>
            <a:pPr defTabSz="774504" fontAlgn="base">
              <a:spcBef>
                <a:spcPct val="0"/>
              </a:spcBef>
              <a:spcAft>
                <a:spcPct val="0"/>
              </a:spcAft>
            </a:pPr>
            <a:endParaRPr lang="it-IT" sz="1482">
              <a:latin typeface="Arial" charset="0"/>
            </a:endParaRPr>
          </a:p>
        </p:txBody>
      </p:sp>
      <p:sp>
        <p:nvSpPr>
          <p:cNvPr id="12" name="Freccia a sinistra 11"/>
          <p:cNvSpPr/>
          <p:nvPr/>
        </p:nvSpPr>
        <p:spPr bwMode="auto">
          <a:xfrm rot="10800000">
            <a:off x="6757073" y="2274651"/>
            <a:ext cx="720147" cy="315385"/>
          </a:xfrm>
          <a:prstGeom prst="lef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770" tIns="48385" rIns="96770" bIns="48385" numCol="1" rtlCol="0" anchor="t" anchorCtr="0" compatLnSpc="1">
            <a:prstTxWarp prst="textNoShape">
              <a:avLst/>
            </a:prstTxWarp>
          </a:bodyPr>
          <a:lstStyle/>
          <a:p>
            <a:pPr defTabSz="774504" fontAlgn="base">
              <a:spcBef>
                <a:spcPct val="0"/>
              </a:spcBef>
              <a:spcAft>
                <a:spcPct val="0"/>
              </a:spcAft>
            </a:pPr>
            <a:endParaRPr lang="it-IT" sz="1482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9702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 dirty="0"/>
              <a:t>Proprietà dell’algebra di </a:t>
            </a:r>
            <a:r>
              <a:rPr lang="it-IT" altLang="it-IT" dirty="0" err="1"/>
              <a:t>Boole</a:t>
            </a:r>
            <a:endParaRPr lang="it-IT" alt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7EF2DE-0CFE-4FA7-87DF-45C192173952}" type="slidenum">
              <a:rPr lang="it-IT" altLang="it-IT"/>
              <a:pPr/>
              <a:t>4</a:t>
            </a:fld>
            <a:endParaRPr lang="it-IT" altLang="it-IT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4712" y="1371459"/>
            <a:ext cx="8016776" cy="4754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egnaposto contenuto 4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lvl="0"/>
                <a:r>
                  <a:rPr lang="it-IT" dirty="0"/>
                  <a:t>Dimostrare la validità della </a:t>
                </a:r>
                <a:r>
                  <a:rPr lang="it-IT"/>
                  <a:t>seguente uguaglianza</a:t>
                </a:r>
              </a:p>
              <a:p>
                <a:pPr marL="0" indent="0">
                  <a:buNone/>
                </a:pPr>
                <a:endParaRPr lang="it-IT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pos m:val="top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pos m:val="top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</m:oMath>
                  </m:oMathPara>
                </a14:m>
                <a:endParaRPr lang="it-IT" dirty="0"/>
              </a:p>
              <a:p>
                <a:pPr lvl="0"/>
                <a:endParaRPr lang="it-IT" i="1" dirty="0"/>
              </a:p>
              <a:p>
                <a:pPr lvl="0"/>
                <a:r>
                  <a:rPr lang="it-IT" i="1" dirty="0"/>
                  <a:t>Suggerimento</a:t>
                </a:r>
              </a:p>
              <a:p>
                <a:pPr marL="0" indent="0">
                  <a:buNone/>
                </a:pPr>
                <a:endParaRPr lang="it-IT" b="1" dirty="0"/>
              </a:p>
              <a:p>
                <a:pPr marL="483855" indent="-483855">
                  <a:buAutoNum type="arabicParenR"/>
                </a:pPr>
                <a:r>
                  <a:rPr lang="it-IT" dirty="0"/>
                  <a:t>Metodo algebrico</a:t>
                </a:r>
              </a:p>
              <a:p>
                <a:pPr marL="483855" indent="-483855">
                  <a:buAutoNum type="arabicParenR"/>
                </a:pPr>
                <a:endParaRPr lang="it-IT" dirty="0"/>
              </a:p>
              <a:p>
                <a:pPr marL="483855" indent="-483855">
                  <a:buAutoNum type="arabicParenR"/>
                </a:pPr>
                <a:r>
                  <a:rPr lang="it-IT" dirty="0"/>
                  <a:t>Metodo esaustivo (tavola di verità)</a:t>
                </a:r>
              </a:p>
            </p:txBody>
          </p:sp>
        </mc:Choice>
        <mc:Fallback xmlns="">
          <p:sp>
            <p:nvSpPr>
              <p:cNvPr id="5" name="Segnaposto contenuto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308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97520-7808-4021-A9CE-950A068AF1D3}" type="slidenum">
              <a:rPr lang="it-IT" altLang="it-IT" smtClean="0"/>
              <a:pPr/>
              <a:t>5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2553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1 - Metodo algebrico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97520-7808-4021-A9CE-950A068AF1D3}" type="slidenum">
              <a:rPr lang="it-IT" altLang="it-IT" smtClean="0"/>
              <a:pPr/>
              <a:t>6</a:t>
            </a:fld>
            <a:endParaRPr lang="it-IT" alt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tangolo 2"/>
              <p:cNvSpPr/>
              <p:nvPr/>
            </p:nvSpPr>
            <p:spPr>
              <a:xfrm>
                <a:off x="3500776" y="1604224"/>
                <a:ext cx="2344167" cy="41992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</m:oMath>
                  </m:oMathPara>
                </a14:m>
                <a:endParaRPr lang="it-IT" sz="1905" dirty="0"/>
              </a:p>
            </p:txBody>
          </p:sp>
        </mc:Choice>
        <mc:Fallback xmlns="">
          <p:sp>
            <p:nvSpPr>
              <p:cNvPr id="3" name="Rettango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0776" y="1604224"/>
                <a:ext cx="2344167" cy="41992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5742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1 - Metodo algebrico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97520-7808-4021-A9CE-950A068AF1D3}" type="slidenum">
              <a:rPr lang="it-IT" altLang="it-IT" smtClean="0"/>
              <a:pPr/>
              <a:t>7</a:t>
            </a:fld>
            <a:endParaRPr lang="it-IT" alt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tangolo 2"/>
              <p:cNvSpPr/>
              <p:nvPr/>
            </p:nvSpPr>
            <p:spPr>
              <a:xfrm>
                <a:off x="3500776" y="1604224"/>
                <a:ext cx="3781099" cy="41992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</m:oMath>
                  </m:oMathPara>
                </a14:m>
                <a:endParaRPr lang="it-IT" sz="1905" dirty="0"/>
              </a:p>
            </p:txBody>
          </p:sp>
        </mc:Choice>
        <mc:Fallback xmlns="">
          <p:sp>
            <p:nvSpPr>
              <p:cNvPr id="3" name="Rettango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0776" y="1604224"/>
                <a:ext cx="3781099" cy="41992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737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1 - Metodo esaustivo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97520-7808-4021-A9CE-950A068AF1D3}" type="slidenum">
              <a:rPr lang="it-IT" altLang="it-IT" smtClean="0"/>
              <a:pPr/>
              <a:t>8</a:t>
            </a:fld>
            <a:endParaRPr lang="it-IT" alt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tangolo 2"/>
              <p:cNvSpPr/>
              <p:nvPr/>
            </p:nvSpPr>
            <p:spPr>
              <a:xfrm>
                <a:off x="4639245" y="1383645"/>
                <a:ext cx="2512483" cy="41992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</m:oMath>
                  </m:oMathPara>
                </a14:m>
                <a:endParaRPr lang="it-IT" sz="1905" dirty="0"/>
              </a:p>
            </p:txBody>
          </p:sp>
        </mc:Choice>
        <mc:Fallback xmlns="">
          <p:sp>
            <p:nvSpPr>
              <p:cNvPr id="3" name="Rettango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9245" y="1383645"/>
                <a:ext cx="2512483" cy="41992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Group 58"/>
          <p:cNvGraphicFramePr>
            <a:graphicFrameLocks noGrp="1"/>
          </p:cNvGraphicFramePr>
          <p:nvPr/>
        </p:nvGraphicFramePr>
        <p:xfrm>
          <a:off x="4649042" y="2068906"/>
          <a:ext cx="2800816" cy="3483720"/>
        </p:xfrm>
        <a:graphic>
          <a:graphicData uri="http://schemas.openxmlformats.org/drawingml/2006/table">
            <a:tbl>
              <a:tblPr/>
              <a:tblGrid>
                <a:gridCol w="700204">
                  <a:extLst>
                    <a:ext uri="{9D8B030D-6E8A-4147-A177-3AD203B41FA5}">
                      <a16:colId xmlns:a16="http://schemas.microsoft.com/office/drawing/2014/main" val="1186221656"/>
                    </a:ext>
                  </a:extLst>
                </a:gridCol>
                <a:gridCol w="700204">
                  <a:extLst>
                    <a:ext uri="{9D8B030D-6E8A-4147-A177-3AD203B41FA5}">
                      <a16:colId xmlns:a16="http://schemas.microsoft.com/office/drawing/2014/main" val="391314229"/>
                    </a:ext>
                  </a:extLst>
                </a:gridCol>
                <a:gridCol w="700204">
                  <a:extLst>
                    <a:ext uri="{9D8B030D-6E8A-4147-A177-3AD203B41FA5}">
                      <a16:colId xmlns:a16="http://schemas.microsoft.com/office/drawing/2014/main" val="2057183182"/>
                    </a:ext>
                  </a:extLst>
                </a:gridCol>
                <a:gridCol w="700204">
                  <a:extLst>
                    <a:ext uri="{9D8B030D-6E8A-4147-A177-3AD203B41FA5}">
                      <a16:colId xmlns:a16="http://schemas.microsoft.com/office/drawing/2014/main" val="2678744171"/>
                    </a:ext>
                  </a:extLst>
                </a:gridCol>
              </a:tblGrid>
              <a:tr h="387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it-IT" altLang="it-IT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</a:t>
                      </a:r>
                    </a:p>
                  </a:txBody>
                  <a:tcPr marL="96770" marR="96770" marT="48385" marB="483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ts val="588"/>
                        </a:spcBef>
                        <a:buClr>
                          <a:srgbClr val="3333CC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ts val="488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ts val="488"/>
                        </a:spcBef>
                        <a:buClr>
                          <a:srgbClr val="3333CC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ts val="438"/>
                        </a:spcBef>
                        <a:buClr>
                          <a:srgbClr val="FFCF01"/>
                        </a:buClr>
                        <a:buSzPct val="55000"/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ts val="388"/>
                        </a:spcBef>
                        <a:buClr>
                          <a:srgbClr val="FFCF01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ts val="388"/>
                        </a:spcBef>
                        <a:spcAft>
                          <a:spcPct val="0"/>
                        </a:spcAft>
                        <a:buClr>
                          <a:srgbClr val="FFCF01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ts val="388"/>
                        </a:spcBef>
                        <a:spcAft>
                          <a:spcPct val="0"/>
                        </a:spcAft>
                        <a:buClr>
                          <a:srgbClr val="FFCF01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ts val="388"/>
                        </a:spcBef>
                        <a:spcAft>
                          <a:spcPct val="0"/>
                        </a:spcAft>
                        <a:buClr>
                          <a:srgbClr val="FFCF01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ts val="388"/>
                        </a:spcBef>
                        <a:spcAft>
                          <a:spcPct val="0"/>
                        </a:spcAft>
                        <a:buClr>
                          <a:srgbClr val="FFCF01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it-IT" altLang="it-IT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B</a:t>
                      </a:r>
                    </a:p>
                  </a:txBody>
                  <a:tcPr marL="96770" marR="96770" marT="48385" marB="483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it-IT" altLang="it-IT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</a:t>
                      </a:r>
                    </a:p>
                  </a:txBody>
                  <a:tcPr marL="96770" marR="96770" marT="48385" marB="483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it-IT" altLang="it-IT" sz="1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6770" marR="96770" marT="48385" marB="48385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494388"/>
                  </a:ext>
                </a:extLst>
              </a:tr>
              <a:tr h="387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it-IT" altLang="it-IT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6770" marR="96770" marT="48385" marB="483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ts val="588"/>
                        </a:spcBef>
                        <a:buClr>
                          <a:srgbClr val="3333CC"/>
                        </a:buClr>
                        <a:buSzPct val="60000"/>
                        <a:buFont typeface="Wingdings" panose="05000000000000000000" pitchFamily="2" charset="2"/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ts val="488"/>
                        </a:spcBef>
                        <a:buClr>
                          <a:srgbClr val="FF0000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ts val="488"/>
                        </a:spcBef>
                        <a:buClr>
                          <a:srgbClr val="3333CC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ts val="438"/>
                        </a:spcBef>
                        <a:buClr>
                          <a:srgbClr val="FFCF01"/>
                        </a:buClr>
                        <a:buSzPct val="55000"/>
                        <a:buFont typeface="Wingdings" panose="05000000000000000000" pitchFamily="2" charset="2"/>
                        <a:defRPr sz="160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ts val="388"/>
                        </a:spcBef>
                        <a:buClr>
                          <a:srgbClr val="FFCF01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ts val="388"/>
                        </a:spcBef>
                        <a:spcAft>
                          <a:spcPct val="0"/>
                        </a:spcAft>
                        <a:buClr>
                          <a:srgbClr val="FFCF01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ts val="388"/>
                        </a:spcBef>
                        <a:spcAft>
                          <a:spcPct val="0"/>
                        </a:spcAft>
                        <a:buClr>
                          <a:srgbClr val="FFCF01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ts val="388"/>
                        </a:spcBef>
                        <a:spcAft>
                          <a:spcPct val="0"/>
                        </a:spcAft>
                        <a:buClr>
                          <a:srgbClr val="FFCF01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ts val="388"/>
                        </a:spcBef>
                        <a:spcAft>
                          <a:spcPct val="0"/>
                        </a:spcAft>
                        <a:buClr>
                          <a:srgbClr val="FFCF01"/>
                        </a:buClr>
                        <a:buSzPct val="50000"/>
                        <a:buFont typeface="Wingdings" panose="05000000000000000000" pitchFamily="2" charset="2"/>
                        <a:defRPr sz="140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it-IT" altLang="it-IT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6770" marR="96770" marT="48385" marB="483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it-IT" altLang="it-IT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6770" marR="96770" marT="48385" marB="483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it-IT" altLang="it-IT" sz="1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6770" marR="96770" marT="48385" marB="48385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2875143"/>
                  </a:ext>
                </a:extLst>
              </a:tr>
              <a:tr h="387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it-IT" altLang="it-IT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6770" marR="96770" marT="48385" marB="483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it-IT" altLang="it-IT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6770" marR="96770" marT="48385" marB="483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it-IT" altLang="it-IT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6770" marR="96770" marT="48385" marB="483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it-IT" altLang="it-IT" sz="1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6770" marR="96770" marT="48385" marB="48385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6983198"/>
                  </a:ext>
                </a:extLst>
              </a:tr>
              <a:tr h="387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it-IT" altLang="it-IT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6770" marR="96770" marT="48385" marB="483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it-IT" altLang="it-IT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6770" marR="96770" marT="48385" marB="483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it-IT" altLang="it-IT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6770" marR="96770" marT="48385" marB="483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it-IT" altLang="it-IT" sz="1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6770" marR="96770" marT="48385" marB="48385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8695707"/>
                  </a:ext>
                </a:extLst>
              </a:tr>
              <a:tr h="387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it-IT" altLang="it-IT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6770" marR="96770" marT="48385" marB="483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it-IT" altLang="it-IT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6770" marR="96770" marT="48385" marB="483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it-IT" altLang="it-IT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6770" marR="96770" marT="48385" marB="483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it-IT" altLang="it-IT" sz="1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6770" marR="96770" marT="48385" marB="48385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499619"/>
                  </a:ext>
                </a:extLst>
              </a:tr>
              <a:tr h="387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it-IT" altLang="it-IT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6770" marR="96770" marT="48385" marB="483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it-IT" altLang="it-IT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6770" marR="96770" marT="48385" marB="483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it-IT" altLang="it-IT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6770" marR="96770" marT="48385" marB="483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it-IT" altLang="it-IT" sz="1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6770" marR="96770" marT="48385" marB="48385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1552073"/>
                  </a:ext>
                </a:extLst>
              </a:tr>
              <a:tr h="387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it-IT" altLang="it-IT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6770" marR="96770" marT="48385" marB="483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it-IT" altLang="it-IT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6770" marR="96770" marT="48385" marB="483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it-IT" altLang="it-IT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6770" marR="96770" marT="48385" marB="483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it-IT" altLang="it-IT" sz="1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6770" marR="96770" marT="48385" marB="48385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5989246"/>
                  </a:ext>
                </a:extLst>
              </a:tr>
              <a:tr h="387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it-IT" altLang="it-IT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6770" marR="96770" marT="48385" marB="483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it-IT" altLang="it-IT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6770" marR="96770" marT="48385" marB="483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it-IT" altLang="it-IT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6770" marR="96770" marT="48385" marB="483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it-IT" altLang="it-IT" sz="1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6770" marR="96770" marT="48385" marB="48385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0253429"/>
                  </a:ext>
                </a:extLst>
              </a:tr>
              <a:tr h="387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it-IT" altLang="it-IT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6770" marR="96770" marT="48385" marB="483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it-IT" altLang="it-IT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6770" marR="96770" marT="48385" marB="483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it-IT" altLang="it-IT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6770" marR="96770" marT="48385" marB="483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it-IT" altLang="it-IT" sz="1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6770" marR="96770" marT="48385" marB="48385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61593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2000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1 - Metodo esaustivo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97520-7808-4021-A9CE-950A068AF1D3}" type="slidenum">
              <a:rPr lang="it-IT" altLang="it-IT" smtClean="0"/>
              <a:pPr/>
              <a:t>9</a:t>
            </a:fld>
            <a:endParaRPr lang="it-IT" alt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tangolo 2"/>
              <p:cNvSpPr/>
              <p:nvPr/>
            </p:nvSpPr>
            <p:spPr>
              <a:xfrm>
                <a:off x="4639245" y="1383645"/>
                <a:ext cx="2512483" cy="41992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</m:oMath>
                  </m:oMathPara>
                </a14:m>
                <a:endParaRPr lang="it-IT" sz="1905" dirty="0"/>
              </a:p>
            </p:txBody>
          </p:sp>
        </mc:Choice>
        <mc:Fallback xmlns="">
          <p:sp>
            <p:nvSpPr>
              <p:cNvPr id="3" name="Rettango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9245" y="1383645"/>
                <a:ext cx="2512483" cy="41992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Group 58"/>
              <p:cNvGraphicFramePr>
                <a:graphicFrameLocks noGrp="1"/>
              </p:cNvGraphicFramePr>
              <p:nvPr/>
            </p:nvGraphicFramePr>
            <p:xfrm>
              <a:off x="1771747" y="1898136"/>
              <a:ext cx="8417551" cy="3517926"/>
            </p:xfrm>
            <a:graphic>
              <a:graphicData uri="http://schemas.openxmlformats.org/drawingml/2006/table">
                <a:tbl>
                  <a:tblPr/>
                  <a:tblGrid>
                    <a:gridCol w="633269">
                      <a:extLst>
                        <a:ext uri="{9D8B030D-6E8A-4147-A177-3AD203B41FA5}">
                          <a16:colId xmlns:a16="http://schemas.microsoft.com/office/drawing/2014/main" val="1186221656"/>
                        </a:ext>
                      </a:extLst>
                    </a:gridCol>
                    <a:gridCol w="661735">
                      <a:extLst>
                        <a:ext uri="{9D8B030D-6E8A-4147-A177-3AD203B41FA5}">
                          <a16:colId xmlns:a16="http://schemas.microsoft.com/office/drawing/2014/main" val="391314229"/>
                        </a:ext>
                      </a:extLst>
                    </a:gridCol>
                    <a:gridCol w="562119">
                      <a:extLst>
                        <a:ext uri="{9D8B030D-6E8A-4147-A177-3AD203B41FA5}">
                          <a16:colId xmlns:a16="http://schemas.microsoft.com/office/drawing/2014/main" val="2057183182"/>
                        </a:ext>
                      </a:extLst>
                    </a:gridCol>
                    <a:gridCol w="583465">
                      <a:extLst>
                        <a:ext uri="{9D8B030D-6E8A-4147-A177-3AD203B41FA5}">
                          <a16:colId xmlns:a16="http://schemas.microsoft.com/office/drawing/2014/main" val="2678744171"/>
                        </a:ext>
                      </a:extLst>
                    </a:gridCol>
                    <a:gridCol w="647505">
                      <a:extLst>
                        <a:ext uri="{9D8B030D-6E8A-4147-A177-3AD203B41FA5}">
                          <a16:colId xmlns:a16="http://schemas.microsoft.com/office/drawing/2014/main" val="4069191443"/>
                        </a:ext>
                      </a:extLst>
                    </a:gridCol>
                    <a:gridCol w="654619">
                      <a:extLst>
                        <a:ext uri="{9D8B030D-6E8A-4147-A177-3AD203B41FA5}">
                          <a16:colId xmlns:a16="http://schemas.microsoft.com/office/drawing/2014/main" val="3236854976"/>
                        </a:ext>
                      </a:extLst>
                    </a:gridCol>
                    <a:gridCol w="1472895">
                      <a:extLst>
                        <a:ext uri="{9D8B030D-6E8A-4147-A177-3AD203B41FA5}">
                          <a16:colId xmlns:a16="http://schemas.microsoft.com/office/drawing/2014/main" val="290783020"/>
                        </a:ext>
                      </a:extLst>
                    </a:gridCol>
                    <a:gridCol w="1593857">
                      <a:extLst>
                        <a:ext uri="{9D8B030D-6E8A-4147-A177-3AD203B41FA5}">
                          <a16:colId xmlns:a16="http://schemas.microsoft.com/office/drawing/2014/main" val="1835782084"/>
                        </a:ext>
                      </a:extLst>
                    </a:gridCol>
                    <a:gridCol w="1608087">
                      <a:extLst>
                        <a:ext uri="{9D8B030D-6E8A-4147-A177-3AD203B41FA5}">
                          <a16:colId xmlns:a16="http://schemas.microsoft.com/office/drawing/2014/main" val="227452884"/>
                        </a:ext>
                      </a:extLst>
                    </a:gridCol>
                  </a:tblGrid>
                  <a:tr h="42128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A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B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C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  <m:r>
                                  <a:rPr lang="it-IT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bar>
                                <m:r>
                                  <a:rPr lang="it-IT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9149438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9287514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9698319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28695707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4449961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8155207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55989246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8025342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861593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Group 58"/>
              <p:cNvGraphicFramePr>
                <a:graphicFrameLocks noGrp="1"/>
              </p:cNvGraphicFramePr>
              <p:nvPr/>
            </p:nvGraphicFramePr>
            <p:xfrm>
              <a:off x="1771747" y="1898136"/>
              <a:ext cx="8417551" cy="3517926"/>
            </p:xfrm>
            <a:graphic>
              <a:graphicData uri="http://schemas.openxmlformats.org/drawingml/2006/table">
                <a:tbl>
                  <a:tblPr/>
                  <a:tblGrid>
                    <a:gridCol w="633269">
                      <a:extLst>
                        <a:ext uri="{9D8B030D-6E8A-4147-A177-3AD203B41FA5}">
                          <a16:colId xmlns:a16="http://schemas.microsoft.com/office/drawing/2014/main" val="1186221656"/>
                        </a:ext>
                      </a:extLst>
                    </a:gridCol>
                    <a:gridCol w="661735">
                      <a:extLst>
                        <a:ext uri="{9D8B030D-6E8A-4147-A177-3AD203B41FA5}">
                          <a16:colId xmlns:a16="http://schemas.microsoft.com/office/drawing/2014/main" val="391314229"/>
                        </a:ext>
                      </a:extLst>
                    </a:gridCol>
                    <a:gridCol w="562119">
                      <a:extLst>
                        <a:ext uri="{9D8B030D-6E8A-4147-A177-3AD203B41FA5}">
                          <a16:colId xmlns:a16="http://schemas.microsoft.com/office/drawing/2014/main" val="2057183182"/>
                        </a:ext>
                      </a:extLst>
                    </a:gridCol>
                    <a:gridCol w="583465">
                      <a:extLst>
                        <a:ext uri="{9D8B030D-6E8A-4147-A177-3AD203B41FA5}">
                          <a16:colId xmlns:a16="http://schemas.microsoft.com/office/drawing/2014/main" val="2678744171"/>
                        </a:ext>
                      </a:extLst>
                    </a:gridCol>
                    <a:gridCol w="647505">
                      <a:extLst>
                        <a:ext uri="{9D8B030D-6E8A-4147-A177-3AD203B41FA5}">
                          <a16:colId xmlns:a16="http://schemas.microsoft.com/office/drawing/2014/main" val="4069191443"/>
                        </a:ext>
                      </a:extLst>
                    </a:gridCol>
                    <a:gridCol w="654619">
                      <a:extLst>
                        <a:ext uri="{9D8B030D-6E8A-4147-A177-3AD203B41FA5}">
                          <a16:colId xmlns:a16="http://schemas.microsoft.com/office/drawing/2014/main" val="3236854976"/>
                        </a:ext>
                      </a:extLst>
                    </a:gridCol>
                    <a:gridCol w="1472895">
                      <a:extLst>
                        <a:ext uri="{9D8B030D-6E8A-4147-A177-3AD203B41FA5}">
                          <a16:colId xmlns:a16="http://schemas.microsoft.com/office/drawing/2014/main" val="290783020"/>
                        </a:ext>
                      </a:extLst>
                    </a:gridCol>
                    <a:gridCol w="1593857">
                      <a:extLst>
                        <a:ext uri="{9D8B030D-6E8A-4147-A177-3AD203B41FA5}">
                          <a16:colId xmlns:a16="http://schemas.microsoft.com/office/drawing/2014/main" val="1835782084"/>
                        </a:ext>
                      </a:extLst>
                    </a:gridCol>
                    <a:gridCol w="1608087">
                      <a:extLst>
                        <a:ext uri="{9D8B030D-6E8A-4147-A177-3AD203B41FA5}">
                          <a16:colId xmlns:a16="http://schemas.microsoft.com/office/drawing/2014/main" val="227452884"/>
                        </a:ext>
                      </a:extLst>
                    </a:gridCol>
                  </a:tblGrid>
                  <a:tr h="42128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A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B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C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18750" t="-1449" r="-1023958" b="-76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79245" t="-1449" r="-827358" b="-76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474766" t="-1449" r="-719626" b="-76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54132" t="-1449" r="-218182" b="-76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27099" t="-1449" r="-101527" b="-76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423864" t="-1449" r="-758" b="-7608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49438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9287514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9698319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28695707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4449961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8155207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55989246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8025342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8615931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4823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1 - Metodo esaustivo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97520-7808-4021-A9CE-950A068AF1D3}" type="slidenum">
              <a:rPr lang="it-IT" altLang="it-IT" smtClean="0"/>
              <a:pPr/>
              <a:t>10</a:t>
            </a:fld>
            <a:endParaRPr lang="it-IT" alt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tangolo 2"/>
              <p:cNvSpPr/>
              <p:nvPr/>
            </p:nvSpPr>
            <p:spPr>
              <a:xfrm>
                <a:off x="4639245" y="1383645"/>
                <a:ext cx="2512483" cy="41992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</m:oMath>
                  </m:oMathPara>
                </a14:m>
                <a:endParaRPr lang="it-IT" sz="1905" dirty="0"/>
              </a:p>
            </p:txBody>
          </p:sp>
        </mc:Choice>
        <mc:Fallback xmlns="">
          <p:sp>
            <p:nvSpPr>
              <p:cNvPr id="3" name="Rettango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9245" y="1383645"/>
                <a:ext cx="2512483" cy="41992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Group 58"/>
              <p:cNvGraphicFramePr>
                <a:graphicFrameLocks noGrp="1"/>
              </p:cNvGraphicFramePr>
              <p:nvPr/>
            </p:nvGraphicFramePr>
            <p:xfrm>
              <a:off x="1771747" y="1898136"/>
              <a:ext cx="8417551" cy="3517926"/>
            </p:xfrm>
            <a:graphic>
              <a:graphicData uri="http://schemas.openxmlformats.org/drawingml/2006/table">
                <a:tbl>
                  <a:tblPr/>
                  <a:tblGrid>
                    <a:gridCol w="633269">
                      <a:extLst>
                        <a:ext uri="{9D8B030D-6E8A-4147-A177-3AD203B41FA5}">
                          <a16:colId xmlns:a16="http://schemas.microsoft.com/office/drawing/2014/main" val="1186221656"/>
                        </a:ext>
                      </a:extLst>
                    </a:gridCol>
                    <a:gridCol w="661735">
                      <a:extLst>
                        <a:ext uri="{9D8B030D-6E8A-4147-A177-3AD203B41FA5}">
                          <a16:colId xmlns:a16="http://schemas.microsoft.com/office/drawing/2014/main" val="391314229"/>
                        </a:ext>
                      </a:extLst>
                    </a:gridCol>
                    <a:gridCol w="562119">
                      <a:extLst>
                        <a:ext uri="{9D8B030D-6E8A-4147-A177-3AD203B41FA5}">
                          <a16:colId xmlns:a16="http://schemas.microsoft.com/office/drawing/2014/main" val="2057183182"/>
                        </a:ext>
                      </a:extLst>
                    </a:gridCol>
                    <a:gridCol w="583465">
                      <a:extLst>
                        <a:ext uri="{9D8B030D-6E8A-4147-A177-3AD203B41FA5}">
                          <a16:colId xmlns:a16="http://schemas.microsoft.com/office/drawing/2014/main" val="2678744171"/>
                        </a:ext>
                      </a:extLst>
                    </a:gridCol>
                    <a:gridCol w="647505">
                      <a:extLst>
                        <a:ext uri="{9D8B030D-6E8A-4147-A177-3AD203B41FA5}">
                          <a16:colId xmlns:a16="http://schemas.microsoft.com/office/drawing/2014/main" val="4069191443"/>
                        </a:ext>
                      </a:extLst>
                    </a:gridCol>
                    <a:gridCol w="654619">
                      <a:extLst>
                        <a:ext uri="{9D8B030D-6E8A-4147-A177-3AD203B41FA5}">
                          <a16:colId xmlns:a16="http://schemas.microsoft.com/office/drawing/2014/main" val="3236854976"/>
                        </a:ext>
                      </a:extLst>
                    </a:gridCol>
                    <a:gridCol w="1472895">
                      <a:extLst>
                        <a:ext uri="{9D8B030D-6E8A-4147-A177-3AD203B41FA5}">
                          <a16:colId xmlns:a16="http://schemas.microsoft.com/office/drawing/2014/main" val="290783020"/>
                        </a:ext>
                      </a:extLst>
                    </a:gridCol>
                    <a:gridCol w="1593857">
                      <a:extLst>
                        <a:ext uri="{9D8B030D-6E8A-4147-A177-3AD203B41FA5}">
                          <a16:colId xmlns:a16="http://schemas.microsoft.com/office/drawing/2014/main" val="1835782084"/>
                        </a:ext>
                      </a:extLst>
                    </a:gridCol>
                    <a:gridCol w="1608087">
                      <a:extLst>
                        <a:ext uri="{9D8B030D-6E8A-4147-A177-3AD203B41FA5}">
                          <a16:colId xmlns:a16="http://schemas.microsoft.com/office/drawing/2014/main" val="227452884"/>
                        </a:ext>
                      </a:extLst>
                    </a:gridCol>
                  </a:tblGrid>
                  <a:tr h="42128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A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B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C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  <m:r>
                                  <a:rPr lang="it-IT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bar>
                                <m:r>
                                  <a:rPr lang="it-IT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9149438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9287514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9698319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28695707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4449961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8155207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55989246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8025342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861593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Group 58"/>
              <p:cNvGraphicFramePr>
                <a:graphicFrameLocks noGrp="1"/>
              </p:cNvGraphicFramePr>
              <p:nvPr/>
            </p:nvGraphicFramePr>
            <p:xfrm>
              <a:off x="1771747" y="1898136"/>
              <a:ext cx="8417551" cy="3517926"/>
            </p:xfrm>
            <a:graphic>
              <a:graphicData uri="http://schemas.openxmlformats.org/drawingml/2006/table">
                <a:tbl>
                  <a:tblPr/>
                  <a:tblGrid>
                    <a:gridCol w="633269">
                      <a:extLst>
                        <a:ext uri="{9D8B030D-6E8A-4147-A177-3AD203B41FA5}">
                          <a16:colId xmlns:a16="http://schemas.microsoft.com/office/drawing/2014/main" val="1186221656"/>
                        </a:ext>
                      </a:extLst>
                    </a:gridCol>
                    <a:gridCol w="661735">
                      <a:extLst>
                        <a:ext uri="{9D8B030D-6E8A-4147-A177-3AD203B41FA5}">
                          <a16:colId xmlns:a16="http://schemas.microsoft.com/office/drawing/2014/main" val="391314229"/>
                        </a:ext>
                      </a:extLst>
                    </a:gridCol>
                    <a:gridCol w="562119">
                      <a:extLst>
                        <a:ext uri="{9D8B030D-6E8A-4147-A177-3AD203B41FA5}">
                          <a16:colId xmlns:a16="http://schemas.microsoft.com/office/drawing/2014/main" val="2057183182"/>
                        </a:ext>
                      </a:extLst>
                    </a:gridCol>
                    <a:gridCol w="583465">
                      <a:extLst>
                        <a:ext uri="{9D8B030D-6E8A-4147-A177-3AD203B41FA5}">
                          <a16:colId xmlns:a16="http://schemas.microsoft.com/office/drawing/2014/main" val="2678744171"/>
                        </a:ext>
                      </a:extLst>
                    </a:gridCol>
                    <a:gridCol w="647505">
                      <a:extLst>
                        <a:ext uri="{9D8B030D-6E8A-4147-A177-3AD203B41FA5}">
                          <a16:colId xmlns:a16="http://schemas.microsoft.com/office/drawing/2014/main" val="4069191443"/>
                        </a:ext>
                      </a:extLst>
                    </a:gridCol>
                    <a:gridCol w="654619">
                      <a:extLst>
                        <a:ext uri="{9D8B030D-6E8A-4147-A177-3AD203B41FA5}">
                          <a16:colId xmlns:a16="http://schemas.microsoft.com/office/drawing/2014/main" val="3236854976"/>
                        </a:ext>
                      </a:extLst>
                    </a:gridCol>
                    <a:gridCol w="1472895">
                      <a:extLst>
                        <a:ext uri="{9D8B030D-6E8A-4147-A177-3AD203B41FA5}">
                          <a16:colId xmlns:a16="http://schemas.microsoft.com/office/drawing/2014/main" val="290783020"/>
                        </a:ext>
                      </a:extLst>
                    </a:gridCol>
                    <a:gridCol w="1593857">
                      <a:extLst>
                        <a:ext uri="{9D8B030D-6E8A-4147-A177-3AD203B41FA5}">
                          <a16:colId xmlns:a16="http://schemas.microsoft.com/office/drawing/2014/main" val="1835782084"/>
                        </a:ext>
                      </a:extLst>
                    </a:gridCol>
                    <a:gridCol w="1608087">
                      <a:extLst>
                        <a:ext uri="{9D8B030D-6E8A-4147-A177-3AD203B41FA5}">
                          <a16:colId xmlns:a16="http://schemas.microsoft.com/office/drawing/2014/main" val="227452884"/>
                        </a:ext>
                      </a:extLst>
                    </a:gridCol>
                  </a:tblGrid>
                  <a:tr h="42128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A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B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C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18750" t="-1449" r="-1023958" b="-76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79245" t="-1449" r="-827358" b="-76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474766" t="-1449" r="-719626" b="-76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54132" t="-1449" r="-218182" b="-76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27099" t="-1449" r="-101527" b="-76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423864" t="-1449" r="-758" b="-7608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49438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9287514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9698319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28695707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4449961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8155207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55989246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8025342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8615931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84597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1 - Metodo esaustivo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97520-7808-4021-A9CE-950A068AF1D3}" type="slidenum">
              <a:rPr lang="it-IT" altLang="it-IT" smtClean="0"/>
              <a:pPr/>
              <a:t>11</a:t>
            </a:fld>
            <a:endParaRPr lang="it-IT" alt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tangolo 2"/>
              <p:cNvSpPr/>
              <p:nvPr/>
            </p:nvSpPr>
            <p:spPr>
              <a:xfrm>
                <a:off x="4639245" y="1383645"/>
                <a:ext cx="2512483" cy="41992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</m:oMath>
                  </m:oMathPara>
                </a14:m>
                <a:endParaRPr lang="it-IT" sz="1905" dirty="0"/>
              </a:p>
            </p:txBody>
          </p:sp>
        </mc:Choice>
        <mc:Fallback xmlns="">
          <p:sp>
            <p:nvSpPr>
              <p:cNvPr id="3" name="Rettango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9245" y="1383645"/>
                <a:ext cx="2512483" cy="41992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Group 58"/>
              <p:cNvGraphicFramePr>
                <a:graphicFrameLocks noGrp="1"/>
              </p:cNvGraphicFramePr>
              <p:nvPr/>
            </p:nvGraphicFramePr>
            <p:xfrm>
              <a:off x="1771747" y="1898136"/>
              <a:ext cx="8417551" cy="3517926"/>
            </p:xfrm>
            <a:graphic>
              <a:graphicData uri="http://schemas.openxmlformats.org/drawingml/2006/table">
                <a:tbl>
                  <a:tblPr/>
                  <a:tblGrid>
                    <a:gridCol w="633269">
                      <a:extLst>
                        <a:ext uri="{9D8B030D-6E8A-4147-A177-3AD203B41FA5}">
                          <a16:colId xmlns:a16="http://schemas.microsoft.com/office/drawing/2014/main" val="1186221656"/>
                        </a:ext>
                      </a:extLst>
                    </a:gridCol>
                    <a:gridCol w="661735">
                      <a:extLst>
                        <a:ext uri="{9D8B030D-6E8A-4147-A177-3AD203B41FA5}">
                          <a16:colId xmlns:a16="http://schemas.microsoft.com/office/drawing/2014/main" val="391314229"/>
                        </a:ext>
                      </a:extLst>
                    </a:gridCol>
                    <a:gridCol w="562119">
                      <a:extLst>
                        <a:ext uri="{9D8B030D-6E8A-4147-A177-3AD203B41FA5}">
                          <a16:colId xmlns:a16="http://schemas.microsoft.com/office/drawing/2014/main" val="2057183182"/>
                        </a:ext>
                      </a:extLst>
                    </a:gridCol>
                    <a:gridCol w="583465">
                      <a:extLst>
                        <a:ext uri="{9D8B030D-6E8A-4147-A177-3AD203B41FA5}">
                          <a16:colId xmlns:a16="http://schemas.microsoft.com/office/drawing/2014/main" val="2678744171"/>
                        </a:ext>
                      </a:extLst>
                    </a:gridCol>
                    <a:gridCol w="647505">
                      <a:extLst>
                        <a:ext uri="{9D8B030D-6E8A-4147-A177-3AD203B41FA5}">
                          <a16:colId xmlns:a16="http://schemas.microsoft.com/office/drawing/2014/main" val="4069191443"/>
                        </a:ext>
                      </a:extLst>
                    </a:gridCol>
                    <a:gridCol w="654619">
                      <a:extLst>
                        <a:ext uri="{9D8B030D-6E8A-4147-A177-3AD203B41FA5}">
                          <a16:colId xmlns:a16="http://schemas.microsoft.com/office/drawing/2014/main" val="3236854976"/>
                        </a:ext>
                      </a:extLst>
                    </a:gridCol>
                    <a:gridCol w="1472895">
                      <a:extLst>
                        <a:ext uri="{9D8B030D-6E8A-4147-A177-3AD203B41FA5}">
                          <a16:colId xmlns:a16="http://schemas.microsoft.com/office/drawing/2014/main" val="290783020"/>
                        </a:ext>
                      </a:extLst>
                    </a:gridCol>
                    <a:gridCol w="1593857">
                      <a:extLst>
                        <a:ext uri="{9D8B030D-6E8A-4147-A177-3AD203B41FA5}">
                          <a16:colId xmlns:a16="http://schemas.microsoft.com/office/drawing/2014/main" val="1835782084"/>
                        </a:ext>
                      </a:extLst>
                    </a:gridCol>
                    <a:gridCol w="1608087">
                      <a:extLst>
                        <a:ext uri="{9D8B030D-6E8A-4147-A177-3AD203B41FA5}">
                          <a16:colId xmlns:a16="http://schemas.microsoft.com/office/drawing/2014/main" val="227452884"/>
                        </a:ext>
                      </a:extLst>
                    </a:gridCol>
                  </a:tblGrid>
                  <a:tr h="42128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A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B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C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  <m:r>
                                  <a:rPr lang="it-IT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bar>
                                <m:r>
                                  <a:rPr lang="it-IT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9149438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9287514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9698319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28695707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4449961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8155207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55989246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8025342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861593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Group 58"/>
              <p:cNvGraphicFramePr>
                <a:graphicFrameLocks noGrp="1"/>
              </p:cNvGraphicFramePr>
              <p:nvPr/>
            </p:nvGraphicFramePr>
            <p:xfrm>
              <a:off x="1771747" y="1898136"/>
              <a:ext cx="8417551" cy="3517926"/>
            </p:xfrm>
            <a:graphic>
              <a:graphicData uri="http://schemas.openxmlformats.org/drawingml/2006/table">
                <a:tbl>
                  <a:tblPr/>
                  <a:tblGrid>
                    <a:gridCol w="633269">
                      <a:extLst>
                        <a:ext uri="{9D8B030D-6E8A-4147-A177-3AD203B41FA5}">
                          <a16:colId xmlns:a16="http://schemas.microsoft.com/office/drawing/2014/main" val="1186221656"/>
                        </a:ext>
                      </a:extLst>
                    </a:gridCol>
                    <a:gridCol w="661735">
                      <a:extLst>
                        <a:ext uri="{9D8B030D-6E8A-4147-A177-3AD203B41FA5}">
                          <a16:colId xmlns:a16="http://schemas.microsoft.com/office/drawing/2014/main" val="391314229"/>
                        </a:ext>
                      </a:extLst>
                    </a:gridCol>
                    <a:gridCol w="562119">
                      <a:extLst>
                        <a:ext uri="{9D8B030D-6E8A-4147-A177-3AD203B41FA5}">
                          <a16:colId xmlns:a16="http://schemas.microsoft.com/office/drawing/2014/main" val="2057183182"/>
                        </a:ext>
                      </a:extLst>
                    </a:gridCol>
                    <a:gridCol w="583465">
                      <a:extLst>
                        <a:ext uri="{9D8B030D-6E8A-4147-A177-3AD203B41FA5}">
                          <a16:colId xmlns:a16="http://schemas.microsoft.com/office/drawing/2014/main" val="2678744171"/>
                        </a:ext>
                      </a:extLst>
                    </a:gridCol>
                    <a:gridCol w="647505">
                      <a:extLst>
                        <a:ext uri="{9D8B030D-6E8A-4147-A177-3AD203B41FA5}">
                          <a16:colId xmlns:a16="http://schemas.microsoft.com/office/drawing/2014/main" val="4069191443"/>
                        </a:ext>
                      </a:extLst>
                    </a:gridCol>
                    <a:gridCol w="654619">
                      <a:extLst>
                        <a:ext uri="{9D8B030D-6E8A-4147-A177-3AD203B41FA5}">
                          <a16:colId xmlns:a16="http://schemas.microsoft.com/office/drawing/2014/main" val="3236854976"/>
                        </a:ext>
                      </a:extLst>
                    </a:gridCol>
                    <a:gridCol w="1472895">
                      <a:extLst>
                        <a:ext uri="{9D8B030D-6E8A-4147-A177-3AD203B41FA5}">
                          <a16:colId xmlns:a16="http://schemas.microsoft.com/office/drawing/2014/main" val="290783020"/>
                        </a:ext>
                      </a:extLst>
                    </a:gridCol>
                    <a:gridCol w="1593857">
                      <a:extLst>
                        <a:ext uri="{9D8B030D-6E8A-4147-A177-3AD203B41FA5}">
                          <a16:colId xmlns:a16="http://schemas.microsoft.com/office/drawing/2014/main" val="1835782084"/>
                        </a:ext>
                      </a:extLst>
                    </a:gridCol>
                    <a:gridCol w="1608087">
                      <a:extLst>
                        <a:ext uri="{9D8B030D-6E8A-4147-A177-3AD203B41FA5}">
                          <a16:colId xmlns:a16="http://schemas.microsoft.com/office/drawing/2014/main" val="227452884"/>
                        </a:ext>
                      </a:extLst>
                    </a:gridCol>
                  </a:tblGrid>
                  <a:tr h="42128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A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B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C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18750" t="-1449" r="-1023958" b="-76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79245" t="-1449" r="-827358" b="-76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474766" t="-1449" r="-719626" b="-76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54132" t="-1449" r="-218182" b="-76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27099" t="-1449" r="-101527" b="-76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423864" t="-1449" r="-758" b="-7608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49438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9287514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9698319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28695707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4449961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8155207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55989246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8025342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8615931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44964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1 - Metodo esaustivo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97520-7808-4021-A9CE-950A068AF1D3}" type="slidenum">
              <a:rPr lang="it-IT" altLang="it-IT" smtClean="0"/>
              <a:pPr/>
              <a:t>12</a:t>
            </a:fld>
            <a:endParaRPr lang="it-IT" alt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tangolo 2"/>
              <p:cNvSpPr/>
              <p:nvPr/>
            </p:nvSpPr>
            <p:spPr>
              <a:xfrm>
                <a:off x="4639245" y="1383645"/>
                <a:ext cx="2512483" cy="41992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</m:oMath>
                  </m:oMathPara>
                </a14:m>
                <a:endParaRPr lang="it-IT" sz="1905" dirty="0"/>
              </a:p>
            </p:txBody>
          </p:sp>
        </mc:Choice>
        <mc:Fallback xmlns="">
          <p:sp>
            <p:nvSpPr>
              <p:cNvPr id="3" name="Rettango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9245" y="1383645"/>
                <a:ext cx="2512483" cy="41992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Group 58"/>
              <p:cNvGraphicFramePr>
                <a:graphicFrameLocks noGrp="1"/>
              </p:cNvGraphicFramePr>
              <p:nvPr/>
            </p:nvGraphicFramePr>
            <p:xfrm>
              <a:off x="1771747" y="1898136"/>
              <a:ext cx="8417551" cy="3517926"/>
            </p:xfrm>
            <a:graphic>
              <a:graphicData uri="http://schemas.openxmlformats.org/drawingml/2006/table">
                <a:tbl>
                  <a:tblPr/>
                  <a:tblGrid>
                    <a:gridCol w="633269">
                      <a:extLst>
                        <a:ext uri="{9D8B030D-6E8A-4147-A177-3AD203B41FA5}">
                          <a16:colId xmlns:a16="http://schemas.microsoft.com/office/drawing/2014/main" val="1186221656"/>
                        </a:ext>
                      </a:extLst>
                    </a:gridCol>
                    <a:gridCol w="661735">
                      <a:extLst>
                        <a:ext uri="{9D8B030D-6E8A-4147-A177-3AD203B41FA5}">
                          <a16:colId xmlns:a16="http://schemas.microsoft.com/office/drawing/2014/main" val="391314229"/>
                        </a:ext>
                      </a:extLst>
                    </a:gridCol>
                    <a:gridCol w="562119">
                      <a:extLst>
                        <a:ext uri="{9D8B030D-6E8A-4147-A177-3AD203B41FA5}">
                          <a16:colId xmlns:a16="http://schemas.microsoft.com/office/drawing/2014/main" val="2057183182"/>
                        </a:ext>
                      </a:extLst>
                    </a:gridCol>
                    <a:gridCol w="583465">
                      <a:extLst>
                        <a:ext uri="{9D8B030D-6E8A-4147-A177-3AD203B41FA5}">
                          <a16:colId xmlns:a16="http://schemas.microsoft.com/office/drawing/2014/main" val="2678744171"/>
                        </a:ext>
                      </a:extLst>
                    </a:gridCol>
                    <a:gridCol w="647505">
                      <a:extLst>
                        <a:ext uri="{9D8B030D-6E8A-4147-A177-3AD203B41FA5}">
                          <a16:colId xmlns:a16="http://schemas.microsoft.com/office/drawing/2014/main" val="4069191443"/>
                        </a:ext>
                      </a:extLst>
                    </a:gridCol>
                    <a:gridCol w="654619">
                      <a:extLst>
                        <a:ext uri="{9D8B030D-6E8A-4147-A177-3AD203B41FA5}">
                          <a16:colId xmlns:a16="http://schemas.microsoft.com/office/drawing/2014/main" val="3236854976"/>
                        </a:ext>
                      </a:extLst>
                    </a:gridCol>
                    <a:gridCol w="1472895">
                      <a:extLst>
                        <a:ext uri="{9D8B030D-6E8A-4147-A177-3AD203B41FA5}">
                          <a16:colId xmlns:a16="http://schemas.microsoft.com/office/drawing/2014/main" val="290783020"/>
                        </a:ext>
                      </a:extLst>
                    </a:gridCol>
                    <a:gridCol w="1593857">
                      <a:extLst>
                        <a:ext uri="{9D8B030D-6E8A-4147-A177-3AD203B41FA5}">
                          <a16:colId xmlns:a16="http://schemas.microsoft.com/office/drawing/2014/main" val="1835782084"/>
                        </a:ext>
                      </a:extLst>
                    </a:gridCol>
                    <a:gridCol w="1608087">
                      <a:extLst>
                        <a:ext uri="{9D8B030D-6E8A-4147-A177-3AD203B41FA5}">
                          <a16:colId xmlns:a16="http://schemas.microsoft.com/office/drawing/2014/main" val="227452884"/>
                        </a:ext>
                      </a:extLst>
                    </a:gridCol>
                  </a:tblGrid>
                  <a:tr h="42128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A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B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C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  <m:r>
                                  <a:rPr lang="it-IT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bar>
                                <m:r>
                                  <a:rPr lang="it-IT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9149438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9287514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9698319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28695707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4449961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8155207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55989246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8025342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861593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Group 58"/>
              <p:cNvGraphicFramePr>
                <a:graphicFrameLocks noGrp="1"/>
              </p:cNvGraphicFramePr>
              <p:nvPr/>
            </p:nvGraphicFramePr>
            <p:xfrm>
              <a:off x="1771747" y="1898136"/>
              <a:ext cx="8417551" cy="3517926"/>
            </p:xfrm>
            <a:graphic>
              <a:graphicData uri="http://schemas.openxmlformats.org/drawingml/2006/table">
                <a:tbl>
                  <a:tblPr/>
                  <a:tblGrid>
                    <a:gridCol w="633269">
                      <a:extLst>
                        <a:ext uri="{9D8B030D-6E8A-4147-A177-3AD203B41FA5}">
                          <a16:colId xmlns:a16="http://schemas.microsoft.com/office/drawing/2014/main" val="1186221656"/>
                        </a:ext>
                      </a:extLst>
                    </a:gridCol>
                    <a:gridCol w="661735">
                      <a:extLst>
                        <a:ext uri="{9D8B030D-6E8A-4147-A177-3AD203B41FA5}">
                          <a16:colId xmlns:a16="http://schemas.microsoft.com/office/drawing/2014/main" val="391314229"/>
                        </a:ext>
                      </a:extLst>
                    </a:gridCol>
                    <a:gridCol w="562119">
                      <a:extLst>
                        <a:ext uri="{9D8B030D-6E8A-4147-A177-3AD203B41FA5}">
                          <a16:colId xmlns:a16="http://schemas.microsoft.com/office/drawing/2014/main" val="2057183182"/>
                        </a:ext>
                      </a:extLst>
                    </a:gridCol>
                    <a:gridCol w="583465">
                      <a:extLst>
                        <a:ext uri="{9D8B030D-6E8A-4147-A177-3AD203B41FA5}">
                          <a16:colId xmlns:a16="http://schemas.microsoft.com/office/drawing/2014/main" val="2678744171"/>
                        </a:ext>
                      </a:extLst>
                    </a:gridCol>
                    <a:gridCol w="647505">
                      <a:extLst>
                        <a:ext uri="{9D8B030D-6E8A-4147-A177-3AD203B41FA5}">
                          <a16:colId xmlns:a16="http://schemas.microsoft.com/office/drawing/2014/main" val="4069191443"/>
                        </a:ext>
                      </a:extLst>
                    </a:gridCol>
                    <a:gridCol w="654619">
                      <a:extLst>
                        <a:ext uri="{9D8B030D-6E8A-4147-A177-3AD203B41FA5}">
                          <a16:colId xmlns:a16="http://schemas.microsoft.com/office/drawing/2014/main" val="3236854976"/>
                        </a:ext>
                      </a:extLst>
                    </a:gridCol>
                    <a:gridCol w="1472895">
                      <a:extLst>
                        <a:ext uri="{9D8B030D-6E8A-4147-A177-3AD203B41FA5}">
                          <a16:colId xmlns:a16="http://schemas.microsoft.com/office/drawing/2014/main" val="290783020"/>
                        </a:ext>
                      </a:extLst>
                    </a:gridCol>
                    <a:gridCol w="1593857">
                      <a:extLst>
                        <a:ext uri="{9D8B030D-6E8A-4147-A177-3AD203B41FA5}">
                          <a16:colId xmlns:a16="http://schemas.microsoft.com/office/drawing/2014/main" val="1835782084"/>
                        </a:ext>
                      </a:extLst>
                    </a:gridCol>
                    <a:gridCol w="1608087">
                      <a:extLst>
                        <a:ext uri="{9D8B030D-6E8A-4147-A177-3AD203B41FA5}">
                          <a16:colId xmlns:a16="http://schemas.microsoft.com/office/drawing/2014/main" val="227452884"/>
                        </a:ext>
                      </a:extLst>
                    </a:gridCol>
                  </a:tblGrid>
                  <a:tr h="42128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A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B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C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18750" t="-1449" r="-1023958" b="-76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79245" t="-1449" r="-827358" b="-76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474766" t="-1449" r="-719626" b="-76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54132" t="-1449" r="-218182" b="-76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27099" t="-1449" r="-101527" b="-76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423864" t="-1449" r="-758" b="-7608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49438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9287514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9698319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28695707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4449961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8155207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55989246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8025342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8615931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75518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1 - Metodo esaustivo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97520-7808-4021-A9CE-950A068AF1D3}" type="slidenum">
              <a:rPr lang="it-IT" altLang="it-IT" smtClean="0"/>
              <a:pPr/>
              <a:t>13</a:t>
            </a:fld>
            <a:endParaRPr lang="it-IT" alt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tangolo 2"/>
              <p:cNvSpPr/>
              <p:nvPr/>
            </p:nvSpPr>
            <p:spPr>
              <a:xfrm>
                <a:off x="4639245" y="1383645"/>
                <a:ext cx="2512483" cy="41992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</m:oMath>
                  </m:oMathPara>
                </a14:m>
                <a:endParaRPr lang="it-IT" sz="1905" dirty="0"/>
              </a:p>
            </p:txBody>
          </p:sp>
        </mc:Choice>
        <mc:Fallback xmlns="">
          <p:sp>
            <p:nvSpPr>
              <p:cNvPr id="3" name="Rettango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9245" y="1383645"/>
                <a:ext cx="2512483" cy="41992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Group 58"/>
              <p:cNvGraphicFramePr>
                <a:graphicFrameLocks noGrp="1"/>
              </p:cNvGraphicFramePr>
              <p:nvPr/>
            </p:nvGraphicFramePr>
            <p:xfrm>
              <a:off x="1771747" y="1898136"/>
              <a:ext cx="8417551" cy="3517926"/>
            </p:xfrm>
            <a:graphic>
              <a:graphicData uri="http://schemas.openxmlformats.org/drawingml/2006/table">
                <a:tbl>
                  <a:tblPr/>
                  <a:tblGrid>
                    <a:gridCol w="633269">
                      <a:extLst>
                        <a:ext uri="{9D8B030D-6E8A-4147-A177-3AD203B41FA5}">
                          <a16:colId xmlns:a16="http://schemas.microsoft.com/office/drawing/2014/main" val="1186221656"/>
                        </a:ext>
                      </a:extLst>
                    </a:gridCol>
                    <a:gridCol w="661735">
                      <a:extLst>
                        <a:ext uri="{9D8B030D-6E8A-4147-A177-3AD203B41FA5}">
                          <a16:colId xmlns:a16="http://schemas.microsoft.com/office/drawing/2014/main" val="391314229"/>
                        </a:ext>
                      </a:extLst>
                    </a:gridCol>
                    <a:gridCol w="562119">
                      <a:extLst>
                        <a:ext uri="{9D8B030D-6E8A-4147-A177-3AD203B41FA5}">
                          <a16:colId xmlns:a16="http://schemas.microsoft.com/office/drawing/2014/main" val="2057183182"/>
                        </a:ext>
                      </a:extLst>
                    </a:gridCol>
                    <a:gridCol w="583465">
                      <a:extLst>
                        <a:ext uri="{9D8B030D-6E8A-4147-A177-3AD203B41FA5}">
                          <a16:colId xmlns:a16="http://schemas.microsoft.com/office/drawing/2014/main" val="2678744171"/>
                        </a:ext>
                      </a:extLst>
                    </a:gridCol>
                    <a:gridCol w="647505">
                      <a:extLst>
                        <a:ext uri="{9D8B030D-6E8A-4147-A177-3AD203B41FA5}">
                          <a16:colId xmlns:a16="http://schemas.microsoft.com/office/drawing/2014/main" val="4069191443"/>
                        </a:ext>
                      </a:extLst>
                    </a:gridCol>
                    <a:gridCol w="654619">
                      <a:extLst>
                        <a:ext uri="{9D8B030D-6E8A-4147-A177-3AD203B41FA5}">
                          <a16:colId xmlns:a16="http://schemas.microsoft.com/office/drawing/2014/main" val="3236854976"/>
                        </a:ext>
                      </a:extLst>
                    </a:gridCol>
                    <a:gridCol w="1472895">
                      <a:extLst>
                        <a:ext uri="{9D8B030D-6E8A-4147-A177-3AD203B41FA5}">
                          <a16:colId xmlns:a16="http://schemas.microsoft.com/office/drawing/2014/main" val="290783020"/>
                        </a:ext>
                      </a:extLst>
                    </a:gridCol>
                    <a:gridCol w="1593857">
                      <a:extLst>
                        <a:ext uri="{9D8B030D-6E8A-4147-A177-3AD203B41FA5}">
                          <a16:colId xmlns:a16="http://schemas.microsoft.com/office/drawing/2014/main" val="1835782084"/>
                        </a:ext>
                      </a:extLst>
                    </a:gridCol>
                    <a:gridCol w="1608087">
                      <a:extLst>
                        <a:ext uri="{9D8B030D-6E8A-4147-A177-3AD203B41FA5}">
                          <a16:colId xmlns:a16="http://schemas.microsoft.com/office/drawing/2014/main" val="227452884"/>
                        </a:ext>
                      </a:extLst>
                    </a:gridCol>
                  </a:tblGrid>
                  <a:tr h="42128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A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B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C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  <m:r>
                                  <a:rPr lang="it-IT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bar>
                                <m:r>
                                  <a:rPr lang="it-IT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9149438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9287514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9698319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28695707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4449961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8155207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55989246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8025342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861593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Group 58"/>
              <p:cNvGraphicFramePr>
                <a:graphicFrameLocks noGrp="1"/>
              </p:cNvGraphicFramePr>
              <p:nvPr/>
            </p:nvGraphicFramePr>
            <p:xfrm>
              <a:off x="1771747" y="1898136"/>
              <a:ext cx="8417551" cy="3517926"/>
            </p:xfrm>
            <a:graphic>
              <a:graphicData uri="http://schemas.openxmlformats.org/drawingml/2006/table">
                <a:tbl>
                  <a:tblPr/>
                  <a:tblGrid>
                    <a:gridCol w="633269">
                      <a:extLst>
                        <a:ext uri="{9D8B030D-6E8A-4147-A177-3AD203B41FA5}">
                          <a16:colId xmlns:a16="http://schemas.microsoft.com/office/drawing/2014/main" val="1186221656"/>
                        </a:ext>
                      </a:extLst>
                    </a:gridCol>
                    <a:gridCol w="661735">
                      <a:extLst>
                        <a:ext uri="{9D8B030D-6E8A-4147-A177-3AD203B41FA5}">
                          <a16:colId xmlns:a16="http://schemas.microsoft.com/office/drawing/2014/main" val="391314229"/>
                        </a:ext>
                      </a:extLst>
                    </a:gridCol>
                    <a:gridCol w="562119">
                      <a:extLst>
                        <a:ext uri="{9D8B030D-6E8A-4147-A177-3AD203B41FA5}">
                          <a16:colId xmlns:a16="http://schemas.microsoft.com/office/drawing/2014/main" val="2057183182"/>
                        </a:ext>
                      </a:extLst>
                    </a:gridCol>
                    <a:gridCol w="583465">
                      <a:extLst>
                        <a:ext uri="{9D8B030D-6E8A-4147-A177-3AD203B41FA5}">
                          <a16:colId xmlns:a16="http://schemas.microsoft.com/office/drawing/2014/main" val="2678744171"/>
                        </a:ext>
                      </a:extLst>
                    </a:gridCol>
                    <a:gridCol w="647505">
                      <a:extLst>
                        <a:ext uri="{9D8B030D-6E8A-4147-A177-3AD203B41FA5}">
                          <a16:colId xmlns:a16="http://schemas.microsoft.com/office/drawing/2014/main" val="4069191443"/>
                        </a:ext>
                      </a:extLst>
                    </a:gridCol>
                    <a:gridCol w="654619">
                      <a:extLst>
                        <a:ext uri="{9D8B030D-6E8A-4147-A177-3AD203B41FA5}">
                          <a16:colId xmlns:a16="http://schemas.microsoft.com/office/drawing/2014/main" val="3236854976"/>
                        </a:ext>
                      </a:extLst>
                    </a:gridCol>
                    <a:gridCol w="1472895">
                      <a:extLst>
                        <a:ext uri="{9D8B030D-6E8A-4147-A177-3AD203B41FA5}">
                          <a16:colId xmlns:a16="http://schemas.microsoft.com/office/drawing/2014/main" val="290783020"/>
                        </a:ext>
                      </a:extLst>
                    </a:gridCol>
                    <a:gridCol w="1593857">
                      <a:extLst>
                        <a:ext uri="{9D8B030D-6E8A-4147-A177-3AD203B41FA5}">
                          <a16:colId xmlns:a16="http://schemas.microsoft.com/office/drawing/2014/main" val="1835782084"/>
                        </a:ext>
                      </a:extLst>
                    </a:gridCol>
                    <a:gridCol w="1608087">
                      <a:extLst>
                        <a:ext uri="{9D8B030D-6E8A-4147-A177-3AD203B41FA5}">
                          <a16:colId xmlns:a16="http://schemas.microsoft.com/office/drawing/2014/main" val="227452884"/>
                        </a:ext>
                      </a:extLst>
                    </a:gridCol>
                  </a:tblGrid>
                  <a:tr h="42128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A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B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C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18750" t="-1449" r="-1023958" b="-76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79245" t="-1449" r="-827358" b="-76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474766" t="-1449" r="-719626" b="-76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54132" t="-1449" r="-218182" b="-76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27099" t="-1449" r="-101527" b="-76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423864" t="-1449" r="-758" b="-7608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49438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9287514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9698319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28695707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4449961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8155207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55989246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8025342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8615931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761232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1 - Metodo esaustivo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97520-7808-4021-A9CE-950A068AF1D3}" type="slidenum">
              <a:rPr lang="it-IT" altLang="it-IT" smtClean="0"/>
              <a:pPr/>
              <a:t>14</a:t>
            </a:fld>
            <a:endParaRPr lang="it-IT" alt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tangolo 2"/>
              <p:cNvSpPr/>
              <p:nvPr/>
            </p:nvSpPr>
            <p:spPr>
              <a:xfrm>
                <a:off x="4639245" y="1383645"/>
                <a:ext cx="2512483" cy="41992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</m:oMath>
                  </m:oMathPara>
                </a14:m>
                <a:endParaRPr lang="it-IT" sz="1905" dirty="0"/>
              </a:p>
            </p:txBody>
          </p:sp>
        </mc:Choice>
        <mc:Fallback xmlns="">
          <p:sp>
            <p:nvSpPr>
              <p:cNvPr id="3" name="Rettango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9245" y="1383645"/>
                <a:ext cx="2512483" cy="41992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Group 58"/>
              <p:cNvGraphicFramePr>
                <a:graphicFrameLocks noGrp="1"/>
              </p:cNvGraphicFramePr>
              <p:nvPr/>
            </p:nvGraphicFramePr>
            <p:xfrm>
              <a:off x="1771747" y="1898136"/>
              <a:ext cx="8417551" cy="3517926"/>
            </p:xfrm>
            <a:graphic>
              <a:graphicData uri="http://schemas.openxmlformats.org/drawingml/2006/table">
                <a:tbl>
                  <a:tblPr/>
                  <a:tblGrid>
                    <a:gridCol w="633269">
                      <a:extLst>
                        <a:ext uri="{9D8B030D-6E8A-4147-A177-3AD203B41FA5}">
                          <a16:colId xmlns:a16="http://schemas.microsoft.com/office/drawing/2014/main" val="1186221656"/>
                        </a:ext>
                      </a:extLst>
                    </a:gridCol>
                    <a:gridCol w="661735">
                      <a:extLst>
                        <a:ext uri="{9D8B030D-6E8A-4147-A177-3AD203B41FA5}">
                          <a16:colId xmlns:a16="http://schemas.microsoft.com/office/drawing/2014/main" val="391314229"/>
                        </a:ext>
                      </a:extLst>
                    </a:gridCol>
                    <a:gridCol w="562119">
                      <a:extLst>
                        <a:ext uri="{9D8B030D-6E8A-4147-A177-3AD203B41FA5}">
                          <a16:colId xmlns:a16="http://schemas.microsoft.com/office/drawing/2014/main" val="2057183182"/>
                        </a:ext>
                      </a:extLst>
                    </a:gridCol>
                    <a:gridCol w="583465">
                      <a:extLst>
                        <a:ext uri="{9D8B030D-6E8A-4147-A177-3AD203B41FA5}">
                          <a16:colId xmlns:a16="http://schemas.microsoft.com/office/drawing/2014/main" val="2678744171"/>
                        </a:ext>
                      </a:extLst>
                    </a:gridCol>
                    <a:gridCol w="647505">
                      <a:extLst>
                        <a:ext uri="{9D8B030D-6E8A-4147-A177-3AD203B41FA5}">
                          <a16:colId xmlns:a16="http://schemas.microsoft.com/office/drawing/2014/main" val="4069191443"/>
                        </a:ext>
                      </a:extLst>
                    </a:gridCol>
                    <a:gridCol w="654619">
                      <a:extLst>
                        <a:ext uri="{9D8B030D-6E8A-4147-A177-3AD203B41FA5}">
                          <a16:colId xmlns:a16="http://schemas.microsoft.com/office/drawing/2014/main" val="3236854976"/>
                        </a:ext>
                      </a:extLst>
                    </a:gridCol>
                    <a:gridCol w="1472895">
                      <a:extLst>
                        <a:ext uri="{9D8B030D-6E8A-4147-A177-3AD203B41FA5}">
                          <a16:colId xmlns:a16="http://schemas.microsoft.com/office/drawing/2014/main" val="290783020"/>
                        </a:ext>
                      </a:extLst>
                    </a:gridCol>
                    <a:gridCol w="1593857">
                      <a:extLst>
                        <a:ext uri="{9D8B030D-6E8A-4147-A177-3AD203B41FA5}">
                          <a16:colId xmlns:a16="http://schemas.microsoft.com/office/drawing/2014/main" val="1835782084"/>
                        </a:ext>
                      </a:extLst>
                    </a:gridCol>
                    <a:gridCol w="1608087">
                      <a:extLst>
                        <a:ext uri="{9D8B030D-6E8A-4147-A177-3AD203B41FA5}">
                          <a16:colId xmlns:a16="http://schemas.microsoft.com/office/drawing/2014/main" val="227452884"/>
                        </a:ext>
                      </a:extLst>
                    </a:gridCol>
                  </a:tblGrid>
                  <a:tr h="42128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A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B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C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  <m:r>
                                  <a:rPr lang="it-IT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bar>
                                <m:r>
                                  <a:rPr lang="it-IT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9149438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9287514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9698319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28695707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4449961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8155207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55989246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8025342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861593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Group 58"/>
              <p:cNvGraphicFramePr>
                <a:graphicFrameLocks noGrp="1"/>
              </p:cNvGraphicFramePr>
              <p:nvPr/>
            </p:nvGraphicFramePr>
            <p:xfrm>
              <a:off x="1771747" y="1898136"/>
              <a:ext cx="8417551" cy="3517926"/>
            </p:xfrm>
            <a:graphic>
              <a:graphicData uri="http://schemas.openxmlformats.org/drawingml/2006/table">
                <a:tbl>
                  <a:tblPr/>
                  <a:tblGrid>
                    <a:gridCol w="633269">
                      <a:extLst>
                        <a:ext uri="{9D8B030D-6E8A-4147-A177-3AD203B41FA5}">
                          <a16:colId xmlns:a16="http://schemas.microsoft.com/office/drawing/2014/main" val="1186221656"/>
                        </a:ext>
                      </a:extLst>
                    </a:gridCol>
                    <a:gridCol w="661735">
                      <a:extLst>
                        <a:ext uri="{9D8B030D-6E8A-4147-A177-3AD203B41FA5}">
                          <a16:colId xmlns:a16="http://schemas.microsoft.com/office/drawing/2014/main" val="391314229"/>
                        </a:ext>
                      </a:extLst>
                    </a:gridCol>
                    <a:gridCol w="562119">
                      <a:extLst>
                        <a:ext uri="{9D8B030D-6E8A-4147-A177-3AD203B41FA5}">
                          <a16:colId xmlns:a16="http://schemas.microsoft.com/office/drawing/2014/main" val="2057183182"/>
                        </a:ext>
                      </a:extLst>
                    </a:gridCol>
                    <a:gridCol w="583465">
                      <a:extLst>
                        <a:ext uri="{9D8B030D-6E8A-4147-A177-3AD203B41FA5}">
                          <a16:colId xmlns:a16="http://schemas.microsoft.com/office/drawing/2014/main" val="2678744171"/>
                        </a:ext>
                      </a:extLst>
                    </a:gridCol>
                    <a:gridCol w="647505">
                      <a:extLst>
                        <a:ext uri="{9D8B030D-6E8A-4147-A177-3AD203B41FA5}">
                          <a16:colId xmlns:a16="http://schemas.microsoft.com/office/drawing/2014/main" val="4069191443"/>
                        </a:ext>
                      </a:extLst>
                    </a:gridCol>
                    <a:gridCol w="654619">
                      <a:extLst>
                        <a:ext uri="{9D8B030D-6E8A-4147-A177-3AD203B41FA5}">
                          <a16:colId xmlns:a16="http://schemas.microsoft.com/office/drawing/2014/main" val="3236854976"/>
                        </a:ext>
                      </a:extLst>
                    </a:gridCol>
                    <a:gridCol w="1472895">
                      <a:extLst>
                        <a:ext uri="{9D8B030D-6E8A-4147-A177-3AD203B41FA5}">
                          <a16:colId xmlns:a16="http://schemas.microsoft.com/office/drawing/2014/main" val="290783020"/>
                        </a:ext>
                      </a:extLst>
                    </a:gridCol>
                    <a:gridCol w="1593857">
                      <a:extLst>
                        <a:ext uri="{9D8B030D-6E8A-4147-A177-3AD203B41FA5}">
                          <a16:colId xmlns:a16="http://schemas.microsoft.com/office/drawing/2014/main" val="1835782084"/>
                        </a:ext>
                      </a:extLst>
                    </a:gridCol>
                    <a:gridCol w="1608087">
                      <a:extLst>
                        <a:ext uri="{9D8B030D-6E8A-4147-A177-3AD203B41FA5}">
                          <a16:colId xmlns:a16="http://schemas.microsoft.com/office/drawing/2014/main" val="227452884"/>
                        </a:ext>
                      </a:extLst>
                    </a:gridCol>
                  </a:tblGrid>
                  <a:tr h="42128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A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B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C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18750" t="-1449" r="-1023958" b="-76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79245" t="-1449" r="-827358" b="-76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474766" t="-1449" r="-719626" b="-76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54132" t="-1449" r="-218182" b="-76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27099" t="-1449" r="-101527" b="-76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423864" t="-1449" r="-758" b="-7608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49438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9287514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9698319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28695707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4449961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8155207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55989246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8025342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8615931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160986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1 - Metodo esaustivo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97520-7808-4021-A9CE-950A068AF1D3}" type="slidenum">
              <a:rPr lang="it-IT" altLang="it-IT" smtClean="0"/>
              <a:pPr/>
              <a:t>15</a:t>
            </a:fld>
            <a:endParaRPr lang="it-IT" alt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tangolo 2"/>
              <p:cNvSpPr/>
              <p:nvPr/>
            </p:nvSpPr>
            <p:spPr>
              <a:xfrm>
                <a:off x="4639245" y="1383645"/>
                <a:ext cx="2512483" cy="41992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</m:oMath>
                  </m:oMathPara>
                </a14:m>
                <a:endParaRPr lang="it-IT" sz="1905" dirty="0"/>
              </a:p>
            </p:txBody>
          </p:sp>
        </mc:Choice>
        <mc:Fallback xmlns="">
          <p:sp>
            <p:nvSpPr>
              <p:cNvPr id="3" name="Rettango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9245" y="1383645"/>
                <a:ext cx="2512483" cy="41992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Group 58"/>
              <p:cNvGraphicFramePr>
                <a:graphicFrameLocks noGrp="1"/>
              </p:cNvGraphicFramePr>
              <p:nvPr/>
            </p:nvGraphicFramePr>
            <p:xfrm>
              <a:off x="1771747" y="1919483"/>
              <a:ext cx="8417551" cy="3517926"/>
            </p:xfrm>
            <a:graphic>
              <a:graphicData uri="http://schemas.openxmlformats.org/drawingml/2006/table">
                <a:tbl>
                  <a:tblPr/>
                  <a:tblGrid>
                    <a:gridCol w="633269">
                      <a:extLst>
                        <a:ext uri="{9D8B030D-6E8A-4147-A177-3AD203B41FA5}">
                          <a16:colId xmlns:a16="http://schemas.microsoft.com/office/drawing/2014/main" val="1186221656"/>
                        </a:ext>
                      </a:extLst>
                    </a:gridCol>
                    <a:gridCol w="661735">
                      <a:extLst>
                        <a:ext uri="{9D8B030D-6E8A-4147-A177-3AD203B41FA5}">
                          <a16:colId xmlns:a16="http://schemas.microsoft.com/office/drawing/2014/main" val="391314229"/>
                        </a:ext>
                      </a:extLst>
                    </a:gridCol>
                    <a:gridCol w="562119">
                      <a:extLst>
                        <a:ext uri="{9D8B030D-6E8A-4147-A177-3AD203B41FA5}">
                          <a16:colId xmlns:a16="http://schemas.microsoft.com/office/drawing/2014/main" val="2057183182"/>
                        </a:ext>
                      </a:extLst>
                    </a:gridCol>
                    <a:gridCol w="583465">
                      <a:extLst>
                        <a:ext uri="{9D8B030D-6E8A-4147-A177-3AD203B41FA5}">
                          <a16:colId xmlns:a16="http://schemas.microsoft.com/office/drawing/2014/main" val="2678744171"/>
                        </a:ext>
                      </a:extLst>
                    </a:gridCol>
                    <a:gridCol w="647505">
                      <a:extLst>
                        <a:ext uri="{9D8B030D-6E8A-4147-A177-3AD203B41FA5}">
                          <a16:colId xmlns:a16="http://schemas.microsoft.com/office/drawing/2014/main" val="4069191443"/>
                        </a:ext>
                      </a:extLst>
                    </a:gridCol>
                    <a:gridCol w="654619">
                      <a:extLst>
                        <a:ext uri="{9D8B030D-6E8A-4147-A177-3AD203B41FA5}">
                          <a16:colId xmlns:a16="http://schemas.microsoft.com/office/drawing/2014/main" val="3236854976"/>
                        </a:ext>
                      </a:extLst>
                    </a:gridCol>
                    <a:gridCol w="1472895">
                      <a:extLst>
                        <a:ext uri="{9D8B030D-6E8A-4147-A177-3AD203B41FA5}">
                          <a16:colId xmlns:a16="http://schemas.microsoft.com/office/drawing/2014/main" val="290783020"/>
                        </a:ext>
                      </a:extLst>
                    </a:gridCol>
                    <a:gridCol w="1593857">
                      <a:extLst>
                        <a:ext uri="{9D8B030D-6E8A-4147-A177-3AD203B41FA5}">
                          <a16:colId xmlns:a16="http://schemas.microsoft.com/office/drawing/2014/main" val="1835782084"/>
                        </a:ext>
                      </a:extLst>
                    </a:gridCol>
                    <a:gridCol w="1608087">
                      <a:extLst>
                        <a:ext uri="{9D8B030D-6E8A-4147-A177-3AD203B41FA5}">
                          <a16:colId xmlns:a16="http://schemas.microsoft.com/office/drawing/2014/main" val="227452884"/>
                        </a:ext>
                      </a:extLst>
                    </a:gridCol>
                  </a:tblGrid>
                  <a:tr h="42128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A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B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C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  <m:r>
                                  <a:rPr lang="it-IT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bar>
                                <m:r>
                                  <a:rPr lang="it-IT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9149438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287514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98319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8695707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449961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155207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5989246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025342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1593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Group 58"/>
              <p:cNvGraphicFramePr>
                <a:graphicFrameLocks noGrp="1"/>
              </p:cNvGraphicFramePr>
              <p:nvPr/>
            </p:nvGraphicFramePr>
            <p:xfrm>
              <a:off x="1771747" y="1919483"/>
              <a:ext cx="8417551" cy="3517926"/>
            </p:xfrm>
            <a:graphic>
              <a:graphicData uri="http://schemas.openxmlformats.org/drawingml/2006/table">
                <a:tbl>
                  <a:tblPr/>
                  <a:tblGrid>
                    <a:gridCol w="633269">
                      <a:extLst>
                        <a:ext uri="{9D8B030D-6E8A-4147-A177-3AD203B41FA5}">
                          <a16:colId xmlns:a16="http://schemas.microsoft.com/office/drawing/2014/main" val="1186221656"/>
                        </a:ext>
                      </a:extLst>
                    </a:gridCol>
                    <a:gridCol w="661735">
                      <a:extLst>
                        <a:ext uri="{9D8B030D-6E8A-4147-A177-3AD203B41FA5}">
                          <a16:colId xmlns:a16="http://schemas.microsoft.com/office/drawing/2014/main" val="391314229"/>
                        </a:ext>
                      </a:extLst>
                    </a:gridCol>
                    <a:gridCol w="562119">
                      <a:extLst>
                        <a:ext uri="{9D8B030D-6E8A-4147-A177-3AD203B41FA5}">
                          <a16:colId xmlns:a16="http://schemas.microsoft.com/office/drawing/2014/main" val="2057183182"/>
                        </a:ext>
                      </a:extLst>
                    </a:gridCol>
                    <a:gridCol w="583465">
                      <a:extLst>
                        <a:ext uri="{9D8B030D-6E8A-4147-A177-3AD203B41FA5}">
                          <a16:colId xmlns:a16="http://schemas.microsoft.com/office/drawing/2014/main" val="2678744171"/>
                        </a:ext>
                      </a:extLst>
                    </a:gridCol>
                    <a:gridCol w="647505">
                      <a:extLst>
                        <a:ext uri="{9D8B030D-6E8A-4147-A177-3AD203B41FA5}">
                          <a16:colId xmlns:a16="http://schemas.microsoft.com/office/drawing/2014/main" val="4069191443"/>
                        </a:ext>
                      </a:extLst>
                    </a:gridCol>
                    <a:gridCol w="654619">
                      <a:extLst>
                        <a:ext uri="{9D8B030D-6E8A-4147-A177-3AD203B41FA5}">
                          <a16:colId xmlns:a16="http://schemas.microsoft.com/office/drawing/2014/main" val="3236854976"/>
                        </a:ext>
                      </a:extLst>
                    </a:gridCol>
                    <a:gridCol w="1472895">
                      <a:extLst>
                        <a:ext uri="{9D8B030D-6E8A-4147-A177-3AD203B41FA5}">
                          <a16:colId xmlns:a16="http://schemas.microsoft.com/office/drawing/2014/main" val="290783020"/>
                        </a:ext>
                      </a:extLst>
                    </a:gridCol>
                    <a:gridCol w="1593857">
                      <a:extLst>
                        <a:ext uri="{9D8B030D-6E8A-4147-A177-3AD203B41FA5}">
                          <a16:colId xmlns:a16="http://schemas.microsoft.com/office/drawing/2014/main" val="1835782084"/>
                        </a:ext>
                      </a:extLst>
                    </a:gridCol>
                    <a:gridCol w="1608087">
                      <a:extLst>
                        <a:ext uri="{9D8B030D-6E8A-4147-A177-3AD203B41FA5}">
                          <a16:colId xmlns:a16="http://schemas.microsoft.com/office/drawing/2014/main" val="227452884"/>
                        </a:ext>
                      </a:extLst>
                    </a:gridCol>
                  </a:tblGrid>
                  <a:tr h="42128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A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B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C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18750" t="-1449" r="-1023958" b="-7623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79245" t="-1449" r="-827358" b="-7623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474766" t="-1449" r="-719626" b="-7623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54132" t="-1449" r="-218182" b="-7623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27099" t="-1449" r="-101527" b="-7623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423864" t="-1449" r="-758" b="-7623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49438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287514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98319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8695707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449961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155207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5989246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025342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15931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835243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egnaposto contenuto 4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lang="it-IT" dirty="0"/>
                  <a:t>Dimostrare la validità della seguente uguaglianza</a:t>
                </a:r>
              </a:p>
              <a:p>
                <a:pPr lvl="0"/>
                <a:endParaRPr lang="it-IT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bar>
                      <m:r>
                        <a:rPr lang="it-IT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pos m:val="top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bar>
                      <m:r>
                        <a:rPr lang="it-IT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…  ∙</m:t>
                      </m:r>
                      <m:bar>
                        <m:barPr>
                          <m:pos m:val="top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ba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+ …+</m:t>
                          </m:r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it-IT" dirty="0"/>
              </a:p>
              <a:p>
                <a:pPr lvl="0"/>
                <a:endParaRPr lang="it-IT" i="1" dirty="0"/>
              </a:p>
              <a:p>
                <a:pPr lvl="0"/>
                <a:r>
                  <a:rPr lang="it-IT" i="1" dirty="0"/>
                  <a:t>Suggerimento</a:t>
                </a:r>
              </a:p>
              <a:p>
                <a:pPr marL="0" indent="0">
                  <a:buNone/>
                </a:pPr>
                <a:endParaRPr lang="it-IT" b="1" dirty="0"/>
              </a:p>
              <a:p>
                <a:pPr marL="483855" indent="-483855">
                  <a:buAutoNum type="arabicParenR"/>
                </a:pPr>
                <a:r>
                  <a:rPr lang="it-IT" dirty="0"/>
                  <a:t>Metodo deduttivo</a:t>
                </a:r>
              </a:p>
              <a:p>
                <a:pPr marL="0" indent="0">
                  <a:buNone/>
                </a:pPr>
                <a:endParaRPr lang="it-IT" dirty="0"/>
              </a:p>
            </p:txBody>
          </p:sp>
        </mc:Choice>
        <mc:Fallback xmlns="">
          <p:sp>
            <p:nvSpPr>
              <p:cNvPr id="5" name="Segnaposto contenuto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97520-7808-4021-A9CE-950A068AF1D3}" type="slidenum">
              <a:rPr lang="it-IT" altLang="it-IT" smtClean="0"/>
              <a:pPr/>
              <a:t>16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9020760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2 - Metodo deduttivo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97520-7808-4021-A9CE-950A068AF1D3}" type="slidenum">
              <a:rPr lang="it-IT" altLang="it-IT" smtClean="0"/>
              <a:pPr/>
              <a:t>17</a:t>
            </a:fld>
            <a:endParaRPr lang="it-IT" alt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ttangolo 4"/>
              <p:cNvSpPr/>
              <p:nvPr/>
            </p:nvSpPr>
            <p:spPr>
              <a:xfrm>
                <a:off x="4108282" y="1500137"/>
                <a:ext cx="4139659" cy="4180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 …  ∙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 …+</m:t>
                          </m:r>
                          <m:sSub>
                            <m:sSubPr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it-IT" sz="1905" dirty="0"/>
              </a:p>
            </p:txBody>
          </p:sp>
        </mc:Choice>
        <mc:Fallback xmlns="">
          <p:sp>
            <p:nvSpPr>
              <p:cNvPr id="5" name="Rettango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8282" y="1500137"/>
                <a:ext cx="4139659" cy="418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Segnaposto contenuto 4"/>
              <p:cNvSpPr>
                <a:spLocks noGrp="1"/>
              </p:cNvSpPr>
              <p:nvPr>
                <p:ph idx="1"/>
              </p:nvPr>
            </p:nvSpPr>
            <p:spPr>
              <a:xfrm>
                <a:off x="1066454" y="2375971"/>
                <a:ext cx="10059092" cy="3749756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it-IT" dirty="0"/>
                  <a:t>che comportamento assume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it-IT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it-IT" i="1">
                            <a:latin typeface="Cambria Math" panose="02040503050406030204" pitchFamily="18" charset="0"/>
                          </a:rPr>
                          <m:t>+ …+</m:t>
                        </m:r>
                        <m:sSub>
                          <m:sSub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e>
                    </m:acc>
                  </m:oMath>
                </a14:m>
                <a:r>
                  <a:rPr lang="it-IT" dirty="0"/>
                  <a:t>  ? </a:t>
                </a:r>
              </a:p>
              <a:p>
                <a:pPr lvl="0"/>
                <a:endParaRPr lang="it-IT" dirty="0"/>
              </a:p>
              <a:p>
                <a:pPr lvl="0"/>
                <a:r>
                  <a:rPr lang="it-IT" dirty="0"/>
                  <a:t>l’OR è falso quando tutti gli operandi sono falsi, quindi solo in questa circostanza l’espressione è vera</a:t>
                </a:r>
              </a:p>
              <a:p>
                <a:pPr lvl="0"/>
                <a:endParaRPr lang="it-IT" dirty="0"/>
              </a:p>
              <a:p>
                <a:r>
                  <a:rPr lang="it-IT" dirty="0"/>
                  <a:t>Viceversa, cosa possiamo concludere riguardo a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ba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bar>
                      <m:barPr>
                        <m:pos m:val="top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ba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 …  ∙</m:t>
                    </m:r>
                    <m:bar>
                      <m:barPr>
                        <m:pos m:val="top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e>
                    </m:bar>
                  </m:oMath>
                </a14:m>
                <a:r>
                  <a:rPr lang="it-IT" dirty="0"/>
                  <a:t> ? </a:t>
                </a:r>
              </a:p>
              <a:p>
                <a:endParaRPr lang="it-IT" dirty="0"/>
              </a:p>
              <a:p>
                <a:r>
                  <a:rPr lang="it-IT" dirty="0"/>
                  <a:t>l’AND è vero solo quando tutti gli operandi sono veri, quindi quando tutte le variabili sono false</a:t>
                </a:r>
              </a:p>
            </p:txBody>
          </p:sp>
        </mc:Choice>
        <mc:Fallback xmlns="">
          <p:sp>
            <p:nvSpPr>
              <p:cNvPr id="6" name="Segnaposto contenuto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6454" y="2375971"/>
                <a:ext cx="10059092" cy="3749756"/>
              </a:xfrm>
              <a:blipFill>
                <a:blip r:embed="rId3"/>
                <a:stretch>
                  <a:fillRect l="-970" t="-3252" b="-422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64336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egnaposto contenuto 4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lang="it-IT" dirty="0"/>
                  <a:t>Dimostrare la validità della seguente uguaglianza</a:t>
                </a:r>
              </a:p>
              <a:p>
                <a:pPr lvl="0"/>
                <a:endParaRPr lang="it-IT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it-IT" dirty="0"/>
              </a:p>
              <a:p>
                <a:pPr lvl="0"/>
                <a:r>
                  <a:rPr lang="it-IT" i="1" dirty="0"/>
                  <a:t>Suggerimento</a:t>
                </a:r>
              </a:p>
              <a:p>
                <a:pPr marL="0" indent="0">
                  <a:buNone/>
                </a:pPr>
                <a:endParaRPr lang="it-IT" b="1" dirty="0"/>
              </a:p>
              <a:p>
                <a:pPr marL="0" indent="0">
                  <a:buNone/>
                </a:pPr>
                <a:r>
                  <a:rPr lang="it-IT" dirty="0"/>
                  <a:t>Metodo algebrico</a:t>
                </a:r>
              </a:p>
              <a:p>
                <a:pPr marL="0" indent="0">
                  <a:buNone/>
                </a:pPr>
                <a:endParaRPr lang="it-IT" dirty="0"/>
              </a:p>
              <a:p>
                <a:pPr marL="0" indent="0">
                  <a:buNone/>
                </a:pPr>
                <a:r>
                  <a:rPr lang="it-IT" dirty="0"/>
                  <a:t>Metodo esaustivo (tavola di verità)</a:t>
                </a:r>
              </a:p>
            </p:txBody>
          </p:sp>
        </mc:Choice>
        <mc:Fallback xmlns="">
          <p:sp>
            <p:nvSpPr>
              <p:cNvPr id="5" name="Segnaposto contenuto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97520-7808-4021-A9CE-950A068AF1D3}" type="slidenum">
              <a:rPr lang="it-IT" altLang="it-IT" smtClean="0"/>
              <a:pPr/>
              <a:t>18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3858292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3 - Metodo algebrico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97520-7808-4021-A9CE-950A068AF1D3}" type="slidenum">
              <a:rPr lang="it-IT" altLang="it-IT" smtClean="0"/>
              <a:pPr/>
              <a:t>19</a:t>
            </a:fld>
            <a:endParaRPr lang="it-IT" alt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tangolo 2"/>
              <p:cNvSpPr/>
              <p:nvPr/>
            </p:nvSpPr>
            <p:spPr>
              <a:xfrm>
                <a:off x="2840935" y="1817475"/>
                <a:ext cx="3332066" cy="4435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905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it-IT" sz="190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it-IT" sz="190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it-IT" sz="190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</m:e>
                      </m:d>
                      <m:r>
                        <a:rPr lang="it-IT" sz="190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it-IT" sz="190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it-IT" sz="1905" dirty="0"/>
              </a:p>
            </p:txBody>
          </p:sp>
        </mc:Choice>
        <mc:Fallback xmlns="">
          <p:sp>
            <p:nvSpPr>
              <p:cNvPr id="3" name="Rettango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0935" y="1817475"/>
                <a:ext cx="3332066" cy="44351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79840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3 - Metodo algebrico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97520-7808-4021-A9CE-950A068AF1D3}" type="slidenum">
              <a:rPr lang="it-IT" altLang="it-IT" smtClean="0"/>
              <a:pPr/>
              <a:t>20</a:t>
            </a:fld>
            <a:endParaRPr lang="it-IT" alt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tangolo 2"/>
              <p:cNvSpPr/>
              <p:nvPr/>
            </p:nvSpPr>
            <p:spPr>
              <a:xfrm>
                <a:off x="2840935" y="1817475"/>
                <a:ext cx="5715988" cy="4435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905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it-IT" sz="190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it-IT" sz="190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it-IT" sz="190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</m:e>
                      </m:d>
                      <m:r>
                        <a:rPr lang="it-IT" sz="190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it-IT" sz="190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it-IT" sz="190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=1∙</m:t>
                      </m:r>
                      <m:d>
                        <m:dPr>
                          <m:ctrlPr>
                            <a:rPr lang="it-IT" sz="190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it-IT" sz="190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190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it-IT" sz="1905" dirty="0"/>
              </a:p>
            </p:txBody>
          </p:sp>
        </mc:Choice>
        <mc:Fallback xmlns="">
          <p:sp>
            <p:nvSpPr>
              <p:cNvPr id="3" name="Rettango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0935" y="1817475"/>
                <a:ext cx="5715988" cy="44351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62631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3 - Metodo esaustivo 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97520-7808-4021-A9CE-950A068AF1D3}" type="slidenum">
              <a:rPr lang="it-IT" altLang="it-IT" smtClean="0"/>
              <a:pPr/>
              <a:t>21</a:t>
            </a:fld>
            <a:endParaRPr lang="it-IT" alt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tangolo 2"/>
              <p:cNvSpPr/>
              <p:nvPr/>
            </p:nvSpPr>
            <p:spPr>
              <a:xfrm>
                <a:off x="4612677" y="1447473"/>
                <a:ext cx="2125134" cy="41992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905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it-IT" sz="190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it-IT" sz="1905" dirty="0"/>
              </a:p>
            </p:txBody>
          </p:sp>
        </mc:Choice>
        <mc:Fallback xmlns="">
          <p:sp>
            <p:nvSpPr>
              <p:cNvPr id="3" name="Rettango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2677" y="1447473"/>
                <a:ext cx="2125134" cy="41992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Group 58"/>
              <p:cNvGraphicFramePr>
                <a:graphicFrameLocks noGrp="1"/>
              </p:cNvGraphicFramePr>
              <p:nvPr/>
            </p:nvGraphicFramePr>
            <p:xfrm>
              <a:off x="2362329" y="2332178"/>
              <a:ext cx="6610233" cy="1969606"/>
            </p:xfrm>
            <a:graphic>
              <a:graphicData uri="http://schemas.openxmlformats.org/drawingml/2006/table">
                <a:tbl>
                  <a:tblPr/>
                  <a:tblGrid>
                    <a:gridCol w="846732">
                      <a:extLst>
                        <a:ext uri="{9D8B030D-6E8A-4147-A177-3AD203B41FA5}">
                          <a16:colId xmlns:a16="http://schemas.microsoft.com/office/drawing/2014/main" val="391314229"/>
                        </a:ext>
                      </a:extLst>
                    </a:gridCol>
                    <a:gridCol w="918734">
                      <a:extLst>
                        <a:ext uri="{9D8B030D-6E8A-4147-A177-3AD203B41FA5}">
                          <a16:colId xmlns:a16="http://schemas.microsoft.com/office/drawing/2014/main" val="2057183182"/>
                        </a:ext>
                      </a:extLst>
                    </a:gridCol>
                    <a:gridCol w="841675">
                      <a:extLst>
                        <a:ext uri="{9D8B030D-6E8A-4147-A177-3AD203B41FA5}">
                          <a16:colId xmlns:a16="http://schemas.microsoft.com/office/drawing/2014/main" val="2678744171"/>
                        </a:ext>
                      </a:extLst>
                    </a:gridCol>
                    <a:gridCol w="1363267">
                      <a:extLst>
                        <a:ext uri="{9D8B030D-6E8A-4147-A177-3AD203B41FA5}">
                          <a16:colId xmlns:a16="http://schemas.microsoft.com/office/drawing/2014/main" val="4069191443"/>
                        </a:ext>
                      </a:extLst>
                    </a:gridCol>
                    <a:gridCol w="1238085">
                      <a:extLst>
                        <a:ext uri="{9D8B030D-6E8A-4147-A177-3AD203B41FA5}">
                          <a16:colId xmlns:a16="http://schemas.microsoft.com/office/drawing/2014/main" val="3236854976"/>
                        </a:ext>
                      </a:extLst>
                    </a:gridCol>
                    <a:gridCol w="1401740">
                      <a:extLst>
                        <a:ext uri="{9D8B030D-6E8A-4147-A177-3AD203B41FA5}">
                          <a16:colId xmlns:a16="http://schemas.microsoft.com/office/drawing/2014/main" val="290783020"/>
                        </a:ext>
                      </a:extLst>
                    </a:gridCol>
                  </a:tblGrid>
                  <a:tr h="421286"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A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B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  <m:r>
                                  <a:rPr lang="it-IT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it-IT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it-IT" sz="1900" dirty="0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  <m:r>
                                  <a:rPr lang="it-IT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it-IT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it-IT" sz="19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9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kumimoji="0" lang="it-IT" altLang="it-IT" sz="1900" b="0" i="0" u="none" strike="noStrike" kern="1200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91494388"/>
                      </a:ext>
                    </a:extLst>
                  </a:tr>
                  <a:tr h="387080"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9287514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9698319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28695707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444996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Group 58"/>
              <p:cNvGraphicFramePr>
                <a:graphicFrameLocks noGrp="1"/>
              </p:cNvGraphicFramePr>
              <p:nvPr/>
            </p:nvGraphicFramePr>
            <p:xfrm>
              <a:off x="2362329" y="2332178"/>
              <a:ext cx="6610233" cy="1969606"/>
            </p:xfrm>
            <a:graphic>
              <a:graphicData uri="http://schemas.openxmlformats.org/drawingml/2006/table">
                <a:tbl>
                  <a:tblPr/>
                  <a:tblGrid>
                    <a:gridCol w="846732">
                      <a:extLst>
                        <a:ext uri="{9D8B030D-6E8A-4147-A177-3AD203B41FA5}">
                          <a16:colId xmlns:a16="http://schemas.microsoft.com/office/drawing/2014/main" val="391314229"/>
                        </a:ext>
                      </a:extLst>
                    </a:gridCol>
                    <a:gridCol w="918734">
                      <a:extLst>
                        <a:ext uri="{9D8B030D-6E8A-4147-A177-3AD203B41FA5}">
                          <a16:colId xmlns:a16="http://schemas.microsoft.com/office/drawing/2014/main" val="2057183182"/>
                        </a:ext>
                      </a:extLst>
                    </a:gridCol>
                    <a:gridCol w="841675">
                      <a:extLst>
                        <a:ext uri="{9D8B030D-6E8A-4147-A177-3AD203B41FA5}">
                          <a16:colId xmlns:a16="http://schemas.microsoft.com/office/drawing/2014/main" val="2678744171"/>
                        </a:ext>
                      </a:extLst>
                    </a:gridCol>
                    <a:gridCol w="1363267">
                      <a:extLst>
                        <a:ext uri="{9D8B030D-6E8A-4147-A177-3AD203B41FA5}">
                          <a16:colId xmlns:a16="http://schemas.microsoft.com/office/drawing/2014/main" val="4069191443"/>
                        </a:ext>
                      </a:extLst>
                    </a:gridCol>
                    <a:gridCol w="1238085">
                      <a:extLst>
                        <a:ext uri="{9D8B030D-6E8A-4147-A177-3AD203B41FA5}">
                          <a16:colId xmlns:a16="http://schemas.microsoft.com/office/drawing/2014/main" val="3236854976"/>
                        </a:ext>
                      </a:extLst>
                    </a:gridCol>
                    <a:gridCol w="1401740">
                      <a:extLst>
                        <a:ext uri="{9D8B030D-6E8A-4147-A177-3AD203B41FA5}">
                          <a16:colId xmlns:a16="http://schemas.microsoft.com/office/drawing/2014/main" val="290783020"/>
                        </a:ext>
                      </a:extLst>
                    </a:gridCol>
                  </a:tblGrid>
                  <a:tr h="421286"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A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B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10870" t="-1449" r="-477536" b="-3942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191518" t="-1449" r="-194196" b="-3942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21675" t="-1449" r="-114286" b="-3942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72174" t="-1449" r="-870" b="-3942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494388"/>
                      </a:ext>
                    </a:extLst>
                  </a:tr>
                  <a:tr h="387080"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9287514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9698319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28695707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4449961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242457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3 - Metodo esaustivo 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97520-7808-4021-A9CE-950A068AF1D3}" type="slidenum">
              <a:rPr lang="it-IT" altLang="it-IT" smtClean="0"/>
              <a:pPr/>
              <a:t>22</a:t>
            </a:fld>
            <a:endParaRPr lang="it-IT" alt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tangolo 2"/>
              <p:cNvSpPr/>
              <p:nvPr/>
            </p:nvSpPr>
            <p:spPr>
              <a:xfrm>
                <a:off x="4612677" y="1447473"/>
                <a:ext cx="2125134" cy="41992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905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it-IT" sz="190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it-IT" sz="1905" dirty="0"/>
              </a:p>
            </p:txBody>
          </p:sp>
        </mc:Choice>
        <mc:Fallback xmlns="">
          <p:sp>
            <p:nvSpPr>
              <p:cNvPr id="3" name="Rettango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2677" y="1447473"/>
                <a:ext cx="2125134" cy="41992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Group 58"/>
              <p:cNvGraphicFramePr>
                <a:graphicFrameLocks noGrp="1"/>
              </p:cNvGraphicFramePr>
              <p:nvPr/>
            </p:nvGraphicFramePr>
            <p:xfrm>
              <a:off x="2362329" y="2332178"/>
              <a:ext cx="6610233" cy="1969606"/>
            </p:xfrm>
            <a:graphic>
              <a:graphicData uri="http://schemas.openxmlformats.org/drawingml/2006/table">
                <a:tbl>
                  <a:tblPr/>
                  <a:tblGrid>
                    <a:gridCol w="846732">
                      <a:extLst>
                        <a:ext uri="{9D8B030D-6E8A-4147-A177-3AD203B41FA5}">
                          <a16:colId xmlns:a16="http://schemas.microsoft.com/office/drawing/2014/main" val="391314229"/>
                        </a:ext>
                      </a:extLst>
                    </a:gridCol>
                    <a:gridCol w="918734">
                      <a:extLst>
                        <a:ext uri="{9D8B030D-6E8A-4147-A177-3AD203B41FA5}">
                          <a16:colId xmlns:a16="http://schemas.microsoft.com/office/drawing/2014/main" val="2057183182"/>
                        </a:ext>
                      </a:extLst>
                    </a:gridCol>
                    <a:gridCol w="841675">
                      <a:extLst>
                        <a:ext uri="{9D8B030D-6E8A-4147-A177-3AD203B41FA5}">
                          <a16:colId xmlns:a16="http://schemas.microsoft.com/office/drawing/2014/main" val="2678744171"/>
                        </a:ext>
                      </a:extLst>
                    </a:gridCol>
                    <a:gridCol w="1363267">
                      <a:extLst>
                        <a:ext uri="{9D8B030D-6E8A-4147-A177-3AD203B41FA5}">
                          <a16:colId xmlns:a16="http://schemas.microsoft.com/office/drawing/2014/main" val="4069191443"/>
                        </a:ext>
                      </a:extLst>
                    </a:gridCol>
                    <a:gridCol w="1238085">
                      <a:extLst>
                        <a:ext uri="{9D8B030D-6E8A-4147-A177-3AD203B41FA5}">
                          <a16:colId xmlns:a16="http://schemas.microsoft.com/office/drawing/2014/main" val="3236854976"/>
                        </a:ext>
                      </a:extLst>
                    </a:gridCol>
                    <a:gridCol w="1401740">
                      <a:extLst>
                        <a:ext uri="{9D8B030D-6E8A-4147-A177-3AD203B41FA5}">
                          <a16:colId xmlns:a16="http://schemas.microsoft.com/office/drawing/2014/main" val="290783020"/>
                        </a:ext>
                      </a:extLst>
                    </a:gridCol>
                  </a:tblGrid>
                  <a:tr h="421286"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A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B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  <m:r>
                                  <a:rPr lang="it-IT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it-IT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it-IT" sz="1900" dirty="0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  <m:r>
                                  <a:rPr lang="it-IT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it-IT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it-IT" sz="19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9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kumimoji="0" lang="it-IT" altLang="it-IT" sz="1900" b="0" i="0" u="none" strike="noStrike" kern="1200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91494388"/>
                      </a:ext>
                    </a:extLst>
                  </a:tr>
                  <a:tr h="387080"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9287514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9698319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28695707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444996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Group 58"/>
              <p:cNvGraphicFramePr>
                <a:graphicFrameLocks noGrp="1"/>
              </p:cNvGraphicFramePr>
              <p:nvPr/>
            </p:nvGraphicFramePr>
            <p:xfrm>
              <a:off x="2362329" y="2332178"/>
              <a:ext cx="6610233" cy="1969606"/>
            </p:xfrm>
            <a:graphic>
              <a:graphicData uri="http://schemas.openxmlformats.org/drawingml/2006/table">
                <a:tbl>
                  <a:tblPr/>
                  <a:tblGrid>
                    <a:gridCol w="846732">
                      <a:extLst>
                        <a:ext uri="{9D8B030D-6E8A-4147-A177-3AD203B41FA5}">
                          <a16:colId xmlns:a16="http://schemas.microsoft.com/office/drawing/2014/main" val="391314229"/>
                        </a:ext>
                      </a:extLst>
                    </a:gridCol>
                    <a:gridCol w="918734">
                      <a:extLst>
                        <a:ext uri="{9D8B030D-6E8A-4147-A177-3AD203B41FA5}">
                          <a16:colId xmlns:a16="http://schemas.microsoft.com/office/drawing/2014/main" val="2057183182"/>
                        </a:ext>
                      </a:extLst>
                    </a:gridCol>
                    <a:gridCol w="841675">
                      <a:extLst>
                        <a:ext uri="{9D8B030D-6E8A-4147-A177-3AD203B41FA5}">
                          <a16:colId xmlns:a16="http://schemas.microsoft.com/office/drawing/2014/main" val="2678744171"/>
                        </a:ext>
                      </a:extLst>
                    </a:gridCol>
                    <a:gridCol w="1363267">
                      <a:extLst>
                        <a:ext uri="{9D8B030D-6E8A-4147-A177-3AD203B41FA5}">
                          <a16:colId xmlns:a16="http://schemas.microsoft.com/office/drawing/2014/main" val="4069191443"/>
                        </a:ext>
                      </a:extLst>
                    </a:gridCol>
                    <a:gridCol w="1238085">
                      <a:extLst>
                        <a:ext uri="{9D8B030D-6E8A-4147-A177-3AD203B41FA5}">
                          <a16:colId xmlns:a16="http://schemas.microsoft.com/office/drawing/2014/main" val="3236854976"/>
                        </a:ext>
                      </a:extLst>
                    </a:gridCol>
                    <a:gridCol w="1401740">
                      <a:extLst>
                        <a:ext uri="{9D8B030D-6E8A-4147-A177-3AD203B41FA5}">
                          <a16:colId xmlns:a16="http://schemas.microsoft.com/office/drawing/2014/main" val="290783020"/>
                        </a:ext>
                      </a:extLst>
                    </a:gridCol>
                  </a:tblGrid>
                  <a:tr h="421286"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A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B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10870" t="-1449" r="-477536" b="-3942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191518" t="-1449" r="-194196" b="-3942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21675" t="-1449" r="-114286" b="-3942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72174" t="-1449" r="-870" b="-3942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494388"/>
                      </a:ext>
                    </a:extLst>
                  </a:tr>
                  <a:tr h="387080"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9287514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9698319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28695707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4449961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189141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3 - Metodo esaustivo 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97520-7808-4021-A9CE-950A068AF1D3}" type="slidenum">
              <a:rPr lang="it-IT" altLang="it-IT" smtClean="0"/>
              <a:pPr/>
              <a:t>23</a:t>
            </a:fld>
            <a:endParaRPr lang="it-IT" alt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tangolo 2"/>
              <p:cNvSpPr/>
              <p:nvPr/>
            </p:nvSpPr>
            <p:spPr>
              <a:xfrm>
                <a:off x="4612677" y="1447473"/>
                <a:ext cx="2125134" cy="41992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905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it-IT" sz="190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it-IT" sz="1905" dirty="0"/>
              </a:p>
            </p:txBody>
          </p:sp>
        </mc:Choice>
        <mc:Fallback xmlns="">
          <p:sp>
            <p:nvSpPr>
              <p:cNvPr id="3" name="Rettango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2677" y="1447473"/>
                <a:ext cx="2125134" cy="41992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Group 58"/>
              <p:cNvGraphicFramePr>
                <a:graphicFrameLocks noGrp="1"/>
              </p:cNvGraphicFramePr>
              <p:nvPr/>
            </p:nvGraphicFramePr>
            <p:xfrm>
              <a:off x="2362329" y="2332178"/>
              <a:ext cx="6610233" cy="1969606"/>
            </p:xfrm>
            <a:graphic>
              <a:graphicData uri="http://schemas.openxmlformats.org/drawingml/2006/table">
                <a:tbl>
                  <a:tblPr/>
                  <a:tblGrid>
                    <a:gridCol w="846732">
                      <a:extLst>
                        <a:ext uri="{9D8B030D-6E8A-4147-A177-3AD203B41FA5}">
                          <a16:colId xmlns:a16="http://schemas.microsoft.com/office/drawing/2014/main" val="391314229"/>
                        </a:ext>
                      </a:extLst>
                    </a:gridCol>
                    <a:gridCol w="918734">
                      <a:extLst>
                        <a:ext uri="{9D8B030D-6E8A-4147-A177-3AD203B41FA5}">
                          <a16:colId xmlns:a16="http://schemas.microsoft.com/office/drawing/2014/main" val="2057183182"/>
                        </a:ext>
                      </a:extLst>
                    </a:gridCol>
                    <a:gridCol w="841675">
                      <a:extLst>
                        <a:ext uri="{9D8B030D-6E8A-4147-A177-3AD203B41FA5}">
                          <a16:colId xmlns:a16="http://schemas.microsoft.com/office/drawing/2014/main" val="2678744171"/>
                        </a:ext>
                      </a:extLst>
                    </a:gridCol>
                    <a:gridCol w="1363267">
                      <a:extLst>
                        <a:ext uri="{9D8B030D-6E8A-4147-A177-3AD203B41FA5}">
                          <a16:colId xmlns:a16="http://schemas.microsoft.com/office/drawing/2014/main" val="4069191443"/>
                        </a:ext>
                      </a:extLst>
                    </a:gridCol>
                    <a:gridCol w="1238085">
                      <a:extLst>
                        <a:ext uri="{9D8B030D-6E8A-4147-A177-3AD203B41FA5}">
                          <a16:colId xmlns:a16="http://schemas.microsoft.com/office/drawing/2014/main" val="3236854976"/>
                        </a:ext>
                      </a:extLst>
                    </a:gridCol>
                    <a:gridCol w="1401740">
                      <a:extLst>
                        <a:ext uri="{9D8B030D-6E8A-4147-A177-3AD203B41FA5}">
                          <a16:colId xmlns:a16="http://schemas.microsoft.com/office/drawing/2014/main" val="290783020"/>
                        </a:ext>
                      </a:extLst>
                    </a:gridCol>
                  </a:tblGrid>
                  <a:tr h="421286"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A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B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  <m:r>
                                  <a:rPr lang="it-IT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it-IT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it-IT" sz="1900" dirty="0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  <m:r>
                                  <a:rPr lang="it-IT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it-IT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it-IT" sz="19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9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kumimoji="0" lang="it-IT" altLang="it-IT" sz="1900" b="0" i="0" u="none" strike="noStrike" kern="1200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91494388"/>
                      </a:ext>
                    </a:extLst>
                  </a:tr>
                  <a:tr h="387080"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9287514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9698319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28695707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444996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Group 58"/>
              <p:cNvGraphicFramePr>
                <a:graphicFrameLocks noGrp="1"/>
              </p:cNvGraphicFramePr>
              <p:nvPr/>
            </p:nvGraphicFramePr>
            <p:xfrm>
              <a:off x="2362329" y="2332178"/>
              <a:ext cx="6610233" cy="1969606"/>
            </p:xfrm>
            <a:graphic>
              <a:graphicData uri="http://schemas.openxmlformats.org/drawingml/2006/table">
                <a:tbl>
                  <a:tblPr/>
                  <a:tblGrid>
                    <a:gridCol w="846732">
                      <a:extLst>
                        <a:ext uri="{9D8B030D-6E8A-4147-A177-3AD203B41FA5}">
                          <a16:colId xmlns:a16="http://schemas.microsoft.com/office/drawing/2014/main" val="391314229"/>
                        </a:ext>
                      </a:extLst>
                    </a:gridCol>
                    <a:gridCol w="918734">
                      <a:extLst>
                        <a:ext uri="{9D8B030D-6E8A-4147-A177-3AD203B41FA5}">
                          <a16:colId xmlns:a16="http://schemas.microsoft.com/office/drawing/2014/main" val="2057183182"/>
                        </a:ext>
                      </a:extLst>
                    </a:gridCol>
                    <a:gridCol w="841675">
                      <a:extLst>
                        <a:ext uri="{9D8B030D-6E8A-4147-A177-3AD203B41FA5}">
                          <a16:colId xmlns:a16="http://schemas.microsoft.com/office/drawing/2014/main" val="2678744171"/>
                        </a:ext>
                      </a:extLst>
                    </a:gridCol>
                    <a:gridCol w="1363267">
                      <a:extLst>
                        <a:ext uri="{9D8B030D-6E8A-4147-A177-3AD203B41FA5}">
                          <a16:colId xmlns:a16="http://schemas.microsoft.com/office/drawing/2014/main" val="4069191443"/>
                        </a:ext>
                      </a:extLst>
                    </a:gridCol>
                    <a:gridCol w="1238085">
                      <a:extLst>
                        <a:ext uri="{9D8B030D-6E8A-4147-A177-3AD203B41FA5}">
                          <a16:colId xmlns:a16="http://schemas.microsoft.com/office/drawing/2014/main" val="3236854976"/>
                        </a:ext>
                      </a:extLst>
                    </a:gridCol>
                    <a:gridCol w="1401740">
                      <a:extLst>
                        <a:ext uri="{9D8B030D-6E8A-4147-A177-3AD203B41FA5}">
                          <a16:colId xmlns:a16="http://schemas.microsoft.com/office/drawing/2014/main" val="290783020"/>
                        </a:ext>
                      </a:extLst>
                    </a:gridCol>
                  </a:tblGrid>
                  <a:tr h="421286"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A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B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10870" t="-1449" r="-477536" b="-3942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191518" t="-1449" r="-194196" b="-3942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21675" t="-1449" r="-114286" b="-3942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72174" t="-1449" r="-870" b="-3942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494388"/>
                      </a:ext>
                    </a:extLst>
                  </a:tr>
                  <a:tr h="387080"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9287514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9698319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28695707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4449961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163044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3 - Metodo esaustivo 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97520-7808-4021-A9CE-950A068AF1D3}" type="slidenum">
              <a:rPr lang="it-IT" altLang="it-IT" smtClean="0"/>
              <a:pPr/>
              <a:t>24</a:t>
            </a:fld>
            <a:endParaRPr lang="it-IT" alt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tangolo 2"/>
              <p:cNvSpPr/>
              <p:nvPr/>
            </p:nvSpPr>
            <p:spPr>
              <a:xfrm>
                <a:off x="4612677" y="1447473"/>
                <a:ext cx="2125134" cy="41992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905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it-IT" sz="190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it-IT" sz="1905" dirty="0"/>
              </a:p>
            </p:txBody>
          </p:sp>
        </mc:Choice>
        <mc:Fallback xmlns="">
          <p:sp>
            <p:nvSpPr>
              <p:cNvPr id="3" name="Rettango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2677" y="1447473"/>
                <a:ext cx="2125134" cy="41992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Group 58"/>
              <p:cNvGraphicFramePr>
                <a:graphicFrameLocks noGrp="1"/>
              </p:cNvGraphicFramePr>
              <p:nvPr/>
            </p:nvGraphicFramePr>
            <p:xfrm>
              <a:off x="2362329" y="2332178"/>
              <a:ext cx="6610233" cy="1969606"/>
            </p:xfrm>
            <a:graphic>
              <a:graphicData uri="http://schemas.openxmlformats.org/drawingml/2006/table">
                <a:tbl>
                  <a:tblPr/>
                  <a:tblGrid>
                    <a:gridCol w="846732">
                      <a:extLst>
                        <a:ext uri="{9D8B030D-6E8A-4147-A177-3AD203B41FA5}">
                          <a16:colId xmlns:a16="http://schemas.microsoft.com/office/drawing/2014/main" val="391314229"/>
                        </a:ext>
                      </a:extLst>
                    </a:gridCol>
                    <a:gridCol w="918734">
                      <a:extLst>
                        <a:ext uri="{9D8B030D-6E8A-4147-A177-3AD203B41FA5}">
                          <a16:colId xmlns:a16="http://schemas.microsoft.com/office/drawing/2014/main" val="2057183182"/>
                        </a:ext>
                      </a:extLst>
                    </a:gridCol>
                    <a:gridCol w="841675">
                      <a:extLst>
                        <a:ext uri="{9D8B030D-6E8A-4147-A177-3AD203B41FA5}">
                          <a16:colId xmlns:a16="http://schemas.microsoft.com/office/drawing/2014/main" val="2678744171"/>
                        </a:ext>
                      </a:extLst>
                    </a:gridCol>
                    <a:gridCol w="1363267">
                      <a:extLst>
                        <a:ext uri="{9D8B030D-6E8A-4147-A177-3AD203B41FA5}">
                          <a16:colId xmlns:a16="http://schemas.microsoft.com/office/drawing/2014/main" val="4069191443"/>
                        </a:ext>
                      </a:extLst>
                    </a:gridCol>
                    <a:gridCol w="1238085">
                      <a:extLst>
                        <a:ext uri="{9D8B030D-6E8A-4147-A177-3AD203B41FA5}">
                          <a16:colId xmlns:a16="http://schemas.microsoft.com/office/drawing/2014/main" val="3236854976"/>
                        </a:ext>
                      </a:extLst>
                    </a:gridCol>
                    <a:gridCol w="1401740">
                      <a:extLst>
                        <a:ext uri="{9D8B030D-6E8A-4147-A177-3AD203B41FA5}">
                          <a16:colId xmlns:a16="http://schemas.microsoft.com/office/drawing/2014/main" val="290783020"/>
                        </a:ext>
                      </a:extLst>
                    </a:gridCol>
                  </a:tblGrid>
                  <a:tr h="421286"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A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B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  <m:r>
                                  <a:rPr lang="it-IT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it-IT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it-IT" sz="1900" dirty="0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  <m:r>
                                  <a:rPr lang="it-IT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it-IT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it-IT" sz="19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9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kumimoji="0" lang="it-IT" altLang="it-IT" sz="1900" b="0" i="0" u="none" strike="noStrike" kern="1200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91494388"/>
                      </a:ext>
                    </a:extLst>
                  </a:tr>
                  <a:tr h="387080"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9287514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9698319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28695707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444996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Group 58"/>
              <p:cNvGraphicFramePr>
                <a:graphicFrameLocks noGrp="1"/>
              </p:cNvGraphicFramePr>
              <p:nvPr/>
            </p:nvGraphicFramePr>
            <p:xfrm>
              <a:off x="2362329" y="2332178"/>
              <a:ext cx="6610233" cy="1969606"/>
            </p:xfrm>
            <a:graphic>
              <a:graphicData uri="http://schemas.openxmlformats.org/drawingml/2006/table">
                <a:tbl>
                  <a:tblPr/>
                  <a:tblGrid>
                    <a:gridCol w="846732">
                      <a:extLst>
                        <a:ext uri="{9D8B030D-6E8A-4147-A177-3AD203B41FA5}">
                          <a16:colId xmlns:a16="http://schemas.microsoft.com/office/drawing/2014/main" val="391314229"/>
                        </a:ext>
                      </a:extLst>
                    </a:gridCol>
                    <a:gridCol w="918734">
                      <a:extLst>
                        <a:ext uri="{9D8B030D-6E8A-4147-A177-3AD203B41FA5}">
                          <a16:colId xmlns:a16="http://schemas.microsoft.com/office/drawing/2014/main" val="2057183182"/>
                        </a:ext>
                      </a:extLst>
                    </a:gridCol>
                    <a:gridCol w="841675">
                      <a:extLst>
                        <a:ext uri="{9D8B030D-6E8A-4147-A177-3AD203B41FA5}">
                          <a16:colId xmlns:a16="http://schemas.microsoft.com/office/drawing/2014/main" val="2678744171"/>
                        </a:ext>
                      </a:extLst>
                    </a:gridCol>
                    <a:gridCol w="1363267">
                      <a:extLst>
                        <a:ext uri="{9D8B030D-6E8A-4147-A177-3AD203B41FA5}">
                          <a16:colId xmlns:a16="http://schemas.microsoft.com/office/drawing/2014/main" val="4069191443"/>
                        </a:ext>
                      </a:extLst>
                    </a:gridCol>
                    <a:gridCol w="1238085">
                      <a:extLst>
                        <a:ext uri="{9D8B030D-6E8A-4147-A177-3AD203B41FA5}">
                          <a16:colId xmlns:a16="http://schemas.microsoft.com/office/drawing/2014/main" val="3236854976"/>
                        </a:ext>
                      </a:extLst>
                    </a:gridCol>
                    <a:gridCol w="1401740">
                      <a:extLst>
                        <a:ext uri="{9D8B030D-6E8A-4147-A177-3AD203B41FA5}">
                          <a16:colId xmlns:a16="http://schemas.microsoft.com/office/drawing/2014/main" val="290783020"/>
                        </a:ext>
                      </a:extLst>
                    </a:gridCol>
                  </a:tblGrid>
                  <a:tr h="421286"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A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B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10870" t="-1449" r="-477536" b="-3942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191518" t="-1449" r="-194196" b="-3942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21675" t="-1449" r="-114286" b="-3942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72174" t="-1449" r="-870" b="-3942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494388"/>
                      </a:ext>
                    </a:extLst>
                  </a:tr>
                  <a:tr h="387080"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9287514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9698319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28695707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4449961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557585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3 - Metodo esaustivo 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97520-7808-4021-A9CE-950A068AF1D3}" type="slidenum">
              <a:rPr lang="it-IT" altLang="it-IT" smtClean="0"/>
              <a:pPr/>
              <a:t>25</a:t>
            </a:fld>
            <a:endParaRPr lang="it-IT" alt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tangolo 2"/>
              <p:cNvSpPr/>
              <p:nvPr/>
            </p:nvSpPr>
            <p:spPr>
              <a:xfrm>
                <a:off x="4612677" y="1447473"/>
                <a:ext cx="2125134" cy="41992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905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it-IT" sz="1905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it-IT" sz="1905" dirty="0"/>
              </a:p>
            </p:txBody>
          </p:sp>
        </mc:Choice>
        <mc:Fallback xmlns="">
          <p:sp>
            <p:nvSpPr>
              <p:cNvPr id="3" name="Rettango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2677" y="1447473"/>
                <a:ext cx="2125134" cy="41992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Group 58"/>
              <p:cNvGraphicFramePr>
                <a:graphicFrameLocks noGrp="1"/>
              </p:cNvGraphicFramePr>
              <p:nvPr/>
            </p:nvGraphicFramePr>
            <p:xfrm>
              <a:off x="2362329" y="2332178"/>
              <a:ext cx="6610233" cy="1969606"/>
            </p:xfrm>
            <a:graphic>
              <a:graphicData uri="http://schemas.openxmlformats.org/drawingml/2006/table">
                <a:tbl>
                  <a:tblPr/>
                  <a:tblGrid>
                    <a:gridCol w="846732">
                      <a:extLst>
                        <a:ext uri="{9D8B030D-6E8A-4147-A177-3AD203B41FA5}">
                          <a16:colId xmlns:a16="http://schemas.microsoft.com/office/drawing/2014/main" val="391314229"/>
                        </a:ext>
                      </a:extLst>
                    </a:gridCol>
                    <a:gridCol w="918734">
                      <a:extLst>
                        <a:ext uri="{9D8B030D-6E8A-4147-A177-3AD203B41FA5}">
                          <a16:colId xmlns:a16="http://schemas.microsoft.com/office/drawing/2014/main" val="2057183182"/>
                        </a:ext>
                      </a:extLst>
                    </a:gridCol>
                    <a:gridCol w="841675">
                      <a:extLst>
                        <a:ext uri="{9D8B030D-6E8A-4147-A177-3AD203B41FA5}">
                          <a16:colId xmlns:a16="http://schemas.microsoft.com/office/drawing/2014/main" val="2678744171"/>
                        </a:ext>
                      </a:extLst>
                    </a:gridCol>
                    <a:gridCol w="1363267">
                      <a:extLst>
                        <a:ext uri="{9D8B030D-6E8A-4147-A177-3AD203B41FA5}">
                          <a16:colId xmlns:a16="http://schemas.microsoft.com/office/drawing/2014/main" val="4069191443"/>
                        </a:ext>
                      </a:extLst>
                    </a:gridCol>
                    <a:gridCol w="1238085">
                      <a:extLst>
                        <a:ext uri="{9D8B030D-6E8A-4147-A177-3AD203B41FA5}">
                          <a16:colId xmlns:a16="http://schemas.microsoft.com/office/drawing/2014/main" val="3236854976"/>
                        </a:ext>
                      </a:extLst>
                    </a:gridCol>
                    <a:gridCol w="1401740">
                      <a:extLst>
                        <a:ext uri="{9D8B030D-6E8A-4147-A177-3AD203B41FA5}">
                          <a16:colId xmlns:a16="http://schemas.microsoft.com/office/drawing/2014/main" val="290783020"/>
                        </a:ext>
                      </a:extLst>
                    </a:gridCol>
                  </a:tblGrid>
                  <a:tr h="421286"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A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B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  <m:r>
                                  <a:rPr lang="it-IT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it-IT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it-IT" sz="1900" dirty="0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  <m:r>
                                  <a:rPr lang="it-IT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it-IT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it-IT" sz="19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9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kumimoji="0" lang="it-IT" altLang="it-IT" sz="1900" b="0" i="0" u="none" strike="noStrike" kern="1200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91494388"/>
                      </a:ext>
                    </a:extLst>
                  </a:tr>
                  <a:tr h="387080"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287514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98319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8695707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44996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Group 58"/>
              <p:cNvGraphicFramePr>
                <a:graphicFrameLocks noGrp="1"/>
              </p:cNvGraphicFramePr>
              <p:nvPr/>
            </p:nvGraphicFramePr>
            <p:xfrm>
              <a:off x="2362329" y="2332178"/>
              <a:ext cx="6610233" cy="1969606"/>
            </p:xfrm>
            <a:graphic>
              <a:graphicData uri="http://schemas.openxmlformats.org/drawingml/2006/table">
                <a:tbl>
                  <a:tblPr/>
                  <a:tblGrid>
                    <a:gridCol w="846732">
                      <a:extLst>
                        <a:ext uri="{9D8B030D-6E8A-4147-A177-3AD203B41FA5}">
                          <a16:colId xmlns:a16="http://schemas.microsoft.com/office/drawing/2014/main" val="391314229"/>
                        </a:ext>
                      </a:extLst>
                    </a:gridCol>
                    <a:gridCol w="918734">
                      <a:extLst>
                        <a:ext uri="{9D8B030D-6E8A-4147-A177-3AD203B41FA5}">
                          <a16:colId xmlns:a16="http://schemas.microsoft.com/office/drawing/2014/main" val="2057183182"/>
                        </a:ext>
                      </a:extLst>
                    </a:gridCol>
                    <a:gridCol w="841675">
                      <a:extLst>
                        <a:ext uri="{9D8B030D-6E8A-4147-A177-3AD203B41FA5}">
                          <a16:colId xmlns:a16="http://schemas.microsoft.com/office/drawing/2014/main" val="2678744171"/>
                        </a:ext>
                      </a:extLst>
                    </a:gridCol>
                    <a:gridCol w="1363267">
                      <a:extLst>
                        <a:ext uri="{9D8B030D-6E8A-4147-A177-3AD203B41FA5}">
                          <a16:colId xmlns:a16="http://schemas.microsoft.com/office/drawing/2014/main" val="4069191443"/>
                        </a:ext>
                      </a:extLst>
                    </a:gridCol>
                    <a:gridCol w="1238085">
                      <a:extLst>
                        <a:ext uri="{9D8B030D-6E8A-4147-A177-3AD203B41FA5}">
                          <a16:colId xmlns:a16="http://schemas.microsoft.com/office/drawing/2014/main" val="3236854976"/>
                        </a:ext>
                      </a:extLst>
                    </a:gridCol>
                    <a:gridCol w="1401740">
                      <a:extLst>
                        <a:ext uri="{9D8B030D-6E8A-4147-A177-3AD203B41FA5}">
                          <a16:colId xmlns:a16="http://schemas.microsoft.com/office/drawing/2014/main" val="290783020"/>
                        </a:ext>
                      </a:extLst>
                    </a:gridCol>
                  </a:tblGrid>
                  <a:tr h="421286"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A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B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10870" t="-1449" r="-477536" b="-3942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191518" t="-1449" r="-194196" b="-3942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21675" t="-1449" r="-114286" b="-3942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72174" t="-1449" r="-870" b="-3942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494388"/>
                      </a:ext>
                    </a:extLst>
                  </a:tr>
                  <a:tr h="387080"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287514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98319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8695707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449961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093347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egnaposto contenuto 4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0"/>
                <a:r>
                  <a:rPr lang="it-IT" dirty="0"/>
                  <a:t>Realizzare il circuito digitale minimo corrispondente all’espressione logica: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0" smtClean="0">
                          <a:latin typeface="Cambria Math" panose="02040503050406030204" pitchFamily="18" charset="0"/>
                        </a:rPr>
                        <m:t> </m:t>
                      </m:r>
                      <m:bar>
                        <m:barPr>
                          <m:pos m:val="top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(</m:t>
                          </m:r>
                          <m:bar>
                            <m:barPr>
                              <m:pos m:val="top"/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acc>
                    </m:oMath>
                  </m:oMathPara>
                </a14:m>
                <a:endParaRPr lang="it-IT" dirty="0"/>
              </a:p>
              <a:p>
                <a:pPr lvl="0"/>
                <a:r>
                  <a:rPr lang="it-IT" i="1" dirty="0"/>
                  <a:t>Suggerimento</a:t>
                </a:r>
              </a:p>
              <a:p>
                <a:pPr marL="0" indent="0">
                  <a:buNone/>
                </a:pPr>
                <a:endParaRPr lang="it-IT" dirty="0"/>
              </a:p>
              <a:p>
                <a:pPr marL="0" indent="0">
                  <a:buNone/>
                </a:pPr>
                <a:r>
                  <a:rPr lang="it-IT" dirty="0"/>
                  <a:t>Realizzare la tavola di verità e vedere se è più semplice scritta nelle forme canoniche (gruppi di AND legati da OR oppure gruppi di OR legati da AND)</a:t>
                </a:r>
              </a:p>
              <a:p>
                <a:pPr marL="483855" indent="-483855">
                  <a:buAutoNum type="arabicParenR"/>
                </a:pPr>
                <a:endParaRPr lang="it-IT" dirty="0"/>
              </a:p>
              <a:p>
                <a:pPr marL="0" indent="0">
                  <a:buNone/>
                </a:pPr>
                <a:endParaRPr lang="it-IT" dirty="0"/>
              </a:p>
            </p:txBody>
          </p:sp>
        </mc:Choice>
        <mc:Fallback xmlns="">
          <p:sp>
            <p:nvSpPr>
              <p:cNvPr id="5" name="Segnaposto contenuto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 r="-173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97520-7808-4021-A9CE-950A068AF1D3}" type="slidenum">
              <a:rPr lang="it-IT" altLang="it-IT" smtClean="0"/>
              <a:pPr/>
              <a:t>26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125981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4 - Metodo algebrico 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97520-7808-4021-A9CE-950A068AF1D3}" type="slidenum">
              <a:rPr lang="it-IT" altLang="it-IT" smtClean="0"/>
              <a:pPr/>
              <a:t>27</a:t>
            </a:fld>
            <a:endParaRPr lang="it-IT" alt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ttangolo 4"/>
              <p:cNvSpPr/>
              <p:nvPr/>
            </p:nvSpPr>
            <p:spPr>
              <a:xfrm>
                <a:off x="2448605" y="1610581"/>
                <a:ext cx="3186385" cy="4589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(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acc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(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acc>
                    </m:oMath>
                  </m:oMathPara>
                </a14:m>
                <a:endParaRPr lang="it-IT" sz="1905" dirty="0"/>
              </a:p>
            </p:txBody>
          </p:sp>
        </mc:Choice>
        <mc:Fallback xmlns="">
          <p:sp>
            <p:nvSpPr>
              <p:cNvPr id="5" name="Rettango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8605" y="1610581"/>
                <a:ext cx="3186385" cy="458908"/>
              </a:xfrm>
              <a:prstGeom prst="rect">
                <a:avLst/>
              </a:prstGeom>
              <a:blipFill>
                <a:blip r:embed="rId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56022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4 - Metodo algebrico 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97520-7808-4021-A9CE-950A068AF1D3}" type="slidenum">
              <a:rPr lang="it-IT" altLang="it-IT" smtClean="0"/>
              <a:pPr/>
              <a:t>28</a:t>
            </a:fld>
            <a:endParaRPr lang="it-IT" alt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ttangolo 4"/>
              <p:cNvSpPr/>
              <p:nvPr/>
            </p:nvSpPr>
            <p:spPr>
              <a:xfrm>
                <a:off x="2448605" y="1610581"/>
                <a:ext cx="4709879" cy="4589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(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acc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(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acc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𝐶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</m:oMath>
                  </m:oMathPara>
                </a14:m>
                <a:endParaRPr lang="it-IT" sz="1905" dirty="0"/>
              </a:p>
            </p:txBody>
          </p:sp>
        </mc:Choice>
        <mc:Fallback xmlns="">
          <p:sp>
            <p:nvSpPr>
              <p:cNvPr id="5" name="Rettango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8605" y="1610581"/>
                <a:ext cx="4709879" cy="458908"/>
              </a:xfrm>
              <a:prstGeom prst="rect">
                <a:avLst/>
              </a:prstGeom>
              <a:blipFill>
                <a:blip r:embed="rId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96681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4 - Metodo algebrico 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97520-7808-4021-A9CE-950A068AF1D3}" type="slidenum">
              <a:rPr lang="it-IT" altLang="it-IT" smtClean="0"/>
              <a:pPr/>
              <a:t>29</a:t>
            </a:fld>
            <a:endParaRPr lang="it-IT" alt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ttangolo 4"/>
              <p:cNvSpPr/>
              <p:nvPr/>
            </p:nvSpPr>
            <p:spPr>
              <a:xfrm>
                <a:off x="2448604" y="1610581"/>
                <a:ext cx="5406224" cy="4589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(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acc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(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acc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𝐶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</m:oMath>
                  </m:oMathPara>
                </a14:m>
                <a:endParaRPr lang="it-IT" sz="1905"/>
              </a:p>
            </p:txBody>
          </p:sp>
        </mc:Choice>
        <mc:Fallback xmlns="">
          <p:sp>
            <p:nvSpPr>
              <p:cNvPr id="5" name="Rettango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8604" y="1610581"/>
                <a:ext cx="5406224" cy="458908"/>
              </a:xfrm>
              <a:prstGeom prst="rect">
                <a:avLst/>
              </a:prstGeom>
              <a:blipFill>
                <a:blip r:embed="rId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56683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4 - Metodo algebrico 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97520-7808-4021-A9CE-950A068AF1D3}" type="slidenum">
              <a:rPr lang="it-IT" altLang="it-IT" smtClean="0"/>
              <a:pPr/>
              <a:t>30</a:t>
            </a:fld>
            <a:endParaRPr lang="it-IT" alt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ttangolo 4"/>
              <p:cNvSpPr/>
              <p:nvPr/>
            </p:nvSpPr>
            <p:spPr>
              <a:xfrm>
                <a:off x="2448604" y="1610581"/>
                <a:ext cx="6339428" cy="4589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(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acc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(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acc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𝐶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</m:oMath>
                  </m:oMathPara>
                </a14:m>
                <a:endParaRPr lang="it-IT" sz="1905" dirty="0"/>
              </a:p>
            </p:txBody>
          </p:sp>
        </mc:Choice>
        <mc:Fallback xmlns="">
          <p:sp>
            <p:nvSpPr>
              <p:cNvPr id="5" name="Rettango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8604" y="1610581"/>
                <a:ext cx="6339428" cy="458908"/>
              </a:xfrm>
              <a:prstGeom prst="rect">
                <a:avLst/>
              </a:prstGeom>
              <a:blipFill>
                <a:blip r:embed="rId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67544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4 - Metodo esaustivo 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97520-7808-4021-A9CE-950A068AF1D3}" type="slidenum">
              <a:rPr lang="it-IT" altLang="it-IT" smtClean="0"/>
              <a:pPr/>
              <a:t>31</a:t>
            </a:fld>
            <a:endParaRPr lang="it-IT" alt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ttangolo 4"/>
              <p:cNvSpPr/>
              <p:nvPr/>
            </p:nvSpPr>
            <p:spPr>
              <a:xfrm>
                <a:off x="5059969" y="1240580"/>
                <a:ext cx="3770285" cy="4589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(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acc>
                      <m:r>
                        <a:rPr lang="it-IT" sz="1905"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</m:oMath>
                  </m:oMathPara>
                </a14:m>
                <a:endParaRPr lang="it-IT" sz="1905" dirty="0"/>
              </a:p>
            </p:txBody>
          </p:sp>
        </mc:Choice>
        <mc:Fallback xmlns="">
          <p:sp>
            <p:nvSpPr>
              <p:cNvPr id="5" name="Rettango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9969" y="1240580"/>
                <a:ext cx="3770285" cy="458908"/>
              </a:xfrm>
              <a:prstGeom prst="rect">
                <a:avLst/>
              </a:prstGeom>
              <a:blipFill>
                <a:blip r:embed="rId2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Group 58"/>
              <p:cNvGraphicFramePr>
                <a:graphicFrameLocks noGrp="1"/>
              </p:cNvGraphicFramePr>
              <p:nvPr/>
            </p:nvGraphicFramePr>
            <p:xfrm>
              <a:off x="1095778" y="1926600"/>
              <a:ext cx="9435066" cy="3556499"/>
            </p:xfrm>
            <a:graphic>
              <a:graphicData uri="http://schemas.openxmlformats.org/drawingml/2006/table">
                <a:tbl>
                  <a:tblPr/>
                  <a:tblGrid>
                    <a:gridCol w="448272">
                      <a:extLst>
                        <a:ext uri="{9D8B030D-6E8A-4147-A177-3AD203B41FA5}">
                          <a16:colId xmlns:a16="http://schemas.microsoft.com/office/drawing/2014/main" val="1186221656"/>
                        </a:ext>
                      </a:extLst>
                    </a:gridCol>
                    <a:gridCol w="590581">
                      <a:extLst>
                        <a:ext uri="{9D8B030D-6E8A-4147-A177-3AD203B41FA5}">
                          <a16:colId xmlns:a16="http://schemas.microsoft.com/office/drawing/2014/main" val="391314229"/>
                        </a:ext>
                      </a:extLst>
                    </a:gridCol>
                    <a:gridCol w="576350">
                      <a:extLst>
                        <a:ext uri="{9D8B030D-6E8A-4147-A177-3AD203B41FA5}">
                          <a16:colId xmlns:a16="http://schemas.microsoft.com/office/drawing/2014/main" val="2057183182"/>
                        </a:ext>
                      </a:extLst>
                    </a:gridCol>
                    <a:gridCol w="562119">
                      <a:extLst>
                        <a:ext uri="{9D8B030D-6E8A-4147-A177-3AD203B41FA5}">
                          <a16:colId xmlns:a16="http://schemas.microsoft.com/office/drawing/2014/main" val="2678744171"/>
                        </a:ext>
                      </a:extLst>
                    </a:gridCol>
                    <a:gridCol w="853852">
                      <a:extLst>
                        <a:ext uri="{9D8B030D-6E8A-4147-A177-3AD203B41FA5}">
                          <a16:colId xmlns:a16="http://schemas.microsoft.com/office/drawing/2014/main" val="4069191443"/>
                        </a:ext>
                      </a:extLst>
                    </a:gridCol>
                    <a:gridCol w="1188277">
                      <a:extLst>
                        <a:ext uri="{9D8B030D-6E8A-4147-A177-3AD203B41FA5}">
                          <a16:colId xmlns:a16="http://schemas.microsoft.com/office/drawing/2014/main" val="3236854976"/>
                        </a:ext>
                      </a:extLst>
                    </a:gridCol>
                    <a:gridCol w="1337702">
                      <a:extLst>
                        <a:ext uri="{9D8B030D-6E8A-4147-A177-3AD203B41FA5}">
                          <a16:colId xmlns:a16="http://schemas.microsoft.com/office/drawing/2014/main" val="290783020"/>
                        </a:ext>
                      </a:extLst>
                    </a:gridCol>
                    <a:gridCol w="498080">
                      <a:extLst>
                        <a:ext uri="{9D8B030D-6E8A-4147-A177-3AD203B41FA5}">
                          <a16:colId xmlns:a16="http://schemas.microsoft.com/office/drawing/2014/main" val="1835782084"/>
                        </a:ext>
                      </a:extLst>
                    </a:gridCol>
                    <a:gridCol w="1650781">
                      <a:extLst>
                        <a:ext uri="{9D8B030D-6E8A-4147-A177-3AD203B41FA5}">
                          <a16:colId xmlns:a16="http://schemas.microsoft.com/office/drawing/2014/main" val="565024879"/>
                        </a:ext>
                      </a:extLst>
                    </a:gridCol>
                    <a:gridCol w="581548">
                      <a:extLst>
                        <a:ext uri="{9D8B030D-6E8A-4147-A177-3AD203B41FA5}">
                          <a16:colId xmlns:a16="http://schemas.microsoft.com/office/drawing/2014/main" val="1180097005"/>
                        </a:ext>
                      </a:extLst>
                    </a:gridCol>
                    <a:gridCol w="1147504">
                      <a:extLst>
                        <a:ext uri="{9D8B030D-6E8A-4147-A177-3AD203B41FA5}">
                          <a16:colId xmlns:a16="http://schemas.microsoft.com/office/drawing/2014/main" val="227452884"/>
                        </a:ext>
                      </a:extLst>
                    </a:gridCol>
                  </a:tblGrid>
                  <a:tr h="45985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A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B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C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bar>
                                      <m:barPr>
                                        <m:pos m:val="top"/>
                                        <m:ctrlPr>
                                          <a:rPr lang="it-IT" sz="19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it-IT" sz="1900" i="1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ba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it-IT" sz="1900" dirty="0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ba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bar>
                                      <m:barPr>
                                        <m:pos m:val="top"/>
                                        <m:ctrlPr>
                                          <a:rPr lang="it-IT" sz="19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it-IT" sz="1900" i="1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ba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bar>
                                <m:r>
                                  <a:rPr lang="it-IT" sz="1900" b="0" i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it-IT" sz="1900" dirty="0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9149438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287514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98319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8695707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449961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155207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5989246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025342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1593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Group 58"/>
              <p:cNvGraphicFramePr>
                <a:graphicFrameLocks noGrp="1"/>
              </p:cNvGraphicFramePr>
              <p:nvPr/>
            </p:nvGraphicFramePr>
            <p:xfrm>
              <a:off x="1095778" y="1926600"/>
              <a:ext cx="9435066" cy="3556499"/>
            </p:xfrm>
            <a:graphic>
              <a:graphicData uri="http://schemas.openxmlformats.org/drawingml/2006/table">
                <a:tbl>
                  <a:tblPr/>
                  <a:tblGrid>
                    <a:gridCol w="448272">
                      <a:extLst>
                        <a:ext uri="{9D8B030D-6E8A-4147-A177-3AD203B41FA5}">
                          <a16:colId xmlns:a16="http://schemas.microsoft.com/office/drawing/2014/main" val="1186221656"/>
                        </a:ext>
                      </a:extLst>
                    </a:gridCol>
                    <a:gridCol w="590581">
                      <a:extLst>
                        <a:ext uri="{9D8B030D-6E8A-4147-A177-3AD203B41FA5}">
                          <a16:colId xmlns:a16="http://schemas.microsoft.com/office/drawing/2014/main" val="391314229"/>
                        </a:ext>
                      </a:extLst>
                    </a:gridCol>
                    <a:gridCol w="576350">
                      <a:extLst>
                        <a:ext uri="{9D8B030D-6E8A-4147-A177-3AD203B41FA5}">
                          <a16:colId xmlns:a16="http://schemas.microsoft.com/office/drawing/2014/main" val="2057183182"/>
                        </a:ext>
                      </a:extLst>
                    </a:gridCol>
                    <a:gridCol w="562119">
                      <a:extLst>
                        <a:ext uri="{9D8B030D-6E8A-4147-A177-3AD203B41FA5}">
                          <a16:colId xmlns:a16="http://schemas.microsoft.com/office/drawing/2014/main" val="2678744171"/>
                        </a:ext>
                      </a:extLst>
                    </a:gridCol>
                    <a:gridCol w="853852">
                      <a:extLst>
                        <a:ext uri="{9D8B030D-6E8A-4147-A177-3AD203B41FA5}">
                          <a16:colId xmlns:a16="http://schemas.microsoft.com/office/drawing/2014/main" val="4069191443"/>
                        </a:ext>
                      </a:extLst>
                    </a:gridCol>
                    <a:gridCol w="1188277">
                      <a:extLst>
                        <a:ext uri="{9D8B030D-6E8A-4147-A177-3AD203B41FA5}">
                          <a16:colId xmlns:a16="http://schemas.microsoft.com/office/drawing/2014/main" val="3236854976"/>
                        </a:ext>
                      </a:extLst>
                    </a:gridCol>
                    <a:gridCol w="1337702">
                      <a:extLst>
                        <a:ext uri="{9D8B030D-6E8A-4147-A177-3AD203B41FA5}">
                          <a16:colId xmlns:a16="http://schemas.microsoft.com/office/drawing/2014/main" val="290783020"/>
                        </a:ext>
                      </a:extLst>
                    </a:gridCol>
                    <a:gridCol w="498080">
                      <a:extLst>
                        <a:ext uri="{9D8B030D-6E8A-4147-A177-3AD203B41FA5}">
                          <a16:colId xmlns:a16="http://schemas.microsoft.com/office/drawing/2014/main" val="1835782084"/>
                        </a:ext>
                      </a:extLst>
                    </a:gridCol>
                    <a:gridCol w="1650781">
                      <a:extLst>
                        <a:ext uri="{9D8B030D-6E8A-4147-A177-3AD203B41FA5}">
                          <a16:colId xmlns:a16="http://schemas.microsoft.com/office/drawing/2014/main" val="565024879"/>
                        </a:ext>
                      </a:extLst>
                    </a:gridCol>
                    <a:gridCol w="581548">
                      <a:extLst>
                        <a:ext uri="{9D8B030D-6E8A-4147-A177-3AD203B41FA5}">
                          <a16:colId xmlns:a16="http://schemas.microsoft.com/office/drawing/2014/main" val="1180097005"/>
                        </a:ext>
                      </a:extLst>
                    </a:gridCol>
                    <a:gridCol w="1147504">
                      <a:extLst>
                        <a:ext uri="{9D8B030D-6E8A-4147-A177-3AD203B41FA5}">
                          <a16:colId xmlns:a16="http://schemas.microsoft.com/office/drawing/2014/main" val="227452884"/>
                        </a:ext>
                      </a:extLst>
                    </a:gridCol>
                  </a:tblGrid>
                  <a:tr h="45985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A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B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C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89130" t="-1316" r="-1297826" b="-68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53901" t="-1316" r="-746809" b="-68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55897" t="-1316" r="-440000" b="-68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16895" t="-1316" r="-291781" b="-68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1113415" t="-1316" r="-679268" b="-68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67159" t="-1316" r="-105535" b="-68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1318750" t="-1316" r="-197917" b="-68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724468" t="-1316" r="-1064" b="-6894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49438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287514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98319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8695707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449961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155207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5989246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025342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15931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056940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4 - Metodo esaustivo 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97520-7808-4021-A9CE-950A068AF1D3}" type="slidenum">
              <a:rPr lang="it-IT" altLang="it-IT" smtClean="0"/>
              <a:pPr/>
              <a:t>32</a:t>
            </a:fld>
            <a:endParaRPr lang="it-IT" alt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ttangolo 4"/>
              <p:cNvSpPr/>
              <p:nvPr/>
            </p:nvSpPr>
            <p:spPr>
              <a:xfrm>
                <a:off x="5059969" y="1240580"/>
                <a:ext cx="3770285" cy="4589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(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acc>
                      <m:r>
                        <a:rPr lang="it-IT" sz="1905"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</m:oMath>
                  </m:oMathPara>
                </a14:m>
                <a:endParaRPr lang="it-IT" sz="1905" dirty="0"/>
              </a:p>
            </p:txBody>
          </p:sp>
        </mc:Choice>
        <mc:Fallback xmlns="">
          <p:sp>
            <p:nvSpPr>
              <p:cNvPr id="5" name="Rettango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9969" y="1240580"/>
                <a:ext cx="3770285" cy="458908"/>
              </a:xfrm>
              <a:prstGeom prst="rect">
                <a:avLst/>
              </a:prstGeom>
              <a:blipFill>
                <a:blip r:embed="rId2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Group 58"/>
              <p:cNvGraphicFramePr>
                <a:graphicFrameLocks noGrp="1"/>
              </p:cNvGraphicFramePr>
              <p:nvPr/>
            </p:nvGraphicFramePr>
            <p:xfrm>
              <a:off x="1095778" y="1898136"/>
              <a:ext cx="9435066" cy="3556499"/>
            </p:xfrm>
            <a:graphic>
              <a:graphicData uri="http://schemas.openxmlformats.org/drawingml/2006/table">
                <a:tbl>
                  <a:tblPr/>
                  <a:tblGrid>
                    <a:gridCol w="448272">
                      <a:extLst>
                        <a:ext uri="{9D8B030D-6E8A-4147-A177-3AD203B41FA5}">
                          <a16:colId xmlns:a16="http://schemas.microsoft.com/office/drawing/2014/main" val="1186221656"/>
                        </a:ext>
                      </a:extLst>
                    </a:gridCol>
                    <a:gridCol w="590581">
                      <a:extLst>
                        <a:ext uri="{9D8B030D-6E8A-4147-A177-3AD203B41FA5}">
                          <a16:colId xmlns:a16="http://schemas.microsoft.com/office/drawing/2014/main" val="391314229"/>
                        </a:ext>
                      </a:extLst>
                    </a:gridCol>
                    <a:gridCol w="576350">
                      <a:extLst>
                        <a:ext uri="{9D8B030D-6E8A-4147-A177-3AD203B41FA5}">
                          <a16:colId xmlns:a16="http://schemas.microsoft.com/office/drawing/2014/main" val="2057183182"/>
                        </a:ext>
                      </a:extLst>
                    </a:gridCol>
                    <a:gridCol w="562119">
                      <a:extLst>
                        <a:ext uri="{9D8B030D-6E8A-4147-A177-3AD203B41FA5}">
                          <a16:colId xmlns:a16="http://schemas.microsoft.com/office/drawing/2014/main" val="2678744171"/>
                        </a:ext>
                      </a:extLst>
                    </a:gridCol>
                    <a:gridCol w="853852">
                      <a:extLst>
                        <a:ext uri="{9D8B030D-6E8A-4147-A177-3AD203B41FA5}">
                          <a16:colId xmlns:a16="http://schemas.microsoft.com/office/drawing/2014/main" val="4069191443"/>
                        </a:ext>
                      </a:extLst>
                    </a:gridCol>
                    <a:gridCol w="1188277">
                      <a:extLst>
                        <a:ext uri="{9D8B030D-6E8A-4147-A177-3AD203B41FA5}">
                          <a16:colId xmlns:a16="http://schemas.microsoft.com/office/drawing/2014/main" val="3236854976"/>
                        </a:ext>
                      </a:extLst>
                    </a:gridCol>
                    <a:gridCol w="1337702">
                      <a:extLst>
                        <a:ext uri="{9D8B030D-6E8A-4147-A177-3AD203B41FA5}">
                          <a16:colId xmlns:a16="http://schemas.microsoft.com/office/drawing/2014/main" val="290783020"/>
                        </a:ext>
                      </a:extLst>
                    </a:gridCol>
                    <a:gridCol w="498080">
                      <a:extLst>
                        <a:ext uri="{9D8B030D-6E8A-4147-A177-3AD203B41FA5}">
                          <a16:colId xmlns:a16="http://schemas.microsoft.com/office/drawing/2014/main" val="1835782084"/>
                        </a:ext>
                      </a:extLst>
                    </a:gridCol>
                    <a:gridCol w="1650781">
                      <a:extLst>
                        <a:ext uri="{9D8B030D-6E8A-4147-A177-3AD203B41FA5}">
                          <a16:colId xmlns:a16="http://schemas.microsoft.com/office/drawing/2014/main" val="565024879"/>
                        </a:ext>
                      </a:extLst>
                    </a:gridCol>
                    <a:gridCol w="581548">
                      <a:extLst>
                        <a:ext uri="{9D8B030D-6E8A-4147-A177-3AD203B41FA5}">
                          <a16:colId xmlns:a16="http://schemas.microsoft.com/office/drawing/2014/main" val="1180097005"/>
                        </a:ext>
                      </a:extLst>
                    </a:gridCol>
                    <a:gridCol w="1147504">
                      <a:extLst>
                        <a:ext uri="{9D8B030D-6E8A-4147-A177-3AD203B41FA5}">
                          <a16:colId xmlns:a16="http://schemas.microsoft.com/office/drawing/2014/main" val="227452884"/>
                        </a:ext>
                      </a:extLst>
                    </a:gridCol>
                  </a:tblGrid>
                  <a:tr h="45985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A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B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C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bar>
                                      <m:barPr>
                                        <m:pos m:val="top"/>
                                        <m:ctrlPr>
                                          <a:rPr lang="it-IT" sz="19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it-IT" sz="1900" i="1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ba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it-IT" sz="1900" dirty="0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ba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bar>
                                      <m:barPr>
                                        <m:pos m:val="top"/>
                                        <m:ctrlPr>
                                          <a:rPr lang="it-IT" sz="19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it-IT" sz="1900" i="1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ba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bar>
                                <m:r>
                                  <a:rPr lang="it-IT" sz="1900" b="0" i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it-IT" sz="1900" dirty="0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9149438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287514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98319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8695707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449961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155207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5989246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025342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1593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Group 58"/>
              <p:cNvGraphicFramePr>
                <a:graphicFrameLocks noGrp="1"/>
              </p:cNvGraphicFramePr>
              <p:nvPr/>
            </p:nvGraphicFramePr>
            <p:xfrm>
              <a:off x="1095778" y="1898136"/>
              <a:ext cx="9435066" cy="3556499"/>
            </p:xfrm>
            <a:graphic>
              <a:graphicData uri="http://schemas.openxmlformats.org/drawingml/2006/table">
                <a:tbl>
                  <a:tblPr/>
                  <a:tblGrid>
                    <a:gridCol w="448272">
                      <a:extLst>
                        <a:ext uri="{9D8B030D-6E8A-4147-A177-3AD203B41FA5}">
                          <a16:colId xmlns:a16="http://schemas.microsoft.com/office/drawing/2014/main" val="1186221656"/>
                        </a:ext>
                      </a:extLst>
                    </a:gridCol>
                    <a:gridCol w="590581">
                      <a:extLst>
                        <a:ext uri="{9D8B030D-6E8A-4147-A177-3AD203B41FA5}">
                          <a16:colId xmlns:a16="http://schemas.microsoft.com/office/drawing/2014/main" val="391314229"/>
                        </a:ext>
                      </a:extLst>
                    </a:gridCol>
                    <a:gridCol w="576350">
                      <a:extLst>
                        <a:ext uri="{9D8B030D-6E8A-4147-A177-3AD203B41FA5}">
                          <a16:colId xmlns:a16="http://schemas.microsoft.com/office/drawing/2014/main" val="2057183182"/>
                        </a:ext>
                      </a:extLst>
                    </a:gridCol>
                    <a:gridCol w="562119">
                      <a:extLst>
                        <a:ext uri="{9D8B030D-6E8A-4147-A177-3AD203B41FA5}">
                          <a16:colId xmlns:a16="http://schemas.microsoft.com/office/drawing/2014/main" val="2678744171"/>
                        </a:ext>
                      </a:extLst>
                    </a:gridCol>
                    <a:gridCol w="853852">
                      <a:extLst>
                        <a:ext uri="{9D8B030D-6E8A-4147-A177-3AD203B41FA5}">
                          <a16:colId xmlns:a16="http://schemas.microsoft.com/office/drawing/2014/main" val="4069191443"/>
                        </a:ext>
                      </a:extLst>
                    </a:gridCol>
                    <a:gridCol w="1188277">
                      <a:extLst>
                        <a:ext uri="{9D8B030D-6E8A-4147-A177-3AD203B41FA5}">
                          <a16:colId xmlns:a16="http://schemas.microsoft.com/office/drawing/2014/main" val="3236854976"/>
                        </a:ext>
                      </a:extLst>
                    </a:gridCol>
                    <a:gridCol w="1337702">
                      <a:extLst>
                        <a:ext uri="{9D8B030D-6E8A-4147-A177-3AD203B41FA5}">
                          <a16:colId xmlns:a16="http://schemas.microsoft.com/office/drawing/2014/main" val="290783020"/>
                        </a:ext>
                      </a:extLst>
                    </a:gridCol>
                    <a:gridCol w="498080">
                      <a:extLst>
                        <a:ext uri="{9D8B030D-6E8A-4147-A177-3AD203B41FA5}">
                          <a16:colId xmlns:a16="http://schemas.microsoft.com/office/drawing/2014/main" val="1835782084"/>
                        </a:ext>
                      </a:extLst>
                    </a:gridCol>
                    <a:gridCol w="1650781">
                      <a:extLst>
                        <a:ext uri="{9D8B030D-6E8A-4147-A177-3AD203B41FA5}">
                          <a16:colId xmlns:a16="http://schemas.microsoft.com/office/drawing/2014/main" val="565024879"/>
                        </a:ext>
                      </a:extLst>
                    </a:gridCol>
                    <a:gridCol w="581548">
                      <a:extLst>
                        <a:ext uri="{9D8B030D-6E8A-4147-A177-3AD203B41FA5}">
                          <a16:colId xmlns:a16="http://schemas.microsoft.com/office/drawing/2014/main" val="1180097005"/>
                        </a:ext>
                      </a:extLst>
                    </a:gridCol>
                    <a:gridCol w="1147504">
                      <a:extLst>
                        <a:ext uri="{9D8B030D-6E8A-4147-A177-3AD203B41FA5}">
                          <a16:colId xmlns:a16="http://schemas.microsoft.com/office/drawing/2014/main" val="227452884"/>
                        </a:ext>
                      </a:extLst>
                    </a:gridCol>
                  </a:tblGrid>
                  <a:tr h="45985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A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B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C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89130" t="-1316" r="-1297826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53901" t="-1316" r="-746809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55897" t="-1316" r="-440000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16895" t="-1316" r="-291781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1113415" t="-1316" r="-679268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67159" t="-1316" r="-105535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1318750" t="-1316" r="-197917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724468" t="-1316" r="-1064" b="-6907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49438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287514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98319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8695707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449961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155207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5989246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025342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15931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700255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4 - Metodo esaustivo 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97520-7808-4021-A9CE-950A068AF1D3}" type="slidenum">
              <a:rPr lang="it-IT" altLang="it-IT" smtClean="0"/>
              <a:pPr/>
              <a:t>33</a:t>
            </a:fld>
            <a:endParaRPr lang="it-IT" alt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ttangolo 4"/>
              <p:cNvSpPr/>
              <p:nvPr/>
            </p:nvSpPr>
            <p:spPr>
              <a:xfrm>
                <a:off x="5059969" y="1240580"/>
                <a:ext cx="3770285" cy="4589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(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acc>
                      <m:r>
                        <a:rPr lang="it-IT" sz="1905"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</m:oMath>
                  </m:oMathPara>
                </a14:m>
                <a:endParaRPr lang="it-IT" sz="1905" dirty="0"/>
              </a:p>
            </p:txBody>
          </p:sp>
        </mc:Choice>
        <mc:Fallback xmlns="">
          <p:sp>
            <p:nvSpPr>
              <p:cNvPr id="5" name="Rettango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9969" y="1240580"/>
                <a:ext cx="3770285" cy="458908"/>
              </a:xfrm>
              <a:prstGeom prst="rect">
                <a:avLst/>
              </a:prstGeom>
              <a:blipFill>
                <a:blip r:embed="rId2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Group 58"/>
              <p:cNvGraphicFramePr>
                <a:graphicFrameLocks noGrp="1"/>
              </p:cNvGraphicFramePr>
              <p:nvPr/>
            </p:nvGraphicFramePr>
            <p:xfrm>
              <a:off x="1095778" y="1898136"/>
              <a:ext cx="9435066" cy="3556499"/>
            </p:xfrm>
            <a:graphic>
              <a:graphicData uri="http://schemas.openxmlformats.org/drawingml/2006/table">
                <a:tbl>
                  <a:tblPr/>
                  <a:tblGrid>
                    <a:gridCol w="448272">
                      <a:extLst>
                        <a:ext uri="{9D8B030D-6E8A-4147-A177-3AD203B41FA5}">
                          <a16:colId xmlns:a16="http://schemas.microsoft.com/office/drawing/2014/main" val="1186221656"/>
                        </a:ext>
                      </a:extLst>
                    </a:gridCol>
                    <a:gridCol w="590581">
                      <a:extLst>
                        <a:ext uri="{9D8B030D-6E8A-4147-A177-3AD203B41FA5}">
                          <a16:colId xmlns:a16="http://schemas.microsoft.com/office/drawing/2014/main" val="391314229"/>
                        </a:ext>
                      </a:extLst>
                    </a:gridCol>
                    <a:gridCol w="576350">
                      <a:extLst>
                        <a:ext uri="{9D8B030D-6E8A-4147-A177-3AD203B41FA5}">
                          <a16:colId xmlns:a16="http://schemas.microsoft.com/office/drawing/2014/main" val="2057183182"/>
                        </a:ext>
                      </a:extLst>
                    </a:gridCol>
                    <a:gridCol w="562119">
                      <a:extLst>
                        <a:ext uri="{9D8B030D-6E8A-4147-A177-3AD203B41FA5}">
                          <a16:colId xmlns:a16="http://schemas.microsoft.com/office/drawing/2014/main" val="2678744171"/>
                        </a:ext>
                      </a:extLst>
                    </a:gridCol>
                    <a:gridCol w="853852">
                      <a:extLst>
                        <a:ext uri="{9D8B030D-6E8A-4147-A177-3AD203B41FA5}">
                          <a16:colId xmlns:a16="http://schemas.microsoft.com/office/drawing/2014/main" val="4069191443"/>
                        </a:ext>
                      </a:extLst>
                    </a:gridCol>
                    <a:gridCol w="1188277">
                      <a:extLst>
                        <a:ext uri="{9D8B030D-6E8A-4147-A177-3AD203B41FA5}">
                          <a16:colId xmlns:a16="http://schemas.microsoft.com/office/drawing/2014/main" val="3236854976"/>
                        </a:ext>
                      </a:extLst>
                    </a:gridCol>
                    <a:gridCol w="1337702">
                      <a:extLst>
                        <a:ext uri="{9D8B030D-6E8A-4147-A177-3AD203B41FA5}">
                          <a16:colId xmlns:a16="http://schemas.microsoft.com/office/drawing/2014/main" val="290783020"/>
                        </a:ext>
                      </a:extLst>
                    </a:gridCol>
                    <a:gridCol w="498080">
                      <a:extLst>
                        <a:ext uri="{9D8B030D-6E8A-4147-A177-3AD203B41FA5}">
                          <a16:colId xmlns:a16="http://schemas.microsoft.com/office/drawing/2014/main" val="1835782084"/>
                        </a:ext>
                      </a:extLst>
                    </a:gridCol>
                    <a:gridCol w="1650781">
                      <a:extLst>
                        <a:ext uri="{9D8B030D-6E8A-4147-A177-3AD203B41FA5}">
                          <a16:colId xmlns:a16="http://schemas.microsoft.com/office/drawing/2014/main" val="565024879"/>
                        </a:ext>
                      </a:extLst>
                    </a:gridCol>
                    <a:gridCol w="581548">
                      <a:extLst>
                        <a:ext uri="{9D8B030D-6E8A-4147-A177-3AD203B41FA5}">
                          <a16:colId xmlns:a16="http://schemas.microsoft.com/office/drawing/2014/main" val="1180097005"/>
                        </a:ext>
                      </a:extLst>
                    </a:gridCol>
                    <a:gridCol w="1147504">
                      <a:extLst>
                        <a:ext uri="{9D8B030D-6E8A-4147-A177-3AD203B41FA5}">
                          <a16:colId xmlns:a16="http://schemas.microsoft.com/office/drawing/2014/main" val="227452884"/>
                        </a:ext>
                      </a:extLst>
                    </a:gridCol>
                  </a:tblGrid>
                  <a:tr h="45985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A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B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C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bar>
                                      <m:barPr>
                                        <m:pos m:val="top"/>
                                        <m:ctrlPr>
                                          <a:rPr lang="it-IT" sz="19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it-IT" sz="1900" i="1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ba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it-IT" sz="1900" dirty="0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ba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bar>
                                      <m:barPr>
                                        <m:pos m:val="top"/>
                                        <m:ctrlPr>
                                          <a:rPr lang="it-IT" sz="19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it-IT" sz="1900" i="1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ba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bar>
                                <m:r>
                                  <a:rPr lang="it-IT" sz="1900" b="0" i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it-IT" sz="1900" dirty="0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9149438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287514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98319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8695707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449961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155207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5989246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025342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1593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Group 58"/>
              <p:cNvGraphicFramePr>
                <a:graphicFrameLocks noGrp="1"/>
              </p:cNvGraphicFramePr>
              <p:nvPr/>
            </p:nvGraphicFramePr>
            <p:xfrm>
              <a:off x="1095778" y="1898136"/>
              <a:ext cx="9435066" cy="3556499"/>
            </p:xfrm>
            <a:graphic>
              <a:graphicData uri="http://schemas.openxmlformats.org/drawingml/2006/table">
                <a:tbl>
                  <a:tblPr/>
                  <a:tblGrid>
                    <a:gridCol w="448272">
                      <a:extLst>
                        <a:ext uri="{9D8B030D-6E8A-4147-A177-3AD203B41FA5}">
                          <a16:colId xmlns:a16="http://schemas.microsoft.com/office/drawing/2014/main" val="1186221656"/>
                        </a:ext>
                      </a:extLst>
                    </a:gridCol>
                    <a:gridCol w="590581">
                      <a:extLst>
                        <a:ext uri="{9D8B030D-6E8A-4147-A177-3AD203B41FA5}">
                          <a16:colId xmlns:a16="http://schemas.microsoft.com/office/drawing/2014/main" val="391314229"/>
                        </a:ext>
                      </a:extLst>
                    </a:gridCol>
                    <a:gridCol w="576350">
                      <a:extLst>
                        <a:ext uri="{9D8B030D-6E8A-4147-A177-3AD203B41FA5}">
                          <a16:colId xmlns:a16="http://schemas.microsoft.com/office/drawing/2014/main" val="2057183182"/>
                        </a:ext>
                      </a:extLst>
                    </a:gridCol>
                    <a:gridCol w="562119">
                      <a:extLst>
                        <a:ext uri="{9D8B030D-6E8A-4147-A177-3AD203B41FA5}">
                          <a16:colId xmlns:a16="http://schemas.microsoft.com/office/drawing/2014/main" val="2678744171"/>
                        </a:ext>
                      </a:extLst>
                    </a:gridCol>
                    <a:gridCol w="853852">
                      <a:extLst>
                        <a:ext uri="{9D8B030D-6E8A-4147-A177-3AD203B41FA5}">
                          <a16:colId xmlns:a16="http://schemas.microsoft.com/office/drawing/2014/main" val="4069191443"/>
                        </a:ext>
                      </a:extLst>
                    </a:gridCol>
                    <a:gridCol w="1188277">
                      <a:extLst>
                        <a:ext uri="{9D8B030D-6E8A-4147-A177-3AD203B41FA5}">
                          <a16:colId xmlns:a16="http://schemas.microsoft.com/office/drawing/2014/main" val="3236854976"/>
                        </a:ext>
                      </a:extLst>
                    </a:gridCol>
                    <a:gridCol w="1337702">
                      <a:extLst>
                        <a:ext uri="{9D8B030D-6E8A-4147-A177-3AD203B41FA5}">
                          <a16:colId xmlns:a16="http://schemas.microsoft.com/office/drawing/2014/main" val="290783020"/>
                        </a:ext>
                      </a:extLst>
                    </a:gridCol>
                    <a:gridCol w="498080">
                      <a:extLst>
                        <a:ext uri="{9D8B030D-6E8A-4147-A177-3AD203B41FA5}">
                          <a16:colId xmlns:a16="http://schemas.microsoft.com/office/drawing/2014/main" val="1835782084"/>
                        </a:ext>
                      </a:extLst>
                    </a:gridCol>
                    <a:gridCol w="1650781">
                      <a:extLst>
                        <a:ext uri="{9D8B030D-6E8A-4147-A177-3AD203B41FA5}">
                          <a16:colId xmlns:a16="http://schemas.microsoft.com/office/drawing/2014/main" val="565024879"/>
                        </a:ext>
                      </a:extLst>
                    </a:gridCol>
                    <a:gridCol w="581548">
                      <a:extLst>
                        <a:ext uri="{9D8B030D-6E8A-4147-A177-3AD203B41FA5}">
                          <a16:colId xmlns:a16="http://schemas.microsoft.com/office/drawing/2014/main" val="1180097005"/>
                        </a:ext>
                      </a:extLst>
                    </a:gridCol>
                    <a:gridCol w="1147504">
                      <a:extLst>
                        <a:ext uri="{9D8B030D-6E8A-4147-A177-3AD203B41FA5}">
                          <a16:colId xmlns:a16="http://schemas.microsoft.com/office/drawing/2014/main" val="227452884"/>
                        </a:ext>
                      </a:extLst>
                    </a:gridCol>
                  </a:tblGrid>
                  <a:tr h="45985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A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B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C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89130" t="-1316" r="-1297826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53901" t="-1316" r="-746809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55897" t="-1316" r="-440000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16895" t="-1316" r="-291781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1113415" t="-1316" r="-679268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67159" t="-1316" r="-105535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1318750" t="-1316" r="-197917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724468" t="-1316" r="-1064" b="-6907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49438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287514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98319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8695707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449961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155207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5989246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025342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15931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55377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4 - Metodo esaustivo 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97520-7808-4021-A9CE-950A068AF1D3}" type="slidenum">
              <a:rPr lang="it-IT" altLang="it-IT" smtClean="0"/>
              <a:pPr/>
              <a:t>34</a:t>
            </a:fld>
            <a:endParaRPr lang="it-IT" alt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ttangolo 4"/>
              <p:cNvSpPr/>
              <p:nvPr/>
            </p:nvSpPr>
            <p:spPr>
              <a:xfrm>
                <a:off x="5059969" y="1240580"/>
                <a:ext cx="3770285" cy="4589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(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acc>
                      <m:r>
                        <a:rPr lang="it-IT" sz="1905"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</m:oMath>
                  </m:oMathPara>
                </a14:m>
                <a:endParaRPr lang="it-IT" sz="1905" dirty="0"/>
              </a:p>
            </p:txBody>
          </p:sp>
        </mc:Choice>
        <mc:Fallback xmlns="">
          <p:sp>
            <p:nvSpPr>
              <p:cNvPr id="5" name="Rettango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9969" y="1240580"/>
                <a:ext cx="3770285" cy="458908"/>
              </a:xfrm>
              <a:prstGeom prst="rect">
                <a:avLst/>
              </a:prstGeom>
              <a:blipFill>
                <a:blip r:embed="rId2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Group 58"/>
              <p:cNvGraphicFramePr>
                <a:graphicFrameLocks noGrp="1"/>
              </p:cNvGraphicFramePr>
              <p:nvPr/>
            </p:nvGraphicFramePr>
            <p:xfrm>
              <a:off x="1095778" y="1898136"/>
              <a:ext cx="9435066" cy="3556499"/>
            </p:xfrm>
            <a:graphic>
              <a:graphicData uri="http://schemas.openxmlformats.org/drawingml/2006/table">
                <a:tbl>
                  <a:tblPr/>
                  <a:tblGrid>
                    <a:gridCol w="448272">
                      <a:extLst>
                        <a:ext uri="{9D8B030D-6E8A-4147-A177-3AD203B41FA5}">
                          <a16:colId xmlns:a16="http://schemas.microsoft.com/office/drawing/2014/main" val="1186221656"/>
                        </a:ext>
                      </a:extLst>
                    </a:gridCol>
                    <a:gridCol w="590581">
                      <a:extLst>
                        <a:ext uri="{9D8B030D-6E8A-4147-A177-3AD203B41FA5}">
                          <a16:colId xmlns:a16="http://schemas.microsoft.com/office/drawing/2014/main" val="391314229"/>
                        </a:ext>
                      </a:extLst>
                    </a:gridCol>
                    <a:gridCol w="576350">
                      <a:extLst>
                        <a:ext uri="{9D8B030D-6E8A-4147-A177-3AD203B41FA5}">
                          <a16:colId xmlns:a16="http://schemas.microsoft.com/office/drawing/2014/main" val="2057183182"/>
                        </a:ext>
                      </a:extLst>
                    </a:gridCol>
                    <a:gridCol w="562119">
                      <a:extLst>
                        <a:ext uri="{9D8B030D-6E8A-4147-A177-3AD203B41FA5}">
                          <a16:colId xmlns:a16="http://schemas.microsoft.com/office/drawing/2014/main" val="2678744171"/>
                        </a:ext>
                      </a:extLst>
                    </a:gridCol>
                    <a:gridCol w="853852">
                      <a:extLst>
                        <a:ext uri="{9D8B030D-6E8A-4147-A177-3AD203B41FA5}">
                          <a16:colId xmlns:a16="http://schemas.microsoft.com/office/drawing/2014/main" val="4069191443"/>
                        </a:ext>
                      </a:extLst>
                    </a:gridCol>
                    <a:gridCol w="1188277">
                      <a:extLst>
                        <a:ext uri="{9D8B030D-6E8A-4147-A177-3AD203B41FA5}">
                          <a16:colId xmlns:a16="http://schemas.microsoft.com/office/drawing/2014/main" val="3236854976"/>
                        </a:ext>
                      </a:extLst>
                    </a:gridCol>
                    <a:gridCol w="1337702">
                      <a:extLst>
                        <a:ext uri="{9D8B030D-6E8A-4147-A177-3AD203B41FA5}">
                          <a16:colId xmlns:a16="http://schemas.microsoft.com/office/drawing/2014/main" val="290783020"/>
                        </a:ext>
                      </a:extLst>
                    </a:gridCol>
                    <a:gridCol w="498080">
                      <a:extLst>
                        <a:ext uri="{9D8B030D-6E8A-4147-A177-3AD203B41FA5}">
                          <a16:colId xmlns:a16="http://schemas.microsoft.com/office/drawing/2014/main" val="1835782084"/>
                        </a:ext>
                      </a:extLst>
                    </a:gridCol>
                    <a:gridCol w="1650781">
                      <a:extLst>
                        <a:ext uri="{9D8B030D-6E8A-4147-A177-3AD203B41FA5}">
                          <a16:colId xmlns:a16="http://schemas.microsoft.com/office/drawing/2014/main" val="565024879"/>
                        </a:ext>
                      </a:extLst>
                    </a:gridCol>
                    <a:gridCol w="581548">
                      <a:extLst>
                        <a:ext uri="{9D8B030D-6E8A-4147-A177-3AD203B41FA5}">
                          <a16:colId xmlns:a16="http://schemas.microsoft.com/office/drawing/2014/main" val="1180097005"/>
                        </a:ext>
                      </a:extLst>
                    </a:gridCol>
                    <a:gridCol w="1147504">
                      <a:extLst>
                        <a:ext uri="{9D8B030D-6E8A-4147-A177-3AD203B41FA5}">
                          <a16:colId xmlns:a16="http://schemas.microsoft.com/office/drawing/2014/main" val="227452884"/>
                        </a:ext>
                      </a:extLst>
                    </a:gridCol>
                  </a:tblGrid>
                  <a:tr h="45985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A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B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C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bar>
                                      <m:barPr>
                                        <m:pos m:val="top"/>
                                        <m:ctrlPr>
                                          <a:rPr lang="it-IT" sz="19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it-IT" sz="1900" i="1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ba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it-IT" sz="1900" dirty="0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ba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bar>
                                      <m:barPr>
                                        <m:pos m:val="top"/>
                                        <m:ctrlPr>
                                          <a:rPr lang="it-IT" sz="19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it-IT" sz="1900" i="1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ba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bar>
                                <m:r>
                                  <a:rPr lang="it-IT" sz="1900" b="0" i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it-IT" sz="1900" dirty="0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9149438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287514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98319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8695707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449961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155207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5989246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025342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1593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Group 58"/>
              <p:cNvGraphicFramePr>
                <a:graphicFrameLocks noGrp="1"/>
              </p:cNvGraphicFramePr>
              <p:nvPr/>
            </p:nvGraphicFramePr>
            <p:xfrm>
              <a:off x="1095778" y="1898136"/>
              <a:ext cx="9435066" cy="3556499"/>
            </p:xfrm>
            <a:graphic>
              <a:graphicData uri="http://schemas.openxmlformats.org/drawingml/2006/table">
                <a:tbl>
                  <a:tblPr/>
                  <a:tblGrid>
                    <a:gridCol w="448272">
                      <a:extLst>
                        <a:ext uri="{9D8B030D-6E8A-4147-A177-3AD203B41FA5}">
                          <a16:colId xmlns:a16="http://schemas.microsoft.com/office/drawing/2014/main" val="1186221656"/>
                        </a:ext>
                      </a:extLst>
                    </a:gridCol>
                    <a:gridCol w="590581">
                      <a:extLst>
                        <a:ext uri="{9D8B030D-6E8A-4147-A177-3AD203B41FA5}">
                          <a16:colId xmlns:a16="http://schemas.microsoft.com/office/drawing/2014/main" val="391314229"/>
                        </a:ext>
                      </a:extLst>
                    </a:gridCol>
                    <a:gridCol w="576350">
                      <a:extLst>
                        <a:ext uri="{9D8B030D-6E8A-4147-A177-3AD203B41FA5}">
                          <a16:colId xmlns:a16="http://schemas.microsoft.com/office/drawing/2014/main" val="2057183182"/>
                        </a:ext>
                      </a:extLst>
                    </a:gridCol>
                    <a:gridCol w="562119">
                      <a:extLst>
                        <a:ext uri="{9D8B030D-6E8A-4147-A177-3AD203B41FA5}">
                          <a16:colId xmlns:a16="http://schemas.microsoft.com/office/drawing/2014/main" val="2678744171"/>
                        </a:ext>
                      </a:extLst>
                    </a:gridCol>
                    <a:gridCol w="853852">
                      <a:extLst>
                        <a:ext uri="{9D8B030D-6E8A-4147-A177-3AD203B41FA5}">
                          <a16:colId xmlns:a16="http://schemas.microsoft.com/office/drawing/2014/main" val="4069191443"/>
                        </a:ext>
                      </a:extLst>
                    </a:gridCol>
                    <a:gridCol w="1188277">
                      <a:extLst>
                        <a:ext uri="{9D8B030D-6E8A-4147-A177-3AD203B41FA5}">
                          <a16:colId xmlns:a16="http://schemas.microsoft.com/office/drawing/2014/main" val="3236854976"/>
                        </a:ext>
                      </a:extLst>
                    </a:gridCol>
                    <a:gridCol w="1337702">
                      <a:extLst>
                        <a:ext uri="{9D8B030D-6E8A-4147-A177-3AD203B41FA5}">
                          <a16:colId xmlns:a16="http://schemas.microsoft.com/office/drawing/2014/main" val="290783020"/>
                        </a:ext>
                      </a:extLst>
                    </a:gridCol>
                    <a:gridCol w="498080">
                      <a:extLst>
                        <a:ext uri="{9D8B030D-6E8A-4147-A177-3AD203B41FA5}">
                          <a16:colId xmlns:a16="http://schemas.microsoft.com/office/drawing/2014/main" val="1835782084"/>
                        </a:ext>
                      </a:extLst>
                    </a:gridCol>
                    <a:gridCol w="1650781">
                      <a:extLst>
                        <a:ext uri="{9D8B030D-6E8A-4147-A177-3AD203B41FA5}">
                          <a16:colId xmlns:a16="http://schemas.microsoft.com/office/drawing/2014/main" val="565024879"/>
                        </a:ext>
                      </a:extLst>
                    </a:gridCol>
                    <a:gridCol w="581548">
                      <a:extLst>
                        <a:ext uri="{9D8B030D-6E8A-4147-A177-3AD203B41FA5}">
                          <a16:colId xmlns:a16="http://schemas.microsoft.com/office/drawing/2014/main" val="1180097005"/>
                        </a:ext>
                      </a:extLst>
                    </a:gridCol>
                    <a:gridCol w="1147504">
                      <a:extLst>
                        <a:ext uri="{9D8B030D-6E8A-4147-A177-3AD203B41FA5}">
                          <a16:colId xmlns:a16="http://schemas.microsoft.com/office/drawing/2014/main" val="227452884"/>
                        </a:ext>
                      </a:extLst>
                    </a:gridCol>
                  </a:tblGrid>
                  <a:tr h="45985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A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B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C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89130" t="-1316" r="-1297826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53901" t="-1316" r="-746809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55897" t="-1316" r="-440000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16895" t="-1316" r="-291781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1113415" t="-1316" r="-679268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67159" t="-1316" r="-105535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1318750" t="-1316" r="-197917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724468" t="-1316" r="-1064" b="-6907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49438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287514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98319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8695707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449961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155207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5989246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025342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15931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429085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4 - Metodo esaustivo 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97520-7808-4021-A9CE-950A068AF1D3}" type="slidenum">
              <a:rPr lang="it-IT" altLang="it-IT" smtClean="0"/>
              <a:pPr/>
              <a:t>35</a:t>
            </a:fld>
            <a:endParaRPr lang="it-IT" alt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ttangolo 4"/>
              <p:cNvSpPr/>
              <p:nvPr/>
            </p:nvSpPr>
            <p:spPr>
              <a:xfrm>
                <a:off x="5059969" y="1240580"/>
                <a:ext cx="3770285" cy="4589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(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acc>
                      <m:r>
                        <a:rPr lang="it-IT" sz="1905"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</m:oMath>
                  </m:oMathPara>
                </a14:m>
                <a:endParaRPr lang="it-IT" sz="1905" dirty="0"/>
              </a:p>
            </p:txBody>
          </p:sp>
        </mc:Choice>
        <mc:Fallback xmlns="">
          <p:sp>
            <p:nvSpPr>
              <p:cNvPr id="5" name="Rettango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9969" y="1240580"/>
                <a:ext cx="3770285" cy="458908"/>
              </a:xfrm>
              <a:prstGeom prst="rect">
                <a:avLst/>
              </a:prstGeom>
              <a:blipFill>
                <a:blip r:embed="rId2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Group 58"/>
              <p:cNvGraphicFramePr>
                <a:graphicFrameLocks noGrp="1"/>
              </p:cNvGraphicFramePr>
              <p:nvPr/>
            </p:nvGraphicFramePr>
            <p:xfrm>
              <a:off x="1095778" y="1898136"/>
              <a:ext cx="9435066" cy="3556499"/>
            </p:xfrm>
            <a:graphic>
              <a:graphicData uri="http://schemas.openxmlformats.org/drawingml/2006/table">
                <a:tbl>
                  <a:tblPr/>
                  <a:tblGrid>
                    <a:gridCol w="448272">
                      <a:extLst>
                        <a:ext uri="{9D8B030D-6E8A-4147-A177-3AD203B41FA5}">
                          <a16:colId xmlns:a16="http://schemas.microsoft.com/office/drawing/2014/main" val="1186221656"/>
                        </a:ext>
                      </a:extLst>
                    </a:gridCol>
                    <a:gridCol w="590581">
                      <a:extLst>
                        <a:ext uri="{9D8B030D-6E8A-4147-A177-3AD203B41FA5}">
                          <a16:colId xmlns:a16="http://schemas.microsoft.com/office/drawing/2014/main" val="391314229"/>
                        </a:ext>
                      </a:extLst>
                    </a:gridCol>
                    <a:gridCol w="576350">
                      <a:extLst>
                        <a:ext uri="{9D8B030D-6E8A-4147-A177-3AD203B41FA5}">
                          <a16:colId xmlns:a16="http://schemas.microsoft.com/office/drawing/2014/main" val="2057183182"/>
                        </a:ext>
                      </a:extLst>
                    </a:gridCol>
                    <a:gridCol w="562119">
                      <a:extLst>
                        <a:ext uri="{9D8B030D-6E8A-4147-A177-3AD203B41FA5}">
                          <a16:colId xmlns:a16="http://schemas.microsoft.com/office/drawing/2014/main" val="2678744171"/>
                        </a:ext>
                      </a:extLst>
                    </a:gridCol>
                    <a:gridCol w="853852">
                      <a:extLst>
                        <a:ext uri="{9D8B030D-6E8A-4147-A177-3AD203B41FA5}">
                          <a16:colId xmlns:a16="http://schemas.microsoft.com/office/drawing/2014/main" val="4069191443"/>
                        </a:ext>
                      </a:extLst>
                    </a:gridCol>
                    <a:gridCol w="1188277">
                      <a:extLst>
                        <a:ext uri="{9D8B030D-6E8A-4147-A177-3AD203B41FA5}">
                          <a16:colId xmlns:a16="http://schemas.microsoft.com/office/drawing/2014/main" val="3236854976"/>
                        </a:ext>
                      </a:extLst>
                    </a:gridCol>
                    <a:gridCol w="1337702">
                      <a:extLst>
                        <a:ext uri="{9D8B030D-6E8A-4147-A177-3AD203B41FA5}">
                          <a16:colId xmlns:a16="http://schemas.microsoft.com/office/drawing/2014/main" val="290783020"/>
                        </a:ext>
                      </a:extLst>
                    </a:gridCol>
                    <a:gridCol w="498080">
                      <a:extLst>
                        <a:ext uri="{9D8B030D-6E8A-4147-A177-3AD203B41FA5}">
                          <a16:colId xmlns:a16="http://schemas.microsoft.com/office/drawing/2014/main" val="1835782084"/>
                        </a:ext>
                      </a:extLst>
                    </a:gridCol>
                    <a:gridCol w="1650781">
                      <a:extLst>
                        <a:ext uri="{9D8B030D-6E8A-4147-A177-3AD203B41FA5}">
                          <a16:colId xmlns:a16="http://schemas.microsoft.com/office/drawing/2014/main" val="565024879"/>
                        </a:ext>
                      </a:extLst>
                    </a:gridCol>
                    <a:gridCol w="581548">
                      <a:extLst>
                        <a:ext uri="{9D8B030D-6E8A-4147-A177-3AD203B41FA5}">
                          <a16:colId xmlns:a16="http://schemas.microsoft.com/office/drawing/2014/main" val="1180097005"/>
                        </a:ext>
                      </a:extLst>
                    </a:gridCol>
                    <a:gridCol w="1147504">
                      <a:extLst>
                        <a:ext uri="{9D8B030D-6E8A-4147-A177-3AD203B41FA5}">
                          <a16:colId xmlns:a16="http://schemas.microsoft.com/office/drawing/2014/main" val="227452884"/>
                        </a:ext>
                      </a:extLst>
                    </a:gridCol>
                  </a:tblGrid>
                  <a:tr h="45985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A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B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C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bar>
                                      <m:barPr>
                                        <m:pos m:val="top"/>
                                        <m:ctrlPr>
                                          <a:rPr lang="it-IT" sz="19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it-IT" sz="1900" i="1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ba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it-IT" sz="1900" dirty="0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ba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bar>
                                      <m:barPr>
                                        <m:pos m:val="top"/>
                                        <m:ctrlPr>
                                          <a:rPr lang="it-IT" sz="19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it-IT" sz="1900" i="1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ba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bar>
                                <m:r>
                                  <a:rPr lang="it-IT" sz="1900" b="0" i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it-IT" sz="1900" dirty="0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9149438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287514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98319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8695707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449961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155207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5989246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025342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1593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Group 58"/>
              <p:cNvGraphicFramePr>
                <a:graphicFrameLocks noGrp="1"/>
              </p:cNvGraphicFramePr>
              <p:nvPr/>
            </p:nvGraphicFramePr>
            <p:xfrm>
              <a:off x="1095778" y="1898136"/>
              <a:ext cx="9435066" cy="3556499"/>
            </p:xfrm>
            <a:graphic>
              <a:graphicData uri="http://schemas.openxmlformats.org/drawingml/2006/table">
                <a:tbl>
                  <a:tblPr/>
                  <a:tblGrid>
                    <a:gridCol w="448272">
                      <a:extLst>
                        <a:ext uri="{9D8B030D-6E8A-4147-A177-3AD203B41FA5}">
                          <a16:colId xmlns:a16="http://schemas.microsoft.com/office/drawing/2014/main" val="1186221656"/>
                        </a:ext>
                      </a:extLst>
                    </a:gridCol>
                    <a:gridCol w="590581">
                      <a:extLst>
                        <a:ext uri="{9D8B030D-6E8A-4147-A177-3AD203B41FA5}">
                          <a16:colId xmlns:a16="http://schemas.microsoft.com/office/drawing/2014/main" val="391314229"/>
                        </a:ext>
                      </a:extLst>
                    </a:gridCol>
                    <a:gridCol w="576350">
                      <a:extLst>
                        <a:ext uri="{9D8B030D-6E8A-4147-A177-3AD203B41FA5}">
                          <a16:colId xmlns:a16="http://schemas.microsoft.com/office/drawing/2014/main" val="2057183182"/>
                        </a:ext>
                      </a:extLst>
                    </a:gridCol>
                    <a:gridCol w="562119">
                      <a:extLst>
                        <a:ext uri="{9D8B030D-6E8A-4147-A177-3AD203B41FA5}">
                          <a16:colId xmlns:a16="http://schemas.microsoft.com/office/drawing/2014/main" val="2678744171"/>
                        </a:ext>
                      </a:extLst>
                    </a:gridCol>
                    <a:gridCol w="853852">
                      <a:extLst>
                        <a:ext uri="{9D8B030D-6E8A-4147-A177-3AD203B41FA5}">
                          <a16:colId xmlns:a16="http://schemas.microsoft.com/office/drawing/2014/main" val="4069191443"/>
                        </a:ext>
                      </a:extLst>
                    </a:gridCol>
                    <a:gridCol w="1188277">
                      <a:extLst>
                        <a:ext uri="{9D8B030D-6E8A-4147-A177-3AD203B41FA5}">
                          <a16:colId xmlns:a16="http://schemas.microsoft.com/office/drawing/2014/main" val="3236854976"/>
                        </a:ext>
                      </a:extLst>
                    </a:gridCol>
                    <a:gridCol w="1337702">
                      <a:extLst>
                        <a:ext uri="{9D8B030D-6E8A-4147-A177-3AD203B41FA5}">
                          <a16:colId xmlns:a16="http://schemas.microsoft.com/office/drawing/2014/main" val="290783020"/>
                        </a:ext>
                      </a:extLst>
                    </a:gridCol>
                    <a:gridCol w="498080">
                      <a:extLst>
                        <a:ext uri="{9D8B030D-6E8A-4147-A177-3AD203B41FA5}">
                          <a16:colId xmlns:a16="http://schemas.microsoft.com/office/drawing/2014/main" val="1835782084"/>
                        </a:ext>
                      </a:extLst>
                    </a:gridCol>
                    <a:gridCol w="1650781">
                      <a:extLst>
                        <a:ext uri="{9D8B030D-6E8A-4147-A177-3AD203B41FA5}">
                          <a16:colId xmlns:a16="http://schemas.microsoft.com/office/drawing/2014/main" val="565024879"/>
                        </a:ext>
                      </a:extLst>
                    </a:gridCol>
                    <a:gridCol w="581548">
                      <a:extLst>
                        <a:ext uri="{9D8B030D-6E8A-4147-A177-3AD203B41FA5}">
                          <a16:colId xmlns:a16="http://schemas.microsoft.com/office/drawing/2014/main" val="1180097005"/>
                        </a:ext>
                      </a:extLst>
                    </a:gridCol>
                    <a:gridCol w="1147504">
                      <a:extLst>
                        <a:ext uri="{9D8B030D-6E8A-4147-A177-3AD203B41FA5}">
                          <a16:colId xmlns:a16="http://schemas.microsoft.com/office/drawing/2014/main" val="227452884"/>
                        </a:ext>
                      </a:extLst>
                    </a:gridCol>
                  </a:tblGrid>
                  <a:tr h="45985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A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B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C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89130" t="-1316" r="-1297826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53901" t="-1316" r="-746809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55897" t="-1316" r="-440000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16895" t="-1316" r="-291781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1113415" t="-1316" r="-679268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67159" t="-1316" r="-105535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1318750" t="-1316" r="-197917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724468" t="-1316" r="-1064" b="-6907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49438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287514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98319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8695707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449961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155207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5989246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025342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15931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740769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4 - Metodo esaustivo 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97520-7808-4021-A9CE-950A068AF1D3}" type="slidenum">
              <a:rPr lang="it-IT" altLang="it-IT" smtClean="0"/>
              <a:pPr/>
              <a:t>36</a:t>
            </a:fld>
            <a:endParaRPr lang="it-IT" alt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ttangolo 4"/>
              <p:cNvSpPr/>
              <p:nvPr/>
            </p:nvSpPr>
            <p:spPr>
              <a:xfrm>
                <a:off x="5059969" y="1240580"/>
                <a:ext cx="3770285" cy="4589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(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acc>
                      <m:r>
                        <a:rPr lang="it-IT" sz="1905"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</m:oMath>
                  </m:oMathPara>
                </a14:m>
                <a:endParaRPr lang="it-IT" sz="1905" dirty="0"/>
              </a:p>
            </p:txBody>
          </p:sp>
        </mc:Choice>
        <mc:Fallback xmlns="">
          <p:sp>
            <p:nvSpPr>
              <p:cNvPr id="5" name="Rettango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9969" y="1240580"/>
                <a:ext cx="3770285" cy="458908"/>
              </a:xfrm>
              <a:prstGeom prst="rect">
                <a:avLst/>
              </a:prstGeom>
              <a:blipFill>
                <a:blip r:embed="rId2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Group 58"/>
              <p:cNvGraphicFramePr>
                <a:graphicFrameLocks noGrp="1"/>
              </p:cNvGraphicFramePr>
              <p:nvPr/>
            </p:nvGraphicFramePr>
            <p:xfrm>
              <a:off x="1095778" y="1898136"/>
              <a:ext cx="9435066" cy="3556499"/>
            </p:xfrm>
            <a:graphic>
              <a:graphicData uri="http://schemas.openxmlformats.org/drawingml/2006/table">
                <a:tbl>
                  <a:tblPr/>
                  <a:tblGrid>
                    <a:gridCol w="448272">
                      <a:extLst>
                        <a:ext uri="{9D8B030D-6E8A-4147-A177-3AD203B41FA5}">
                          <a16:colId xmlns:a16="http://schemas.microsoft.com/office/drawing/2014/main" val="1186221656"/>
                        </a:ext>
                      </a:extLst>
                    </a:gridCol>
                    <a:gridCol w="590581">
                      <a:extLst>
                        <a:ext uri="{9D8B030D-6E8A-4147-A177-3AD203B41FA5}">
                          <a16:colId xmlns:a16="http://schemas.microsoft.com/office/drawing/2014/main" val="391314229"/>
                        </a:ext>
                      </a:extLst>
                    </a:gridCol>
                    <a:gridCol w="576350">
                      <a:extLst>
                        <a:ext uri="{9D8B030D-6E8A-4147-A177-3AD203B41FA5}">
                          <a16:colId xmlns:a16="http://schemas.microsoft.com/office/drawing/2014/main" val="2057183182"/>
                        </a:ext>
                      </a:extLst>
                    </a:gridCol>
                    <a:gridCol w="562119">
                      <a:extLst>
                        <a:ext uri="{9D8B030D-6E8A-4147-A177-3AD203B41FA5}">
                          <a16:colId xmlns:a16="http://schemas.microsoft.com/office/drawing/2014/main" val="2678744171"/>
                        </a:ext>
                      </a:extLst>
                    </a:gridCol>
                    <a:gridCol w="853852">
                      <a:extLst>
                        <a:ext uri="{9D8B030D-6E8A-4147-A177-3AD203B41FA5}">
                          <a16:colId xmlns:a16="http://schemas.microsoft.com/office/drawing/2014/main" val="4069191443"/>
                        </a:ext>
                      </a:extLst>
                    </a:gridCol>
                    <a:gridCol w="1188277">
                      <a:extLst>
                        <a:ext uri="{9D8B030D-6E8A-4147-A177-3AD203B41FA5}">
                          <a16:colId xmlns:a16="http://schemas.microsoft.com/office/drawing/2014/main" val="3236854976"/>
                        </a:ext>
                      </a:extLst>
                    </a:gridCol>
                    <a:gridCol w="1337702">
                      <a:extLst>
                        <a:ext uri="{9D8B030D-6E8A-4147-A177-3AD203B41FA5}">
                          <a16:colId xmlns:a16="http://schemas.microsoft.com/office/drawing/2014/main" val="290783020"/>
                        </a:ext>
                      </a:extLst>
                    </a:gridCol>
                    <a:gridCol w="498080">
                      <a:extLst>
                        <a:ext uri="{9D8B030D-6E8A-4147-A177-3AD203B41FA5}">
                          <a16:colId xmlns:a16="http://schemas.microsoft.com/office/drawing/2014/main" val="1835782084"/>
                        </a:ext>
                      </a:extLst>
                    </a:gridCol>
                    <a:gridCol w="1650781">
                      <a:extLst>
                        <a:ext uri="{9D8B030D-6E8A-4147-A177-3AD203B41FA5}">
                          <a16:colId xmlns:a16="http://schemas.microsoft.com/office/drawing/2014/main" val="565024879"/>
                        </a:ext>
                      </a:extLst>
                    </a:gridCol>
                    <a:gridCol w="581548">
                      <a:extLst>
                        <a:ext uri="{9D8B030D-6E8A-4147-A177-3AD203B41FA5}">
                          <a16:colId xmlns:a16="http://schemas.microsoft.com/office/drawing/2014/main" val="1180097005"/>
                        </a:ext>
                      </a:extLst>
                    </a:gridCol>
                    <a:gridCol w="1147504">
                      <a:extLst>
                        <a:ext uri="{9D8B030D-6E8A-4147-A177-3AD203B41FA5}">
                          <a16:colId xmlns:a16="http://schemas.microsoft.com/office/drawing/2014/main" val="227452884"/>
                        </a:ext>
                      </a:extLst>
                    </a:gridCol>
                  </a:tblGrid>
                  <a:tr h="45985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A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B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C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bar>
                                      <m:barPr>
                                        <m:pos m:val="top"/>
                                        <m:ctrlPr>
                                          <a:rPr lang="it-IT" sz="19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it-IT" sz="1900" i="1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ba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it-IT" sz="1900" dirty="0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ba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bar>
                                      <m:barPr>
                                        <m:pos m:val="top"/>
                                        <m:ctrlPr>
                                          <a:rPr lang="it-IT" sz="19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it-IT" sz="1900" i="1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ba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bar>
                                <m:r>
                                  <a:rPr lang="it-IT" sz="1900" b="0" i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it-IT" sz="1900" dirty="0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9149438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287514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98319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8695707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449961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155207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5989246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025342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1593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Group 58"/>
              <p:cNvGraphicFramePr>
                <a:graphicFrameLocks noGrp="1"/>
              </p:cNvGraphicFramePr>
              <p:nvPr/>
            </p:nvGraphicFramePr>
            <p:xfrm>
              <a:off x="1095778" y="1898136"/>
              <a:ext cx="9435066" cy="3556499"/>
            </p:xfrm>
            <a:graphic>
              <a:graphicData uri="http://schemas.openxmlformats.org/drawingml/2006/table">
                <a:tbl>
                  <a:tblPr/>
                  <a:tblGrid>
                    <a:gridCol w="448272">
                      <a:extLst>
                        <a:ext uri="{9D8B030D-6E8A-4147-A177-3AD203B41FA5}">
                          <a16:colId xmlns:a16="http://schemas.microsoft.com/office/drawing/2014/main" val="1186221656"/>
                        </a:ext>
                      </a:extLst>
                    </a:gridCol>
                    <a:gridCol w="590581">
                      <a:extLst>
                        <a:ext uri="{9D8B030D-6E8A-4147-A177-3AD203B41FA5}">
                          <a16:colId xmlns:a16="http://schemas.microsoft.com/office/drawing/2014/main" val="391314229"/>
                        </a:ext>
                      </a:extLst>
                    </a:gridCol>
                    <a:gridCol w="576350">
                      <a:extLst>
                        <a:ext uri="{9D8B030D-6E8A-4147-A177-3AD203B41FA5}">
                          <a16:colId xmlns:a16="http://schemas.microsoft.com/office/drawing/2014/main" val="2057183182"/>
                        </a:ext>
                      </a:extLst>
                    </a:gridCol>
                    <a:gridCol w="562119">
                      <a:extLst>
                        <a:ext uri="{9D8B030D-6E8A-4147-A177-3AD203B41FA5}">
                          <a16:colId xmlns:a16="http://schemas.microsoft.com/office/drawing/2014/main" val="2678744171"/>
                        </a:ext>
                      </a:extLst>
                    </a:gridCol>
                    <a:gridCol w="853852">
                      <a:extLst>
                        <a:ext uri="{9D8B030D-6E8A-4147-A177-3AD203B41FA5}">
                          <a16:colId xmlns:a16="http://schemas.microsoft.com/office/drawing/2014/main" val="4069191443"/>
                        </a:ext>
                      </a:extLst>
                    </a:gridCol>
                    <a:gridCol w="1188277">
                      <a:extLst>
                        <a:ext uri="{9D8B030D-6E8A-4147-A177-3AD203B41FA5}">
                          <a16:colId xmlns:a16="http://schemas.microsoft.com/office/drawing/2014/main" val="3236854976"/>
                        </a:ext>
                      </a:extLst>
                    </a:gridCol>
                    <a:gridCol w="1337702">
                      <a:extLst>
                        <a:ext uri="{9D8B030D-6E8A-4147-A177-3AD203B41FA5}">
                          <a16:colId xmlns:a16="http://schemas.microsoft.com/office/drawing/2014/main" val="290783020"/>
                        </a:ext>
                      </a:extLst>
                    </a:gridCol>
                    <a:gridCol w="498080">
                      <a:extLst>
                        <a:ext uri="{9D8B030D-6E8A-4147-A177-3AD203B41FA5}">
                          <a16:colId xmlns:a16="http://schemas.microsoft.com/office/drawing/2014/main" val="1835782084"/>
                        </a:ext>
                      </a:extLst>
                    </a:gridCol>
                    <a:gridCol w="1650781">
                      <a:extLst>
                        <a:ext uri="{9D8B030D-6E8A-4147-A177-3AD203B41FA5}">
                          <a16:colId xmlns:a16="http://schemas.microsoft.com/office/drawing/2014/main" val="565024879"/>
                        </a:ext>
                      </a:extLst>
                    </a:gridCol>
                    <a:gridCol w="581548">
                      <a:extLst>
                        <a:ext uri="{9D8B030D-6E8A-4147-A177-3AD203B41FA5}">
                          <a16:colId xmlns:a16="http://schemas.microsoft.com/office/drawing/2014/main" val="1180097005"/>
                        </a:ext>
                      </a:extLst>
                    </a:gridCol>
                    <a:gridCol w="1147504">
                      <a:extLst>
                        <a:ext uri="{9D8B030D-6E8A-4147-A177-3AD203B41FA5}">
                          <a16:colId xmlns:a16="http://schemas.microsoft.com/office/drawing/2014/main" val="227452884"/>
                        </a:ext>
                      </a:extLst>
                    </a:gridCol>
                  </a:tblGrid>
                  <a:tr h="45985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A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B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C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89130" t="-1316" r="-1297826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53901" t="-1316" r="-746809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55897" t="-1316" r="-440000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16895" t="-1316" r="-291781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1113415" t="-1316" r="-679268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67159" t="-1316" r="-105535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1318750" t="-1316" r="-197917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724468" t="-1316" r="-1064" b="-6907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49438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287514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98319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8695707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449961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155207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5989246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025342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15931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239037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4 - Metodo esaustivo 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97520-7808-4021-A9CE-950A068AF1D3}" type="slidenum">
              <a:rPr lang="it-IT" altLang="it-IT" smtClean="0"/>
              <a:pPr/>
              <a:t>37</a:t>
            </a:fld>
            <a:endParaRPr lang="it-IT" alt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ttangolo 4"/>
              <p:cNvSpPr/>
              <p:nvPr/>
            </p:nvSpPr>
            <p:spPr>
              <a:xfrm>
                <a:off x="5059969" y="1240580"/>
                <a:ext cx="3770285" cy="4589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(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acc>
                      <m:r>
                        <a:rPr lang="it-IT" sz="1905"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</m:oMath>
                  </m:oMathPara>
                </a14:m>
                <a:endParaRPr lang="it-IT" sz="1905" dirty="0"/>
              </a:p>
            </p:txBody>
          </p:sp>
        </mc:Choice>
        <mc:Fallback xmlns="">
          <p:sp>
            <p:nvSpPr>
              <p:cNvPr id="5" name="Rettango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9969" y="1240580"/>
                <a:ext cx="3770285" cy="458908"/>
              </a:xfrm>
              <a:prstGeom prst="rect">
                <a:avLst/>
              </a:prstGeom>
              <a:blipFill>
                <a:blip r:embed="rId2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Group 58"/>
              <p:cNvGraphicFramePr>
                <a:graphicFrameLocks noGrp="1"/>
              </p:cNvGraphicFramePr>
              <p:nvPr/>
            </p:nvGraphicFramePr>
            <p:xfrm>
              <a:off x="1095778" y="1898136"/>
              <a:ext cx="9435066" cy="3556499"/>
            </p:xfrm>
            <a:graphic>
              <a:graphicData uri="http://schemas.openxmlformats.org/drawingml/2006/table">
                <a:tbl>
                  <a:tblPr/>
                  <a:tblGrid>
                    <a:gridCol w="448272">
                      <a:extLst>
                        <a:ext uri="{9D8B030D-6E8A-4147-A177-3AD203B41FA5}">
                          <a16:colId xmlns:a16="http://schemas.microsoft.com/office/drawing/2014/main" val="1186221656"/>
                        </a:ext>
                      </a:extLst>
                    </a:gridCol>
                    <a:gridCol w="590581">
                      <a:extLst>
                        <a:ext uri="{9D8B030D-6E8A-4147-A177-3AD203B41FA5}">
                          <a16:colId xmlns:a16="http://schemas.microsoft.com/office/drawing/2014/main" val="391314229"/>
                        </a:ext>
                      </a:extLst>
                    </a:gridCol>
                    <a:gridCol w="576350">
                      <a:extLst>
                        <a:ext uri="{9D8B030D-6E8A-4147-A177-3AD203B41FA5}">
                          <a16:colId xmlns:a16="http://schemas.microsoft.com/office/drawing/2014/main" val="2057183182"/>
                        </a:ext>
                      </a:extLst>
                    </a:gridCol>
                    <a:gridCol w="562119">
                      <a:extLst>
                        <a:ext uri="{9D8B030D-6E8A-4147-A177-3AD203B41FA5}">
                          <a16:colId xmlns:a16="http://schemas.microsoft.com/office/drawing/2014/main" val="2678744171"/>
                        </a:ext>
                      </a:extLst>
                    </a:gridCol>
                    <a:gridCol w="853852">
                      <a:extLst>
                        <a:ext uri="{9D8B030D-6E8A-4147-A177-3AD203B41FA5}">
                          <a16:colId xmlns:a16="http://schemas.microsoft.com/office/drawing/2014/main" val="4069191443"/>
                        </a:ext>
                      </a:extLst>
                    </a:gridCol>
                    <a:gridCol w="1188277">
                      <a:extLst>
                        <a:ext uri="{9D8B030D-6E8A-4147-A177-3AD203B41FA5}">
                          <a16:colId xmlns:a16="http://schemas.microsoft.com/office/drawing/2014/main" val="3236854976"/>
                        </a:ext>
                      </a:extLst>
                    </a:gridCol>
                    <a:gridCol w="1337702">
                      <a:extLst>
                        <a:ext uri="{9D8B030D-6E8A-4147-A177-3AD203B41FA5}">
                          <a16:colId xmlns:a16="http://schemas.microsoft.com/office/drawing/2014/main" val="290783020"/>
                        </a:ext>
                      </a:extLst>
                    </a:gridCol>
                    <a:gridCol w="498080">
                      <a:extLst>
                        <a:ext uri="{9D8B030D-6E8A-4147-A177-3AD203B41FA5}">
                          <a16:colId xmlns:a16="http://schemas.microsoft.com/office/drawing/2014/main" val="1835782084"/>
                        </a:ext>
                      </a:extLst>
                    </a:gridCol>
                    <a:gridCol w="1650781">
                      <a:extLst>
                        <a:ext uri="{9D8B030D-6E8A-4147-A177-3AD203B41FA5}">
                          <a16:colId xmlns:a16="http://schemas.microsoft.com/office/drawing/2014/main" val="565024879"/>
                        </a:ext>
                      </a:extLst>
                    </a:gridCol>
                    <a:gridCol w="581548">
                      <a:extLst>
                        <a:ext uri="{9D8B030D-6E8A-4147-A177-3AD203B41FA5}">
                          <a16:colId xmlns:a16="http://schemas.microsoft.com/office/drawing/2014/main" val="1180097005"/>
                        </a:ext>
                      </a:extLst>
                    </a:gridCol>
                    <a:gridCol w="1147504">
                      <a:extLst>
                        <a:ext uri="{9D8B030D-6E8A-4147-A177-3AD203B41FA5}">
                          <a16:colId xmlns:a16="http://schemas.microsoft.com/office/drawing/2014/main" val="227452884"/>
                        </a:ext>
                      </a:extLst>
                    </a:gridCol>
                  </a:tblGrid>
                  <a:tr h="45985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A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B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C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bar>
                                      <m:barPr>
                                        <m:pos m:val="top"/>
                                        <m:ctrlPr>
                                          <a:rPr lang="it-IT" sz="19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it-IT" sz="1900" i="1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ba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it-IT" sz="1900" dirty="0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ba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bar>
                                      <m:barPr>
                                        <m:pos m:val="top"/>
                                        <m:ctrlPr>
                                          <a:rPr lang="it-IT" sz="19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it-IT" sz="1900" i="1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ba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bar>
                                <m:r>
                                  <a:rPr lang="it-IT" sz="1900" b="0" i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it-IT" sz="1900" dirty="0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9149438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287514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98319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8695707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449961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155207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5989246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025342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1593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Group 58"/>
              <p:cNvGraphicFramePr>
                <a:graphicFrameLocks noGrp="1"/>
              </p:cNvGraphicFramePr>
              <p:nvPr/>
            </p:nvGraphicFramePr>
            <p:xfrm>
              <a:off x="1095778" y="1898136"/>
              <a:ext cx="9435066" cy="3556499"/>
            </p:xfrm>
            <a:graphic>
              <a:graphicData uri="http://schemas.openxmlformats.org/drawingml/2006/table">
                <a:tbl>
                  <a:tblPr/>
                  <a:tblGrid>
                    <a:gridCol w="448272">
                      <a:extLst>
                        <a:ext uri="{9D8B030D-6E8A-4147-A177-3AD203B41FA5}">
                          <a16:colId xmlns:a16="http://schemas.microsoft.com/office/drawing/2014/main" val="1186221656"/>
                        </a:ext>
                      </a:extLst>
                    </a:gridCol>
                    <a:gridCol w="590581">
                      <a:extLst>
                        <a:ext uri="{9D8B030D-6E8A-4147-A177-3AD203B41FA5}">
                          <a16:colId xmlns:a16="http://schemas.microsoft.com/office/drawing/2014/main" val="391314229"/>
                        </a:ext>
                      </a:extLst>
                    </a:gridCol>
                    <a:gridCol w="576350">
                      <a:extLst>
                        <a:ext uri="{9D8B030D-6E8A-4147-A177-3AD203B41FA5}">
                          <a16:colId xmlns:a16="http://schemas.microsoft.com/office/drawing/2014/main" val="2057183182"/>
                        </a:ext>
                      </a:extLst>
                    </a:gridCol>
                    <a:gridCol w="562119">
                      <a:extLst>
                        <a:ext uri="{9D8B030D-6E8A-4147-A177-3AD203B41FA5}">
                          <a16:colId xmlns:a16="http://schemas.microsoft.com/office/drawing/2014/main" val="2678744171"/>
                        </a:ext>
                      </a:extLst>
                    </a:gridCol>
                    <a:gridCol w="853852">
                      <a:extLst>
                        <a:ext uri="{9D8B030D-6E8A-4147-A177-3AD203B41FA5}">
                          <a16:colId xmlns:a16="http://schemas.microsoft.com/office/drawing/2014/main" val="4069191443"/>
                        </a:ext>
                      </a:extLst>
                    </a:gridCol>
                    <a:gridCol w="1188277">
                      <a:extLst>
                        <a:ext uri="{9D8B030D-6E8A-4147-A177-3AD203B41FA5}">
                          <a16:colId xmlns:a16="http://schemas.microsoft.com/office/drawing/2014/main" val="3236854976"/>
                        </a:ext>
                      </a:extLst>
                    </a:gridCol>
                    <a:gridCol w="1337702">
                      <a:extLst>
                        <a:ext uri="{9D8B030D-6E8A-4147-A177-3AD203B41FA5}">
                          <a16:colId xmlns:a16="http://schemas.microsoft.com/office/drawing/2014/main" val="290783020"/>
                        </a:ext>
                      </a:extLst>
                    </a:gridCol>
                    <a:gridCol w="498080">
                      <a:extLst>
                        <a:ext uri="{9D8B030D-6E8A-4147-A177-3AD203B41FA5}">
                          <a16:colId xmlns:a16="http://schemas.microsoft.com/office/drawing/2014/main" val="1835782084"/>
                        </a:ext>
                      </a:extLst>
                    </a:gridCol>
                    <a:gridCol w="1650781">
                      <a:extLst>
                        <a:ext uri="{9D8B030D-6E8A-4147-A177-3AD203B41FA5}">
                          <a16:colId xmlns:a16="http://schemas.microsoft.com/office/drawing/2014/main" val="565024879"/>
                        </a:ext>
                      </a:extLst>
                    </a:gridCol>
                    <a:gridCol w="581548">
                      <a:extLst>
                        <a:ext uri="{9D8B030D-6E8A-4147-A177-3AD203B41FA5}">
                          <a16:colId xmlns:a16="http://schemas.microsoft.com/office/drawing/2014/main" val="1180097005"/>
                        </a:ext>
                      </a:extLst>
                    </a:gridCol>
                    <a:gridCol w="1147504">
                      <a:extLst>
                        <a:ext uri="{9D8B030D-6E8A-4147-A177-3AD203B41FA5}">
                          <a16:colId xmlns:a16="http://schemas.microsoft.com/office/drawing/2014/main" val="227452884"/>
                        </a:ext>
                      </a:extLst>
                    </a:gridCol>
                  </a:tblGrid>
                  <a:tr h="45985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A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B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C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89130" t="-1316" r="-1297826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53901" t="-1316" r="-746809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55897" t="-1316" r="-440000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16895" t="-1316" r="-291781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1113415" t="-1316" r="-679268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67159" t="-1316" r="-105535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1318750" t="-1316" r="-197917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724468" t="-1316" r="-1064" b="-6907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49438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287514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98319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8695707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449961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155207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5989246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025342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15931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578335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4 - Metodo esaustivo 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97520-7808-4021-A9CE-950A068AF1D3}" type="slidenum">
              <a:rPr lang="it-IT" altLang="it-IT" smtClean="0"/>
              <a:pPr/>
              <a:t>38</a:t>
            </a:fld>
            <a:endParaRPr lang="it-IT" alt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ttangolo 4"/>
              <p:cNvSpPr/>
              <p:nvPr/>
            </p:nvSpPr>
            <p:spPr>
              <a:xfrm>
                <a:off x="5059969" y="1240580"/>
                <a:ext cx="3770285" cy="4589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(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acc>
                      <m:r>
                        <a:rPr lang="it-IT" sz="1905"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</m:oMath>
                  </m:oMathPara>
                </a14:m>
                <a:endParaRPr lang="it-IT" sz="1905" dirty="0"/>
              </a:p>
            </p:txBody>
          </p:sp>
        </mc:Choice>
        <mc:Fallback xmlns="">
          <p:sp>
            <p:nvSpPr>
              <p:cNvPr id="5" name="Rettango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9969" y="1240580"/>
                <a:ext cx="3770285" cy="458908"/>
              </a:xfrm>
              <a:prstGeom prst="rect">
                <a:avLst/>
              </a:prstGeom>
              <a:blipFill>
                <a:blip r:embed="rId2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Group 58"/>
              <p:cNvGraphicFramePr>
                <a:graphicFrameLocks noGrp="1"/>
              </p:cNvGraphicFramePr>
              <p:nvPr/>
            </p:nvGraphicFramePr>
            <p:xfrm>
              <a:off x="1095778" y="1898136"/>
              <a:ext cx="9435066" cy="3556499"/>
            </p:xfrm>
            <a:graphic>
              <a:graphicData uri="http://schemas.openxmlformats.org/drawingml/2006/table">
                <a:tbl>
                  <a:tblPr/>
                  <a:tblGrid>
                    <a:gridCol w="448272">
                      <a:extLst>
                        <a:ext uri="{9D8B030D-6E8A-4147-A177-3AD203B41FA5}">
                          <a16:colId xmlns:a16="http://schemas.microsoft.com/office/drawing/2014/main" val="1186221656"/>
                        </a:ext>
                      </a:extLst>
                    </a:gridCol>
                    <a:gridCol w="590581">
                      <a:extLst>
                        <a:ext uri="{9D8B030D-6E8A-4147-A177-3AD203B41FA5}">
                          <a16:colId xmlns:a16="http://schemas.microsoft.com/office/drawing/2014/main" val="391314229"/>
                        </a:ext>
                      </a:extLst>
                    </a:gridCol>
                    <a:gridCol w="576350">
                      <a:extLst>
                        <a:ext uri="{9D8B030D-6E8A-4147-A177-3AD203B41FA5}">
                          <a16:colId xmlns:a16="http://schemas.microsoft.com/office/drawing/2014/main" val="2057183182"/>
                        </a:ext>
                      </a:extLst>
                    </a:gridCol>
                    <a:gridCol w="562119">
                      <a:extLst>
                        <a:ext uri="{9D8B030D-6E8A-4147-A177-3AD203B41FA5}">
                          <a16:colId xmlns:a16="http://schemas.microsoft.com/office/drawing/2014/main" val="2678744171"/>
                        </a:ext>
                      </a:extLst>
                    </a:gridCol>
                    <a:gridCol w="853852">
                      <a:extLst>
                        <a:ext uri="{9D8B030D-6E8A-4147-A177-3AD203B41FA5}">
                          <a16:colId xmlns:a16="http://schemas.microsoft.com/office/drawing/2014/main" val="4069191443"/>
                        </a:ext>
                      </a:extLst>
                    </a:gridCol>
                    <a:gridCol w="1188277">
                      <a:extLst>
                        <a:ext uri="{9D8B030D-6E8A-4147-A177-3AD203B41FA5}">
                          <a16:colId xmlns:a16="http://schemas.microsoft.com/office/drawing/2014/main" val="3236854976"/>
                        </a:ext>
                      </a:extLst>
                    </a:gridCol>
                    <a:gridCol w="1337702">
                      <a:extLst>
                        <a:ext uri="{9D8B030D-6E8A-4147-A177-3AD203B41FA5}">
                          <a16:colId xmlns:a16="http://schemas.microsoft.com/office/drawing/2014/main" val="290783020"/>
                        </a:ext>
                      </a:extLst>
                    </a:gridCol>
                    <a:gridCol w="498080">
                      <a:extLst>
                        <a:ext uri="{9D8B030D-6E8A-4147-A177-3AD203B41FA5}">
                          <a16:colId xmlns:a16="http://schemas.microsoft.com/office/drawing/2014/main" val="1835782084"/>
                        </a:ext>
                      </a:extLst>
                    </a:gridCol>
                    <a:gridCol w="1650781">
                      <a:extLst>
                        <a:ext uri="{9D8B030D-6E8A-4147-A177-3AD203B41FA5}">
                          <a16:colId xmlns:a16="http://schemas.microsoft.com/office/drawing/2014/main" val="565024879"/>
                        </a:ext>
                      </a:extLst>
                    </a:gridCol>
                    <a:gridCol w="581548">
                      <a:extLst>
                        <a:ext uri="{9D8B030D-6E8A-4147-A177-3AD203B41FA5}">
                          <a16:colId xmlns:a16="http://schemas.microsoft.com/office/drawing/2014/main" val="1180097005"/>
                        </a:ext>
                      </a:extLst>
                    </a:gridCol>
                    <a:gridCol w="1147504">
                      <a:extLst>
                        <a:ext uri="{9D8B030D-6E8A-4147-A177-3AD203B41FA5}">
                          <a16:colId xmlns:a16="http://schemas.microsoft.com/office/drawing/2014/main" val="227452884"/>
                        </a:ext>
                      </a:extLst>
                    </a:gridCol>
                  </a:tblGrid>
                  <a:tr h="45985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A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B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C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bar>
                                      <m:barPr>
                                        <m:pos m:val="top"/>
                                        <m:ctrlPr>
                                          <a:rPr lang="it-IT" sz="19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it-IT" sz="1900" i="1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ba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it-IT" sz="1900" dirty="0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ba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bar>
                                      <m:barPr>
                                        <m:pos m:val="top"/>
                                        <m:ctrlPr>
                                          <a:rPr lang="it-IT" sz="19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it-IT" sz="1900" i="1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ba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bar>
                                <m:r>
                                  <a:rPr lang="it-IT" sz="1900" b="0" i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it-IT" sz="1900" dirty="0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9149438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287514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98319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8695707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449961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155207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5989246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025342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1593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Group 58"/>
              <p:cNvGraphicFramePr>
                <a:graphicFrameLocks noGrp="1"/>
              </p:cNvGraphicFramePr>
              <p:nvPr/>
            </p:nvGraphicFramePr>
            <p:xfrm>
              <a:off x="1095778" y="1898136"/>
              <a:ext cx="9435066" cy="3556499"/>
            </p:xfrm>
            <a:graphic>
              <a:graphicData uri="http://schemas.openxmlformats.org/drawingml/2006/table">
                <a:tbl>
                  <a:tblPr/>
                  <a:tblGrid>
                    <a:gridCol w="448272">
                      <a:extLst>
                        <a:ext uri="{9D8B030D-6E8A-4147-A177-3AD203B41FA5}">
                          <a16:colId xmlns:a16="http://schemas.microsoft.com/office/drawing/2014/main" val="1186221656"/>
                        </a:ext>
                      </a:extLst>
                    </a:gridCol>
                    <a:gridCol w="590581">
                      <a:extLst>
                        <a:ext uri="{9D8B030D-6E8A-4147-A177-3AD203B41FA5}">
                          <a16:colId xmlns:a16="http://schemas.microsoft.com/office/drawing/2014/main" val="391314229"/>
                        </a:ext>
                      </a:extLst>
                    </a:gridCol>
                    <a:gridCol w="576350">
                      <a:extLst>
                        <a:ext uri="{9D8B030D-6E8A-4147-A177-3AD203B41FA5}">
                          <a16:colId xmlns:a16="http://schemas.microsoft.com/office/drawing/2014/main" val="2057183182"/>
                        </a:ext>
                      </a:extLst>
                    </a:gridCol>
                    <a:gridCol w="562119">
                      <a:extLst>
                        <a:ext uri="{9D8B030D-6E8A-4147-A177-3AD203B41FA5}">
                          <a16:colId xmlns:a16="http://schemas.microsoft.com/office/drawing/2014/main" val="2678744171"/>
                        </a:ext>
                      </a:extLst>
                    </a:gridCol>
                    <a:gridCol w="853852">
                      <a:extLst>
                        <a:ext uri="{9D8B030D-6E8A-4147-A177-3AD203B41FA5}">
                          <a16:colId xmlns:a16="http://schemas.microsoft.com/office/drawing/2014/main" val="4069191443"/>
                        </a:ext>
                      </a:extLst>
                    </a:gridCol>
                    <a:gridCol w="1188277">
                      <a:extLst>
                        <a:ext uri="{9D8B030D-6E8A-4147-A177-3AD203B41FA5}">
                          <a16:colId xmlns:a16="http://schemas.microsoft.com/office/drawing/2014/main" val="3236854976"/>
                        </a:ext>
                      </a:extLst>
                    </a:gridCol>
                    <a:gridCol w="1337702">
                      <a:extLst>
                        <a:ext uri="{9D8B030D-6E8A-4147-A177-3AD203B41FA5}">
                          <a16:colId xmlns:a16="http://schemas.microsoft.com/office/drawing/2014/main" val="290783020"/>
                        </a:ext>
                      </a:extLst>
                    </a:gridCol>
                    <a:gridCol w="498080">
                      <a:extLst>
                        <a:ext uri="{9D8B030D-6E8A-4147-A177-3AD203B41FA5}">
                          <a16:colId xmlns:a16="http://schemas.microsoft.com/office/drawing/2014/main" val="1835782084"/>
                        </a:ext>
                      </a:extLst>
                    </a:gridCol>
                    <a:gridCol w="1650781">
                      <a:extLst>
                        <a:ext uri="{9D8B030D-6E8A-4147-A177-3AD203B41FA5}">
                          <a16:colId xmlns:a16="http://schemas.microsoft.com/office/drawing/2014/main" val="565024879"/>
                        </a:ext>
                      </a:extLst>
                    </a:gridCol>
                    <a:gridCol w="581548">
                      <a:extLst>
                        <a:ext uri="{9D8B030D-6E8A-4147-A177-3AD203B41FA5}">
                          <a16:colId xmlns:a16="http://schemas.microsoft.com/office/drawing/2014/main" val="1180097005"/>
                        </a:ext>
                      </a:extLst>
                    </a:gridCol>
                    <a:gridCol w="1147504">
                      <a:extLst>
                        <a:ext uri="{9D8B030D-6E8A-4147-A177-3AD203B41FA5}">
                          <a16:colId xmlns:a16="http://schemas.microsoft.com/office/drawing/2014/main" val="227452884"/>
                        </a:ext>
                      </a:extLst>
                    </a:gridCol>
                  </a:tblGrid>
                  <a:tr h="45985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A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B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C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89130" t="-1316" r="-1297826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53901" t="-1316" r="-746809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55897" t="-1316" r="-440000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16895" t="-1316" r="-291781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1113415" t="-1316" r="-679268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67159" t="-1316" r="-105535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1318750" t="-1316" r="-197917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724468" t="-1316" r="-1064" b="-6907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49438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287514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98319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8695707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449961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155207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5989246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025342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15931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196285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4 - Metodo esaustivo 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97520-7808-4021-A9CE-950A068AF1D3}" type="slidenum">
              <a:rPr lang="it-IT" altLang="it-IT" smtClean="0"/>
              <a:pPr/>
              <a:t>39</a:t>
            </a:fld>
            <a:endParaRPr lang="it-IT" alt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ttangolo 4"/>
              <p:cNvSpPr/>
              <p:nvPr/>
            </p:nvSpPr>
            <p:spPr>
              <a:xfrm>
                <a:off x="5059969" y="1240580"/>
                <a:ext cx="3770285" cy="4589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(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acc>
                      <m:r>
                        <a:rPr lang="it-IT" sz="1905"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</m:oMath>
                  </m:oMathPara>
                </a14:m>
                <a:endParaRPr lang="it-IT" sz="1905" dirty="0"/>
              </a:p>
            </p:txBody>
          </p:sp>
        </mc:Choice>
        <mc:Fallback xmlns="">
          <p:sp>
            <p:nvSpPr>
              <p:cNvPr id="5" name="Rettango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9969" y="1240580"/>
                <a:ext cx="3770285" cy="458908"/>
              </a:xfrm>
              <a:prstGeom prst="rect">
                <a:avLst/>
              </a:prstGeom>
              <a:blipFill>
                <a:blip r:embed="rId2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Group 58"/>
              <p:cNvGraphicFramePr>
                <a:graphicFrameLocks noGrp="1"/>
              </p:cNvGraphicFramePr>
              <p:nvPr/>
            </p:nvGraphicFramePr>
            <p:xfrm>
              <a:off x="1095778" y="1898136"/>
              <a:ext cx="9435066" cy="3556499"/>
            </p:xfrm>
            <a:graphic>
              <a:graphicData uri="http://schemas.openxmlformats.org/drawingml/2006/table">
                <a:tbl>
                  <a:tblPr/>
                  <a:tblGrid>
                    <a:gridCol w="448272">
                      <a:extLst>
                        <a:ext uri="{9D8B030D-6E8A-4147-A177-3AD203B41FA5}">
                          <a16:colId xmlns:a16="http://schemas.microsoft.com/office/drawing/2014/main" val="1186221656"/>
                        </a:ext>
                      </a:extLst>
                    </a:gridCol>
                    <a:gridCol w="590581">
                      <a:extLst>
                        <a:ext uri="{9D8B030D-6E8A-4147-A177-3AD203B41FA5}">
                          <a16:colId xmlns:a16="http://schemas.microsoft.com/office/drawing/2014/main" val="391314229"/>
                        </a:ext>
                      </a:extLst>
                    </a:gridCol>
                    <a:gridCol w="576350">
                      <a:extLst>
                        <a:ext uri="{9D8B030D-6E8A-4147-A177-3AD203B41FA5}">
                          <a16:colId xmlns:a16="http://schemas.microsoft.com/office/drawing/2014/main" val="2057183182"/>
                        </a:ext>
                      </a:extLst>
                    </a:gridCol>
                    <a:gridCol w="562119">
                      <a:extLst>
                        <a:ext uri="{9D8B030D-6E8A-4147-A177-3AD203B41FA5}">
                          <a16:colId xmlns:a16="http://schemas.microsoft.com/office/drawing/2014/main" val="2678744171"/>
                        </a:ext>
                      </a:extLst>
                    </a:gridCol>
                    <a:gridCol w="853852">
                      <a:extLst>
                        <a:ext uri="{9D8B030D-6E8A-4147-A177-3AD203B41FA5}">
                          <a16:colId xmlns:a16="http://schemas.microsoft.com/office/drawing/2014/main" val="4069191443"/>
                        </a:ext>
                      </a:extLst>
                    </a:gridCol>
                    <a:gridCol w="1188277">
                      <a:extLst>
                        <a:ext uri="{9D8B030D-6E8A-4147-A177-3AD203B41FA5}">
                          <a16:colId xmlns:a16="http://schemas.microsoft.com/office/drawing/2014/main" val="3236854976"/>
                        </a:ext>
                      </a:extLst>
                    </a:gridCol>
                    <a:gridCol w="1337702">
                      <a:extLst>
                        <a:ext uri="{9D8B030D-6E8A-4147-A177-3AD203B41FA5}">
                          <a16:colId xmlns:a16="http://schemas.microsoft.com/office/drawing/2014/main" val="290783020"/>
                        </a:ext>
                      </a:extLst>
                    </a:gridCol>
                    <a:gridCol w="498080">
                      <a:extLst>
                        <a:ext uri="{9D8B030D-6E8A-4147-A177-3AD203B41FA5}">
                          <a16:colId xmlns:a16="http://schemas.microsoft.com/office/drawing/2014/main" val="1835782084"/>
                        </a:ext>
                      </a:extLst>
                    </a:gridCol>
                    <a:gridCol w="1650781">
                      <a:extLst>
                        <a:ext uri="{9D8B030D-6E8A-4147-A177-3AD203B41FA5}">
                          <a16:colId xmlns:a16="http://schemas.microsoft.com/office/drawing/2014/main" val="565024879"/>
                        </a:ext>
                      </a:extLst>
                    </a:gridCol>
                    <a:gridCol w="581548">
                      <a:extLst>
                        <a:ext uri="{9D8B030D-6E8A-4147-A177-3AD203B41FA5}">
                          <a16:colId xmlns:a16="http://schemas.microsoft.com/office/drawing/2014/main" val="1180097005"/>
                        </a:ext>
                      </a:extLst>
                    </a:gridCol>
                    <a:gridCol w="1147504">
                      <a:extLst>
                        <a:ext uri="{9D8B030D-6E8A-4147-A177-3AD203B41FA5}">
                          <a16:colId xmlns:a16="http://schemas.microsoft.com/office/drawing/2014/main" val="227452884"/>
                        </a:ext>
                      </a:extLst>
                    </a:gridCol>
                  </a:tblGrid>
                  <a:tr h="45985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A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B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C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bar>
                                      <m:barPr>
                                        <m:pos m:val="top"/>
                                        <m:ctrlPr>
                                          <a:rPr lang="it-IT" sz="19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it-IT" sz="1900" i="1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ba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it-IT" sz="1900" dirty="0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ba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bar>
                                      <m:barPr>
                                        <m:pos m:val="top"/>
                                        <m:ctrlPr>
                                          <a:rPr lang="it-IT" sz="19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it-IT" sz="1900" i="1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ba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bar>
                                <m:r>
                                  <a:rPr lang="it-IT" sz="1900" b="0" i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it-IT" sz="1900" dirty="0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9149438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287514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98319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8695707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449961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155207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5989246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025342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1593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Group 58"/>
              <p:cNvGraphicFramePr>
                <a:graphicFrameLocks noGrp="1"/>
              </p:cNvGraphicFramePr>
              <p:nvPr/>
            </p:nvGraphicFramePr>
            <p:xfrm>
              <a:off x="1095778" y="1898136"/>
              <a:ext cx="9435066" cy="3556499"/>
            </p:xfrm>
            <a:graphic>
              <a:graphicData uri="http://schemas.openxmlformats.org/drawingml/2006/table">
                <a:tbl>
                  <a:tblPr/>
                  <a:tblGrid>
                    <a:gridCol w="448272">
                      <a:extLst>
                        <a:ext uri="{9D8B030D-6E8A-4147-A177-3AD203B41FA5}">
                          <a16:colId xmlns:a16="http://schemas.microsoft.com/office/drawing/2014/main" val="1186221656"/>
                        </a:ext>
                      </a:extLst>
                    </a:gridCol>
                    <a:gridCol w="590581">
                      <a:extLst>
                        <a:ext uri="{9D8B030D-6E8A-4147-A177-3AD203B41FA5}">
                          <a16:colId xmlns:a16="http://schemas.microsoft.com/office/drawing/2014/main" val="391314229"/>
                        </a:ext>
                      </a:extLst>
                    </a:gridCol>
                    <a:gridCol w="576350">
                      <a:extLst>
                        <a:ext uri="{9D8B030D-6E8A-4147-A177-3AD203B41FA5}">
                          <a16:colId xmlns:a16="http://schemas.microsoft.com/office/drawing/2014/main" val="2057183182"/>
                        </a:ext>
                      </a:extLst>
                    </a:gridCol>
                    <a:gridCol w="562119">
                      <a:extLst>
                        <a:ext uri="{9D8B030D-6E8A-4147-A177-3AD203B41FA5}">
                          <a16:colId xmlns:a16="http://schemas.microsoft.com/office/drawing/2014/main" val="2678744171"/>
                        </a:ext>
                      </a:extLst>
                    </a:gridCol>
                    <a:gridCol w="853852">
                      <a:extLst>
                        <a:ext uri="{9D8B030D-6E8A-4147-A177-3AD203B41FA5}">
                          <a16:colId xmlns:a16="http://schemas.microsoft.com/office/drawing/2014/main" val="4069191443"/>
                        </a:ext>
                      </a:extLst>
                    </a:gridCol>
                    <a:gridCol w="1188277">
                      <a:extLst>
                        <a:ext uri="{9D8B030D-6E8A-4147-A177-3AD203B41FA5}">
                          <a16:colId xmlns:a16="http://schemas.microsoft.com/office/drawing/2014/main" val="3236854976"/>
                        </a:ext>
                      </a:extLst>
                    </a:gridCol>
                    <a:gridCol w="1337702">
                      <a:extLst>
                        <a:ext uri="{9D8B030D-6E8A-4147-A177-3AD203B41FA5}">
                          <a16:colId xmlns:a16="http://schemas.microsoft.com/office/drawing/2014/main" val="290783020"/>
                        </a:ext>
                      </a:extLst>
                    </a:gridCol>
                    <a:gridCol w="498080">
                      <a:extLst>
                        <a:ext uri="{9D8B030D-6E8A-4147-A177-3AD203B41FA5}">
                          <a16:colId xmlns:a16="http://schemas.microsoft.com/office/drawing/2014/main" val="1835782084"/>
                        </a:ext>
                      </a:extLst>
                    </a:gridCol>
                    <a:gridCol w="1650781">
                      <a:extLst>
                        <a:ext uri="{9D8B030D-6E8A-4147-A177-3AD203B41FA5}">
                          <a16:colId xmlns:a16="http://schemas.microsoft.com/office/drawing/2014/main" val="565024879"/>
                        </a:ext>
                      </a:extLst>
                    </a:gridCol>
                    <a:gridCol w="581548">
                      <a:extLst>
                        <a:ext uri="{9D8B030D-6E8A-4147-A177-3AD203B41FA5}">
                          <a16:colId xmlns:a16="http://schemas.microsoft.com/office/drawing/2014/main" val="1180097005"/>
                        </a:ext>
                      </a:extLst>
                    </a:gridCol>
                    <a:gridCol w="1147504">
                      <a:extLst>
                        <a:ext uri="{9D8B030D-6E8A-4147-A177-3AD203B41FA5}">
                          <a16:colId xmlns:a16="http://schemas.microsoft.com/office/drawing/2014/main" val="227452884"/>
                        </a:ext>
                      </a:extLst>
                    </a:gridCol>
                  </a:tblGrid>
                  <a:tr h="45985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A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B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C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89130" t="-1316" r="-1297826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53901" t="-1316" r="-746809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55897" t="-1316" r="-440000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16895" t="-1316" r="-291781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1113415" t="-1316" r="-679268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67159" t="-1316" r="-105535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1318750" t="-1316" r="-197917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724468" t="-1316" r="-1064" b="-6907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49438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287514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98319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8695707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449961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155207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5989246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025342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15931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696263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4 - Metodo esaustivo 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97520-7808-4021-A9CE-950A068AF1D3}" type="slidenum">
              <a:rPr lang="it-IT" altLang="it-IT" smtClean="0"/>
              <a:pPr/>
              <a:t>40</a:t>
            </a:fld>
            <a:endParaRPr lang="it-IT" alt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ttangolo 4"/>
              <p:cNvSpPr/>
              <p:nvPr/>
            </p:nvSpPr>
            <p:spPr>
              <a:xfrm>
                <a:off x="5059969" y="1240580"/>
                <a:ext cx="3770285" cy="4589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(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acc>
                      <m:r>
                        <a:rPr lang="it-IT" sz="1905"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</m:oMath>
                  </m:oMathPara>
                </a14:m>
                <a:endParaRPr lang="it-IT" sz="1905" dirty="0"/>
              </a:p>
            </p:txBody>
          </p:sp>
        </mc:Choice>
        <mc:Fallback xmlns="">
          <p:sp>
            <p:nvSpPr>
              <p:cNvPr id="5" name="Rettango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9969" y="1240580"/>
                <a:ext cx="3770285" cy="458908"/>
              </a:xfrm>
              <a:prstGeom prst="rect">
                <a:avLst/>
              </a:prstGeom>
              <a:blipFill>
                <a:blip r:embed="rId2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Group 58"/>
              <p:cNvGraphicFramePr>
                <a:graphicFrameLocks noGrp="1"/>
              </p:cNvGraphicFramePr>
              <p:nvPr/>
            </p:nvGraphicFramePr>
            <p:xfrm>
              <a:off x="1095778" y="1898136"/>
              <a:ext cx="9435066" cy="3556499"/>
            </p:xfrm>
            <a:graphic>
              <a:graphicData uri="http://schemas.openxmlformats.org/drawingml/2006/table">
                <a:tbl>
                  <a:tblPr/>
                  <a:tblGrid>
                    <a:gridCol w="448272">
                      <a:extLst>
                        <a:ext uri="{9D8B030D-6E8A-4147-A177-3AD203B41FA5}">
                          <a16:colId xmlns:a16="http://schemas.microsoft.com/office/drawing/2014/main" val="1186221656"/>
                        </a:ext>
                      </a:extLst>
                    </a:gridCol>
                    <a:gridCol w="590581">
                      <a:extLst>
                        <a:ext uri="{9D8B030D-6E8A-4147-A177-3AD203B41FA5}">
                          <a16:colId xmlns:a16="http://schemas.microsoft.com/office/drawing/2014/main" val="391314229"/>
                        </a:ext>
                      </a:extLst>
                    </a:gridCol>
                    <a:gridCol w="576350">
                      <a:extLst>
                        <a:ext uri="{9D8B030D-6E8A-4147-A177-3AD203B41FA5}">
                          <a16:colId xmlns:a16="http://schemas.microsoft.com/office/drawing/2014/main" val="2057183182"/>
                        </a:ext>
                      </a:extLst>
                    </a:gridCol>
                    <a:gridCol w="562119">
                      <a:extLst>
                        <a:ext uri="{9D8B030D-6E8A-4147-A177-3AD203B41FA5}">
                          <a16:colId xmlns:a16="http://schemas.microsoft.com/office/drawing/2014/main" val="2678744171"/>
                        </a:ext>
                      </a:extLst>
                    </a:gridCol>
                    <a:gridCol w="853852">
                      <a:extLst>
                        <a:ext uri="{9D8B030D-6E8A-4147-A177-3AD203B41FA5}">
                          <a16:colId xmlns:a16="http://schemas.microsoft.com/office/drawing/2014/main" val="4069191443"/>
                        </a:ext>
                      </a:extLst>
                    </a:gridCol>
                    <a:gridCol w="1188277">
                      <a:extLst>
                        <a:ext uri="{9D8B030D-6E8A-4147-A177-3AD203B41FA5}">
                          <a16:colId xmlns:a16="http://schemas.microsoft.com/office/drawing/2014/main" val="3236854976"/>
                        </a:ext>
                      </a:extLst>
                    </a:gridCol>
                    <a:gridCol w="1337702">
                      <a:extLst>
                        <a:ext uri="{9D8B030D-6E8A-4147-A177-3AD203B41FA5}">
                          <a16:colId xmlns:a16="http://schemas.microsoft.com/office/drawing/2014/main" val="290783020"/>
                        </a:ext>
                      </a:extLst>
                    </a:gridCol>
                    <a:gridCol w="498080">
                      <a:extLst>
                        <a:ext uri="{9D8B030D-6E8A-4147-A177-3AD203B41FA5}">
                          <a16:colId xmlns:a16="http://schemas.microsoft.com/office/drawing/2014/main" val="1835782084"/>
                        </a:ext>
                      </a:extLst>
                    </a:gridCol>
                    <a:gridCol w="1650781">
                      <a:extLst>
                        <a:ext uri="{9D8B030D-6E8A-4147-A177-3AD203B41FA5}">
                          <a16:colId xmlns:a16="http://schemas.microsoft.com/office/drawing/2014/main" val="565024879"/>
                        </a:ext>
                      </a:extLst>
                    </a:gridCol>
                    <a:gridCol w="581548">
                      <a:extLst>
                        <a:ext uri="{9D8B030D-6E8A-4147-A177-3AD203B41FA5}">
                          <a16:colId xmlns:a16="http://schemas.microsoft.com/office/drawing/2014/main" val="1180097005"/>
                        </a:ext>
                      </a:extLst>
                    </a:gridCol>
                    <a:gridCol w="1147504">
                      <a:extLst>
                        <a:ext uri="{9D8B030D-6E8A-4147-A177-3AD203B41FA5}">
                          <a16:colId xmlns:a16="http://schemas.microsoft.com/office/drawing/2014/main" val="227452884"/>
                        </a:ext>
                      </a:extLst>
                    </a:gridCol>
                  </a:tblGrid>
                  <a:tr h="45985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A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B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C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bar>
                                      <m:barPr>
                                        <m:pos m:val="top"/>
                                        <m:ctrlPr>
                                          <a:rPr lang="it-IT" sz="19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it-IT" sz="1900" i="1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ba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it-IT" sz="1900" dirty="0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ba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bar>
                                      <m:barPr>
                                        <m:pos m:val="top"/>
                                        <m:ctrlPr>
                                          <a:rPr lang="it-IT" sz="19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it-IT" sz="1900" i="1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ba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bar>
                                <m:r>
                                  <a:rPr lang="it-IT" sz="1900" b="0" i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it-IT" sz="1900" dirty="0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9149438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287514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98319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8695707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449961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155207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5989246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025342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1593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Group 58"/>
              <p:cNvGraphicFramePr>
                <a:graphicFrameLocks noGrp="1"/>
              </p:cNvGraphicFramePr>
              <p:nvPr/>
            </p:nvGraphicFramePr>
            <p:xfrm>
              <a:off x="1095778" y="1898136"/>
              <a:ext cx="9435066" cy="3556499"/>
            </p:xfrm>
            <a:graphic>
              <a:graphicData uri="http://schemas.openxmlformats.org/drawingml/2006/table">
                <a:tbl>
                  <a:tblPr/>
                  <a:tblGrid>
                    <a:gridCol w="448272">
                      <a:extLst>
                        <a:ext uri="{9D8B030D-6E8A-4147-A177-3AD203B41FA5}">
                          <a16:colId xmlns:a16="http://schemas.microsoft.com/office/drawing/2014/main" val="1186221656"/>
                        </a:ext>
                      </a:extLst>
                    </a:gridCol>
                    <a:gridCol w="590581">
                      <a:extLst>
                        <a:ext uri="{9D8B030D-6E8A-4147-A177-3AD203B41FA5}">
                          <a16:colId xmlns:a16="http://schemas.microsoft.com/office/drawing/2014/main" val="391314229"/>
                        </a:ext>
                      </a:extLst>
                    </a:gridCol>
                    <a:gridCol w="576350">
                      <a:extLst>
                        <a:ext uri="{9D8B030D-6E8A-4147-A177-3AD203B41FA5}">
                          <a16:colId xmlns:a16="http://schemas.microsoft.com/office/drawing/2014/main" val="2057183182"/>
                        </a:ext>
                      </a:extLst>
                    </a:gridCol>
                    <a:gridCol w="562119">
                      <a:extLst>
                        <a:ext uri="{9D8B030D-6E8A-4147-A177-3AD203B41FA5}">
                          <a16:colId xmlns:a16="http://schemas.microsoft.com/office/drawing/2014/main" val="2678744171"/>
                        </a:ext>
                      </a:extLst>
                    </a:gridCol>
                    <a:gridCol w="853852">
                      <a:extLst>
                        <a:ext uri="{9D8B030D-6E8A-4147-A177-3AD203B41FA5}">
                          <a16:colId xmlns:a16="http://schemas.microsoft.com/office/drawing/2014/main" val="4069191443"/>
                        </a:ext>
                      </a:extLst>
                    </a:gridCol>
                    <a:gridCol w="1188277">
                      <a:extLst>
                        <a:ext uri="{9D8B030D-6E8A-4147-A177-3AD203B41FA5}">
                          <a16:colId xmlns:a16="http://schemas.microsoft.com/office/drawing/2014/main" val="3236854976"/>
                        </a:ext>
                      </a:extLst>
                    </a:gridCol>
                    <a:gridCol w="1337702">
                      <a:extLst>
                        <a:ext uri="{9D8B030D-6E8A-4147-A177-3AD203B41FA5}">
                          <a16:colId xmlns:a16="http://schemas.microsoft.com/office/drawing/2014/main" val="290783020"/>
                        </a:ext>
                      </a:extLst>
                    </a:gridCol>
                    <a:gridCol w="498080">
                      <a:extLst>
                        <a:ext uri="{9D8B030D-6E8A-4147-A177-3AD203B41FA5}">
                          <a16:colId xmlns:a16="http://schemas.microsoft.com/office/drawing/2014/main" val="1835782084"/>
                        </a:ext>
                      </a:extLst>
                    </a:gridCol>
                    <a:gridCol w="1650781">
                      <a:extLst>
                        <a:ext uri="{9D8B030D-6E8A-4147-A177-3AD203B41FA5}">
                          <a16:colId xmlns:a16="http://schemas.microsoft.com/office/drawing/2014/main" val="565024879"/>
                        </a:ext>
                      </a:extLst>
                    </a:gridCol>
                    <a:gridCol w="581548">
                      <a:extLst>
                        <a:ext uri="{9D8B030D-6E8A-4147-A177-3AD203B41FA5}">
                          <a16:colId xmlns:a16="http://schemas.microsoft.com/office/drawing/2014/main" val="1180097005"/>
                        </a:ext>
                      </a:extLst>
                    </a:gridCol>
                    <a:gridCol w="1147504">
                      <a:extLst>
                        <a:ext uri="{9D8B030D-6E8A-4147-A177-3AD203B41FA5}">
                          <a16:colId xmlns:a16="http://schemas.microsoft.com/office/drawing/2014/main" val="227452884"/>
                        </a:ext>
                      </a:extLst>
                    </a:gridCol>
                  </a:tblGrid>
                  <a:tr h="45985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A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B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C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89130" t="-1316" r="-1297826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53901" t="-1316" r="-746809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55897" t="-1316" r="-440000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16895" t="-1316" r="-291781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1113415" t="-1316" r="-679268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67159" t="-1316" r="-105535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1318750" t="-1316" r="-197917" b="-69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724468" t="-1316" r="-1064" b="-6907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49438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287514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98319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8695707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449961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155207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5989246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025342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15931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91226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6480DE-8506-4400-AA60-B9F83EE11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4 – Circuito Logico</a:t>
            </a:r>
          </a:p>
        </p:txBody>
      </p:sp>
      <p:pic>
        <p:nvPicPr>
          <p:cNvPr id="4" name="Segnaposto contenuto 3">
            <a:extLst>
              <a:ext uri="{FF2B5EF4-FFF2-40B4-BE49-F238E27FC236}">
                <a16:creationId xmlns:a16="http://schemas.microsoft.com/office/drawing/2014/main" id="{7F60C952-AFEE-47F1-AF77-1E095E2A48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04838" y="2515186"/>
            <a:ext cx="5182323" cy="297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2363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egnaposto contenuto 4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lvl="0"/>
                <a:r>
                  <a:rPr lang="it-IT" dirty="0"/>
                  <a:t>Realizzare il circuito digitale corrispondente all’espressione logica:</a:t>
                </a:r>
                <a14:m>
                  <m:oMath xmlns:m="http://schemas.openxmlformats.org/officeDocument/2006/math">
                    <m:r>
                      <a:rPr lang="it-IT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it-IT" dirty="0"/>
              </a:p>
              <a:p>
                <a:pPr lvl="0"/>
                <a:endParaRPr lang="it-IT" dirty="0"/>
              </a:p>
              <a:p>
                <a:pPr lvl="0"/>
                <a:r>
                  <a:rPr lang="it-IT" dirty="0"/>
                  <a:t>utilizzando un multiplexer</a:t>
                </a:r>
              </a:p>
              <a:p>
                <a:pPr lvl="0"/>
                <a:endParaRPr lang="it-IT" dirty="0"/>
              </a:p>
              <a:p>
                <a:r>
                  <a:rPr lang="it-IT" i="1" dirty="0"/>
                  <a:t>Suggerimento</a:t>
                </a:r>
              </a:p>
              <a:p>
                <a:pPr lvl="0"/>
                <a:endParaRPr lang="it-IT" dirty="0"/>
              </a:p>
              <a:p>
                <a:pPr marL="483855" indent="-483855">
                  <a:buAutoNum type="arabicParenR"/>
                </a:pPr>
                <a:r>
                  <a:rPr lang="it-IT" dirty="0"/>
                  <a:t>Occorre prima di tutto trovare una forma minima dell’espressione altrimenti la costruzione della tavola di verità richiederà più passaggi intermedi e un maggior rischio di commettere errori</a:t>
                </a:r>
              </a:p>
              <a:p>
                <a:pPr marL="777268" lvl="1" indent="-302409">
                  <a:buFontTx/>
                  <a:buChar char="-"/>
                </a:pPr>
                <a:r>
                  <a:rPr lang="it-IT" dirty="0"/>
                  <a:t>Semplificazione algebrica</a:t>
                </a:r>
              </a:p>
              <a:p>
                <a:pPr marL="777268" lvl="1" indent="-302409">
                  <a:buFontTx/>
                  <a:buChar char="-"/>
                </a:pPr>
                <a:r>
                  <a:rPr lang="it-IT" dirty="0"/>
                  <a:t>Tavola di verità</a:t>
                </a:r>
              </a:p>
            </p:txBody>
          </p:sp>
        </mc:Choice>
        <mc:Fallback xmlns="">
          <p:sp>
            <p:nvSpPr>
              <p:cNvPr id="5" name="Segnaposto contenuto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01" t="-350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97520-7808-4021-A9CE-950A068AF1D3}" type="slidenum">
              <a:rPr lang="it-IT" altLang="it-IT" smtClean="0"/>
              <a:pPr/>
              <a:t>42</a:t>
            </a:fld>
            <a:endParaRPr lang="it-IT" alt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ttangolo 5"/>
              <p:cNvSpPr/>
              <p:nvPr/>
            </p:nvSpPr>
            <p:spPr>
              <a:xfrm>
                <a:off x="4595813" y="2013719"/>
                <a:ext cx="2868541" cy="4589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905" i="1">
                          <a:latin typeface="Cambria Math" panose="02040503050406030204" pitchFamily="18" charset="0"/>
                        </a:rPr>
                        <m:t>𝐴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𝐴</m:t>
                      </m:r>
                      <m:acc>
                        <m:accPr>
                          <m:chr m:val="̅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sz="1905"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</m:e>
                      </m:acc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𝐶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𝐶𝐷</m:t>
                      </m:r>
                    </m:oMath>
                  </m:oMathPara>
                </a14:m>
                <a:endParaRPr lang="it-IT" sz="1905" dirty="0"/>
              </a:p>
            </p:txBody>
          </p:sp>
        </mc:Choice>
        <mc:Fallback xmlns="">
          <p:sp>
            <p:nvSpPr>
              <p:cNvPr id="6" name="Rettango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5813" y="2013719"/>
                <a:ext cx="2868541" cy="4589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85377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97520-7808-4021-A9CE-950A068AF1D3}" type="slidenum">
              <a:rPr lang="it-IT" altLang="it-IT" smtClean="0"/>
              <a:pPr/>
              <a:t>43</a:t>
            </a:fld>
            <a:endParaRPr lang="it-IT" alt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ttangolo 5"/>
              <p:cNvSpPr/>
              <p:nvPr/>
            </p:nvSpPr>
            <p:spPr>
              <a:xfrm>
                <a:off x="2827893" y="1338179"/>
                <a:ext cx="5739089" cy="11960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905" i="1">
                          <a:latin typeface="Cambria Math" panose="02040503050406030204" pitchFamily="18" charset="0"/>
                        </a:rPr>
                        <m:t>𝐴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𝐴</m:t>
                      </m:r>
                      <m:acc>
                        <m:accPr>
                          <m:chr m:val="̅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sz="1905"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</m:e>
                      </m:acc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𝐶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𝐶𝐷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it-IT" sz="1905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905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bar>
                          <m:r>
                            <a:rPr lang="it-IT" sz="1905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it-IT" sz="1905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bar>
                                <m:barPr>
                                  <m:pos m:val="top"/>
                                  <m:ctrlPr>
                                    <a:rPr lang="it-IT" sz="1905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it-IT" sz="1905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bar>
                            </m:e>
                          </m:acc>
                        </m:e>
                      </m:d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bar>
                          <m:r>
                            <a:rPr lang="it-IT" sz="1905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lang="it-IT" sz="1905"/>
              </a:p>
              <a:p>
                <a:endParaRPr lang="it-IT" sz="1905"/>
              </a:p>
            </p:txBody>
          </p:sp>
        </mc:Choice>
        <mc:Fallback xmlns="">
          <p:sp>
            <p:nvSpPr>
              <p:cNvPr id="6" name="Rettango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7893" y="1338179"/>
                <a:ext cx="5739089" cy="11960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6832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97520-7808-4021-A9CE-950A068AF1D3}" type="slidenum">
              <a:rPr lang="it-IT" altLang="it-IT" smtClean="0"/>
              <a:pPr/>
              <a:t>44</a:t>
            </a:fld>
            <a:endParaRPr lang="it-IT" alt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ttangolo 5"/>
              <p:cNvSpPr/>
              <p:nvPr/>
            </p:nvSpPr>
            <p:spPr>
              <a:xfrm>
                <a:off x="2827893" y="1338179"/>
                <a:ext cx="5739089" cy="154535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905" i="1">
                          <a:latin typeface="Cambria Math" panose="02040503050406030204" pitchFamily="18" charset="0"/>
                        </a:rPr>
                        <m:t>𝐴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𝐴</m:t>
                      </m:r>
                      <m:acc>
                        <m:accPr>
                          <m:chr m:val="̅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sz="1905"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</m:e>
                      </m:acc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𝐶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𝐶𝐷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it-IT" sz="1905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905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bar>
                          <m:r>
                            <a:rPr lang="it-IT" sz="1905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it-IT" sz="1905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bar>
                                <m:barPr>
                                  <m:pos m:val="top"/>
                                  <m:ctrlPr>
                                    <a:rPr lang="it-IT" sz="1905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it-IT" sz="1905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bar>
                            </m:e>
                          </m:acc>
                        </m:e>
                      </m:d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bar>
                          <m:r>
                            <a:rPr lang="it-IT" sz="1905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it-IT" sz="1905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bar>
                          <m:r>
                            <a:rPr lang="it-IT" sz="1905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it-IT" sz="1905"/>
              </a:p>
              <a:p>
                <a:endParaRPr lang="it-IT" sz="1905"/>
              </a:p>
            </p:txBody>
          </p:sp>
        </mc:Choice>
        <mc:Fallback xmlns="">
          <p:sp>
            <p:nvSpPr>
              <p:cNvPr id="6" name="Rettango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7893" y="1338179"/>
                <a:ext cx="5739089" cy="15453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82653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97520-7808-4021-A9CE-950A068AF1D3}" type="slidenum">
              <a:rPr lang="it-IT" altLang="it-IT" smtClean="0"/>
              <a:pPr/>
              <a:t>45</a:t>
            </a:fld>
            <a:endParaRPr lang="it-IT" alt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ttangolo 5"/>
              <p:cNvSpPr/>
              <p:nvPr/>
            </p:nvSpPr>
            <p:spPr>
              <a:xfrm>
                <a:off x="2827893" y="1338178"/>
                <a:ext cx="5739089" cy="21641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905" i="1">
                          <a:latin typeface="Cambria Math" panose="02040503050406030204" pitchFamily="18" charset="0"/>
                        </a:rPr>
                        <m:t>𝐴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𝐴</m:t>
                      </m:r>
                      <m:acc>
                        <m:accPr>
                          <m:chr m:val="̅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sz="1905"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</m:e>
                      </m:acc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𝐶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𝐶𝐷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it-IT" sz="1905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905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bar>
                          <m:r>
                            <a:rPr lang="it-IT" sz="1905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it-IT" sz="1905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bar>
                                <m:barPr>
                                  <m:pos m:val="top"/>
                                  <m:ctrlPr>
                                    <a:rPr lang="it-IT" sz="1905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it-IT" sz="1905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bar>
                            </m:e>
                          </m:acc>
                        </m:e>
                      </m:d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bar>
                          <m:r>
                            <a:rPr lang="it-IT" sz="1905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it-IT" sz="1905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bar>
                          <m:r>
                            <a:rPr lang="it-IT" sz="1905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it-IT" sz="1905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𝐴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d>
                        <m:dPr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905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it-IT" sz="1905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it-IT" sz="1905" i="1">
                  <a:latin typeface="Cambria Math" panose="02040503050406030204" pitchFamily="18" charset="0"/>
                </a:endParaRPr>
              </a:p>
              <a:p>
                <a:endParaRPr lang="it-IT" sz="1905"/>
              </a:p>
              <a:p>
                <a:endParaRPr lang="it-IT" sz="1905"/>
              </a:p>
            </p:txBody>
          </p:sp>
        </mc:Choice>
        <mc:Fallback xmlns="">
          <p:sp>
            <p:nvSpPr>
              <p:cNvPr id="6" name="Rettango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7893" y="1338178"/>
                <a:ext cx="5739089" cy="21641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72785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97520-7808-4021-A9CE-950A068AF1D3}" type="slidenum">
              <a:rPr lang="it-IT" altLang="it-IT" smtClean="0"/>
              <a:pPr/>
              <a:t>46</a:t>
            </a:fld>
            <a:endParaRPr lang="it-IT" alt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ttangolo 5"/>
              <p:cNvSpPr/>
              <p:nvPr/>
            </p:nvSpPr>
            <p:spPr>
              <a:xfrm>
                <a:off x="2827893" y="1338179"/>
                <a:ext cx="5739089" cy="248984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905" i="1">
                          <a:latin typeface="Cambria Math" panose="02040503050406030204" pitchFamily="18" charset="0"/>
                        </a:rPr>
                        <m:t>𝐴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𝐴</m:t>
                      </m:r>
                      <m:acc>
                        <m:accPr>
                          <m:chr m:val="̅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sz="1905"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</m:e>
                      </m:acc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𝐶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𝐶𝐷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it-IT" sz="1905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905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bar>
                          <m:r>
                            <a:rPr lang="it-IT" sz="1905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it-IT" sz="1905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bar>
                                <m:barPr>
                                  <m:pos m:val="top"/>
                                  <m:ctrlPr>
                                    <a:rPr lang="it-IT" sz="1905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it-IT" sz="1905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bar>
                            </m:e>
                          </m:acc>
                        </m:e>
                      </m:d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bar>
                          <m:r>
                            <a:rPr lang="it-IT" sz="1905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it-IT" sz="1905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bar>
                          <m:r>
                            <a:rPr lang="it-IT" sz="1905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it-IT" sz="1905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𝐴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d>
                        <m:dPr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905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it-IT" sz="1905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it-IT" sz="1905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𝐴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it-IT" sz="1905"/>
              </a:p>
              <a:p>
                <a:endParaRPr lang="it-IT" sz="1905"/>
              </a:p>
              <a:p>
                <a:endParaRPr lang="it-IT" sz="1905"/>
              </a:p>
            </p:txBody>
          </p:sp>
        </mc:Choice>
        <mc:Fallback xmlns="">
          <p:sp>
            <p:nvSpPr>
              <p:cNvPr id="6" name="Rettango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7893" y="1338179"/>
                <a:ext cx="5739089" cy="24898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47467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5 – Tavola di verità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97520-7808-4021-A9CE-950A068AF1D3}" type="slidenum">
              <a:rPr lang="it-IT" altLang="it-IT" smtClean="0"/>
              <a:pPr/>
              <a:t>47</a:t>
            </a:fld>
            <a:endParaRPr lang="it-IT" alt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ttangolo 4"/>
              <p:cNvSpPr/>
              <p:nvPr/>
            </p:nvSpPr>
            <p:spPr>
              <a:xfrm>
                <a:off x="5059969" y="1240580"/>
                <a:ext cx="1742386" cy="4180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905" i="1">
                          <a:latin typeface="Cambria Math" panose="02040503050406030204" pitchFamily="18" charset="0"/>
                        </a:rPr>
                        <m:t>𝐴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it-IT" sz="1905"/>
              </a:p>
            </p:txBody>
          </p:sp>
        </mc:Choice>
        <mc:Fallback xmlns="">
          <p:sp>
            <p:nvSpPr>
              <p:cNvPr id="5" name="Rettango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9969" y="1240580"/>
                <a:ext cx="1742386" cy="418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Group 58"/>
              <p:cNvGraphicFramePr>
                <a:graphicFrameLocks noGrp="1"/>
              </p:cNvGraphicFramePr>
              <p:nvPr/>
            </p:nvGraphicFramePr>
            <p:xfrm>
              <a:off x="3771181" y="1891022"/>
              <a:ext cx="4219451" cy="3515976"/>
            </p:xfrm>
            <a:graphic>
              <a:graphicData uri="http://schemas.openxmlformats.org/drawingml/2006/table">
                <a:tbl>
                  <a:tblPr/>
                  <a:tblGrid>
                    <a:gridCol w="448272">
                      <a:extLst>
                        <a:ext uri="{9D8B030D-6E8A-4147-A177-3AD203B41FA5}">
                          <a16:colId xmlns:a16="http://schemas.microsoft.com/office/drawing/2014/main" val="1186221656"/>
                        </a:ext>
                      </a:extLst>
                    </a:gridCol>
                    <a:gridCol w="590581">
                      <a:extLst>
                        <a:ext uri="{9D8B030D-6E8A-4147-A177-3AD203B41FA5}">
                          <a16:colId xmlns:a16="http://schemas.microsoft.com/office/drawing/2014/main" val="391314229"/>
                        </a:ext>
                      </a:extLst>
                    </a:gridCol>
                    <a:gridCol w="576350">
                      <a:extLst>
                        <a:ext uri="{9D8B030D-6E8A-4147-A177-3AD203B41FA5}">
                          <a16:colId xmlns:a16="http://schemas.microsoft.com/office/drawing/2014/main" val="2057183182"/>
                        </a:ext>
                      </a:extLst>
                    </a:gridCol>
                    <a:gridCol w="740005">
                      <a:extLst>
                        <a:ext uri="{9D8B030D-6E8A-4147-A177-3AD203B41FA5}">
                          <a16:colId xmlns:a16="http://schemas.microsoft.com/office/drawing/2014/main" val="2678744171"/>
                        </a:ext>
                      </a:extLst>
                    </a:gridCol>
                    <a:gridCol w="675966">
                      <a:extLst>
                        <a:ext uri="{9D8B030D-6E8A-4147-A177-3AD203B41FA5}">
                          <a16:colId xmlns:a16="http://schemas.microsoft.com/office/drawing/2014/main" val="4069191443"/>
                        </a:ext>
                      </a:extLst>
                    </a:gridCol>
                    <a:gridCol w="1188277">
                      <a:extLst>
                        <a:ext uri="{9D8B030D-6E8A-4147-A177-3AD203B41FA5}">
                          <a16:colId xmlns:a16="http://schemas.microsoft.com/office/drawing/2014/main" val="3236854976"/>
                        </a:ext>
                      </a:extLst>
                    </a:gridCol>
                  </a:tblGrid>
                  <a:tr h="41933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A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B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C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19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it-IT" sz="19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ba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9149438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287514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98319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8695707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449961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155207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5989246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025342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1593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Group 58"/>
              <p:cNvGraphicFramePr>
                <a:graphicFrameLocks noGrp="1"/>
              </p:cNvGraphicFramePr>
              <p:nvPr/>
            </p:nvGraphicFramePr>
            <p:xfrm>
              <a:off x="3771181" y="1891022"/>
              <a:ext cx="4219451" cy="3515976"/>
            </p:xfrm>
            <a:graphic>
              <a:graphicData uri="http://schemas.openxmlformats.org/drawingml/2006/table">
                <a:tbl>
                  <a:tblPr/>
                  <a:tblGrid>
                    <a:gridCol w="448272">
                      <a:extLst>
                        <a:ext uri="{9D8B030D-6E8A-4147-A177-3AD203B41FA5}">
                          <a16:colId xmlns:a16="http://schemas.microsoft.com/office/drawing/2014/main" val="1186221656"/>
                        </a:ext>
                      </a:extLst>
                    </a:gridCol>
                    <a:gridCol w="590581">
                      <a:extLst>
                        <a:ext uri="{9D8B030D-6E8A-4147-A177-3AD203B41FA5}">
                          <a16:colId xmlns:a16="http://schemas.microsoft.com/office/drawing/2014/main" val="391314229"/>
                        </a:ext>
                      </a:extLst>
                    </a:gridCol>
                    <a:gridCol w="576350">
                      <a:extLst>
                        <a:ext uri="{9D8B030D-6E8A-4147-A177-3AD203B41FA5}">
                          <a16:colId xmlns:a16="http://schemas.microsoft.com/office/drawing/2014/main" val="2057183182"/>
                        </a:ext>
                      </a:extLst>
                    </a:gridCol>
                    <a:gridCol w="740005">
                      <a:extLst>
                        <a:ext uri="{9D8B030D-6E8A-4147-A177-3AD203B41FA5}">
                          <a16:colId xmlns:a16="http://schemas.microsoft.com/office/drawing/2014/main" val="2678744171"/>
                        </a:ext>
                      </a:extLst>
                    </a:gridCol>
                    <a:gridCol w="675966">
                      <a:extLst>
                        <a:ext uri="{9D8B030D-6E8A-4147-A177-3AD203B41FA5}">
                          <a16:colId xmlns:a16="http://schemas.microsoft.com/office/drawing/2014/main" val="4069191443"/>
                        </a:ext>
                      </a:extLst>
                    </a:gridCol>
                    <a:gridCol w="1188277">
                      <a:extLst>
                        <a:ext uri="{9D8B030D-6E8A-4147-A177-3AD203B41FA5}">
                          <a16:colId xmlns:a16="http://schemas.microsoft.com/office/drawing/2014/main" val="3236854976"/>
                        </a:ext>
                      </a:extLst>
                    </a:gridCol>
                  </a:tblGrid>
                  <a:tr h="41933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A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B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C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18033" t="-2899" r="-252459" b="-76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349550" t="-2899" r="-177477" b="-76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255897" t="-2899" r="-1026" b="-7608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49438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287514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98319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8695707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449961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155207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5989246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025342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15931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9973634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5 – Multiplexer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97520-7808-4021-A9CE-950A068AF1D3}" type="slidenum">
              <a:rPr lang="it-IT" altLang="it-IT" smtClean="0"/>
              <a:pPr/>
              <a:t>48</a:t>
            </a:fld>
            <a:endParaRPr lang="it-IT" alt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ttangolo 4"/>
              <p:cNvSpPr/>
              <p:nvPr/>
            </p:nvSpPr>
            <p:spPr>
              <a:xfrm>
                <a:off x="9118528" y="2706572"/>
                <a:ext cx="1742386" cy="4180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905" i="1">
                          <a:latin typeface="Cambria Math" panose="02040503050406030204" pitchFamily="18" charset="0"/>
                        </a:rPr>
                        <m:t>𝐴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it-IT" sz="1905"/>
              </a:p>
            </p:txBody>
          </p:sp>
        </mc:Choice>
        <mc:Fallback xmlns="">
          <p:sp>
            <p:nvSpPr>
              <p:cNvPr id="5" name="Rettango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8528" y="2706572"/>
                <a:ext cx="1742386" cy="418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Group 58"/>
              <p:cNvGraphicFramePr>
                <a:graphicFrameLocks noGrp="1"/>
              </p:cNvGraphicFramePr>
              <p:nvPr/>
            </p:nvGraphicFramePr>
            <p:xfrm>
              <a:off x="2106168" y="1898137"/>
              <a:ext cx="2924444" cy="3515976"/>
            </p:xfrm>
            <a:graphic>
              <a:graphicData uri="http://schemas.openxmlformats.org/drawingml/2006/table">
                <a:tbl>
                  <a:tblPr/>
                  <a:tblGrid>
                    <a:gridCol w="462503">
                      <a:extLst>
                        <a:ext uri="{9D8B030D-6E8A-4147-A177-3AD203B41FA5}">
                          <a16:colId xmlns:a16="http://schemas.microsoft.com/office/drawing/2014/main" val="1186221656"/>
                        </a:ext>
                      </a:extLst>
                    </a:gridCol>
                    <a:gridCol w="476734">
                      <a:extLst>
                        <a:ext uri="{9D8B030D-6E8A-4147-A177-3AD203B41FA5}">
                          <a16:colId xmlns:a16="http://schemas.microsoft.com/office/drawing/2014/main" val="391314229"/>
                        </a:ext>
                      </a:extLst>
                    </a:gridCol>
                    <a:gridCol w="455388">
                      <a:extLst>
                        <a:ext uri="{9D8B030D-6E8A-4147-A177-3AD203B41FA5}">
                          <a16:colId xmlns:a16="http://schemas.microsoft.com/office/drawing/2014/main" val="2057183182"/>
                        </a:ext>
                      </a:extLst>
                    </a:gridCol>
                    <a:gridCol w="1529819">
                      <a:extLst>
                        <a:ext uri="{9D8B030D-6E8A-4147-A177-3AD203B41FA5}">
                          <a16:colId xmlns:a16="http://schemas.microsoft.com/office/drawing/2014/main" val="2678744171"/>
                        </a:ext>
                      </a:extLst>
                    </a:gridCol>
                  </a:tblGrid>
                  <a:tr h="41933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A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B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C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190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it-IT" sz="19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ba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19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kumimoji="0" lang="it-IT" altLang="it-IT" sz="19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9149438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287514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98319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8695707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449961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155207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5989246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025342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1593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Group 58"/>
              <p:cNvGraphicFramePr>
                <a:graphicFrameLocks noGrp="1"/>
              </p:cNvGraphicFramePr>
              <p:nvPr/>
            </p:nvGraphicFramePr>
            <p:xfrm>
              <a:off x="2106168" y="1898137"/>
              <a:ext cx="2924444" cy="3515976"/>
            </p:xfrm>
            <a:graphic>
              <a:graphicData uri="http://schemas.openxmlformats.org/drawingml/2006/table">
                <a:tbl>
                  <a:tblPr/>
                  <a:tblGrid>
                    <a:gridCol w="462503">
                      <a:extLst>
                        <a:ext uri="{9D8B030D-6E8A-4147-A177-3AD203B41FA5}">
                          <a16:colId xmlns:a16="http://schemas.microsoft.com/office/drawing/2014/main" val="1186221656"/>
                        </a:ext>
                      </a:extLst>
                    </a:gridCol>
                    <a:gridCol w="476734">
                      <a:extLst>
                        <a:ext uri="{9D8B030D-6E8A-4147-A177-3AD203B41FA5}">
                          <a16:colId xmlns:a16="http://schemas.microsoft.com/office/drawing/2014/main" val="391314229"/>
                        </a:ext>
                      </a:extLst>
                    </a:gridCol>
                    <a:gridCol w="455388">
                      <a:extLst>
                        <a:ext uri="{9D8B030D-6E8A-4147-A177-3AD203B41FA5}">
                          <a16:colId xmlns:a16="http://schemas.microsoft.com/office/drawing/2014/main" val="2057183182"/>
                        </a:ext>
                      </a:extLst>
                    </a:gridCol>
                    <a:gridCol w="1529819">
                      <a:extLst>
                        <a:ext uri="{9D8B030D-6E8A-4147-A177-3AD203B41FA5}">
                          <a16:colId xmlns:a16="http://schemas.microsoft.com/office/drawing/2014/main" val="2678744171"/>
                        </a:ext>
                      </a:extLst>
                    </a:gridCol>
                  </a:tblGrid>
                  <a:tr h="41933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A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B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C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4"/>
                          <a:stretch>
                            <a:fillRect l="-91270" t="-1449" r="-794" b="-7608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49438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algn="just">
                            <a:spcBef>
                              <a:spcPts val="588"/>
                            </a:spcBef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defRPr sz="20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>
                            <a:spcBef>
                              <a:spcPts val="488"/>
                            </a:spcBef>
                            <a:buClr>
                              <a:srgbClr val="FF0000"/>
                            </a:buClr>
                            <a:buSzPct val="55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>
                            <a:spcBef>
                              <a:spcPts val="488"/>
                            </a:spcBef>
                            <a:buClr>
                              <a:srgbClr val="3333CC"/>
                            </a:buClr>
                            <a:buSzPct val="50000"/>
                            <a:buFont typeface="Wingdings" panose="05000000000000000000" pitchFamily="2" charset="2"/>
                            <a:defRPr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>
                            <a:spcBef>
                              <a:spcPts val="438"/>
                            </a:spcBef>
                            <a:buClr>
                              <a:srgbClr val="FFCF01"/>
                            </a:buClr>
                            <a:buSzPct val="55000"/>
                            <a:buFont typeface="Wingdings" panose="05000000000000000000" pitchFamily="2" charset="2"/>
                            <a:defRPr sz="16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>
                            <a:spcBef>
                              <a:spcPts val="388"/>
                            </a:spcBef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fontAlgn="base">
                            <a:spcBef>
                              <a:spcPts val="388"/>
                            </a:spcBef>
                            <a:spcAft>
                              <a:spcPct val="0"/>
                            </a:spcAft>
                            <a:buClr>
                              <a:srgbClr val="FFCF01"/>
                            </a:buClr>
                            <a:buSzPct val="50000"/>
                            <a:buFont typeface="Wingdings" panose="05000000000000000000" pitchFamily="2" charset="2"/>
                            <a:defRPr sz="140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287514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983198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8695707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449961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1552073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5989246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0253429"/>
                      </a:ext>
                    </a:extLst>
                  </a:tr>
                  <a:tr h="387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rgbClr val="3333CC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it-IT" altLang="it-IT" sz="19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96770" marR="96770" marT="48385" marB="48385" anchor="ctr" horzOverflow="overflow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6159317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7" name="Connettore diritto 16"/>
          <p:cNvCxnSpPr/>
          <p:nvPr/>
        </p:nvCxnSpPr>
        <p:spPr bwMode="auto">
          <a:xfrm rot="16200000">
            <a:off x="7720610" y="4659204"/>
            <a:ext cx="106158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Ovale 17"/>
          <p:cNvSpPr/>
          <p:nvPr/>
        </p:nvSpPr>
        <p:spPr bwMode="auto">
          <a:xfrm rot="16200000">
            <a:off x="8172212" y="5171383"/>
            <a:ext cx="152410" cy="15241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6770" tIns="48385" rIns="96770" bIns="48385" numCol="1" rtlCol="0" anchor="t" anchorCtr="0" compatLnSpc="1">
            <a:prstTxWarp prst="textNoShape">
              <a:avLst/>
            </a:prstTxWarp>
          </a:bodyPr>
          <a:lstStyle/>
          <a:p>
            <a:pPr defTabSz="774504" fontAlgn="base">
              <a:spcBef>
                <a:spcPct val="0"/>
              </a:spcBef>
              <a:spcAft>
                <a:spcPct val="0"/>
              </a:spcAft>
            </a:pPr>
            <a:endParaRPr lang="it-IT" sz="1482">
              <a:latin typeface="Arial" panose="020B0604020202020204" pitchFamily="34" charset="0"/>
            </a:endParaRPr>
          </a:p>
        </p:txBody>
      </p:sp>
      <p:cxnSp>
        <p:nvCxnSpPr>
          <p:cNvPr id="19" name="Connettore diritto 18"/>
          <p:cNvCxnSpPr/>
          <p:nvPr/>
        </p:nvCxnSpPr>
        <p:spPr bwMode="auto">
          <a:xfrm rot="16200000">
            <a:off x="8310301" y="4654165"/>
            <a:ext cx="106158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Ovale 19"/>
          <p:cNvSpPr/>
          <p:nvPr/>
        </p:nvSpPr>
        <p:spPr bwMode="auto">
          <a:xfrm rot="16200000">
            <a:off x="8761903" y="5166344"/>
            <a:ext cx="152410" cy="15241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6770" tIns="48385" rIns="96770" bIns="48385" numCol="1" rtlCol="0" anchor="t" anchorCtr="0" compatLnSpc="1">
            <a:prstTxWarp prst="textNoShape">
              <a:avLst/>
            </a:prstTxWarp>
          </a:bodyPr>
          <a:lstStyle/>
          <a:p>
            <a:pPr defTabSz="774504" fontAlgn="base">
              <a:spcBef>
                <a:spcPct val="0"/>
              </a:spcBef>
              <a:spcAft>
                <a:spcPct val="0"/>
              </a:spcAft>
            </a:pPr>
            <a:endParaRPr lang="it-IT" sz="1482">
              <a:latin typeface="Arial" panose="020B0604020202020204" pitchFamily="34" charset="0"/>
            </a:endParaRPr>
          </a:p>
        </p:txBody>
      </p:sp>
      <p:cxnSp>
        <p:nvCxnSpPr>
          <p:cNvPr id="23" name="Connettore diritto 22"/>
          <p:cNvCxnSpPr/>
          <p:nvPr/>
        </p:nvCxnSpPr>
        <p:spPr bwMode="auto">
          <a:xfrm>
            <a:off x="6601420" y="5212805"/>
            <a:ext cx="538012" cy="301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Connettore diritto 25"/>
          <p:cNvCxnSpPr/>
          <p:nvPr/>
        </p:nvCxnSpPr>
        <p:spPr bwMode="auto">
          <a:xfrm flipH="1">
            <a:off x="9038919" y="3242851"/>
            <a:ext cx="106158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" name="Ovale 26"/>
          <p:cNvSpPr/>
          <p:nvPr/>
        </p:nvSpPr>
        <p:spPr bwMode="auto">
          <a:xfrm flipH="1">
            <a:off x="10107628" y="3156547"/>
            <a:ext cx="152410" cy="15241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6770" tIns="48385" rIns="96770" bIns="48385" numCol="1" rtlCol="0" anchor="t" anchorCtr="0" compatLnSpc="1">
            <a:prstTxWarp prst="textNoShape">
              <a:avLst/>
            </a:prstTxWarp>
          </a:bodyPr>
          <a:lstStyle/>
          <a:p>
            <a:pPr defTabSz="774504" fontAlgn="base">
              <a:spcBef>
                <a:spcPct val="0"/>
              </a:spcBef>
              <a:spcAft>
                <a:spcPct val="0"/>
              </a:spcAft>
            </a:pPr>
            <a:endParaRPr lang="it-IT" sz="1482">
              <a:latin typeface="Arial" panose="020B0604020202020204" pitchFamily="34" charset="0"/>
            </a:endParaRPr>
          </a:p>
        </p:txBody>
      </p:sp>
      <p:cxnSp>
        <p:nvCxnSpPr>
          <p:cNvPr id="28" name="Connettore diritto 27"/>
          <p:cNvCxnSpPr/>
          <p:nvPr/>
        </p:nvCxnSpPr>
        <p:spPr bwMode="auto">
          <a:xfrm>
            <a:off x="6870788" y="2589120"/>
            <a:ext cx="106158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4" name="Gruppo 33"/>
          <p:cNvGrpSpPr/>
          <p:nvPr/>
        </p:nvGrpSpPr>
        <p:grpSpPr>
          <a:xfrm>
            <a:off x="7371589" y="2299760"/>
            <a:ext cx="560779" cy="1849716"/>
            <a:chOff x="6492358" y="2173043"/>
            <a:chExt cx="1003110" cy="1747837"/>
          </a:xfrm>
        </p:grpSpPr>
        <p:cxnSp>
          <p:nvCxnSpPr>
            <p:cNvPr id="7" name="Connettore diritto 6"/>
            <p:cNvCxnSpPr/>
            <p:nvPr/>
          </p:nvCxnSpPr>
          <p:spPr bwMode="auto">
            <a:xfrm>
              <a:off x="6492358" y="2173043"/>
              <a:ext cx="100311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" name="Connettore diritto 8"/>
            <p:cNvCxnSpPr/>
            <p:nvPr/>
          </p:nvCxnSpPr>
          <p:spPr bwMode="auto">
            <a:xfrm>
              <a:off x="6492358" y="2730255"/>
              <a:ext cx="100311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" name="Connettore diritto 10"/>
            <p:cNvCxnSpPr/>
            <p:nvPr/>
          </p:nvCxnSpPr>
          <p:spPr bwMode="auto">
            <a:xfrm>
              <a:off x="6492358" y="3363668"/>
              <a:ext cx="100311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" name="Connettore diritto 12"/>
            <p:cNvCxnSpPr/>
            <p:nvPr/>
          </p:nvCxnSpPr>
          <p:spPr bwMode="auto">
            <a:xfrm>
              <a:off x="6492358" y="3920880"/>
              <a:ext cx="100311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" name="Connettore diritto 28"/>
            <p:cNvCxnSpPr/>
            <p:nvPr/>
          </p:nvCxnSpPr>
          <p:spPr bwMode="auto">
            <a:xfrm>
              <a:off x="6492358" y="3029172"/>
              <a:ext cx="100311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0" name="Connettore diritto 29"/>
          <p:cNvCxnSpPr/>
          <p:nvPr/>
        </p:nvCxnSpPr>
        <p:spPr bwMode="auto">
          <a:xfrm>
            <a:off x="6870788" y="3858039"/>
            <a:ext cx="106158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Connettore diritto 30"/>
          <p:cNvCxnSpPr/>
          <p:nvPr/>
        </p:nvCxnSpPr>
        <p:spPr bwMode="auto">
          <a:xfrm>
            <a:off x="6887493" y="2028014"/>
            <a:ext cx="1044875" cy="6103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Connettore diritto 31"/>
          <p:cNvCxnSpPr/>
          <p:nvPr/>
        </p:nvCxnSpPr>
        <p:spPr bwMode="auto">
          <a:xfrm flipV="1">
            <a:off x="6870789" y="2036182"/>
            <a:ext cx="15583" cy="3179484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Connettore diritto 34"/>
          <p:cNvCxnSpPr/>
          <p:nvPr/>
        </p:nvCxnSpPr>
        <p:spPr bwMode="auto">
          <a:xfrm flipH="1" flipV="1">
            <a:off x="7367382" y="1633695"/>
            <a:ext cx="16254" cy="2523608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" name="Ovale 36"/>
          <p:cNvSpPr/>
          <p:nvPr/>
        </p:nvSpPr>
        <p:spPr bwMode="auto">
          <a:xfrm>
            <a:off x="7331394" y="2253089"/>
            <a:ext cx="76205" cy="76205"/>
          </a:xfrm>
          <a:prstGeom prst="ellipse">
            <a:avLst/>
          </a:prstGeom>
          <a:solidFill>
            <a:schemeClr val="tx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6770" tIns="48385" rIns="96770" bIns="48385" numCol="1" rtlCol="0" anchor="t" anchorCtr="0" compatLnSpc="1">
            <a:prstTxWarp prst="textNoShape">
              <a:avLst/>
            </a:prstTxWarp>
          </a:bodyPr>
          <a:lstStyle/>
          <a:p>
            <a:pPr defTabSz="774504" fontAlgn="base">
              <a:spcBef>
                <a:spcPct val="0"/>
              </a:spcBef>
              <a:spcAft>
                <a:spcPct val="0"/>
              </a:spcAft>
            </a:pPr>
            <a:endParaRPr lang="it-IT" sz="1482">
              <a:latin typeface="Arial" panose="020B0604020202020204" pitchFamily="34" charset="0"/>
            </a:endParaRPr>
          </a:p>
        </p:txBody>
      </p:sp>
      <p:sp>
        <p:nvSpPr>
          <p:cNvPr id="38" name="Ovale 37"/>
          <p:cNvSpPr/>
          <p:nvPr/>
        </p:nvSpPr>
        <p:spPr bwMode="auto">
          <a:xfrm>
            <a:off x="7331394" y="2856152"/>
            <a:ext cx="76205" cy="76205"/>
          </a:xfrm>
          <a:prstGeom prst="ellipse">
            <a:avLst/>
          </a:prstGeom>
          <a:solidFill>
            <a:schemeClr val="tx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6770" tIns="48385" rIns="96770" bIns="48385" numCol="1" rtlCol="0" anchor="t" anchorCtr="0" compatLnSpc="1">
            <a:prstTxWarp prst="textNoShape">
              <a:avLst/>
            </a:prstTxWarp>
          </a:bodyPr>
          <a:lstStyle/>
          <a:p>
            <a:pPr defTabSz="774504" fontAlgn="base">
              <a:spcBef>
                <a:spcPct val="0"/>
              </a:spcBef>
              <a:spcAft>
                <a:spcPct val="0"/>
              </a:spcAft>
            </a:pPr>
            <a:endParaRPr lang="it-IT" sz="1482">
              <a:latin typeface="Arial" panose="020B0604020202020204" pitchFamily="34" charset="0"/>
            </a:endParaRPr>
          </a:p>
        </p:txBody>
      </p:sp>
      <p:sp>
        <p:nvSpPr>
          <p:cNvPr id="39" name="Ovale 38"/>
          <p:cNvSpPr/>
          <p:nvPr/>
        </p:nvSpPr>
        <p:spPr bwMode="auto">
          <a:xfrm>
            <a:off x="7331394" y="3168900"/>
            <a:ext cx="76205" cy="76205"/>
          </a:xfrm>
          <a:prstGeom prst="ellipse">
            <a:avLst/>
          </a:prstGeom>
          <a:solidFill>
            <a:schemeClr val="tx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6770" tIns="48385" rIns="96770" bIns="48385" numCol="1" rtlCol="0" anchor="t" anchorCtr="0" compatLnSpc="1">
            <a:prstTxWarp prst="textNoShape">
              <a:avLst/>
            </a:prstTxWarp>
          </a:bodyPr>
          <a:lstStyle/>
          <a:p>
            <a:pPr defTabSz="774504" fontAlgn="base">
              <a:spcBef>
                <a:spcPct val="0"/>
              </a:spcBef>
              <a:spcAft>
                <a:spcPct val="0"/>
              </a:spcAft>
            </a:pPr>
            <a:endParaRPr lang="it-IT" sz="1482">
              <a:latin typeface="Arial" panose="020B0604020202020204" pitchFamily="34" charset="0"/>
            </a:endParaRPr>
          </a:p>
        </p:txBody>
      </p:sp>
      <p:sp>
        <p:nvSpPr>
          <p:cNvPr id="40" name="Ovale 39"/>
          <p:cNvSpPr/>
          <p:nvPr/>
        </p:nvSpPr>
        <p:spPr bwMode="auto">
          <a:xfrm>
            <a:off x="7331394" y="3523723"/>
            <a:ext cx="76205" cy="76205"/>
          </a:xfrm>
          <a:prstGeom prst="ellipse">
            <a:avLst/>
          </a:prstGeom>
          <a:solidFill>
            <a:schemeClr val="tx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6770" tIns="48385" rIns="96770" bIns="48385" numCol="1" rtlCol="0" anchor="t" anchorCtr="0" compatLnSpc="1">
            <a:prstTxWarp prst="textNoShape">
              <a:avLst/>
            </a:prstTxWarp>
          </a:bodyPr>
          <a:lstStyle/>
          <a:p>
            <a:pPr defTabSz="774504" fontAlgn="base">
              <a:spcBef>
                <a:spcPct val="0"/>
              </a:spcBef>
              <a:spcAft>
                <a:spcPct val="0"/>
              </a:spcAft>
            </a:pPr>
            <a:endParaRPr lang="it-IT" sz="1482">
              <a:latin typeface="Arial" panose="020B0604020202020204" pitchFamily="34" charset="0"/>
            </a:endParaRPr>
          </a:p>
        </p:txBody>
      </p:sp>
      <p:sp>
        <p:nvSpPr>
          <p:cNvPr id="42" name="Ovale 41"/>
          <p:cNvSpPr/>
          <p:nvPr/>
        </p:nvSpPr>
        <p:spPr bwMode="auto">
          <a:xfrm>
            <a:off x="6844042" y="3812630"/>
            <a:ext cx="76205" cy="76205"/>
          </a:xfrm>
          <a:prstGeom prst="ellipse">
            <a:avLst/>
          </a:prstGeom>
          <a:solidFill>
            <a:schemeClr val="tx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6770" tIns="48385" rIns="96770" bIns="48385" numCol="1" rtlCol="0" anchor="t" anchorCtr="0" compatLnSpc="1">
            <a:prstTxWarp prst="textNoShape">
              <a:avLst/>
            </a:prstTxWarp>
          </a:bodyPr>
          <a:lstStyle/>
          <a:p>
            <a:pPr defTabSz="774504" fontAlgn="base">
              <a:spcBef>
                <a:spcPct val="0"/>
              </a:spcBef>
              <a:spcAft>
                <a:spcPct val="0"/>
              </a:spcAft>
            </a:pPr>
            <a:endParaRPr lang="it-IT" sz="1482">
              <a:latin typeface="Arial" panose="020B0604020202020204" pitchFamily="34" charset="0"/>
            </a:endParaRPr>
          </a:p>
        </p:txBody>
      </p:sp>
      <p:sp>
        <p:nvSpPr>
          <p:cNvPr id="43" name="Ovale 42"/>
          <p:cNvSpPr/>
          <p:nvPr/>
        </p:nvSpPr>
        <p:spPr bwMode="auto">
          <a:xfrm>
            <a:off x="6848250" y="2539194"/>
            <a:ext cx="76205" cy="76205"/>
          </a:xfrm>
          <a:prstGeom prst="ellipse">
            <a:avLst/>
          </a:prstGeom>
          <a:solidFill>
            <a:schemeClr val="tx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6770" tIns="48385" rIns="96770" bIns="48385" numCol="1" rtlCol="0" anchor="t" anchorCtr="0" compatLnSpc="1">
            <a:prstTxWarp prst="textNoShape">
              <a:avLst/>
            </a:prstTxWarp>
          </a:bodyPr>
          <a:lstStyle/>
          <a:p>
            <a:pPr defTabSz="774504" fontAlgn="base">
              <a:spcBef>
                <a:spcPct val="0"/>
              </a:spcBef>
              <a:spcAft>
                <a:spcPct val="0"/>
              </a:spcAft>
            </a:pPr>
            <a:endParaRPr lang="it-IT" sz="1482">
              <a:latin typeface="Arial" panose="020B0604020202020204" pitchFamily="34" charset="0"/>
            </a:endParaRPr>
          </a:p>
        </p:txBody>
      </p:sp>
      <p:cxnSp>
        <p:nvCxnSpPr>
          <p:cNvPr id="45" name="Connettore diritto 44"/>
          <p:cNvCxnSpPr/>
          <p:nvPr/>
        </p:nvCxnSpPr>
        <p:spPr bwMode="auto">
          <a:xfrm>
            <a:off x="6686016" y="5273111"/>
            <a:ext cx="368819" cy="3006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" name="Connettore diritto 47"/>
          <p:cNvCxnSpPr/>
          <p:nvPr/>
        </p:nvCxnSpPr>
        <p:spPr bwMode="auto">
          <a:xfrm>
            <a:off x="6766657" y="5341831"/>
            <a:ext cx="207535" cy="1603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" name="Connettore diritto 49"/>
          <p:cNvCxnSpPr/>
          <p:nvPr/>
        </p:nvCxnSpPr>
        <p:spPr bwMode="auto">
          <a:xfrm flipV="1">
            <a:off x="6832322" y="5406595"/>
            <a:ext cx="76205" cy="1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7" name="Connettore diritto 56"/>
          <p:cNvCxnSpPr/>
          <p:nvPr/>
        </p:nvCxnSpPr>
        <p:spPr bwMode="auto">
          <a:xfrm rot="16200000">
            <a:off x="8003908" y="4656400"/>
            <a:ext cx="106158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Ovale 57"/>
          <p:cNvSpPr/>
          <p:nvPr/>
        </p:nvSpPr>
        <p:spPr bwMode="auto">
          <a:xfrm rot="16200000">
            <a:off x="8455510" y="5168579"/>
            <a:ext cx="152410" cy="15241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6770" tIns="48385" rIns="96770" bIns="48385" numCol="1" rtlCol="0" anchor="t" anchorCtr="0" compatLnSpc="1">
            <a:prstTxWarp prst="textNoShape">
              <a:avLst/>
            </a:prstTxWarp>
          </a:bodyPr>
          <a:lstStyle/>
          <a:p>
            <a:pPr defTabSz="774504" fontAlgn="base">
              <a:spcBef>
                <a:spcPct val="0"/>
              </a:spcBef>
              <a:spcAft>
                <a:spcPct val="0"/>
              </a:spcAft>
            </a:pPr>
            <a:endParaRPr lang="it-IT" sz="1482">
              <a:latin typeface="Arial" panose="020B0604020202020204" pitchFamily="34" charset="0"/>
            </a:endParaRPr>
          </a:p>
        </p:txBody>
      </p:sp>
      <p:sp>
        <p:nvSpPr>
          <p:cNvPr id="24" name="Trapezio 23"/>
          <p:cNvSpPr/>
          <p:nvPr/>
        </p:nvSpPr>
        <p:spPr bwMode="auto">
          <a:xfrm rot="5400000">
            <a:off x="7152708" y="2691459"/>
            <a:ext cx="2697282" cy="1104909"/>
          </a:xfrm>
          <a:prstGeom prst="trapezoid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6770" tIns="48385" rIns="96770" bIns="48385" numCol="1" rtlCol="0" anchor="t" anchorCtr="0" compatLnSpc="1">
            <a:prstTxWarp prst="textNoShape">
              <a:avLst/>
            </a:prstTxWarp>
          </a:bodyPr>
          <a:lstStyle/>
          <a:p>
            <a:pPr defTabSz="774504" fontAlgn="base">
              <a:spcBef>
                <a:spcPct val="0"/>
              </a:spcBef>
              <a:spcAft>
                <a:spcPct val="0"/>
              </a:spcAft>
            </a:pPr>
            <a:endParaRPr lang="it-IT" sz="1482">
              <a:latin typeface="Arial" panose="020B0604020202020204" pitchFamily="34" charset="0"/>
            </a:endParaRPr>
          </a:p>
        </p:txBody>
      </p:sp>
      <p:sp>
        <p:nvSpPr>
          <p:cNvPr id="25" name="Rettangolo 24"/>
          <p:cNvSpPr/>
          <p:nvPr/>
        </p:nvSpPr>
        <p:spPr>
          <a:xfrm>
            <a:off x="8173266" y="2968882"/>
            <a:ext cx="614271" cy="3854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1905" err="1"/>
              <a:t>mux</a:t>
            </a:r>
            <a:endParaRPr lang="it-IT" sz="1905"/>
          </a:p>
        </p:txBody>
      </p:sp>
      <p:sp>
        <p:nvSpPr>
          <p:cNvPr id="59" name="Rettangolo 58"/>
          <p:cNvSpPr/>
          <p:nvPr/>
        </p:nvSpPr>
        <p:spPr>
          <a:xfrm>
            <a:off x="8624859" y="3963228"/>
            <a:ext cx="357790" cy="3528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1693"/>
              <a:t>S</a:t>
            </a:r>
            <a:r>
              <a:rPr lang="it-IT" sz="1693" baseline="-25000"/>
              <a:t>0</a:t>
            </a:r>
          </a:p>
        </p:txBody>
      </p:sp>
      <p:sp>
        <p:nvSpPr>
          <p:cNvPr id="60" name="Rettangolo 59"/>
          <p:cNvSpPr/>
          <p:nvPr/>
        </p:nvSpPr>
        <p:spPr>
          <a:xfrm>
            <a:off x="8327537" y="4027742"/>
            <a:ext cx="357790" cy="3528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1693"/>
              <a:t>S</a:t>
            </a:r>
            <a:r>
              <a:rPr lang="it-IT" sz="1693" baseline="-25000"/>
              <a:t>1</a:t>
            </a:r>
          </a:p>
        </p:txBody>
      </p:sp>
      <p:sp>
        <p:nvSpPr>
          <p:cNvPr id="61" name="Rettangolo 60"/>
          <p:cNvSpPr/>
          <p:nvPr/>
        </p:nvSpPr>
        <p:spPr>
          <a:xfrm>
            <a:off x="8038628" y="4113293"/>
            <a:ext cx="357790" cy="3528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1693"/>
              <a:t>S</a:t>
            </a:r>
            <a:r>
              <a:rPr lang="it-IT" sz="1693" baseline="-25000"/>
              <a:t>2</a:t>
            </a:r>
          </a:p>
        </p:txBody>
      </p:sp>
      <p:sp>
        <p:nvSpPr>
          <p:cNvPr id="63" name="Rettangolo 62"/>
          <p:cNvSpPr/>
          <p:nvPr/>
        </p:nvSpPr>
        <p:spPr>
          <a:xfrm>
            <a:off x="8078184" y="5302579"/>
            <a:ext cx="1131787" cy="3528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1693"/>
              <a:t>A   B  C</a:t>
            </a:r>
            <a:endParaRPr lang="it-IT" sz="1693" baseline="-25000"/>
          </a:p>
        </p:txBody>
      </p:sp>
      <p:sp>
        <p:nvSpPr>
          <p:cNvPr id="64" name="Rettangolo 63"/>
          <p:cNvSpPr/>
          <p:nvPr/>
        </p:nvSpPr>
        <p:spPr>
          <a:xfrm>
            <a:off x="7400508" y="1691240"/>
            <a:ext cx="516488" cy="3528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1693"/>
              <a:t>000</a:t>
            </a:r>
            <a:endParaRPr lang="it-IT" sz="1693" baseline="-25000"/>
          </a:p>
        </p:txBody>
      </p:sp>
      <p:sp>
        <p:nvSpPr>
          <p:cNvPr id="65" name="Rettangolo 64"/>
          <p:cNvSpPr/>
          <p:nvPr/>
        </p:nvSpPr>
        <p:spPr>
          <a:xfrm>
            <a:off x="7400508" y="2008196"/>
            <a:ext cx="516488" cy="3528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1693"/>
              <a:t>001</a:t>
            </a:r>
            <a:endParaRPr lang="it-IT" sz="1693" baseline="-25000"/>
          </a:p>
        </p:txBody>
      </p:sp>
      <p:sp>
        <p:nvSpPr>
          <p:cNvPr id="66" name="Rettangolo 65"/>
          <p:cNvSpPr/>
          <p:nvPr/>
        </p:nvSpPr>
        <p:spPr>
          <a:xfrm>
            <a:off x="7400508" y="2281676"/>
            <a:ext cx="516488" cy="3528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1693"/>
              <a:t>010</a:t>
            </a:r>
            <a:endParaRPr lang="it-IT" sz="1693" baseline="-25000"/>
          </a:p>
        </p:txBody>
      </p:sp>
      <p:sp>
        <p:nvSpPr>
          <p:cNvPr id="67" name="Rettangolo 66"/>
          <p:cNvSpPr/>
          <p:nvPr/>
        </p:nvSpPr>
        <p:spPr>
          <a:xfrm>
            <a:off x="7408584" y="2602840"/>
            <a:ext cx="516488" cy="3528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1693"/>
              <a:t>011</a:t>
            </a:r>
            <a:endParaRPr lang="it-IT" sz="1693" baseline="-25000"/>
          </a:p>
        </p:txBody>
      </p:sp>
      <p:sp>
        <p:nvSpPr>
          <p:cNvPr id="68" name="Rettangolo 67"/>
          <p:cNvSpPr/>
          <p:nvPr/>
        </p:nvSpPr>
        <p:spPr>
          <a:xfrm>
            <a:off x="7400508" y="2898760"/>
            <a:ext cx="516488" cy="3528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1693"/>
              <a:t>100</a:t>
            </a:r>
            <a:endParaRPr lang="it-IT" sz="1693" baseline="-25000"/>
          </a:p>
        </p:txBody>
      </p:sp>
      <p:sp>
        <p:nvSpPr>
          <p:cNvPr id="69" name="Rettangolo 68"/>
          <p:cNvSpPr/>
          <p:nvPr/>
        </p:nvSpPr>
        <p:spPr>
          <a:xfrm>
            <a:off x="7400508" y="3240960"/>
            <a:ext cx="516488" cy="3528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1693"/>
              <a:t>101</a:t>
            </a:r>
            <a:endParaRPr lang="it-IT" sz="1693" baseline="-25000"/>
          </a:p>
        </p:txBody>
      </p:sp>
      <p:sp>
        <p:nvSpPr>
          <p:cNvPr id="70" name="Rettangolo 69"/>
          <p:cNvSpPr/>
          <p:nvPr/>
        </p:nvSpPr>
        <p:spPr>
          <a:xfrm>
            <a:off x="7408584" y="3527063"/>
            <a:ext cx="516488" cy="3528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1693"/>
              <a:t>110</a:t>
            </a:r>
            <a:endParaRPr lang="it-IT" sz="1693" baseline="-25000"/>
          </a:p>
        </p:txBody>
      </p:sp>
      <p:sp>
        <p:nvSpPr>
          <p:cNvPr id="71" name="Rettangolo 70"/>
          <p:cNvSpPr/>
          <p:nvPr/>
        </p:nvSpPr>
        <p:spPr>
          <a:xfrm>
            <a:off x="7416659" y="3835604"/>
            <a:ext cx="516488" cy="3528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1693"/>
              <a:t>111</a:t>
            </a:r>
            <a:endParaRPr lang="it-IT" sz="1693" baseline="-25000"/>
          </a:p>
        </p:txBody>
      </p:sp>
    </p:spTree>
    <p:extLst>
      <p:ext uri="{BB962C8B-B14F-4D97-AF65-F5344CB8AC3E}">
        <p14:creationId xmlns:p14="http://schemas.microsoft.com/office/powerpoint/2010/main" val="207032982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egnaposto contenuto 4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lvl="0"/>
                <a:r>
                  <a:rPr lang="it-IT" dirty="0"/>
                  <a:t>Realizzare il circuito digitale corrispondente all’espressione logica:</a:t>
                </a:r>
                <a14:m>
                  <m:oMath xmlns:m="http://schemas.openxmlformats.org/officeDocument/2006/math">
                    <m:r>
                      <a:rPr lang="it-IT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it-IT" dirty="0"/>
              </a:p>
              <a:p>
                <a:pPr lvl="0"/>
                <a:endParaRPr lang="it-IT" dirty="0"/>
              </a:p>
              <a:p>
                <a:pPr lvl="0"/>
                <a:r>
                  <a:rPr lang="it-IT" dirty="0"/>
                  <a:t>utilizzando esclusivamente porte universali (NOR o NAND).</a:t>
                </a:r>
              </a:p>
              <a:p>
                <a:pPr lvl="0"/>
                <a:endParaRPr lang="it-IT" dirty="0"/>
              </a:p>
              <a:p>
                <a:r>
                  <a:rPr lang="it-IT" i="1" dirty="0"/>
                  <a:t>Suggerimento</a:t>
                </a:r>
              </a:p>
              <a:p>
                <a:pPr lvl="0"/>
                <a:endParaRPr lang="it-IT" dirty="0"/>
              </a:p>
              <a:p>
                <a:pPr marL="483855" indent="-483855">
                  <a:buAutoNum type="arabicParenR"/>
                </a:pPr>
                <a:r>
                  <a:rPr lang="it-IT" dirty="0"/>
                  <a:t>Occorre prima di tutto trovare una forma minima dell’espressione</a:t>
                </a:r>
              </a:p>
              <a:p>
                <a:pPr marL="777268" lvl="1" indent="-302409">
                  <a:buFontTx/>
                  <a:buChar char="-"/>
                </a:pPr>
                <a:r>
                  <a:rPr lang="it-IT" dirty="0"/>
                  <a:t>Semplificazione algebrica</a:t>
                </a:r>
              </a:p>
              <a:p>
                <a:pPr marL="777268" lvl="1" indent="-302409">
                  <a:buFontTx/>
                  <a:buChar char="-"/>
                </a:pPr>
                <a:r>
                  <a:rPr lang="it-IT" dirty="0"/>
                  <a:t>Tavola di verità</a:t>
                </a:r>
              </a:p>
              <a:p>
                <a:pPr marL="777268" lvl="1" indent="-302409">
                  <a:buFontTx/>
                  <a:buChar char="-"/>
                </a:pPr>
                <a:endParaRPr lang="it-IT" dirty="0"/>
              </a:p>
              <a:p>
                <a:pPr marL="483855" indent="-483855">
                  <a:buAutoNum type="arabicParenR"/>
                </a:pPr>
                <a:r>
                  <a:rPr lang="it-IT" dirty="0"/>
                  <a:t>Trasformare gli operatori AND, OR e NOT in operatori universali.</a:t>
                </a:r>
              </a:p>
            </p:txBody>
          </p:sp>
        </mc:Choice>
        <mc:Fallback xmlns="">
          <p:sp>
            <p:nvSpPr>
              <p:cNvPr id="5" name="Segnaposto contenuto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01" t="-350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97520-7808-4021-A9CE-950A068AF1D3}" type="slidenum">
              <a:rPr lang="it-IT" altLang="it-IT" smtClean="0"/>
              <a:pPr/>
              <a:t>49</a:t>
            </a:fld>
            <a:endParaRPr lang="it-IT" alt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tangolo 2"/>
              <p:cNvSpPr/>
              <p:nvPr/>
            </p:nvSpPr>
            <p:spPr>
              <a:xfrm>
                <a:off x="4319722" y="2100356"/>
                <a:ext cx="2900409" cy="52982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𝐶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bar>
                                <m:barPr>
                                  <m:pos m:val="top"/>
                                  <m:ctrlPr>
                                    <a:rPr lang="it-IT" sz="1905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it-IT" sz="1905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bar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bar>
                          <m:r>
                            <a:rPr lang="it-IT" sz="1905"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bar>
                        </m:e>
                      </m:acc>
                    </m:oMath>
                  </m:oMathPara>
                </a14:m>
                <a:endParaRPr lang="it-IT" sz="1905" dirty="0"/>
              </a:p>
            </p:txBody>
          </p:sp>
        </mc:Choice>
        <mc:Fallback xmlns="">
          <p:sp>
            <p:nvSpPr>
              <p:cNvPr id="3" name="Rettango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9722" y="2100356"/>
                <a:ext cx="2900409" cy="5298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95404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6 – Metodo algebrico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97520-7808-4021-A9CE-950A068AF1D3}" type="slidenum">
              <a:rPr lang="it-IT" altLang="it-IT" smtClean="0"/>
              <a:pPr/>
              <a:t>50</a:t>
            </a:fld>
            <a:endParaRPr lang="it-IT" alt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tangolo 2"/>
              <p:cNvSpPr/>
              <p:nvPr/>
            </p:nvSpPr>
            <p:spPr>
              <a:xfrm>
                <a:off x="2295121" y="1551687"/>
                <a:ext cx="6976077" cy="5534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𝐶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bar>
                                <m:barPr>
                                  <m:pos m:val="top"/>
                                  <m:ctrlPr>
                                    <a:rPr lang="it-IT" sz="1905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it-IT" sz="1905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bar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bar>
                          <m:r>
                            <a:rPr lang="it-IT" sz="1905"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bar>
                        </m:e>
                      </m:acc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it-IT" sz="1905"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bar>
                        </m:e>
                      </m:d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bar>
                          <m:r>
                            <a:rPr lang="it-IT" sz="1905"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bar>
                        </m:e>
                      </m:acc>
                    </m:oMath>
                  </m:oMathPara>
                </a14:m>
                <a:endParaRPr lang="it-IT" sz="1905" dirty="0"/>
              </a:p>
            </p:txBody>
          </p:sp>
        </mc:Choice>
        <mc:Fallback xmlns="">
          <p:sp>
            <p:nvSpPr>
              <p:cNvPr id="3" name="Rettango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5121" y="1551687"/>
                <a:ext cx="6976077" cy="5534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322256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6 – Metodo algebrico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97520-7808-4021-A9CE-950A068AF1D3}" type="slidenum">
              <a:rPr lang="it-IT" altLang="it-IT" smtClean="0"/>
              <a:pPr/>
              <a:t>51</a:t>
            </a:fld>
            <a:endParaRPr lang="it-IT" alt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tangolo 2"/>
              <p:cNvSpPr/>
              <p:nvPr/>
            </p:nvSpPr>
            <p:spPr>
              <a:xfrm>
                <a:off x="2295121" y="1551687"/>
                <a:ext cx="7226657" cy="91999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𝐶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bar>
                                <m:barPr>
                                  <m:pos m:val="top"/>
                                  <m:ctrlPr>
                                    <a:rPr lang="it-IT" sz="1905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it-IT" sz="1905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bar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bar>
                          <m:r>
                            <a:rPr lang="it-IT" sz="1905"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bar>
                        </m:e>
                      </m:acc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it-IT" sz="1905"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bar>
                        </m:e>
                      </m:d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bar>
                          <m:r>
                            <a:rPr lang="it-IT" sz="1905"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bar>
                        </m:e>
                      </m:acc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it-IT" sz="1905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𝐶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 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bar>
                          <m:r>
                            <a:rPr lang="it-IT" sz="1905"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bar>
                        </m:e>
                      </m:acc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it-IT" sz="1905" dirty="0"/>
              </a:p>
            </p:txBody>
          </p:sp>
        </mc:Choice>
        <mc:Fallback xmlns="">
          <p:sp>
            <p:nvSpPr>
              <p:cNvPr id="3" name="Rettango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5121" y="1551687"/>
                <a:ext cx="7226657" cy="9199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005748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6 – Metodo algebrico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97520-7808-4021-A9CE-950A068AF1D3}" type="slidenum">
              <a:rPr lang="it-IT" altLang="it-IT" smtClean="0"/>
              <a:pPr/>
              <a:t>52</a:t>
            </a:fld>
            <a:endParaRPr lang="it-IT" alt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tangolo 2"/>
              <p:cNvSpPr/>
              <p:nvPr/>
            </p:nvSpPr>
            <p:spPr>
              <a:xfrm>
                <a:off x="2295121" y="1551687"/>
                <a:ext cx="7685887" cy="12131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𝐶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bar>
                                <m:barPr>
                                  <m:pos m:val="top"/>
                                  <m:ctrlPr>
                                    <a:rPr lang="it-IT" sz="1905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it-IT" sz="1905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bar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bar>
                          <m:r>
                            <a:rPr lang="it-IT" sz="1905"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bar>
                        </m:e>
                      </m:acc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it-IT" sz="1905"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bar>
                        </m:e>
                      </m:d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bar>
                          <m:r>
                            <a:rPr lang="it-IT" sz="1905"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bar>
                        </m:e>
                      </m:acc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it-IT" sz="1905" dirty="0"/>
              </a:p>
              <a:p>
                <a:r>
                  <a:rPr lang="it-IT" sz="1905" dirty="0"/>
                  <a:t>=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it-IT" sz="1905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it-IT" sz="1905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  <m:r>
                      <a:rPr lang="it-IT" sz="1905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it-IT" sz="1905" i="1">
                        <a:latin typeface="Cambria Math" panose="02040503050406030204" pitchFamily="18" charset="0"/>
                      </a:rPr>
                      <m:t>+</m:t>
                    </m:r>
                    <m:bar>
                      <m:barPr>
                        <m:pos m:val="top"/>
                        <m:ctrlPr>
                          <a:rPr lang="it-IT" sz="1905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it-IT" sz="1905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  <m:r>
                      <a:rPr lang="it-IT" sz="1905" i="1">
                        <a:latin typeface="Cambria Math" panose="02040503050406030204" pitchFamily="18" charset="0"/>
                      </a:rPr>
                      <m:t>𝐶</m:t>
                    </m:r>
                    <m:bar>
                      <m:barPr>
                        <m:pos m:val="top"/>
                        <m:ctrlPr>
                          <a:rPr lang="it-IT" sz="1905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it-IT" sz="1905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bar>
                    <m:r>
                      <a:rPr lang="it-IT" sz="1905">
                        <a:latin typeface="Cambria Math" panose="02040503050406030204" pitchFamily="18" charset="0"/>
                      </a:rPr>
                      <m:t>+</m:t>
                    </m:r>
                    <m:bar>
                      <m:barPr>
                        <m:pos m:val="top"/>
                        <m:ctrlPr>
                          <a:rPr lang="it-IT" sz="1905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it-IT" sz="1905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  <m:r>
                      <a:rPr lang="it-IT" sz="1905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it-IT" sz="1905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it-IT" sz="1905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bar>
                    <m:r>
                      <a:rPr lang="it-IT" sz="1905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it-IT" sz="1905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bar>
                          <m:barPr>
                            <m:pos m:val="top"/>
                            <m:ctrlPr>
                              <a:rPr lang="it-IT" sz="1905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it-IT" sz="1905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bar>
                        <m:r>
                          <a:rPr lang="it-IT" sz="1905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it-IT" sz="1905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it-IT" sz="1905" i="1">
                            <a:latin typeface="Cambria Math" panose="02040503050406030204" pitchFamily="18" charset="0"/>
                          </a:rPr>
                          <m:t>+</m:t>
                        </m:r>
                        <m:bar>
                          <m:barPr>
                            <m:pos m:val="top"/>
                            <m:ctrlPr>
                              <a:rPr lang="it-IT" sz="1905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it-IT" sz="1905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bar>
                        <m:r>
                          <a:rPr lang="it-IT" sz="1905">
                            <a:latin typeface="Cambria Math" panose="02040503050406030204" pitchFamily="18" charset="0"/>
                          </a:rPr>
                          <m:t>+</m:t>
                        </m:r>
                        <m:bar>
                          <m:barPr>
                            <m:pos m:val="top"/>
                            <m:ctrlPr>
                              <a:rPr lang="it-IT" sz="1905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it-IT" sz="1905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bar>
                      </m:e>
                    </m:acc>
                    <m:r>
                      <a:rPr lang="it-IT" sz="1905" i="1"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pos m:val="top"/>
                        <m:ctrlPr>
                          <a:rPr lang="it-IT" sz="1905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it-IT" sz="1905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  <m:r>
                      <a:rPr lang="it-IT" sz="1905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it-IT" sz="1905">
                        <a:latin typeface="Cambria Math" panose="02040503050406030204" pitchFamily="18" charset="0"/>
                      </a:rPr>
                      <m:t>+</m:t>
                    </m:r>
                    <m:bar>
                      <m:barPr>
                        <m:pos m:val="top"/>
                        <m:ctrlPr>
                          <a:rPr lang="it-IT" sz="1905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it-IT" sz="1905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  <m:r>
                      <a:rPr lang="it-IT" sz="1905" i="1">
                        <a:latin typeface="Cambria Math" panose="02040503050406030204" pitchFamily="18" charset="0"/>
                      </a:rPr>
                      <m:t>𝐶</m:t>
                    </m:r>
                    <m:bar>
                      <m:barPr>
                        <m:pos m:val="top"/>
                        <m:ctrlPr>
                          <a:rPr lang="it-IT" sz="1905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it-IT" sz="1905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bar>
                    <m:r>
                      <a:rPr lang="it-IT" sz="1905">
                        <a:latin typeface="Cambria Math" panose="02040503050406030204" pitchFamily="18" charset="0"/>
                      </a:rPr>
                      <m:t>+</m:t>
                    </m:r>
                    <m:bar>
                      <m:barPr>
                        <m:pos m:val="top"/>
                        <m:ctrlPr>
                          <a:rPr lang="it-IT" sz="1905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it-IT" sz="1905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  <m:r>
                      <a:rPr lang="it-IT" sz="1905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it-IT" sz="1905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it-IT" sz="1905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bar>
                    <m:r>
                      <a:rPr lang="it-IT" sz="1905" i="1">
                        <a:latin typeface="Cambria Math" panose="02040503050406030204" pitchFamily="18" charset="0"/>
                      </a:rPr>
                      <m:t>+</m:t>
                    </m:r>
                    <m:bar>
                      <m:barPr>
                        <m:pos m:val="top"/>
                        <m:ctrlPr>
                          <a:rPr lang="it-IT" sz="1905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it-IT" sz="1905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bar>
                  </m:oMath>
                </a14:m>
                <a:endParaRPr lang="it-IT" sz="1905" dirty="0"/>
              </a:p>
              <a:p>
                <a:endParaRPr lang="it-IT" sz="1905" dirty="0"/>
              </a:p>
            </p:txBody>
          </p:sp>
        </mc:Choice>
        <mc:Fallback xmlns="">
          <p:sp>
            <p:nvSpPr>
              <p:cNvPr id="3" name="Rettango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5121" y="1551687"/>
                <a:ext cx="7685887" cy="1213153"/>
              </a:xfrm>
              <a:prstGeom prst="rect">
                <a:avLst/>
              </a:prstGeom>
              <a:blipFill>
                <a:blip r:embed="rId3"/>
                <a:stretch>
                  <a:fillRect l="-71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861947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6 – Metodo algebrico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97520-7808-4021-A9CE-950A068AF1D3}" type="slidenum">
              <a:rPr lang="it-IT" altLang="it-IT" smtClean="0"/>
              <a:pPr/>
              <a:t>53</a:t>
            </a:fld>
            <a:endParaRPr lang="it-IT" alt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tangolo 2"/>
              <p:cNvSpPr/>
              <p:nvPr/>
            </p:nvSpPr>
            <p:spPr>
              <a:xfrm>
                <a:off x="2295120" y="1551686"/>
                <a:ext cx="7673063" cy="24202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𝐶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bar>
                                <m:barPr>
                                  <m:pos m:val="top"/>
                                  <m:ctrlPr>
                                    <a:rPr lang="it-IT" sz="1905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it-IT" sz="1905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bar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bar>
                          <m:r>
                            <a:rPr lang="it-IT" sz="1905"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bar>
                        </m:e>
                      </m:acc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it-IT" sz="1905"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bar>
                        </m:e>
                      </m:d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bar>
                          <m:r>
                            <a:rPr lang="it-IT" sz="1905"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bar>
                        </m:e>
                      </m:acc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it-IT" sz="1905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905"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𝐶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 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bar>
                          <m:r>
                            <a:rPr lang="it-IT" sz="1905"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bar>
                        </m:e>
                      </m:acc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𝐶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 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it-IT" sz="1905" i="1" dirty="0">
                  <a:latin typeface="Cambria Math" panose="02040503050406030204" pitchFamily="18" charset="0"/>
                </a:endParaRPr>
              </a:p>
              <a:p>
                <a:r>
                  <a:rPr lang="it-IT" sz="1905" dirty="0">
                    <a:latin typeface="Cambria Math" panose="020405030504060302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it-IT" sz="1905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it-IT" sz="1905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it-IT" sz="1905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bar>
                    <m:r>
                      <m:rPr>
                        <m:sty m:val="p"/>
                      </m:rPr>
                      <a:rPr lang="it-IT" sz="1905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it-IT" sz="1905" dirty="0"/>
                  <a:t> </a:t>
                </a:r>
                <a14:m>
                  <m:oMath xmlns:m="http://schemas.openxmlformats.org/officeDocument/2006/math">
                    <m:r>
                      <a:rPr lang="it-IT" sz="1905">
                        <a:latin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it-IT" sz="1905" dirty="0">
                    <a:latin typeface="Cambria Math" panose="02040503050406030204" pitchFamily="18" charset="0"/>
                  </a:rPr>
                  <a:t>(1+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it-IT" sz="1905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it-IT" sz="1905"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bar>
                  </m:oMath>
                </a14:m>
                <a:r>
                  <a:rPr lang="it-IT" sz="1905" dirty="0">
                    <a:latin typeface="Cambria Math" panose="02040503050406030204" pitchFamily="18" charset="0"/>
                  </a:rPr>
                  <a:t>)+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it-IT" sz="1905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it-IT" sz="1905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  <m:r>
                      <a:rPr lang="it-IT" sz="1905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it-IT" sz="1905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it-IT" sz="1905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bar>
                  </m:oMath>
                </a14:m>
                <a:endParaRPr lang="it-IT" sz="1905" dirty="0">
                  <a:latin typeface="Cambria Math" panose="02040503050406030204" pitchFamily="18" charset="0"/>
                </a:endParaRPr>
              </a:p>
              <a:p>
                <a:endParaRPr lang="it-IT" sz="1905" i="1" dirty="0">
                  <a:latin typeface="Cambria Math" panose="02040503050406030204" pitchFamily="18" charset="0"/>
                </a:endParaRPr>
              </a:p>
              <a:p>
                <a:endParaRPr lang="it-IT" sz="1905" i="1" dirty="0">
                  <a:latin typeface="Cambria Math" panose="02040503050406030204" pitchFamily="18" charset="0"/>
                </a:endParaRPr>
              </a:p>
              <a:p>
                <a:endParaRPr lang="it-IT" sz="1905" dirty="0"/>
              </a:p>
              <a:p>
                <a:endParaRPr lang="it-IT" sz="1905" dirty="0"/>
              </a:p>
            </p:txBody>
          </p:sp>
        </mc:Choice>
        <mc:Fallback xmlns="">
          <p:sp>
            <p:nvSpPr>
              <p:cNvPr id="3" name="Rettango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5120" y="1551686"/>
                <a:ext cx="7673063" cy="2420214"/>
              </a:xfrm>
              <a:prstGeom prst="rect">
                <a:avLst/>
              </a:prstGeom>
              <a:blipFill>
                <a:blip r:embed="rId3"/>
                <a:stretch>
                  <a:fillRect l="-71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83873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6 – Metodo algebrico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97520-7808-4021-A9CE-950A068AF1D3}" type="slidenum">
              <a:rPr lang="it-IT" altLang="it-IT" smtClean="0"/>
              <a:pPr/>
              <a:t>54</a:t>
            </a:fld>
            <a:endParaRPr lang="it-IT" alt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tangolo 2"/>
              <p:cNvSpPr/>
              <p:nvPr/>
            </p:nvSpPr>
            <p:spPr>
              <a:xfrm>
                <a:off x="2295121" y="1551687"/>
                <a:ext cx="7671459" cy="212705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𝐶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bar>
                                <m:barPr>
                                  <m:pos m:val="top"/>
                                  <m:ctrlPr>
                                    <a:rPr lang="it-IT" sz="1905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it-IT" sz="1905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bar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bar>
                          <m:r>
                            <a:rPr lang="it-IT" sz="1905"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bar>
                        </m:e>
                      </m:acc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it-IT" sz="1905"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bar>
                        </m:e>
                      </m:d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bar>
                          <m:r>
                            <a:rPr lang="it-IT" sz="1905"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bar>
                        </m:e>
                      </m:acc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it-IT" sz="1905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905"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𝐶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 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bar>
                          <m:r>
                            <a:rPr lang="it-IT" sz="1905"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bar>
                        </m:e>
                      </m:acc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𝐶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 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it-IT" sz="1905" i="1" dirty="0">
                  <a:latin typeface="Cambria Math" panose="02040503050406030204" pitchFamily="18" charset="0"/>
                </a:endParaRPr>
              </a:p>
              <a:p>
                <a:r>
                  <a:rPr lang="it-IT" sz="1905" dirty="0">
                    <a:latin typeface="Cambria Math" panose="020405030504060302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it-IT" sz="1905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it-IT" sz="1905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it-IT" sz="1905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bar>
                    <m:r>
                      <m:rPr>
                        <m:sty m:val="p"/>
                      </m:rPr>
                      <a:rPr lang="it-IT" sz="1905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it-IT" sz="1905" dirty="0"/>
                  <a:t> </a:t>
                </a:r>
                <a14:m>
                  <m:oMath xmlns:m="http://schemas.openxmlformats.org/officeDocument/2006/math">
                    <m:r>
                      <a:rPr lang="it-IT" sz="1905">
                        <a:latin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it-IT" sz="1905" dirty="0">
                    <a:latin typeface="Cambria Math" panose="02040503050406030204" pitchFamily="18" charset="0"/>
                  </a:rPr>
                  <a:t>(1+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it-IT" sz="1905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it-IT" sz="1905"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bar>
                  </m:oMath>
                </a14:m>
                <a:r>
                  <a:rPr lang="it-IT" sz="1905" dirty="0">
                    <a:latin typeface="Cambria Math" panose="02040503050406030204" pitchFamily="18" charset="0"/>
                  </a:rPr>
                  <a:t>)+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it-IT" sz="1905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it-IT" sz="1905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  <m:r>
                      <a:rPr lang="it-IT" sz="1905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it-IT" sz="1905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it-IT" sz="1905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bar>
                  </m:oMath>
                </a14:m>
                <a:r>
                  <a:rPr lang="it-IT" sz="1905" dirty="0">
                    <a:latin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it-IT" sz="1905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it-IT" sz="1905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bar>
                    <m:r>
                      <m:rPr>
                        <m:sty m:val="p"/>
                      </m:rPr>
                      <a:rPr lang="it-IT" sz="1905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it-IT" sz="1905" dirty="0"/>
                  <a:t> </a:t>
                </a:r>
                <a14:m>
                  <m:oMath xmlns:m="http://schemas.openxmlformats.org/officeDocument/2006/math">
                    <m:r>
                      <a:rPr lang="it-IT" sz="1905">
                        <a:latin typeface="Cambria Math" panose="02040503050406030204" pitchFamily="18" charset="0"/>
                      </a:rPr>
                      <m:t>+</m:t>
                    </m:r>
                    <m:bar>
                      <m:barPr>
                        <m:pos m:val="top"/>
                        <m:ctrlPr>
                          <a:rPr lang="it-IT" sz="1905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it-IT" sz="1905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  <m:r>
                      <a:rPr lang="it-IT" sz="1905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it-IT" sz="1905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it-IT" sz="1905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bar>
                  </m:oMath>
                </a14:m>
                <a:endParaRPr lang="it-IT" sz="1905" i="1" dirty="0">
                  <a:latin typeface="Cambria Math" panose="02040503050406030204" pitchFamily="18" charset="0"/>
                </a:endParaRPr>
              </a:p>
              <a:p>
                <a:endParaRPr lang="it-IT" sz="1905" i="1" dirty="0">
                  <a:latin typeface="Cambria Math" panose="02040503050406030204" pitchFamily="18" charset="0"/>
                </a:endParaRPr>
              </a:p>
              <a:p>
                <a:endParaRPr lang="it-IT" sz="1905" dirty="0"/>
              </a:p>
              <a:p>
                <a:endParaRPr lang="it-IT" sz="1905" dirty="0"/>
              </a:p>
            </p:txBody>
          </p:sp>
        </mc:Choice>
        <mc:Fallback xmlns="">
          <p:sp>
            <p:nvSpPr>
              <p:cNvPr id="3" name="Rettango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5121" y="1551687"/>
                <a:ext cx="7671459" cy="2127057"/>
              </a:xfrm>
              <a:prstGeom prst="rect">
                <a:avLst/>
              </a:prstGeom>
              <a:blipFill>
                <a:blip r:embed="rId3"/>
                <a:stretch>
                  <a:fillRect l="-71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700411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6 – Metodo algebrico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97520-7808-4021-A9CE-950A068AF1D3}" type="slidenum">
              <a:rPr lang="it-IT" altLang="it-IT" smtClean="0"/>
              <a:pPr/>
              <a:t>55</a:t>
            </a:fld>
            <a:endParaRPr lang="it-IT" alt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tangolo 2"/>
              <p:cNvSpPr/>
              <p:nvPr/>
            </p:nvSpPr>
            <p:spPr>
              <a:xfrm>
                <a:off x="2295120" y="1551686"/>
                <a:ext cx="7673063" cy="24202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𝐶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bar>
                                <m:barPr>
                                  <m:pos m:val="top"/>
                                  <m:ctrlPr>
                                    <a:rPr lang="it-IT" sz="1905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it-IT" sz="1905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bar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bar>
                          <m:r>
                            <a:rPr lang="it-IT" sz="1905"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bar>
                        </m:e>
                      </m:acc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it-IT" sz="1905"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bar>
                        </m:e>
                      </m:d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bar>
                          <m:r>
                            <a:rPr lang="it-IT" sz="1905"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bar>
                        </m:e>
                      </m:acc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it-IT" sz="1905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905"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it-IT" sz="1905" i="1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𝐶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 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bar>
                          <m:r>
                            <a:rPr lang="it-IT" sz="1905"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it-IT" sz="1905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1905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bar>
                        </m:e>
                      </m:acc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𝐶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it-IT" sz="1905">
                          <a:latin typeface="Cambria Math" panose="02040503050406030204" pitchFamily="18" charset="0"/>
                        </a:rPr>
                        <m:t> 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it-IT" sz="1905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it-IT" sz="1905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bar>
                      <m:r>
                        <a:rPr lang="it-IT" sz="1905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it-IT" sz="1905" i="1" dirty="0">
                  <a:latin typeface="Cambria Math" panose="02040503050406030204" pitchFamily="18" charset="0"/>
                </a:endParaRPr>
              </a:p>
              <a:p>
                <a:r>
                  <a:rPr lang="it-IT" sz="1905" dirty="0">
                    <a:latin typeface="Cambria Math" panose="020405030504060302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it-IT" sz="1905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it-IT" sz="1905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it-IT" sz="1905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bar>
                    <m:r>
                      <m:rPr>
                        <m:sty m:val="p"/>
                      </m:rPr>
                      <a:rPr lang="it-IT" sz="1905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it-IT" sz="1905" dirty="0"/>
                  <a:t> </a:t>
                </a:r>
                <a14:m>
                  <m:oMath xmlns:m="http://schemas.openxmlformats.org/officeDocument/2006/math">
                    <m:r>
                      <a:rPr lang="it-IT" sz="1905">
                        <a:latin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it-IT" sz="1905" dirty="0">
                    <a:latin typeface="Cambria Math" panose="02040503050406030204" pitchFamily="18" charset="0"/>
                  </a:rPr>
                  <a:t>(1+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it-IT" sz="1905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it-IT" sz="1905"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bar>
                  </m:oMath>
                </a14:m>
                <a:r>
                  <a:rPr lang="it-IT" sz="1905" dirty="0">
                    <a:latin typeface="Cambria Math" panose="02040503050406030204" pitchFamily="18" charset="0"/>
                  </a:rPr>
                  <a:t>)+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it-IT" sz="1905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it-IT" sz="1905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  <m:r>
                      <a:rPr lang="it-IT" sz="1905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it-IT" sz="1905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it-IT" sz="1905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bar>
                  </m:oMath>
                </a14:m>
                <a:r>
                  <a:rPr lang="it-IT" sz="1905" dirty="0">
                    <a:latin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it-IT" sz="1905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it-IT" sz="1905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bar>
                    <m:r>
                      <m:rPr>
                        <m:sty m:val="p"/>
                      </m:rPr>
                      <a:rPr lang="it-IT" sz="1905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it-IT" sz="1905" dirty="0"/>
                  <a:t> </a:t>
                </a:r>
                <a14:m>
                  <m:oMath xmlns:m="http://schemas.openxmlformats.org/officeDocument/2006/math">
                    <m:r>
                      <a:rPr lang="it-IT" sz="1905">
                        <a:latin typeface="Cambria Math" panose="02040503050406030204" pitchFamily="18" charset="0"/>
                      </a:rPr>
                      <m:t>+</m:t>
                    </m:r>
                    <m:bar>
                      <m:barPr>
                        <m:pos m:val="top"/>
                        <m:ctrlPr>
                          <a:rPr lang="it-IT" sz="1905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it-IT" sz="1905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  <m:r>
                      <a:rPr lang="it-IT" sz="1905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it-IT" sz="1905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it-IT" sz="1905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bar>
                  </m:oMath>
                </a14:m>
                <a:r>
                  <a:rPr lang="it-IT" sz="1905" dirty="0">
                    <a:latin typeface="Cambria Math" panose="02040503050406030204" pitchFamily="18" charset="0"/>
                  </a:rPr>
                  <a:t>=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it-IT" sz="1905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it-IT" sz="1905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  <m:r>
                      <a:rPr lang="it-IT" sz="1905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sz="1905" dirty="0">
                    <a:latin typeface="Cambria Math" panose="02040503050406030204" pitchFamily="18" charset="0"/>
                  </a:rPr>
                  <a:t>(C+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it-IT" sz="1905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it-IT" sz="1905"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bar>
                  </m:oMath>
                </a14:m>
                <a:r>
                  <a:rPr lang="it-IT" sz="1905" dirty="0">
                    <a:latin typeface="Cambria Math" panose="02040503050406030204" pitchFamily="18" charset="0"/>
                  </a:rPr>
                  <a:t>)</a:t>
                </a:r>
              </a:p>
              <a:p>
                <a:endParaRPr lang="it-IT" sz="1905" i="1" dirty="0">
                  <a:latin typeface="Cambria Math" panose="02040503050406030204" pitchFamily="18" charset="0"/>
                </a:endParaRPr>
              </a:p>
              <a:p>
                <a:endParaRPr lang="it-IT" sz="1905" i="1" dirty="0">
                  <a:latin typeface="Cambria Math" panose="02040503050406030204" pitchFamily="18" charset="0"/>
                </a:endParaRPr>
              </a:p>
              <a:p>
                <a:endParaRPr lang="it-IT" sz="1905" dirty="0"/>
              </a:p>
              <a:p>
                <a:endParaRPr lang="it-IT" sz="1905" dirty="0"/>
              </a:p>
            </p:txBody>
          </p:sp>
        </mc:Choice>
        <mc:Fallback xmlns="">
          <p:sp>
            <p:nvSpPr>
              <p:cNvPr id="3" name="Rettango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5120" y="1551686"/>
                <a:ext cx="7673063" cy="2420214"/>
              </a:xfrm>
              <a:prstGeom prst="rect">
                <a:avLst/>
              </a:prstGeom>
              <a:blipFill>
                <a:blip r:embed="rId3"/>
                <a:stretch>
                  <a:fillRect l="-71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520728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6 – Circuito Logico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697520-7808-4021-A9CE-950A068AF1D3}" type="slidenum">
              <a:rPr lang="it-IT" altLang="it-IT" smtClean="0"/>
              <a:pPr/>
              <a:t>56</a:t>
            </a:fld>
            <a:endParaRPr lang="it-IT" alt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tangolo 2"/>
              <p:cNvSpPr/>
              <p:nvPr/>
            </p:nvSpPr>
            <p:spPr>
              <a:xfrm>
                <a:off x="2295120" y="1551687"/>
                <a:ext cx="6111765" cy="21367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it-IT" sz="1905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it-IT" sz="1905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  <m:r>
                      <a:rPr lang="it-IT" sz="1905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sz="1905" dirty="0">
                    <a:latin typeface="Cambria Math" panose="02040503050406030204" pitchFamily="18" charset="0"/>
                  </a:rPr>
                  <a:t>(C+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it-IT" sz="1905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it-IT" sz="1905"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bar>
                  </m:oMath>
                </a14:m>
                <a:r>
                  <a:rPr lang="it-IT" sz="1905" dirty="0">
                    <a:latin typeface="Cambria Math" panose="02040503050406030204" pitchFamily="18" charset="0"/>
                  </a:rPr>
                  <a:t>) =</a:t>
                </a:r>
                <a14:m>
                  <m:oMath xmlns:m="http://schemas.openxmlformats.org/officeDocument/2006/math">
                    <m:r>
                      <a:rPr lang="it-IT" sz="1905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it-IT" sz="1905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it-IT" sz="1905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</m:oMath>
                </a14:m>
                <a:r>
                  <a:rPr lang="it-IT" sz="1905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it-IT" sz="1905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bar>
                          <m:barPr>
                            <m:pos m:val="top"/>
                            <m:ctrlPr>
                              <a:rPr lang="it-IT" sz="1905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it-IT" sz="1905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bar>
                        <m:r>
                          <a:rPr lang="it-IT" sz="1905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bar>
                    <m:r>
                      <a:rPr lang="it-IT" sz="1905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it-IT" sz="1905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it-IT" sz="1905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it-IT" sz="1905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  <m:r>
                      <a:rPr lang="it-IT" sz="1905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sz="1905" dirty="0">
                    <a:latin typeface="Cambria Math" panose="02040503050406030204" pitchFamily="18" charset="0"/>
                  </a:rPr>
                  <a:t>(C+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it-IT" sz="1905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it-IT" sz="1905"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bar>
                  </m:oMath>
                </a14:m>
                <a:r>
                  <a:rPr lang="it-IT" sz="1905" dirty="0">
                    <a:latin typeface="Cambria Math" panose="02040503050406030204" pitchFamily="18" charset="0"/>
                  </a:rPr>
                  <a:t>) =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it-IT" sz="1905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it-IT" sz="1905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it-IT" sz="1905" i="1">
                            <a:latin typeface="Cambria Math" panose="02040503050406030204" pitchFamily="18" charset="0"/>
                          </a:rPr>
                          <m:t>+</m:t>
                        </m:r>
                        <m:bar>
                          <m:barPr>
                            <m:pos m:val="top"/>
                            <m:ctrlPr>
                              <a:rPr lang="it-IT" sz="1905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nor/>
                              </m:rPr>
                              <a:rPr lang="it-IT" sz="1905" dirty="0">
                                <a:latin typeface="Cambria Math" panose="02040503050406030204" pitchFamily="18" charset="0"/>
                              </a:rPr>
                              <m:t>C</m:t>
                            </m:r>
                            <m:r>
                              <m:rPr>
                                <m:nor/>
                              </m:rPr>
                              <a:rPr lang="it-IT" sz="1905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bar>
                              <m:barPr>
                                <m:pos m:val="top"/>
                                <m:ctrlPr>
                                  <a:rPr lang="it-IT" sz="1905" i="1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m:rPr>
                                    <m:sty m:val="p"/>
                                  </m:rPr>
                                  <a:rPr lang="it-IT" sz="1905"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</m:bar>
                          </m:e>
                        </m:bar>
                      </m:e>
                    </m:bar>
                  </m:oMath>
                </a14:m>
                <a:endParaRPr lang="it-IT" sz="1905" dirty="0">
                  <a:latin typeface="Cambria Math" panose="02040503050406030204" pitchFamily="18" charset="0"/>
                </a:endParaRPr>
              </a:p>
              <a:p>
                <a:r>
                  <a:rPr lang="it-IT" sz="1905" i="1" dirty="0">
                    <a:latin typeface="Cambria Math" panose="02040503050406030204" pitchFamily="18" charset="0"/>
                  </a:rPr>
                  <a:t> </a:t>
                </a:r>
              </a:p>
              <a:p>
                <a:endParaRPr lang="it-IT" sz="1905" i="1" dirty="0">
                  <a:latin typeface="Cambria Math" panose="02040503050406030204" pitchFamily="18" charset="0"/>
                </a:endParaRPr>
              </a:p>
              <a:p>
                <a:endParaRPr lang="it-IT" sz="1905" dirty="0"/>
              </a:p>
              <a:p>
                <a:endParaRPr lang="it-IT" sz="1905" dirty="0"/>
              </a:p>
            </p:txBody>
          </p:sp>
        </mc:Choice>
        <mc:Fallback xmlns="">
          <p:sp>
            <p:nvSpPr>
              <p:cNvPr id="3" name="Rettango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5120" y="1551687"/>
                <a:ext cx="6111765" cy="21367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5" name="Immagine 94">
            <a:extLst>
              <a:ext uri="{FF2B5EF4-FFF2-40B4-BE49-F238E27FC236}">
                <a16:creationId xmlns:a16="http://schemas.microsoft.com/office/drawing/2014/main" id="{14A13AA9-DF06-408A-86AF-836DAD91B2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4468" y="2625153"/>
            <a:ext cx="7983064" cy="409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0728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D7D86086DEDAC43B0A6F2200CEC9A5B" ma:contentTypeVersion="12" ma:contentTypeDescription="Creare un nuovo documento." ma:contentTypeScope="" ma:versionID="0738b2f566a5410929b22a176f09446f">
  <xsd:schema xmlns:xsd="http://www.w3.org/2001/XMLSchema" xmlns:xs="http://www.w3.org/2001/XMLSchema" xmlns:p="http://schemas.microsoft.com/office/2006/metadata/properties" xmlns:ns3="d493c310-7e49-49b4-b579-60fdd2f2c483" xmlns:ns4="e539edeb-cabf-4bbd-9afc-6cc1727a10dc" targetNamespace="http://schemas.microsoft.com/office/2006/metadata/properties" ma:root="true" ma:fieldsID="5402e63644fa8e0e9a81d7671ec362b5" ns3:_="" ns4:_="">
    <xsd:import namespace="d493c310-7e49-49b4-b579-60fdd2f2c483"/>
    <xsd:import namespace="e539edeb-cabf-4bbd-9afc-6cc1727a10dc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Location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93c310-7e49-49b4-b579-60fdd2f2c48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suggerimento condivisione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39edeb-cabf-4bbd-9afc-6cc1727a10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B90434F-5774-4312-BBB3-D66252B4B06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3FEDBDF-1627-4147-B022-5ED204D741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493c310-7e49-49b4-b579-60fdd2f2c483"/>
    <ds:schemaRef ds:uri="e539edeb-cabf-4bbd-9afc-6cc1727a10d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E64186C-FEEC-487D-B93F-9443827C2199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5229</Words>
  <Application>Microsoft Office PowerPoint</Application>
  <PresentationFormat>Widescreen</PresentationFormat>
  <Paragraphs>1716</Paragraphs>
  <Slides>56</Slides>
  <Notes>21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56</vt:i4>
      </vt:variant>
    </vt:vector>
  </HeadingPairs>
  <TitlesOfParts>
    <vt:vector size="62" baseType="lpstr">
      <vt:lpstr>Arial</vt:lpstr>
      <vt:lpstr>Calibri</vt:lpstr>
      <vt:lpstr>Calibri Light</vt:lpstr>
      <vt:lpstr>Cambria Math</vt:lpstr>
      <vt:lpstr>Wingdings</vt:lpstr>
      <vt:lpstr>Tema di Office</vt:lpstr>
      <vt:lpstr>I Tutorato - ASE</vt:lpstr>
      <vt:lpstr>Oggetti utilizzati</vt:lpstr>
      <vt:lpstr>Le trasformazioni nel dominio di Boole</vt:lpstr>
      <vt:lpstr>Proprietà dell’algebra di Boole</vt:lpstr>
      <vt:lpstr>Esercizio 1</vt:lpstr>
      <vt:lpstr>Esercizio 1 - Metodo algebrico</vt:lpstr>
      <vt:lpstr>Esercizio 1 - Metodo algebrico</vt:lpstr>
      <vt:lpstr>Esercizio 1 - Metodo esaustivo</vt:lpstr>
      <vt:lpstr>Esercizio 1 - Metodo esaustivo</vt:lpstr>
      <vt:lpstr>Esercizio 1 - Metodo esaustivo</vt:lpstr>
      <vt:lpstr>Esercizio 1 - Metodo esaustivo</vt:lpstr>
      <vt:lpstr>Esercizio 1 - Metodo esaustivo</vt:lpstr>
      <vt:lpstr>Esercizio 1 - Metodo esaustivo</vt:lpstr>
      <vt:lpstr>Esercizio 1 - Metodo esaustivo</vt:lpstr>
      <vt:lpstr>Esercizio 1 - Metodo esaustivo</vt:lpstr>
      <vt:lpstr>Esercizio 2</vt:lpstr>
      <vt:lpstr>Esercizio 2 - Metodo deduttivo</vt:lpstr>
      <vt:lpstr>Esercizio 3</vt:lpstr>
      <vt:lpstr>Esercizio 3 - Metodo algebrico</vt:lpstr>
      <vt:lpstr>Esercizio 3 - Metodo algebrico</vt:lpstr>
      <vt:lpstr>Esercizio 3 - Metodo esaustivo </vt:lpstr>
      <vt:lpstr>Esercizio 3 - Metodo esaustivo </vt:lpstr>
      <vt:lpstr>Esercizio 3 - Metodo esaustivo </vt:lpstr>
      <vt:lpstr>Esercizio 3 - Metodo esaustivo </vt:lpstr>
      <vt:lpstr>Esercizio 3 - Metodo esaustivo </vt:lpstr>
      <vt:lpstr>Esercizio 4</vt:lpstr>
      <vt:lpstr>Esercizio 4 - Metodo algebrico </vt:lpstr>
      <vt:lpstr>Esercizio 4 - Metodo algebrico </vt:lpstr>
      <vt:lpstr>Esercizio 4 - Metodo algebrico </vt:lpstr>
      <vt:lpstr>Esercizio 4 - Metodo algebrico </vt:lpstr>
      <vt:lpstr>Esercizio 4 - Metodo esaustivo </vt:lpstr>
      <vt:lpstr>Esercizio 4 - Metodo esaustivo </vt:lpstr>
      <vt:lpstr>Esercizio 4 - Metodo esaustivo </vt:lpstr>
      <vt:lpstr>Esercizio 4 - Metodo esaustivo </vt:lpstr>
      <vt:lpstr>Esercizio 4 - Metodo esaustivo </vt:lpstr>
      <vt:lpstr>Esercizio 4 - Metodo esaustivo </vt:lpstr>
      <vt:lpstr>Esercizio 4 - Metodo esaustivo </vt:lpstr>
      <vt:lpstr>Esercizio 4 - Metodo esaustivo </vt:lpstr>
      <vt:lpstr>Esercizio 4 - Metodo esaustivo </vt:lpstr>
      <vt:lpstr>Esercizio 4 - Metodo esaustivo </vt:lpstr>
      <vt:lpstr>Esercizio 4 – Circuito Logico</vt:lpstr>
      <vt:lpstr>Esercizio 5</vt:lpstr>
      <vt:lpstr>Esercizio 5</vt:lpstr>
      <vt:lpstr>Esercizio 5</vt:lpstr>
      <vt:lpstr>Esercizio 5</vt:lpstr>
      <vt:lpstr>Esercizio 5</vt:lpstr>
      <vt:lpstr>Esercizio 5 – Tavola di verità</vt:lpstr>
      <vt:lpstr>Esercizio 5 – Multiplexer</vt:lpstr>
      <vt:lpstr>Esercizio 6</vt:lpstr>
      <vt:lpstr>Esercizio 6 – Metodo algebrico</vt:lpstr>
      <vt:lpstr>Esercizio 6 – Metodo algebrico</vt:lpstr>
      <vt:lpstr>Esercizio 6 – Metodo algebrico</vt:lpstr>
      <vt:lpstr>Esercizio 6 – Metodo algebrico</vt:lpstr>
      <vt:lpstr>Esercizio 6 – Metodo algebrico</vt:lpstr>
      <vt:lpstr>Esercizio 6 – Metodo algebrico</vt:lpstr>
      <vt:lpstr>Esercizio 6 – Circuito Logico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Paolo Ciasco</dc:creator>
  <cp:lastModifiedBy>Paolo Ciasco</cp:lastModifiedBy>
  <cp:revision>4</cp:revision>
  <dcterms:created xsi:type="dcterms:W3CDTF">2021-11-28T10:01:47Z</dcterms:created>
  <dcterms:modified xsi:type="dcterms:W3CDTF">2021-11-28T10:57:00Z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0x010100AD7D86086DEDAC43B0A6F2200CEC9A5B</vt:lpwstr>
  </property>
</Properties>
</file>