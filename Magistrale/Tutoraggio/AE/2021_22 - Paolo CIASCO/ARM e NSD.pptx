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267" r:id="rId7"/>
    <p:sldId id="268" r:id="rId8"/>
    <p:sldId id="269" r:id="rId9"/>
    <p:sldId id="270" r:id="rId10"/>
    <p:sldId id="271" r:id="rId11"/>
    <p:sldId id="259" r:id="rId12"/>
    <p:sldId id="26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0C1F"/>
    <a:srgbClr val="903163"/>
    <a:srgbClr val="E1E1E1"/>
    <a:srgbClr val="AA2C71"/>
    <a:srgbClr val="A62C6F"/>
    <a:srgbClr val="F9E7F1"/>
    <a:srgbClr val="852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8F38073-FA7A-4072-BB6D-6D51307638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BC4144-DC0B-4943-A951-A7E4C50C5C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87D2D-D8E5-4773-83ED-B732C78C68BF}" type="datetime1">
              <a:rPr lang="it-IT" smtClean="0"/>
              <a:t>05/12/2021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25F86A-2439-4892-95D2-AF6CD90300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203B3C-C9C8-4110-BFEC-B8343D2E2F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51033-DB4D-4F86-9CD9-4A67EF79E9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43724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07C4D6-67FF-4A18-AD5D-66FE6F69B62B}" type="datetime1">
              <a:rPr lang="it-IT" noProof="0" smtClean="0"/>
              <a:t>05/12/2021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2E1C88-3939-4832-BAAB-091D6FA96EB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10500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Eliminare questa diapositiva al termine della preparazione delle altre diapositive.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12E1C88-3939-4832-BAAB-091D6FA96EB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259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3276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073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4524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96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9187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8094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6616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7143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0505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5707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4489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0859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7060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013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1665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1822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5419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8084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6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 bwMode="white">
          <a:xfrm>
            <a:off x="464567" y="3085765"/>
            <a:ext cx="11262866" cy="3304800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8000">
                <a:schemeClr val="accent2">
                  <a:lumMod val="7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99226" y="1020431"/>
            <a:ext cx="10993549" cy="1475013"/>
          </a:xfrm>
          <a:effectLst/>
        </p:spPr>
        <p:txBody>
          <a:bodyPr rtlCol="0" anchor="ctr" anchorCtr="0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A5990AC-EE73-4DBE-AA37-12146E63ACC2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688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3C994CB-2BC6-164B-80D4-304B4CB6D8C3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4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 rtl="0">
              <a:defRPr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3090B-48F5-4511-AD11-235AA7D0E446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B5BE0FDB-DB48-E242-8A1F-5B06F79B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4665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magine e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5655714" cy="524439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5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 anchor="ctr" anchorCtr="0"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773724"/>
            <a:ext cx="5388785" cy="4958862"/>
          </a:xfrm>
        </p:spPr>
        <p:txBody>
          <a:bodyPr rtlCol="0"/>
          <a:lstStyle>
            <a:lvl1pPr rtl="0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6D3C73-A2CB-4B76-A644-FE2B054D8EC6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378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 bwMode="white">
          <a:xfrm>
            <a:off x="447817" y="5141974"/>
            <a:ext cx="11290860" cy="1258827"/>
          </a:xfrm>
          <a:prstGeom prst="rect">
            <a:avLst/>
          </a:prstGeom>
          <a:gradFill flip="none" rotWithShape="1">
            <a:gsLst>
              <a:gs pos="100000">
                <a:srgbClr val="903163"/>
              </a:gs>
              <a:gs pos="60000">
                <a:schemeClr val="accent1">
                  <a:lumMod val="95000"/>
                  <a:lumOff val="5000"/>
                </a:schemeClr>
              </a:gs>
              <a:gs pos="1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1581B8A2-4ED8-4D65-BB68-84E8ECB40E34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92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 rtl="0">
              <a:defRPr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 rtl="0">
              <a:defRPr/>
            </a:lvl1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AAD3CD-1972-4CB3-9BFC-714B2C7FB5A6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3696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3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739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714624"/>
            <a:ext cx="3378403" cy="3194051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9FF3E418-D154-4298-80CA-29EAE134CAF4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6D289ABA-BA71-41AF-AA30-58CB8F426F6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45430" y="2714624"/>
            <a:ext cx="3378403" cy="3194051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2" name="Segnaposto contenuto 3">
            <a:extLst>
              <a:ext uri="{FF2B5EF4-FFF2-40B4-BE49-F238E27FC236}">
                <a16:creationId xmlns:a16="http://schemas.microsoft.com/office/drawing/2014/main" id="{C06DFC81-3912-4844-B25C-E1D7CBCD80A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00414" y="2714624"/>
            <a:ext cx="3378403" cy="3194051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4" name="Segnaposto testo 2">
            <a:extLst>
              <a:ext uri="{FF2B5EF4-FFF2-40B4-BE49-F238E27FC236}">
                <a16:creationId xmlns:a16="http://schemas.microsoft.com/office/drawing/2014/main" id="{11556C46-FD2A-4916-B30C-DB066CAEA47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241852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E2328988-0888-4C1A-8F73-17D455B6F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115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D81892BA-72AB-4029-BF58-4D6F90C4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2123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Segnaposto testo 2">
            <a:extLst>
              <a:ext uri="{FF2B5EF4-FFF2-40B4-BE49-F238E27FC236}">
                <a16:creationId xmlns:a16="http://schemas.microsoft.com/office/drawing/2014/main" id="{8E232301-6803-418F-8637-ABBAC64416D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9683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 rtl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7119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3" y="2250892"/>
            <a:ext cx="5393102" cy="536005"/>
          </a:xfrm>
        </p:spPr>
        <p:txBody>
          <a:bodyPr rtlCol="0" anchor="b">
            <a:noAutofit/>
          </a:bodyPr>
          <a:lstStyle>
            <a:lvl1pPr marL="0" indent="0" rtl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217707" y="2250892"/>
            <a:ext cx="5393102" cy="553373"/>
          </a:xfrm>
        </p:spPr>
        <p:txBody>
          <a:bodyPr rtlCol="0" anchor="b">
            <a:noAutofit/>
          </a:bodyPr>
          <a:lstStyle>
            <a:lvl1pPr marL="0" indent="0" rtl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 rtl="0"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4D8A31FA-8FE4-4760-B7FC-4A7B4D79FA8D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1669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 bwMode="white">
          <a:xfrm>
            <a:off x="440683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6950FC-BB05-4494-AC6E-D031D4E75280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CEC16FA-81A4-6F41-9FCE-6262A453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544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30117A61-F155-4A6A-8CC0-4EBDB1138590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FBB0525-CFF9-4A39-B5EA-57925399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858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 bwMode="white">
          <a:xfrm>
            <a:off x="447817" y="5141973"/>
            <a:ext cx="11298200" cy="127470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9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t" anchorCtr="0">
            <a:normAutofit/>
          </a:bodyPr>
          <a:lstStyle>
            <a:lvl1pPr rtl="0"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 rtl="0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8EAAD33-3982-47CE-81A6-C23A45D2B5E0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1697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 rtl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EA50C9-12D8-412D-BAC2-F0E9EFA90446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6921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flip="none"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12F2E8CE-9B42-451B-9785-26E55D8D2567}" type="datetime8">
              <a:rPr lang="it-IT" noProof="0" smtClean="0"/>
              <a:t>05/12/2021 10:19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 noProof="0"/>
              <a:t>AGGIUNGERE UN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C5C3056E-1632-4A65-A24F-3F10A1450A6E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073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73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3D2F1E46-45DB-42F0-AF2D-ABD0145DA7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II Tutorato – </a:t>
            </a:r>
            <a:r>
              <a:rPr lang="it-IT" dirty="0" err="1"/>
              <a:t>arm</a:t>
            </a:r>
            <a:r>
              <a:rPr lang="it-IT" dirty="0"/>
              <a:t> e </a:t>
            </a:r>
            <a:r>
              <a:rPr lang="it-IT" dirty="0" err="1"/>
              <a:t>nsd</a:t>
            </a:r>
            <a:endParaRPr lang="it-IT" dirty="0"/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7E93A8DE-D65E-4E83-872E-EBF3906E0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Utilizzare </a:t>
            </a:r>
            <a:r>
              <a:rPr lang="it-IT" dirty="0" err="1"/>
              <a:t>structorizer</a:t>
            </a:r>
            <a:r>
              <a:rPr lang="it-IT" dirty="0"/>
              <a:t> per disegnare schemi </a:t>
            </a:r>
            <a:r>
              <a:rPr lang="it-IT" dirty="0" err="1"/>
              <a:t>nsd</a:t>
            </a:r>
            <a:r>
              <a:rPr lang="it-IT" dirty="0"/>
              <a:t>(nassi-</a:t>
            </a:r>
            <a:r>
              <a:rPr lang="it-IT" dirty="0" err="1"/>
              <a:t>shneiderman</a:t>
            </a:r>
            <a:r>
              <a:rPr lang="it-IT" dirty="0"/>
              <a:t>) e generare codice </a:t>
            </a:r>
            <a:r>
              <a:rPr lang="it-IT" dirty="0" err="1"/>
              <a:t>arm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16FD552-0924-4D15-8BA2-BEFF82D91027}"/>
              </a:ext>
            </a:extLst>
          </p:cNvPr>
          <p:cNvSpPr txBox="1"/>
          <p:nvPr/>
        </p:nvSpPr>
        <p:spPr>
          <a:xfrm>
            <a:off x="3505200" y="6036732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Paolo Ciasco – paolo.ciasco@alumni.uniroma2.eu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92DC003-0F06-4216-8FA4-524B8F380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205" y="3321962"/>
            <a:ext cx="1467055" cy="248637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89EB2F7-B80B-4F2A-AA14-E0CFB1CC3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467" y="3159641"/>
            <a:ext cx="3693958" cy="2803216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CEC71A3E-B489-412E-A431-E24377902A4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706260" y="4561249"/>
            <a:ext cx="4922207" cy="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037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 descr="Docente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4AE63E9-30A4-4058-9015-9F3B52553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499810" y="2296078"/>
            <a:ext cx="7192379" cy="344853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 err="1"/>
              <a:t>Nsd</a:t>
            </a:r>
            <a:r>
              <a:rPr lang="it-IT" sz="3800" dirty="0"/>
              <a:t> </a:t>
            </a:r>
            <a:r>
              <a:rPr lang="it-IT" sz="3800" dirty="0" err="1"/>
              <a:t>diagrams</a:t>
            </a:r>
            <a:r>
              <a:rPr lang="it-IT" sz="3800" dirty="0"/>
              <a:t> – selezione</a:t>
            </a:r>
          </a:p>
        </p:txBody>
      </p:sp>
    </p:spTree>
    <p:extLst>
      <p:ext uri="{BB962C8B-B14F-4D97-AF65-F5344CB8AC3E}">
        <p14:creationId xmlns:p14="http://schemas.microsoft.com/office/powerpoint/2010/main" val="109803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 descr="Docente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 err="1"/>
              <a:t>Nsd</a:t>
            </a:r>
            <a:r>
              <a:rPr lang="it-IT" sz="3800" dirty="0"/>
              <a:t> </a:t>
            </a:r>
            <a:r>
              <a:rPr lang="it-IT" sz="3800" dirty="0" err="1"/>
              <a:t>diagrams</a:t>
            </a:r>
            <a:r>
              <a:rPr lang="it-IT" sz="3800" dirty="0"/>
              <a:t> – iterazione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B62568D-66B8-49EA-8DC2-F47324A94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716" y="2838382"/>
            <a:ext cx="7116168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5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 descr="Docente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 err="1"/>
              <a:t>Arm</a:t>
            </a:r>
            <a:r>
              <a:rPr lang="it-IT" sz="3800" dirty="0"/>
              <a:t> arch. – registri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2E6C84D-880C-4B66-A491-4FDE637AF1E0}"/>
              </a:ext>
            </a:extLst>
          </p:cNvPr>
          <p:cNvSpPr/>
          <p:nvPr/>
        </p:nvSpPr>
        <p:spPr>
          <a:xfrm>
            <a:off x="491065" y="2210623"/>
            <a:ext cx="109304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/>
              <a:t>I principali registri dei processori ARM sono 16, nominati da R0 a R15, e si distinguono in base al loro utilizzo:</a:t>
            </a:r>
          </a:p>
          <a:p>
            <a:r>
              <a:rPr lang="it-IT" sz="2000" dirty="0"/>
              <a:t> • R0 - R12 sono i registri di uso generale;</a:t>
            </a:r>
          </a:p>
          <a:p>
            <a:endParaRPr lang="it-IT" sz="2000" dirty="0"/>
          </a:p>
          <a:p>
            <a:r>
              <a:rPr lang="it-IT" sz="2000" dirty="0"/>
              <a:t> • R13 (o SP) è generalmente il registro dello </a:t>
            </a:r>
            <a:r>
              <a:rPr lang="it-IT" sz="2000" dirty="0" err="1"/>
              <a:t>Stack</a:t>
            </a:r>
            <a:r>
              <a:rPr lang="it-IT" sz="2000" dirty="0"/>
              <a:t> Pointer, cioè l’indirizzo di memoria dello </a:t>
            </a:r>
            <a:r>
              <a:rPr lang="it-IT" sz="2000" dirty="0" err="1"/>
              <a:t>stack</a:t>
            </a:r>
            <a:r>
              <a:rPr lang="it-IT" sz="2000" dirty="0"/>
              <a:t>. Non è però obbligatorio il suo utilizzo come </a:t>
            </a:r>
            <a:r>
              <a:rPr lang="it-IT" sz="2000" dirty="0" err="1"/>
              <a:t>Stack</a:t>
            </a:r>
            <a:r>
              <a:rPr lang="it-IT" sz="2000" dirty="0"/>
              <a:t> pointer; viene usato solo per convenzione;</a:t>
            </a:r>
          </a:p>
          <a:p>
            <a:endParaRPr lang="it-IT" sz="2000" dirty="0"/>
          </a:p>
          <a:p>
            <a:r>
              <a:rPr lang="it-IT" sz="2000" dirty="0"/>
              <a:t> • R14 (o LR) è il registro del Link </a:t>
            </a:r>
            <a:r>
              <a:rPr lang="it-IT" sz="2000" dirty="0" err="1"/>
              <a:t>Register</a:t>
            </a:r>
            <a:r>
              <a:rPr lang="it-IT" sz="2000" dirty="0"/>
              <a:t>, nel quale viene salvato l’indirizzo di ritorno nel momento in cui viene chiamata una procedura;</a:t>
            </a:r>
          </a:p>
          <a:p>
            <a:endParaRPr lang="it-IT" sz="2000" dirty="0"/>
          </a:p>
          <a:p>
            <a:r>
              <a:rPr lang="it-IT" sz="2000" dirty="0"/>
              <a:t> • R15 (o PC) è il Program Counter, il registro contiene l’indirizzo di memoria della prossima istruzione da eseguire. </a:t>
            </a:r>
          </a:p>
        </p:txBody>
      </p:sp>
    </p:spTree>
    <p:extLst>
      <p:ext uri="{BB962C8B-B14F-4D97-AF65-F5344CB8AC3E}">
        <p14:creationId xmlns:p14="http://schemas.microsoft.com/office/powerpoint/2010/main" val="319750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 descr="Docente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 err="1"/>
              <a:t>Arm</a:t>
            </a:r>
            <a:r>
              <a:rPr lang="it-IT" sz="3800" dirty="0"/>
              <a:t> arch. – </a:t>
            </a:r>
            <a:r>
              <a:rPr lang="it-IT" sz="3800" dirty="0" err="1"/>
              <a:t>cond.</a:t>
            </a:r>
            <a:r>
              <a:rPr lang="it-IT" sz="3800" dirty="0"/>
              <a:t> </a:t>
            </a:r>
            <a:r>
              <a:rPr lang="it-IT" sz="3800" dirty="0" err="1"/>
              <a:t>aritm</a:t>
            </a:r>
            <a:r>
              <a:rPr lang="it-IT" sz="3800" dirty="0"/>
              <a:t>.-logiche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DD2F1EC-DD68-45EC-A9F6-155B3D3FC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626" y="1939607"/>
            <a:ext cx="6782747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05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 descr="Docente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 err="1"/>
              <a:t>Arm</a:t>
            </a:r>
            <a:r>
              <a:rPr lang="it-IT" sz="3800" dirty="0"/>
              <a:t> arch. – op. </a:t>
            </a:r>
            <a:r>
              <a:rPr lang="it-IT" sz="3800" dirty="0" err="1"/>
              <a:t>aritm</a:t>
            </a:r>
            <a:r>
              <a:rPr lang="it-IT" sz="3800" dirty="0"/>
              <a:t>.-logiche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F27658-6291-4CF7-AE10-C2E28AB0E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205" y="2074549"/>
            <a:ext cx="7087589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7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 descr="Docente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 err="1"/>
              <a:t>Arm</a:t>
            </a:r>
            <a:r>
              <a:rPr lang="it-IT" sz="3800" dirty="0"/>
              <a:t> arch. – esempi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2E6C84D-880C-4B66-A491-4FDE637AF1E0}"/>
              </a:ext>
            </a:extLst>
          </p:cNvPr>
          <p:cNvSpPr/>
          <p:nvPr/>
        </p:nvSpPr>
        <p:spPr>
          <a:xfrm>
            <a:off x="491065" y="2210623"/>
            <a:ext cx="1093046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/>
              <a:t>ADD R0, R1, R2</a:t>
            </a:r>
          </a:p>
          <a:p>
            <a:endParaRPr lang="it-IT" sz="2000" dirty="0"/>
          </a:p>
          <a:p>
            <a:r>
              <a:rPr lang="it-IT" sz="2000" dirty="0"/>
              <a:t>Carico in R0 la somma tra il contenuto del registro R1 e del registro R2 (indirizzamento a registro).</a:t>
            </a:r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/>
              <a:t>ADD R0, R1, #16</a:t>
            </a:r>
          </a:p>
          <a:p>
            <a:endParaRPr lang="it-IT" sz="2000" dirty="0"/>
          </a:p>
          <a:p>
            <a:r>
              <a:rPr lang="it-IT" sz="2000" dirty="0"/>
              <a:t>Carico in R0 la somma tra il contenuto del registro R1 e il numero decimale 16 (indirizzamento immediato).</a:t>
            </a:r>
          </a:p>
          <a:p>
            <a:endParaRPr lang="it-IT" sz="2000" dirty="0"/>
          </a:p>
          <a:p>
            <a:r>
              <a:rPr lang="it-IT" sz="2000" dirty="0"/>
              <a:t>ADDLT R0, R1, R2</a:t>
            </a:r>
          </a:p>
          <a:p>
            <a:endParaRPr lang="it-IT" sz="2000" dirty="0"/>
          </a:p>
          <a:p>
            <a:r>
              <a:rPr lang="it-IT" sz="2000" dirty="0"/>
              <a:t>Carico in R0 la somma tra il contenuto del registro R1 e del registro R2 solamente se la condizione indicata con il suffisso LT è verificata.</a:t>
            </a:r>
          </a:p>
        </p:txBody>
      </p:sp>
    </p:spTree>
    <p:extLst>
      <p:ext uri="{BB962C8B-B14F-4D97-AF65-F5344CB8AC3E}">
        <p14:creationId xmlns:p14="http://schemas.microsoft.com/office/powerpoint/2010/main" val="30518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A4435-3751-4780-9A9B-F91171E7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it-IT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Hands on!</a:t>
            </a:r>
            <a:endParaRPr lang="it-IT" dirty="0">
              <a:latin typeface="+mn-lt"/>
            </a:endParaRPr>
          </a:p>
        </p:txBody>
      </p:sp>
      <p:pic>
        <p:nvPicPr>
          <p:cNvPr id="6" name="Elemento grafico 5" descr="Lampadina">
            <a:extLst>
              <a:ext uri="{FF2B5EF4-FFF2-40B4-BE49-F238E27FC236}">
                <a16:creationId xmlns:a16="http://schemas.microsoft.com/office/drawing/2014/main" id="{E9661DC4-D526-4678-A1C8-58A8BEB68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1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6EBE25F-EA7E-41D8-8362-014D6953C6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/>
              <a:lstStyle/>
              <a:p>
                <a:pPr marL="0" indent="0" rtl="0">
                  <a:buNone/>
                </a:pPr>
                <a:endParaRPr lang="it-IT" dirty="0"/>
              </a:p>
              <a:p>
                <a:pPr marL="0" indent="0" rtl="0">
                  <a:buNone/>
                </a:pPr>
                <a:r>
                  <a:rPr lang="it-IT" dirty="0"/>
                  <a:t>Dati due numeri naturali X e Y, calcolare il quoziente della divisione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senza usare l’operazione di divisione.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6EBE25F-EA7E-41D8-8362-014D6953C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Ex.1 – divisione p.180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8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6EBE25F-EA7E-41D8-8362-014D6953C6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rtlCol="0"/>
              <a:lstStyle/>
              <a:p>
                <a:pPr marL="0" indent="0" rtl="0">
                  <a:buNone/>
                </a:pPr>
                <a:r>
                  <a:rPr lang="it-IT" dirty="0"/>
                  <a:t>Dati due numeri naturali X e Y, calcolare il quoziente della divisione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senza usare l’operazione di divisione.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6EBE25F-EA7E-41D8-8362-014D6953C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Ex.1 – divisione p.180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4598B8A-1227-4C0C-B138-643338038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074" y="3172206"/>
            <a:ext cx="1781424" cy="271513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58904A36-E402-4E64-BE35-52FD3BF86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154" y="3172206"/>
            <a:ext cx="2592511" cy="2620237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448C968B-042C-4C32-B3DA-F0314F62F44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190498" y="4454022"/>
            <a:ext cx="4207656" cy="28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90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Dati due numeri naturali X e Y, calcolare la moltiplicazione fra X e Y senza usare l’operazione di moltiplicazione.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Ex.2 – divisione p.181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7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Dati due numeri naturali X e Y, calcolare la moltiplicazione fra X e Y senza usare l’operazione di moltiplicazione.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Ex.2 – divisione p.181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96598B9-FE4E-4FCB-ACE1-A52CA1B55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173" y="3159653"/>
            <a:ext cx="1735228" cy="321338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5188D7D-1B5B-4B2D-8BB3-2EA777215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755" y="3558652"/>
            <a:ext cx="2245378" cy="2425489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A528355-90CE-426C-B3D1-FD9F1EF6E0D3}"/>
              </a:ext>
            </a:extLst>
          </p:cNvPr>
          <p:cNvCxnSpPr>
            <a:cxnSpLocks/>
          </p:cNvCxnSpPr>
          <p:nvPr/>
        </p:nvCxnSpPr>
        <p:spPr>
          <a:xfrm>
            <a:off x="2946401" y="4713137"/>
            <a:ext cx="4807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769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Dati 3 numeri naturali, trovare il massimo.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Ex.1 – divisione p.194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92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Ex.1 – divisione p.194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D1ADE1B-918C-45E8-98E0-7B77BB5FE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2" y="2688848"/>
            <a:ext cx="1675447" cy="3107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BB77860-53C5-461C-8D80-7AF07566E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238" y="2456724"/>
            <a:ext cx="2068628" cy="3503515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1A3488CE-3138-4742-AE1C-B1629EF0B0A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713839" y="4188204"/>
            <a:ext cx="5665399" cy="20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972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Eseguire la somma dei primi N numeri naturali.</a:t>
            </a:r>
          </a:p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N.B.: Impostare un N a piacere.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Ex.3 – divisione p.196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71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5C96E0CA-4F17-48A1-B020-04E5D9DC4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1772" y="2894077"/>
            <a:ext cx="2243227" cy="255894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Ex.3 – divisione p.196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5A15B021-5A3A-4C8D-B8DA-A915BF5A5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110" y="3070644"/>
            <a:ext cx="2243227" cy="2194460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6F3A6F9-3434-4F2A-A731-B7816A0002C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174999" y="4167874"/>
            <a:ext cx="54651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40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Calcolare l’N-esimo termine di una successione di Fibonacci.</a:t>
            </a:r>
          </a:p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N.B.: Impostare un N a piacere.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Ex.4 – divisione p.197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72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Ex.4 – divisione p.197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68D4BDC-F27A-448B-BED3-DEE6571FC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89" y="2378963"/>
            <a:ext cx="1928377" cy="352617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92F31EB-51B0-48DD-B546-AC077AC5E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111" y="2673453"/>
            <a:ext cx="2256489" cy="2930983"/>
          </a:xfrm>
          <a:prstGeom prst="rect">
            <a:avLst/>
          </a:prstGeom>
        </p:spPr>
      </p:pic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C0223BA4-D1A2-4C20-A7D8-A5F1E7886D8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802466" y="4138945"/>
            <a:ext cx="5710645" cy="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064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BE25F-EA7E-41D8-8362-014D6953C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endParaRPr lang="it-IT" dirty="0"/>
          </a:p>
          <a:p>
            <a:pPr marL="0" indent="0" rtl="0">
              <a:buNone/>
            </a:pPr>
            <a:r>
              <a:rPr lang="it-IT" dirty="0"/>
              <a:t>Dato un array di naturali e due indici, scambiare i numeri puntati da quest’ultimi.</a:t>
            </a:r>
          </a:p>
          <a:p>
            <a:pPr marL="0" indent="0" rtl="0">
              <a:buNone/>
            </a:pP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Ex.6 – divisione p.199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5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sz="3800" dirty="0"/>
              <a:t>Ex.6 – divisione p.199</a:t>
            </a:r>
          </a:p>
        </p:txBody>
      </p:sp>
      <p:pic>
        <p:nvPicPr>
          <p:cNvPr id="5" name="Elemento grafico 4" descr="Elenco di controllo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148EBDC-E183-4258-ADF8-A04019231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61" y="2278359"/>
            <a:ext cx="2072171" cy="398494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7A6030B-60C5-46AF-AACC-6359C0D2C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838" y="3030414"/>
            <a:ext cx="3339811" cy="2481386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D2F5EDE-0C25-4629-906F-62F145C5846A}"/>
              </a:ext>
            </a:extLst>
          </p:cNvPr>
          <p:cNvCxnSpPr>
            <a:cxnSpLocks/>
          </p:cNvCxnSpPr>
          <p:nvPr/>
        </p:nvCxnSpPr>
        <p:spPr>
          <a:xfrm>
            <a:off x="2802466" y="4142051"/>
            <a:ext cx="4808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6219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Custom 1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ustom 2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478008_TF00315753" id="{B6079F87-2288-4B31-B503-69CFD357610F}" vid="{710D6233-2CCE-47BB-A677-478C8391FEE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7D86086DEDAC43B0A6F2200CEC9A5B" ma:contentTypeVersion="12" ma:contentTypeDescription="Creare un nuovo documento." ma:contentTypeScope="" ma:versionID="0738b2f566a5410929b22a176f09446f">
  <xsd:schema xmlns:xsd="http://www.w3.org/2001/XMLSchema" xmlns:xs="http://www.w3.org/2001/XMLSchema" xmlns:p="http://schemas.microsoft.com/office/2006/metadata/properties" xmlns:ns3="d493c310-7e49-49b4-b579-60fdd2f2c483" xmlns:ns4="e539edeb-cabf-4bbd-9afc-6cc1727a10dc" targetNamespace="http://schemas.microsoft.com/office/2006/metadata/properties" ma:root="true" ma:fieldsID="5402e63644fa8e0e9a81d7671ec362b5" ns3:_="" ns4:_="">
    <xsd:import namespace="d493c310-7e49-49b4-b579-60fdd2f2c483"/>
    <xsd:import namespace="e539edeb-cabf-4bbd-9afc-6cc1727a10d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93c310-7e49-49b4-b579-60fdd2f2c48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9edeb-cabf-4bbd-9afc-6cc1727a1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C4EF74-2977-4065-95FE-55F8E4B639D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CD890AB-0B9C-40E3-AB0D-FE0B099F9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93c310-7e49-49b4-b579-60fdd2f2c483"/>
    <ds:schemaRef ds:uri="e539edeb-cabf-4bbd-9afc-6cc1727a10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58AF07-9E42-47AF-83DF-C9E8FADF71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della lezione</Template>
  <TotalTime>0</TotalTime>
  <Words>557</Words>
  <Application>Microsoft Office PowerPoint</Application>
  <PresentationFormat>Widescreen</PresentationFormat>
  <Paragraphs>82</Paragraphs>
  <Slides>20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Candara</vt:lpstr>
      <vt:lpstr>Wingdings 2</vt:lpstr>
      <vt:lpstr>Dividendo</vt:lpstr>
      <vt:lpstr>II Tutorato – arm e nsd</vt:lpstr>
      <vt:lpstr>Nsd diagrams – selezione</vt:lpstr>
      <vt:lpstr>Nsd diagrams – iterazione</vt:lpstr>
      <vt:lpstr>Arm arch. – registri</vt:lpstr>
      <vt:lpstr>Arm arch. – cond. aritm.-logiche</vt:lpstr>
      <vt:lpstr>Arm arch. – op. aritm.-logiche</vt:lpstr>
      <vt:lpstr>Arm arch. – esempi</vt:lpstr>
      <vt:lpstr>Hands on!</vt:lpstr>
      <vt:lpstr>Ex.1 – divisione p.180</vt:lpstr>
      <vt:lpstr>Ex.1 – divisione p.180</vt:lpstr>
      <vt:lpstr>Ex.2 – divisione p.181</vt:lpstr>
      <vt:lpstr>Ex.2 – divisione p.181</vt:lpstr>
      <vt:lpstr>Ex.1 – divisione p.194</vt:lpstr>
      <vt:lpstr>Ex.1 – divisione p.194</vt:lpstr>
      <vt:lpstr>Ex.3 – divisione p.196</vt:lpstr>
      <vt:lpstr>Ex.3 – divisione p.196</vt:lpstr>
      <vt:lpstr>Ex.4 – divisione p.197</vt:lpstr>
      <vt:lpstr>Ex.4 – divisione p.197</vt:lpstr>
      <vt:lpstr>Ex.6 – divisione p.199</vt:lpstr>
      <vt:lpstr>Ex.6 – divisione p.199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2021-12-04T15:53:59Z</dcterms:created>
  <dcterms:modified xsi:type="dcterms:W3CDTF">2021-12-05T09:33:34Z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0x010100AD7D86086DEDAC43B0A6F2200CEC9A5B</vt:lpwstr>
  </property>
</Properties>
</file>